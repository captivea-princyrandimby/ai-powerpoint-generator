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2.svg" ContentType="image/svg+xml"/>
  <Override PartName="/ppt/media/image3.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454D5-0C22-4E29-8273-CD8F6E3FBAB2}" type="datetimeFigureOut">
              <a:rPr lang="en-US" smtClean="0"/>
              <a:t>7/31/2026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1C916-658F-4180-8896-F3B895078416}" type="slidenum">
              <a:rPr lang="en-US" smtClean="0"/>
              <a:t>‹N°›</a:t>
            </a:fld>
            <a:endParaRPr lang="en-US"/>
          </a:p>
        </p:txBody>
      </p:sp>
    </p:spTree>
    <p:extLst>
      <p:ext uri="{BB962C8B-B14F-4D97-AF65-F5344CB8AC3E}">
        <p14:creationId xmlns:p14="http://schemas.microsoft.com/office/powerpoint/2010/main" val="32086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nous recevoir. On se connaît déjà : vous avez vu nos agents en démonstration, et on a creusé vos enjeux ensemble. Aujourd'hui, on va droit au but. Je vais vous montrer ce qu'on vous propose concrètement, comment on le met en place, et combien ça coûte. L'objectif, c'est qu'à la fin vous ayez tout en main pour décider.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parti pour la démonstration. {Consultant} va prendre la main et faire la démonstration. {Consultant}, tu as jusqu’à ..h..</a:t>
            </a:r>
          </a:p>
          <a:p/>
          <a:p>
            <a:r>
              <a:t>Merci {Consultant} pour la démonstration. Qu’est-ce que vous en pensez? Etes-vous convaincus?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Captivea dispose de multiples expertises pour soutenir vos besoins. </a:t>
            </a:r>
          </a:p>
          <a:p/>
          <a:p>
            <a:r>
              <a:t>Nos services incluent l'intégration ERP pour rationaliser vos opérations. </a:t>
            </a:r>
          </a:p>
          <a:p/>
          <a:p>
            <a:r>
              <a:t>De plus, notre département d'agence web est dédié à la construction et à l'amélioration de votre présence en ligne et de vos stratégies de communication. </a:t>
            </a:r>
          </a:p>
          <a:p/>
          <a:p>
            <a:r>
              <a:t>Nous sommes également spécialisés dans l'utilisation de l'IA pour améliorer vos processus, et notre département Business Intelligence est équipé pour fournir des analyses de données perspicaces afin de faire avancer votre entreprise.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parti pour la démonstration. {Consultant} va prendre la main et faire la démonstration. {Consultant}, tu as jusqu’à ..h..</a:t>
            </a:r>
          </a:p>
          <a:p/>
          <a:p>
            <a:r>
              <a:t>Merci {Consultant} pour la démonstration. Qu’est-ce que vous en pensez? Etes-vous convaincus?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Venons-en au cœur du sujet. L'IA n'est plus un gadget. 85% des entreprises intègrent déjà des agents pour leur support client, et plus d'un consommateur sur deux préfère une réponse immédiate plutôt que d'attendre un humain. Des groupes comme Leroy Merlin ont divisé par dix le temps de recherche d'information pour leurs équipes. Notre mission tient en une phrase : vous décharger de la charge mentale, pour que vos équipes se concentrent sur ce qui a vraiment de la valeur.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première question qu'on nous pose, c'est : quel moteur d'IA choisir ? Notre réponse, c'est que le choix vous revient. Mistral, si la souveraineté des données et la sécurité priment, ce qui rassure vos équipes informatique. Claude, pour la rédaction et l'analyse de documents. Gemini, si vous vivez dans l'univers Google. ChatGPT, pour la polyvalence. On s'adapte à votre contexte, on ne vous enferme pas dans une seule technologie.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Soyons honnêtes deux minutes. Mettre de l'IA dans une entreprise, ce n'est pas magique. Il y a le facteur humain, la sécurité et le RGPD, le risque de fuite de données, les silos, et la maintenance dans le temps. C'est exactement là qu'on intervient. On ne vous vend pas un outil que vous devrez dompter tout seul : on cadre, on sécurise, et on accompagne.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concrètement, qu'est-ce que ça change ? D'un côté, la prospection à la main, les relances qui traînent, les rendez-vous manqués. De l'autre, des équipes équipées d'agents : la préparation est assistée, les leads sont mieux qualifiés, la relation client s'améliore. C'est le passage d'une croissance lente à une croissance rapide. Et ça, on l'applique d'abord chez nous, avant de vous le proposer.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approche tient en trois temps, ce qu'on appelle le triple A. On ne part jamais de la technologie, mais toujours d'un besoin concret. D'abord l'Adoption : on installe l'environnement et on forme vos équipes, l'IA entre dans les usages. Ensuite l'Automatisation : on déploie les agents qui retirent les tâches répétitives. Enfin l'Accélération : on entretient, on mesure le ROI, et on fait monter vos agents en puissance. Et à aucun moment on ne remplace quelqu'un : on allège la charge.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parti pour la démonstration. {Consultant} va prendre la main et faire la démonstration. {Consultant}, tu as jusqu’à ..h..</a:t>
            </a:r>
          </a:p>
          <a:p/>
          <a:p>
            <a:r>
              <a:t>Merci {Consultant} pour la démonstration. Qu’est-ce que vous en pensez? Etes-vous convaincus?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ça, on a six collègues virtuels, un par métier. Léo pour le marketing, Jade pour la vente, Luna pour la vente en ligne, Arthur pour la gestion de projet, Lou pour le juridique, et Captivea Connect qui reste votre lien direct avec nous. Tous sont directement dans votre Odoo, à partir de la version 19, et tous sont personnalisés pour vous. On va les passer en revue. Retenez une chose : chacun prend une charge précise, et vous gardez la main.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209197B-1A2E-289C-7B9B-E5FE68623C87}"/>
              </a:ext>
            </a:extLst>
          </p:cNvPr>
          <p:cNvSpPr/>
          <p:nvPr userDrawn="1"/>
        </p:nvSpPr>
        <p:spPr>
          <a:xfrm>
            <a:off x="-5" y="0"/>
            <a:ext cx="12192005" cy="6858000"/>
          </a:xfrm>
          <a:prstGeom prst="rect">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9" name="Organigramme : Délai 8">
            <a:extLst>
              <a:ext uri="{FF2B5EF4-FFF2-40B4-BE49-F238E27FC236}">
                <a16:creationId xmlns:a16="http://schemas.microsoft.com/office/drawing/2014/main" id="{74CC0FF3-C744-83BE-8E40-F90444B9AE7D}"/>
              </a:ext>
            </a:extLst>
          </p:cNvPr>
          <p:cNvSpPr/>
          <p:nvPr userDrawn="1"/>
        </p:nvSpPr>
        <p:spPr>
          <a:xfrm rot="5400000">
            <a:off x="4381499" y="-4381499"/>
            <a:ext cx="3429003" cy="12192004"/>
          </a:xfrm>
          <a:prstGeom prst="flowChartDelay">
            <a:avLst/>
          </a:prstGeom>
          <a:solidFill>
            <a:schemeClr val="bg1"/>
          </a:soli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2" name="Titre 1">
            <a:extLst>
              <a:ext uri="{FF2B5EF4-FFF2-40B4-BE49-F238E27FC236}">
                <a16:creationId xmlns:a16="http://schemas.microsoft.com/office/drawing/2014/main" id="{C30BB28A-E1C2-3A9B-4EED-FB33DF5A0583}"/>
              </a:ext>
            </a:extLst>
          </p:cNvPr>
          <p:cNvSpPr>
            <a:spLocks noGrp="1"/>
          </p:cNvSpPr>
          <p:nvPr>
            <p:ph type="ctrTitle"/>
          </p:nvPr>
        </p:nvSpPr>
        <p:spPr>
          <a:xfrm>
            <a:off x="696000" y="3759200"/>
            <a:ext cx="10800000" cy="1471733"/>
          </a:xfrm>
        </p:spPr>
        <p:txBody>
          <a:bodyPr anchor="t"/>
          <a:lstStyle>
            <a:lvl1pPr algn="ctr">
              <a:defRPr sz="6000">
                <a:solidFill>
                  <a:schemeClr val="bg1"/>
                </a:solidFill>
              </a:defRPr>
            </a:lvl1pPr>
          </a:lstStyle>
          <a:p>
            <a:r>
              <a:rPr lang="fr-FR" dirty="0"/>
              <a:t>Modifiez le style du titre</a:t>
            </a:r>
            <a:endParaRPr lang="en-US" dirty="0"/>
          </a:p>
        </p:txBody>
      </p:sp>
      <p:sp>
        <p:nvSpPr>
          <p:cNvPr id="10" name="Espace réservé du texte 2">
            <a:extLst>
              <a:ext uri="{FF2B5EF4-FFF2-40B4-BE49-F238E27FC236}">
                <a16:creationId xmlns:a16="http://schemas.microsoft.com/office/drawing/2014/main" id="{FB881D63-9F92-FA21-6BC4-DC27AB4FF215}"/>
              </a:ext>
            </a:extLst>
          </p:cNvPr>
          <p:cNvSpPr>
            <a:spLocks noGrp="1"/>
          </p:cNvSpPr>
          <p:nvPr>
            <p:ph type="body" idx="1"/>
          </p:nvPr>
        </p:nvSpPr>
        <p:spPr>
          <a:xfrm>
            <a:off x="696000" y="5294373"/>
            <a:ext cx="10800000" cy="1207179"/>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pic>
        <p:nvPicPr>
          <p:cNvPr id="12" name="Graphique 11">
            <a:extLst>
              <a:ext uri="{FF2B5EF4-FFF2-40B4-BE49-F238E27FC236}">
                <a16:creationId xmlns:a16="http://schemas.microsoft.com/office/drawing/2014/main" id="{D6A2EEBB-30A0-BBA7-B382-0A5FC862F0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52057" y="456269"/>
            <a:ext cx="6487885" cy="2002971"/>
          </a:xfrm>
          <a:prstGeom prst="rect">
            <a:avLst/>
          </a:prstGeom>
        </p:spPr>
      </p:pic>
    </p:spTree>
    <p:extLst>
      <p:ext uri="{BB962C8B-B14F-4D97-AF65-F5344CB8AC3E}">
        <p14:creationId xmlns:p14="http://schemas.microsoft.com/office/powerpoint/2010/main" val="3121416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1333B7-E98D-AF61-A85D-3AB370149EA4}"/>
              </a:ext>
            </a:extLst>
          </p:cNvPr>
          <p:cNvSpPr>
            <a:spLocks noGrp="1"/>
          </p:cNvSpPr>
          <p:nvPr>
            <p:ph type="title"/>
          </p:nvPr>
        </p:nvSpPr>
        <p:spPr>
          <a:xfrm>
            <a:off x="696000" y="1944221"/>
            <a:ext cx="10800000" cy="1800000"/>
          </a:xfrm>
        </p:spPr>
        <p:txBody>
          <a:bodyPr anchor="ctr"/>
          <a:lstStyle>
            <a:lvl1pPr>
              <a:defRPr sz="6000">
                <a:solidFill>
                  <a:schemeClr val="bg1"/>
                </a:solidFill>
              </a:defRPr>
            </a:lvl1p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A71EEFE9-9784-068B-6C36-7D6425A21037}"/>
              </a:ext>
            </a:extLst>
          </p:cNvPr>
          <p:cNvSpPr>
            <a:spLocks noGrp="1"/>
          </p:cNvSpPr>
          <p:nvPr>
            <p:ph type="body" idx="1"/>
          </p:nvPr>
        </p:nvSpPr>
        <p:spPr>
          <a:xfrm>
            <a:off x="696000" y="3982798"/>
            <a:ext cx="10800000" cy="1500187"/>
          </a:xfrm>
        </p:spPr>
        <p:txBody>
          <a:bodyPr anchor="ct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69C4BCC6-E581-9CD7-175B-B8E8E94242FE}"/>
              </a:ext>
            </a:extLst>
          </p:cNvPr>
          <p:cNvSpPr>
            <a:spLocks noGrp="1"/>
          </p:cNvSpPr>
          <p:nvPr>
            <p:ph type="sldNum" sz="quarter" idx="14"/>
          </p:nvPr>
        </p:nvSpPr>
        <p:spPr/>
        <p:txBody>
          <a:bodyPr/>
          <a:lstStyle>
            <a:lvl1pPr>
              <a:defRPr>
                <a:solidFill>
                  <a:schemeClr val="bg1"/>
                </a:solidFill>
              </a:defRPr>
            </a:lvl1pPr>
          </a:lstStyle>
          <a:p>
            <a:fld id="{262175C0-8CD5-419A-A749-8C17692C9EAC}" type="slidenum">
              <a:rPr lang="en-US" smtClean="0"/>
              <a:pPr/>
              <a:t>‹N°›</a:t>
            </a:fld>
            <a:endParaRPr lang="en-US"/>
          </a:p>
        </p:txBody>
      </p:sp>
      <p:sp>
        <p:nvSpPr>
          <p:cNvPr id="15" name="Espace réservé du texte 8">
            <a:extLst>
              <a:ext uri="{FF2B5EF4-FFF2-40B4-BE49-F238E27FC236}">
                <a16:creationId xmlns:a16="http://schemas.microsoft.com/office/drawing/2014/main" id="{3937C1BE-B2B5-A3E0-199E-A613C266685D}"/>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pic>
        <p:nvPicPr>
          <p:cNvPr id="17" name="Graphique 16">
            <a:extLst>
              <a:ext uri="{FF2B5EF4-FFF2-40B4-BE49-F238E27FC236}">
                <a16:creationId xmlns:a16="http://schemas.microsoft.com/office/drawing/2014/main" id="{1578DF43-3655-AB6D-336B-68FE5F777A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337911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8" name="Titre 7">
            <a:extLst>
              <a:ext uri="{FF2B5EF4-FFF2-40B4-BE49-F238E27FC236}">
                <a16:creationId xmlns:a16="http://schemas.microsoft.com/office/drawing/2014/main" id="{9DE98BF1-80D6-261C-1BA8-E7F725B21F9F}"/>
              </a:ext>
            </a:extLst>
          </p:cNvPr>
          <p:cNvSpPr>
            <a:spLocks noGrp="1"/>
          </p:cNvSpPr>
          <p:nvPr>
            <p:ph type="title"/>
          </p:nvPr>
        </p:nvSpPr>
        <p:spPr/>
        <p:txBody>
          <a:bodyPr/>
          <a:lstStyle/>
          <a:p>
            <a:r>
              <a:rPr lang="fr-FR" dirty="0"/>
              <a:t>Modifiez le style du titre</a:t>
            </a:r>
            <a:endParaRPr lang="en-US" dirty="0"/>
          </a:p>
        </p:txBody>
      </p:sp>
      <p:sp>
        <p:nvSpPr>
          <p:cNvPr id="4" name="Espace réservé du texte 3">
            <a:extLst>
              <a:ext uri="{FF2B5EF4-FFF2-40B4-BE49-F238E27FC236}">
                <a16:creationId xmlns:a16="http://schemas.microsoft.com/office/drawing/2014/main" id="{8B45B99E-CD15-2084-61F7-00054B0051E3}"/>
              </a:ext>
            </a:extLst>
          </p:cNvPr>
          <p:cNvSpPr>
            <a:spLocks noGrp="1"/>
          </p:cNvSpPr>
          <p:nvPr>
            <p:ph type="body" sz="quarter" idx="14" hasCustomPrompt="1"/>
          </p:nvPr>
        </p:nvSpPr>
        <p:spPr>
          <a:xfrm>
            <a:off x="695325"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037A5053-EE5A-6B34-927F-9C4E55CD9FA0}"/>
              </a:ext>
            </a:extLst>
          </p:cNvPr>
          <p:cNvSpPr>
            <a:spLocks noGrp="1"/>
          </p:cNvSpPr>
          <p:nvPr>
            <p:ph type="body" sz="quarter" idx="15" hasCustomPrompt="1"/>
          </p:nvPr>
        </p:nvSpPr>
        <p:spPr>
          <a:xfrm>
            <a:off x="1404938"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6" name="Espace réservé du texte 3">
            <a:extLst>
              <a:ext uri="{FF2B5EF4-FFF2-40B4-BE49-F238E27FC236}">
                <a16:creationId xmlns:a16="http://schemas.microsoft.com/office/drawing/2014/main" id="{37B10C8D-E7A3-3EB9-F37B-57DC7F0F9B96}"/>
              </a:ext>
            </a:extLst>
          </p:cNvPr>
          <p:cNvSpPr>
            <a:spLocks noGrp="1"/>
          </p:cNvSpPr>
          <p:nvPr>
            <p:ph type="body" sz="quarter" idx="16" hasCustomPrompt="1"/>
          </p:nvPr>
        </p:nvSpPr>
        <p:spPr>
          <a:xfrm>
            <a:off x="6464970"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7" name="Espace réservé du texte 12">
            <a:extLst>
              <a:ext uri="{FF2B5EF4-FFF2-40B4-BE49-F238E27FC236}">
                <a16:creationId xmlns:a16="http://schemas.microsoft.com/office/drawing/2014/main" id="{D75F4C70-7D37-6422-549C-8BC029446EC5}"/>
              </a:ext>
            </a:extLst>
          </p:cNvPr>
          <p:cNvSpPr>
            <a:spLocks noGrp="1"/>
          </p:cNvSpPr>
          <p:nvPr>
            <p:ph type="body" sz="quarter" idx="17" hasCustomPrompt="1"/>
          </p:nvPr>
        </p:nvSpPr>
        <p:spPr>
          <a:xfrm>
            <a:off x="7174583"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8" name="Espace réservé du texte 3">
            <a:extLst>
              <a:ext uri="{FF2B5EF4-FFF2-40B4-BE49-F238E27FC236}">
                <a16:creationId xmlns:a16="http://schemas.microsoft.com/office/drawing/2014/main" id="{F42EDF3E-2673-2006-0186-D29AD86F8617}"/>
              </a:ext>
            </a:extLst>
          </p:cNvPr>
          <p:cNvSpPr>
            <a:spLocks noGrp="1"/>
          </p:cNvSpPr>
          <p:nvPr>
            <p:ph type="body" sz="quarter" idx="18" hasCustomPrompt="1"/>
          </p:nvPr>
        </p:nvSpPr>
        <p:spPr>
          <a:xfrm>
            <a:off x="695325"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1E5627AE-C427-2C90-9F92-A876CB22AE0C}"/>
              </a:ext>
            </a:extLst>
          </p:cNvPr>
          <p:cNvSpPr>
            <a:spLocks noGrp="1"/>
          </p:cNvSpPr>
          <p:nvPr>
            <p:ph type="body" sz="quarter" idx="19" hasCustomPrompt="1"/>
          </p:nvPr>
        </p:nvSpPr>
        <p:spPr>
          <a:xfrm>
            <a:off x="1404938"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0" name="Espace réservé du texte 3">
            <a:extLst>
              <a:ext uri="{FF2B5EF4-FFF2-40B4-BE49-F238E27FC236}">
                <a16:creationId xmlns:a16="http://schemas.microsoft.com/office/drawing/2014/main" id="{08FC9DE3-8C50-FB4E-D578-DAE00A91EA43}"/>
              </a:ext>
            </a:extLst>
          </p:cNvPr>
          <p:cNvSpPr>
            <a:spLocks noGrp="1"/>
          </p:cNvSpPr>
          <p:nvPr>
            <p:ph type="body" sz="quarter" idx="20" hasCustomPrompt="1"/>
          </p:nvPr>
        </p:nvSpPr>
        <p:spPr>
          <a:xfrm>
            <a:off x="6464970"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1" name="Espace réservé du texte 12">
            <a:extLst>
              <a:ext uri="{FF2B5EF4-FFF2-40B4-BE49-F238E27FC236}">
                <a16:creationId xmlns:a16="http://schemas.microsoft.com/office/drawing/2014/main" id="{ABEBFC6C-4F81-67C0-8740-118A5BBF06A1}"/>
              </a:ext>
            </a:extLst>
          </p:cNvPr>
          <p:cNvSpPr>
            <a:spLocks noGrp="1"/>
          </p:cNvSpPr>
          <p:nvPr>
            <p:ph type="body" sz="quarter" idx="21" hasCustomPrompt="1"/>
          </p:nvPr>
        </p:nvSpPr>
        <p:spPr>
          <a:xfrm>
            <a:off x="7174583"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2" name="Espace réservé du texte 3">
            <a:extLst>
              <a:ext uri="{FF2B5EF4-FFF2-40B4-BE49-F238E27FC236}">
                <a16:creationId xmlns:a16="http://schemas.microsoft.com/office/drawing/2014/main" id="{58593767-FBE3-512B-22ED-E3812B324B71}"/>
              </a:ext>
            </a:extLst>
          </p:cNvPr>
          <p:cNvSpPr>
            <a:spLocks noGrp="1"/>
          </p:cNvSpPr>
          <p:nvPr>
            <p:ph type="body" sz="quarter" idx="22" hasCustomPrompt="1"/>
          </p:nvPr>
        </p:nvSpPr>
        <p:spPr>
          <a:xfrm>
            <a:off x="694648"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886672C8-1E60-411E-1CFA-098486E5FC2A}"/>
              </a:ext>
            </a:extLst>
          </p:cNvPr>
          <p:cNvSpPr>
            <a:spLocks noGrp="1"/>
          </p:cNvSpPr>
          <p:nvPr>
            <p:ph type="body" sz="quarter" idx="23" hasCustomPrompt="1"/>
          </p:nvPr>
        </p:nvSpPr>
        <p:spPr>
          <a:xfrm>
            <a:off x="1404261"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4" name="Espace réservé du texte 3">
            <a:extLst>
              <a:ext uri="{FF2B5EF4-FFF2-40B4-BE49-F238E27FC236}">
                <a16:creationId xmlns:a16="http://schemas.microsoft.com/office/drawing/2014/main" id="{70390B80-2C6F-F656-0B5F-FFA695ADA3CD}"/>
              </a:ext>
            </a:extLst>
          </p:cNvPr>
          <p:cNvSpPr>
            <a:spLocks noGrp="1"/>
          </p:cNvSpPr>
          <p:nvPr>
            <p:ph type="body" sz="quarter" idx="24" hasCustomPrompt="1"/>
          </p:nvPr>
        </p:nvSpPr>
        <p:spPr>
          <a:xfrm>
            <a:off x="6464293"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5" name="Espace réservé du texte 12">
            <a:extLst>
              <a:ext uri="{FF2B5EF4-FFF2-40B4-BE49-F238E27FC236}">
                <a16:creationId xmlns:a16="http://schemas.microsoft.com/office/drawing/2014/main" id="{9511E3B7-8C14-A1A5-1AFB-90B6D87F2CB1}"/>
              </a:ext>
            </a:extLst>
          </p:cNvPr>
          <p:cNvSpPr>
            <a:spLocks noGrp="1"/>
          </p:cNvSpPr>
          <p:nvPr>
            <p:ph type="body" sz="quarter" idx="25" hasCustomPrompt="1"/>
          </p:nvPr>
        </p:nvSpPr>
        <p:spPr>
          <a:xfrm>
            <a:off x="7173906"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0" name="Espace réservé du texte 3">
            <a:extLst>
              <a:ext uri="{FF2B5EF4-FFF2-40B4-BE49-F238E27FC236}">
                <a16:creationId xmlns:a16="http://schemas.microsoft.com/office/drawing/2014/main" id="{3C6A7EAE-227C-0333-9F79-A563B41EC0B0}"/>
              </a:ext>
            </a:extLst>
          </p:cNvPr>
          <p:cNvSpPr>
            <a:spLocks noGrp="1"/>
          </p:cNvSpPr>
          <p:nvPr>
            <p:ph type="body" sz="quarter" idx="26" hasCustomPrompt="1"/>
          </p:nvPr>
        </p:nvSpPr>
        <p:spPr>
          <a:xfrm>
            <a:off x="693464"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2E66C591-A11D-4B8A-57B1-A050A585082A}"/>
              </a:ext>
            </a:extLst>
          </p:cNvPr>
          <p:cNvSpPr>
            <a:spLocks noGrp="1"/>
          </p:cNvSpPr>
          <p:nvPr>
            <p:ph type="body" sz="quarter" idx="27" hasCustomPrompt="1"/>
          </p:nvPr>
        </p:nvSpPr>
        <p:spPr>
          <a:xfrm>
            <a:off x="1403077"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2" name="Espace réservé du texte 3">
            <a:extLst>
              <a:ext uri="{FF2B5EF4-FFF2-40B4-BE49-F238E27FC236}">
                <a16:creationId xmlns:a16="http://schemas.microsoft.com/office/drawing/2014/main" id="{5AC6DE88-F043-182B-AAEF-A280B455B834}"/>
              </a:ext>
            </a:extLst>
          </p:cNvPr>
          <p:cNvSpPr>
            <a:spLocks noGrp="1"/>
          </p:cNvSpPr>
          <p:nvPr>
            <p:ph type="body" sz="quarter" idx="28" hasCustomPrompt="1"/>
          </p:nvPr>
        </p:nvSpPr>
        <p:spPr>
          <a:xfrm>
            <a:off x="6463109"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3" name="Espace réservé du texte 12">
            <a:extLst>
              <a:ext uri="{FF2B5EF4-FFF2-40B4-BE49-F238E27FC236}">
                <a16:creationId xmlns:a16="http://schemas.microsoft.com/office/drawing/2014/main" id="{F86C5F9C-2250-120C-852E-17DF2DE60AE7}"/>
              </a:ext>
            </a:extLst>
          </p:cNvPr>
          <p:cNvSpPr>
            <a:spLocks noGrp="1"/>
          </p:cNvSpPr>
          <p:nvPr>
            <p:ph type="body" sz="quarter" idx="29" hasCustomPrompt="1"/>
          </p:nvPr>
        </p:nvSpPr>
        <p:spPr>
          <a:xfrm>
            <a:off x="7172722"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4" name="Espace réservé du texte 3">
            <a:extLst>
              <a:ext uri="{FF2B5EF4-FFF2-40B4-BE49-F238E27FC236}">
                <a16:creationId xmlns:a16="http://schemas.microsoft.com/office/drawing/2014/main" id="{A02CBABD-95BD-3532-BD3B-A3E5E0F31C9E}"/>
              </a:ext>
            </a:extLst>
          </p:cNvPr>
          <p:cNvSpPr>
            <a:spLocks noGrp="1"/>
          </p:cNvSpPr>
          <p:nvPr>
            <p:ph type="body" sz="quarter" idx="30" hasCustomPrompt="1"/>
          </p:nvPr>
        </p:nvSpPr>
        <p:spPr>
          <a:xfrm>
            <a:off x="692787"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87F91DDE-9596-B7A3-FE82-E435B261F14A}"/>
              </a:ext>
            </a:extLst>
          </p:cNvPr>
          <p:cNvSpPr>
            <a:spLocks noGrp="1"/>
          </p:cNvSpPr>
          <p:nvPr>
            <p:ph type="body" sz="quarter" idx="31" hasCustomPrompt="1"/>
          </p:nvPr>
        </p:nvSpPr>
        <p:spPr>
          <a:xfrm>
            <a:off x="1402400"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6" name="Espace réservé du texte 3">
            <a:extLst>
              <a:ext uri="{FF2B5EF4-FFF2-40B4-BE49-F238E27FC236}">
                <a16:creationId xmlns:a16="http://schemas.microsoft.com/office/drawing/2014/main" id="{FD5170CF-50C0-4F6C-705F-CA808B116EFA}"/>
              </a:ext>
            </a:extLst>
          </p:cNvPr>
          <p:cNvSpPr>
            <a:spLocks noGrp="1"/>
          </p:cNvSpPr>
          <p:nvPr>
            <p:ph type="body" sz="quarter" idx="32" hasCustomPrompt="1"/>
          </p:nvPr>
        </p:nvSpPr>
        <p:spPr>
          <a:xfrm>
            <a:off x="6462432"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7" name="Espace réservé du texte 12">
            <a:extLst>
              <a:ext uri="{FF2B5EF4-FFF2-40B4-BE49-F238E27FC236}">
                <a16:creationId xmlns:a16="http://schemas.microsoft.com/office/drawing/2014/main" id="{C4EDF958-DBC5-B24F-90F9-5274EA3AAFD9}"/>
              </a:ext>
            </a:extLst>
          </p:cNvPr>
          <p:cNvSpPr>
            <a:spLocks noGrp="1"/>
          </p:cNvSpPr>
          <p:nvPr>
            <p:ph type="body" sz="quarter" idx="33" hasCustomPrompt="1"/>
          </p:nvPr>
        </p:nvSpPr>
        <p:spPr>
          <a:xfrm>
            <a:off x="7172045"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8" name="Espace réservé du texte 8">
            <a:extLst>
              <a:ext uri="{FF2B5EF4-FFF2-40B4-BE49-F238E27FC236}">
                <a16:creationId xmlns:a16="http://schemas.microsoft.com/office/drawing/2014/main" id="{AF4A9231-E321-0818-5D89-275CC425D9E3}"/>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5511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 1 column">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C89BF5-44F6-D3C5-0E07-9165D07C9E75}"/>
              </a:ext>
            </a:extLst>
          </p:cNvPr>
          <p:cNvSpPr>
            <a:spLocks noGrp="1"/>
          </p:cNvSpPr>
          <p:nvPr>
            <p:ph idx="1"/>
          </p:nvPr>
        </p:nvSpPr>
        <p:spPr/>
        <p:txBody>
          <a:bodyPr anchor="t" anchorCtr="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Titre 9">
            <a:extLst>
              <a:ext uri="{FF2B5EF4-FFF2-40B4-BE49-F238E27FC236}">
                <a16:creationId xmlns:a16="http://schemas.microsoft.com/office/drawing/2014/main" id="{2470EF96-8F52-9DC7-FFB7-A98EEA643767}"/>
              </a:ext>
            </a:extLst>
          </p:cNvPr>
          <p:cNvSpPr>
            <a:spLocks noGrp="1"/>
          </p:cNvSpPr>
          <p:nvPr>
            <p:ph type="title"/>
          </p:nvPr>
        </p:nvSpPr>
        <p:spPr/>
        <p:txBody>
          <a:bodyPr/>
          <a:lstStyle/>
          <a:p>
            <a:r>
              <a:rPr lang="fr-FR"/>
              <a:t>Modifiez le style du titre</a:t>
            </a:r>
            <a:endParaRPr lang="en-US"/>
          </a:p>
        </p:txBody>
      </p:sp>
      <p:sp>
        <p:nvSpPr>
          <p:cNvPr id="11" name="Espace réservé du texte 8">
            <a:extLst>
              <a:ext uri="{FF2B5EF4-FFF2-40B4-BE49-F238E27FC236}">
                <a16:creationId xmlns:a16="http://schemas.microsoft.com/office/drawing/2014/main" id="{121B8B79-86D2-A557-75F6-8A2C4A960FA5}"/>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788751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CC2F6-6F94-521F-E89C-8CB6AA357B3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14D1C833-57CE-15EF-5D5A-B277AE6304F9}"/>
              </a:ext>
            </a:extLst>
          </p:cNvPr>
          <p:cNvSpPr>
            <a:spLocks noGrp="1"/>
          </p:cNvSpPr>
          <p:nvPr>
            <p:ph sz="half" idx="1"/>
          </p:nvPr>
        </p:nvSpPr>
        <p:spPr>
          <a:xfrm>
            <a:off x="6960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Espace réservé du contenu 3">
            <a:extLst>
              <a:ext uri="{FF2B5EF4-FFF2-40B4-BE49-F238E27FC236}">
                <a16:creationId xmlns:a16="http://schemas.microsoft.com/office/drawing/2014/main" id="{133968FD-23C6-D542-CBC0-669D70A2F87A}"/>
              </a:ext>
            </a:extLst>
          </p:cNvPr>
          <p:cNvSpPr>
            <a:spLocks noGrp="1"/>
          </p:cNvSpPr>
          <p:nvPr>
            <p:ph sz="half" idx="2"/>
          </p:nvPr>
        </p:nvSpPr>
        <p:spPr>
          <a:xfrm>
            <a:off x="63144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CDC8B1F5-E1BD-4E14-DA3A-2EF54CC6214A}"/>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Espace réservé du texte 8">
            <a:extLst>
              <a:ext uri="{FF2B5EF4-FFF2-40B4-BE49-F238E27FC236}">
                <a16:creationId xmlns:a16="http://schemas.microsoft.com/office/drawing/2014/main" id="{1DE855B1-5A35-08E5-98D3-ED32C81BDE1A}"/>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7054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 2 columns with subititl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1974711-9403-92F6-12EF-503A2E308CD5}"/>
              </a:ext>
            </a:extLst>
          </p:cNvPr>
          <p:cNvSpPr>
            <a:spLocks noGrp="1"/>
          </p:cNvSpPr>
          <p:nvPr>
            <p:ph type="body" idx="1"/>
          </p:nvPr>
        </p:nvSpPr>
        <p:spPr>
          <a:xfrm>
            <a:off x="696000" y="2349500"/>
            <a:ext cx="5157787"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A34F213E-09F7-35B7-88BA-576C94FDE280}"/>
              </a:ext>
            </a:extLst>
          </p:cNvPr>
          <p:cNvSpPr>
            <a:spLocks noGrp="1"/>
          </p:cNvSpPr>
          <p:nvPr>
            <p:ph sz="half" idx="2"/>
          </p:nvPr>
        </p:nvSpPr>
        <p:spPr>
          <a:xfrm>
            <a:off x="696000" y="3173412"/>
            <a:ext cx="5157787" cy="30252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6AA51D94-60B1-4CBC-7E97-DF6281EC4D26}"/>
              </a:ext>
            </a:extLst>
          </p:cNvPr>
          <p:cNvSpPr>
            <a:spLocks noGrp="1"/>
          </p:cNvSpPr>
          <p:nvPr>
            <p:ph type="body" sz="quarter" idx="3"/>
          </p:nvPr>
        </p:nvSpPr>
        <p:spPr>
          <a:xfrm>
            <a:off x="6312812" y="2349500"/>
            <a:ext cx="5183188"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2A863FD-66DD-83A5-0EB4-E2DA2A2C26F3}"/>
              </a:ext>
            </a:extLst>
          </p:cNvPr>
          <p:cNvSpPr>
            <a:spLocks noGrp="1"/>
          </p:cNvSpPr>
          <p:nvPr>
            <p:ph sz="quarter" idx="4"/>
          </p:nvPr>
        </p:nvSpPr>
        <p:spPr>
          <a:xfrm>
            <a:off x="6312812" y="3173412"/>
            <a:ext cx="5183188" cy="302525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Espace réservé du numéro de diapositive 10">
            <a:extLst>
              <a:ext uri="{FF2B5EF4-FFF2-40B4-BE49-F238E27FC236}">
                <a16:creationId xmlns:a16="http://schemas.microsoft.com/office/drawing/2014/main" id="{954DF801-D208-5420-D8DF-1DFEE267AFE2}"/>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12" name="Titre 11">
            <a:extLst>
              <a:ext uri="{FF2B5EF4-FFF2-40B4-BE49-F238E27FC236}">
                <a16:creationId xmlns:a16="http://schemas.microsoft.com/office/drawing/2014/main" id="{CD869FB1-939C-8AFA-5854-E607A22084D4}"/>
              </a:ext>
            </a:extLst>
          </p:cNvPr>
          <p:cNvSpPr>
            <a:spLocks noGrp="1"/>
          </p:cNvSpPr>
          <p:nvPr>
            <p:ph type="title"/>
          </p:nvPr>
        </p:nvSpPr>
        <p:spPr/>
        <p:txBody>
          <a:bodyPr/>
          <a:lstStyle/>
          <a:p>
            <a:r>
              <a:rPr lang="fr-FR"/>
              <a:t>Modifiez le style du titre</a:t>
            </a:r>
            <a:endParaRPr lang="en-US"/>
          </a:p>
        </p:txBody>
      </p:sp>
      <p:sp>
        <p:nvSpPr>
          <p:cNvPr id="13" name="Espace réservé du texte 8">
            <a:extLst>
              <a:ext uri="{FF2B5EF4-FFF2-40B4-BE49-F238E27FC236}">
                <a16:creationId xmlns:a16="http://schemas.microsoft.com/office/drawing/2014/main" id="{4AF522F6-B8F3-AE1B-5E41-3AAE350DDBB1}"/>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593939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69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83139CF2-974A-31EB-49AB-8B8C82F82A16}"/>
              </a:ext>
            </a:extLst>
          </p:cNvPr>
          <p:cNvSpPr>
            <a:spLocks noGrp="1"/>
          </p:cNvSpPr>
          <p:nvPr>
            <p:ph type="body" sz="quarter" idx="17" hasCustomPrompt="1"/>
          </p:nvPr>
        </p:nvSpPr>
        <p:spPr>
          <a:xfrm>
            <a:off x="8256002"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5" name="Espace réservé du texte 12">
            <a:extLst>
              <a:ext uri="{FF2B5EF4-FFF2-40B4-BE49-F238E27FC236}">
                <a16:creationId xmlns:a16="http://schemas.microsoft.com/office/drawing/2014/main" id="{B03C5E25-23B2-0890-1BF2-5B36F7477A5B}"/>
              </a:ext>
            </a:extLst>
          </p:cNvPr>
          <p:cNvSpPr>
            <a:spLocks noGrp="1"/>
          </p:cNvSpPr>
          <p:nvPr>
            <p:ph type="body" sz="quarter" idx="18" hasCustomPrompt="1"/>
          </p:nvPr>
        </p:nvSpPr>
        <p:spPr>
          <a:xfrm>
            <a:off x="8256002"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7548B3A6-9E2D-BFCB-BC90-840786B67CCF}"/>
              </a:ext>
            </a:extLst>
          </p:cNvPr>
          <p:cNvSpPr>
            <a:spLocks noGrp="1"/>
          </p:cNvSpPr>
          <p:nvPr>
            <p:ph type="body" sz="quarter" idx="19" hasCustomPrompt="1"/>
          </p:nvPr>
        </p:nvSpPr>
        <p:spPr>
          <a:xfrm>
            <a:off x="447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CB963D4B-B258-4FE0-FDD7-4219988CDD99}"/>
              </a:ext>
            </a:extLst>
          </p:cNvPr>
          <p:cNvSpPr>
            <a:spLocks noGrp="1"/>
          </p:cNvSpPr>
          <p:nvPr>
            <p:ph type="body" sz="quarter" idx="20" hasCustomPrompt="1"/>
          </p:nvPr>
        </p:nvSpPr>
        <p:spPr>
          <a:xfrm>
            <a:off x="447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27522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ndard - Title only">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p:txBody>
          <a:bodyPr/>
          <a:lstStyle/>
          <a:p>
            <a:r>
              <a:rPr lang="fr-FR"/>
              <a:t>Modifiez le style du titre</a:t>
            </a:r>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3" name="Espace réservé du numéro de diapositive 2">
            <a:extLst>
              <a:ext uri="{FF2B5EF4-FFF2-40B4-BE49-F238E27FC236}">
                <a16:creationId xmlns:a16="http://schemas.microsoft.com/office/drawing/2014/main" id="{7259B92D-9B86-0989-C0BD-29D806D50464}"/>
              </a:ext>
            </a:extLst>
          </p:cNvPr>
          <p:cNvSpPr>
            <a:spLocks noGrp="1"/>
          </p:cNvSpPr>
          <p:nvPr>
            <p:ph type="sldNum" sz="quarter" idx="14"/>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398971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 Title only - W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a:xfrm>
            <a:off x="4527612" y="543295"/>
            <a:ext cx="6968388" cy="847184"/>
          </a:xfrm>
        </p:spPr>
        <p:txBody>
          <a:bodyPr/>
          <a:lstStyle/>
          <a:p>
            <a:r>
              <a:rPr lang="fr-FR"/>
              <a:t>Modifiez le style du titre</a:t>
            </a:r>
            <a:endParaRPr lang="en-US"/>
          </a:p>
        </p:txBody>
      </p:sp>
      <p:sp>
        <p:nvSpPr>
          <p:cNvPr id="7" name="Espace réservé du numéro de diapositive 6">
            <a:extLst>
              <a:ext uri="{FF2B5EF4-FFF2-40B4-BE49-F238E27FC236}">
                <a16:creationId xmlns:a16="http://schemas.microsoft.com/office/drawing/2014/main" id="{4DD28049-69C0-8EB6-1C6D-5D5E290E7D1C}"/>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2571627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tandard - Empty">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53371D3-1C36-F9E0-F047-86153E99500D}"/>
              </a:ext>
            </a:extLst>
          </p:cNvPr>
          <p:cNvSpPr>
            <a:spLocks noGrp="1"/>
          </p:cNvSpPr>
          <p:nvPr>
            <p:ph type="sldNum" sz="quarter" idx="10"/>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19035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 1/3 2/3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5B5106-96D0-721F-6A54-FACD6352636B}"/>
              </a:ext>
            </a:extLst>
          </p:cNvPr>
          <p:cNvSpPr>
            <a:spLocks noGrp="1"/>
          </p:cNvSpPr>
          <p:nvPr>
            <p:ph type="title"/>
          </p:nvPr>
        </p:nvSpPr>
        <p:spPr>
          <a:xfrm>
            <a:off x="696000" y="1347536"/>
            <a:ext cx="3932237" cy="1087656"/>
          </a:xfrm>
        </p:spPr>
        <p:txBody>
          <a:bodyPr anchor="b"/>
          <a:lstStyle>
            <a:lvl1pPr>
              <a:defRPr sz="3200"/>
            </a:lvl1pPr>
          </a:lstStyle>
          <a:p>
            <a:r>
              <a:rPr lang="fr-FR" dirty="0"/>
              <a:t>Modifiez le style du titre</a:t>
            </a:r>
            <a:endParaRPr lang="en-US" dirty="0"/>
          </a:p>
        </p:txBody>
      </p:sp>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5323800" y="1347535"/>
            <a:ext cx="6172200" cy="47837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97D936D-447D-5E74-300E-82305D7FB8B7}"/>
              </a:ext>
            </a:extLst>
          </p:cNvPr>
          <p:cNvSpPr>
            <a:spLocks noGrp="1"/>
          </p:cNvSpPr>
          <p:nvPr>
            <p:ph type="body" sz="half" idx="2"/>
          </p:nvPr>
        </p:nvSpPr>
        <p:spPr>
          <a:xfrm>
            <a:off x="696000" y="2589196"/>
            <a:ext cx="3932237" cy="351791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19409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andard -  2/3 1/3 columns ">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696000" y="2369399"/>
            <a:ext cx="6172200"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5" name="Titre 4">
            <a:extLst>
              <a:ext uri="{FF2B5EF4-FFF2-40B4-BE49-F238E27FC236}">
                <a16:creationId xmlns:a16="http://schemas.microsoft.com/office/drawing/2014/main" id="{D12B56A3-7CEA-97A1-351C-A111D9CABE57}"/>
              </a:ext>
            </a:extLst>
          </p:cNvPr>
          <p:cNvSpPr>
            <a:spLocks noGrp="1"/>
          </p:cNvSpPr>
          <p:nvPr>
            <p:ph type="title"/>
          </p:nvPr>
        </p:nvSpPr>
        <p:spPr/>
        <p:txBody>
          <a:bodyPr/>
          <a:lstStyle/>
          <a:p>
            <a:r>
              <a:rPr lang="fr-FR"/>
              <a:t>Modifiez le style du titre</a:t>
            </a:r>
            <a:endParaRPr lang="en-US"/>
          </a:p>
        </p:txBody>
      </p:sp>
      <p:sp>
        <p:nvSpPr>
          <p:cNvPr id="6" name="Espace réservé du contenu 2">
            <a:extLst>
              <a:ext uri="{FF2B5EF4-FFF2-40B4-BE49-F238E27FC236}">
                <a16:creationId xmlns:a16="http://schemas.microsoft.com/office/drawing/2014/main" id="{D8A1E075-1888-68D1-DE4F-00C71324BF81}"/>
              </a:ext>
            </a:extLst>
          </p:cNvPr>
          <p:cNvSpPr>
            <a:spLocks noGrp="1"/>
          </p:cNvSpPr>
          <p:nvPr>
            <p:ph idx="14"/>
          </p:nvPr>
        </p:nvSpPr>
        <p:spPr>
          <a:xfrm>
            <a:off x="7155402" y="2369399"/>
            <a:ext cx="4340598"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773437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xed - 2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A1EFEE6E-F767-24F8-8F7F-15FBD909A105}"/>
              </a:ext>
            </a:extLst>
          </p:cNvPr>
          <p:cNvSpPr/>
          <p:nvPr userDrawn="1"/>
        </p:nvSpPr>
        <p:spPr>
          <a:xfrm>
            <a:off x="627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5F0832A9-D9C2-C7AF-1F98-C680FB30CC39}"/>
              </a:ext>
            </a:extLst>
          </p:cNvPr>
          <p:cNvSpPr>
            <a:spLocks noGrp="1"/>
          </p:cNvSpPr>
          <p:nvPr>
            <p:ph type="body" sz="quarter" idx="17" hasCustomPrompt="1"/>
          </p:nvPr>
        </p:nvSpPr>
        <p:spPr>
          <a:xfrm>
            <a:off x="64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645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1ED7B6C0-DB8C-C4B9-4826-633BCF30F2A9}"/>
              </a:ext>
            </a:extLst>
          </p:cNvPr>
          <p:cNvSpPr>
            <a:spLocks noGrp="1"/>
          </p:cNvSpPr>
          <p:nvPr>
            <p:ph type="body" sz="quarter" idx="19" hasCustomPrompt="1"/>
          </p:nvPr>
        </p:nvSpPr>
        <p:spPr>
          <a:xfrm>
            <a:off x="645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009473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xed - 2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5999"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5999"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F26CACFC-8458-9A84-B792-8A6CE8DA6F3E}"/>
              </a:ext>
            </a:extLst>
          </p:cNvPr>
          <p:cNvSpPr/>
          <p:nvPr userDrawn="1"/>
        </p:nvSpPr>
        <p:spPr>
          <a:xfrm>
            <a:off x="6276002"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2D07576F-74A7-CD7A-559C-695E743DDF79}"/>
              </a:ext>
            </a:extLst>
          </p:cNvPr>
          <p:cNvSpPr>
            <a:spLocks noGrp="1"/>
          </p:cNvSpPr>
          <p:nvPr>
            <p:ph type="body" sz="quarter" idx="24" hasCustomPrompt="1"/>
          </p:nvPr>
        </p:nvSpPr>
        <p:spPr>
          <a:xfrm>
            <a:off x="64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F58F38D0-3F0B-6A87-EAA2-A818E79EAC4E}"/>
              </a:ext>
            </a:extLst>
          </p:cNvPr>
          <p:cNvSpPr>
            <a:spLocks noGrp="1"/>
          </p:cNvSpPr>
          <p:nvPr>
            <p:ph type="body" sz="quarter" idx="25" hasCustomPrompt="1"/>
          </p:nvPr>
        </p:nvSpPr>
        <p:spPr>
          <a:xfrm>
            <a:off x="6456001"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DF699DA6-5E7B-6C3B-C637-C66EF8BD8989}"/>
              </a:ext>
            </a:extLst>
          </p:cNvPr>
          <p:cNvSpPr>
            <a:spLocks noGrp="1"/>
          </p:cNvSpPr>
          <p:nvPr>
            <p:ph type="body" sz="quarter" idx="26" hasCustomPrompt="1"/>
          </p:nvPr>
        </p:nvSpPr>
        <p:spPr>
          <a:xfrm>
            <a:off x="6456001"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363998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e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7562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ed - 3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71748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d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459862DF-F56D-398A-B3FA-E476682FB7DB}"/>
              </a:ext>
            </a:extLst>
          </p:cNvPr>
          <p:cNvSpPr/>
          <p:nvPr userDrawn="1"/>
        </p:nvSpPr>
        <p:spPr>
          <a:xfrm>
            <a:off x="897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257150C9-8AFA-8691-7E25-25747B2AF739}"/>
              </a:ext>
            </a:extLst>
          </p:cNvPr>
          <p:cNvSpPr>
            <a:spLocks noGrp="1"/>
          </p:cNvSpPr>
          <p:nvPr>
            <p:ph type="body" sz="quarter" idx="17" hasCustomPrompt="1"/>
          </p:nvPr>
        </p:nvSpPr>
        <p:spPr>
          <a:xfrm>
            <a:off x="91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F822E110-0F04-6276-871E-8B2CF73DEFF6}"/>
              </a:ext>
            </a:extLst>
          </p:cNvPr>
          <p:cNvSpPr>
            <a:spLocks noGrp="1"/>
          </p:cNvSpPr>
          <p:nvPr>
            <p:ph type="body" sz="quarter" idx="18" hasCustomPrompt="1"/>
          </p:nvPr>
        </p:nvSpPr>
        <p:spPr>
          <a:xfrm>
            <a:off x="915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D96DF4B0-E2FD-8FAE-37D9-A080033BF441}"/>
              </a:ext>
            </a:extLst>
          </p:cNvPr>
          <p:cNvSpPr>
            <a:spLocks noGrp="1"/>
          </p:cNvSpPr>
          <p:nvPr>
            <p:ph type="body" sz="quarter" idx="19" hasCustomPrompt="1"/>
          </p:nvPr>
        </p:nvSpPr>
        <p:spPr>
          <a:xfrm>
            <a:off x="915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8" name="Shape 13">
            <a:extLst>
              <a:ext uri="{FF2B5EF4-FFF2-40B4-BE49-F238E27FC236}">
                <a16:creationId xmlns:a16="http://schemas.microsoft.com/office/drawing/2014/main" id="{6741EC31-E008-A4F4-CE21-1F6D57F484D7}"/>
              </a:ext>
            </a:extLst>
          </p:cNvPr>
          <p:cNvSpPr/>
          <p:nvPr userDrawn="1"/>
        </p:nvSpPr>
        <p:spPr>
          <a:xfrm>
            <a:off x="3473612"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79DD687C-DB86-E95A-9BCA-37C8B0FB42FA}"/>
              </a:ext>
            </a:extLst>
          </p:cNvPr>
          <p:cNvSpPr>
            <a:spLocks noGrp="1"/>
          </p:cNvSpPr>
          <p:nvPr>
            <p:ph type="body" sz="quarter" idx="20" hasCustomPrompt="1"/>
          </p:nvPr>
        </p:nvSpPr>
        <p:spPr>
          <a:xfrm>
            <a:off x="3653612"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CCF815C2-50D9-6498-3B8A-9E6D770C9214}"/>
              </a:ext>
            </a:extLst>
          </p:cNvPr>
          <p:cNvSpPr>
            <a:spLocks noGrp="1"/>
          </p:cNvSpPr>
          <p:nvPr>
            <p:ph type="body" sz="quarter" idx="21" hasCustomPrompt="1"/>
          </p:nvPr>
        </p:nvSpPr>
        <p:spPr>
          <a:xfrm>
            <a:off x="3653612"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1DCF5B58-9201-FB61-C4B7-6B8E3D64912F}"/>
              </a:ext>
            </a:extLst>
          </p:cNvPr>
          <p:cNvSpPr>
            <a:spLocks noGrp="1"/>
          </p:cNvSpPr>
          <p:nvPr>
            <p:ph type="body" sz="quarter" idx="22" hasCustomPrompt="1"/>
          </p:nvPr>
        </p:nvSpPr>
        <p:spPr>
          <a:xfrm>
            <a:off x="3653612"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188B0A79-9683-A2DA-B9F1-A8D2D9A64903}"/>
              </a:ext>
            </a:extLst>
          </p:cNvPr>
          <p:cNvSpPr/>
          <p:nvPr userDrawn="1"/>
        </p:nvSpPr>
        <p:spPr>
          <a:xfrm>
            <a:off x="6198388"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8C410FDB-E701-3DCD-87D1-BEBEA37BFFF0}"/>
              </a:ext>
            </a:extLst>
          </p:cNvPr>
          <p:cNvSpPr>
            <a:spLocks noGrp="1"/>
          </p:cNvSpPr>
          <p:nvPr>
            <p:ph type="body" sz="quarter" idx="23" hasCustomPrompt="1"/>
          </p:nvPr>
        </p:nvSpPr>
        <p:spPr>
          <a:xfrm>
            <a:off x="6378388"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886520B-33B0-9229-D07C-8BD2E445893B}"/>
              </a:ext>
            </a:extLst>
          </p:cNvPr>
          <p:cNvSpPr>
            <a:spLocks noGrp="1"/>
          </p:cNvSpPr>
          <p:nvPr>
            <p:ph type="body" sz="quarter" idx="24" hasCustomPrompt="1"/>
          </p:nvPr>
        </p:nvSpPr>
        <p:spPr>
          <a:xfrm>
            <a:off x="6378388"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BD266CD8-CDDA-6E60-3C7B-1F0810E40FC8}"/>
              </a:ext>
            </a:extLst>
          </p:cNvPr>
          <p:cNvSpPr>
            <a:spLocks noGrp="1"/>
          </p:cNvSpPr>
          <p:nvPr>
            <p:ph type="body" sz="quarter" idx="25" hasCustomPrompt="1"/>
          </p:nvPr>
        </p:nvSpPr>
        <p:spPr>
          <a:xfrm>
            <a:off x="6378388"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012831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d - 4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7B1C5F78-1375-5D2F-0896-0E21FF982FD2}"/>
              </a:ext>
            </a:extLst>
          </p:cNvPr>
          <p:cNvSpPr/>
          <p:nvPr userDrawn="1"/>
        </p:nvSpPr>
        <p:spPr>
          <a:xfrm>
            <a:off x="8976002"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B368152A-8F7D-A337-EB30-8A6D51FF3C7C}"/>
              </a:ext>
            </a:extLst>
          </p:cNvPr>
          <p:cNvSpPr>
            <a:spLocks noGrp="1"/>
          </p:cNvSpPr>
          <p:nvPr>
            <p:ph type="body" sz="quarter" idx="24" hasCustomPrompt="1"/>
          </p:nvPr>
        </p:nvSpPr>
        <p:spPr>
          <a:xfrm>
            <a:off x="91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6C7D2C27-B532-BB68-71D9-93F8FA2DBFD1}"/>
              </a:ext>
            </a:extLst>
          </p:cNvPr>
          <p:cNvSpPr>
            <a:spLocks noGrp="1"/>
          </p:cNvSpPr>
          <p:nvPr>
            <p:ph type="body" sz="quarter" idx="25" hasCustomPrompt="1"/>
          </p:nvPr>
        </p:nvSpPr>
        <p:spPr>
          <a:xfrm>
            <a:off x="9156002"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CE618A53-AF85-DFE6-61EA-11171A924343}"/>
              </a:ext>
            </a:extLst>
          </p:cNvPr>
          <p:cNvSpPr>
            <a:spLocks noGrp="1"/>
          </p:cNvSpPr>
          <p:nvPr>
            <p:ph type="body" sz="quarter" idx="26" hasCustomPrompt="1"/>
          </p:nvPr>
        </p:nvSpPr>
        <p:spPr>
          <a:xfrm>
            <a:off x="9156002"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2" name="Shape 13">
            <a:extLst>
              <a:ext uri="{FF2B5EF4-FFF2-40B4-BE49-F238E27FC236}">
                <a16:creationId xmlns:a16="http://schemas.microsoft.com/office/drawing/2014/main" id="{F4C85711-1439-EA4B-5CA9-6663C0C93296}"/>
              </a:ext>
            </a:extLst>
          </p:cNvPr>
          <p:cNvSpPr/>
          <p:nvPr userDrawn="1"/>
        </p:nvSpPr>
        <p:spPr>
          <a:xfrm>
            <a:off x="3439201"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3" name="Espace réservé du texte 3">
            <a:extLst>
              <a:ext uri="{FF2B5EF4-FFF2-40B4-BE49-F238E27FC236}">
                <a16:creationId xmlns:a16="http://schemas.microsoft.com/office/drawing/2014/main" id="{91BA1ADA-B9D9-3072-B64A-0E03C3C22C15}"/>
              </a:ext>
            </a:extLst>
          </p:cNvPr>
          <p:cNvSpPr>
            <a:spLocks noGrp="1"/>
          </p:cNvSpPr>
          <p:nvPr>
            <p:ph type="body" sz="quarter" idx="27" hasCustomPrompt="1"/>
          </p:nvPr>
        </p:nvSpPr>
        <p:spPr>
          <a:xfrm>
            <a:off x="3663445"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6A7234C-05E0-FE4E-451B-9023D7A76348}"/>
              </a:ext>
            </a:extLst>
          </p:cNvPr>
          <p:cNvSpPr>
            <a:spLocks noGrp="1"/>
          </p:cNvSpPr>
          <p:nvPr>
            <p:ph type="body" sz="quarter" idx="28" hasCustomPrompt="1"/>
          </p:nvPr>
        </p:nvSpPr>
        <p:spPr>
          <a:xfrm>
            <a:off x="3663445"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556065E6-1309-5E0C-EA94-8DBACD2CC477}"/>
              </a:ext>
            </a:extLst>
          </p:cNvPr>
          <p:cNvSpPr>
            <a:spLocks noGrp="1"/>
          </p:cNvSpPr>
          <p:nvPr>
            <p:ph type="body" sz="quarter" idx="29" hasCustomPrompt="1"/>
          </p:nvPr>
        </p:nvSpPr>
        <p:spPr>
          <a:xfrm>
            <a:off x="3663445"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6" name="Shape 13">
            <a:extLst>
              <a:ext uri="{FF2B5EF4-FFF2-40B4-BE49-F238E27FC236}">
                <a16:creationId xmlns:a16="http://schemas.microsoft.com/office/drawing/2014/main" id="{E6FD8120-B67E-392D-15C1-6D676EB35283}"/>
              </a:ext>
            </a:extLst>
          </p:cNvPr>
          <p:cNvSpPr/>
          <p:nvPr userDrawn="1"/>
        </p:nvSpPr>
        <p:spPr>
          <a:xfrm>
            <a:off x="62328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7" name="Espace réservé du texte 3">
            <a:extLst>
              <a:ext uri="{FF2B5EF4-FFF2-40B4-BE49-F238E27FC236}">
                <a16:creationId xmlns:a16="http://schemas.microsoft.com/office/drawing/2014/main" id="{C22C5930-01F0-0E22-79B9-2994092BE80A}"/>
              </a:ext>
            </a:extLst>
          </p:cNvPr>
          <p:cNvSpPr>
            <a:spLocks noGrp="1"/>
          </p:cNvSpPr>
          <p:nvPr>
            <p:ph type="body" sz="quarter" idx="30" hasCustomPrompt="1"/>
          </p:nvPr>
        </p:nvSpPr>
        <p:spPr>
          <a:xfrm>
            <a:off x="64128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8" name="Espace réservé du texte 12">
            <a:extLst>
              <a:ext uri="{FF2B5EF4-FFF2-40B4-BE49-F238E27FC236}">
                <a16:creationId xmlns:a16="http://schemas.microsoft.com/office/drawing/2014/main" id="{1D020CE9-2BC5-82DA-40B7-A001B1470F21}"/>
              </a:ext>
            </a:extLst>
          </p:cNvPr>
          <p:cNvSpPr>
            <a:spLocks noGrp="1"/>
          </p:cNvSpPr>
          <p:nvPr>
            <p:ph type="body" sz="quarter" idx="31" hasCustomPrompt="1"/>
          </p:nvPr>
        </p:nvSpPr>
        <p:spPr>
          <a:xfrm>
            <a:off x="64128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3C6EE50-C2CA-E247-EE03-644E4B3F90C3}"/>
              </a:ext>
            </a:extLst>
          </p:cNvPr>
          <p:cNvSpPr>
            <a:spLocks noGrp="1"/>
          </p:cNvSpPr>
          <p:nvPr>
            <p:ph type="body" sz="quarter" idx="32" hasCustomPrompt="1"/>
          </p:nvPr>
        </p:nvSpPr>
        <p:spPr>
          <a:xfrm>
            <a:off x="64128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921149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xed - 3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135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8" name="Shape 13">
            <a:extLst>
              <a:ext uri="{FF2B5EF4-FFF2-40B4-BE49-F238E27FC236}">
                <a16:creationId xmlns:a16="http://schemas.microsoft.com/office/drawing/2014/main" id="{7978CBC7-45E0-6373-CF23-CD07AFBE2705}"/>
              </a:ext>
            </a:extLst>
          </p:cNvPr>
          <p:cNvSpPr/>
          <p:nvPr userDrawn="1"/>
        </p:nvSpPr>
        <p:spPr>
          <a:xfrm>
            <a:off x="807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D01E1FEC-8FBA-3F8B-19D2-8A190B908D35}"/>
              </a:ext>
            </a:extLst>
          </p:cNvPr>
          <p:cNvSpPr>
            <a:spLocks noGrp="1"/>
          </p:cNvSpPr>
          <p:nvPr>
            <p:ph type="body" sz="quarter" idx="17" hasCustomPrompt="1"/>
          </p:nvPr>
        </p:nvSpPr>
        <p:spPr>
          <a:xfrm>
            <a:off x="825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53C0DAAA-293C-F5E5-A53D-6069C50CEA12}"/>
              </a:ext>
            </a:extLst>
          </p:cNvPr>
          <p:cNvSpPr>
            <a:spLocks noGrp="1"/>
          </p:cNvSpPr>
          <p:nvPr>
            <p:ph type="body" sz="quarter" idx="18" hasCustomPrompt="1"/>
          </p:nvPr>
        </p:nvSpPr>
        <p:spPr>
          <a:xfrm>
            <a:off x="873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253012EA-FB5A-B044-376E-7C7C9A367564}"/>
              </a:ext>
            </a:extLst>
          </p:cNvPr>
          <p:cNvSpPr>
            <a:spLocks noGrp="1"/>
          </p:cNvSpPr>
          <p:nvPr>
            <p:ph type="body" sz="quarter" idx="19" hasCustomPrompt="1"/>
          </p:nvPr>
        </p:nvSpPr>
        <p:spPr>
          <a:xfrm>
            <a:off x="825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2142FA11-A1B6-6CED-A7A6-8326CB846972}"/>
              </a:ext>
            </a:extLst>
          </p:cNvPr>
          <p:cNvSpPr/>
          <p:nvPr userDrawn="1"/>
        </p:nvSpPr>
        <p:spPr>
          <a:xfrm>
            <a:off x="438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31B0C20E-5CD4-1EB1-30F3-96B315F00BD8}"/>
              </a:ext>
            </a:extLst>
          </p:cNvPr>
          <p:cNvSpPr>
            <a:spLocks noGrp="1"/>
          </p:cNvSpPr>
          <p:nvPr>
            <p:ph type="body" sz="quarter" idx="20" hasCustomPrompt="1"/>
          </p:nvPr>
        </p:nvSpPr>
        <p:spPr>
          <a:xfrm>
            <a:off x="456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4BA39784-B240-5F57-923D-E054D3F72962}"/>
              </a:ext>
            </a:extLst>
          </p:cNvPr>
          <p:cNvSpPr>
            <a:spLocks noGrp="1"/>
          </p:cNvSpPr>
          <p:nvPr>
            <p:ph type="body" sz="quarter" idx="21" hasCustomPrompt="1"/>
          </p:nvPr>
        </p:nvSpPr>
        <p:spPr>
          <a:xfrm>
            <a:off x="504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4B540A9E-14DE-E557-8445-BA9D6922F783}"/>
              </a:ext>
            </a:extLst>
          </p:cNvPr>
          <p:cNvSpPr>
            <a:spLocks noGrp="1"/>
          </p:cNvSpPr>
          <p:nvPr>
            <p:ph type="body" sz="quarter" idx="22" hasCustomPrompt="1"/>
          </p:nvPr>
        </p:nvSpPr>
        <p:spPr>
          <a:xfrm>
            <a:off x="456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9" name="Shape 13">
            <a:extLst>
              <a:ext uri="{FF2B5EF4-FFF2-40B4-BE49-F238E27FC236}">
                <a16:creationId xmlns:a16="http://schemas.microsoft.com/office/drawing/2014/main" id="{5C4B1955-2F95-9280-14E0-B960BC3677DA}"/>
              </a:ext>
            </a:extLst>
          </p:cNvPr>
          <p:cNvSpPr/>
          <p:nvPr userDrawn="1"/>
        </p:nvSpPr>
        <p:spPr>
          <a:xfrm>
            <a:off x="69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0" name="Espace réservé du texte 3">
            <a:extLst>
              <a:ext uri="{FF2B5EF4-FFF2-40B4-BE49-F238E27FC236}">
                <a16:creationId xmlns:a16="http://schemas.microsoft.com/office/drawing/2014/main" id="{4FBA8AC7-7C68-EF1A-16E6-40CDE81FE910}"/>
              </a:ext>
            </a:extLst>
          </p:cNvPr>
          <p:cNvSpPr>
            <a:spLocks noGrp="1"/>
          </p:cNvSpPr>
          <p:nvPr>
            <p:ph type="body" sz="quarter" idx="23" hasCustomPrompt="1"/>
          </p:nvPr>
        </p:nvSpPr>
        <p:spPr>
          <a:xfrm>
            <a:off x="87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6D28D858-BB49-43EE-724C-15786D81D9D0}"/>
              </a:ext>
            </a:extLst>
          </p:cNvPr>
          <p:cNvSpPr>
            <a:spLocks noGrp="1"/>
          </p:cNvSpPr>
          <p:nvPr>
            <p:ph type="body" sz="quarter" idx="24" hasCustomPrompt="1"/>
          </p:nvPr>
        </p:nvSpPr>
        <p:spPr>
          <a:xfrm>
            <a:off x="135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2" name="Espace réservé du texte 12">
            <a:extLst>
              <a:ext uri="{FF2B5EF4-FFF2-40B4-BE49-F238E27FC236}">
                <a16:creationId xmlns:a16="http://schemas.microsoft.com/office/drawing/2014/main" id="{F94A6D25-64EC-1252-8E77-8CA778F73772}"/>
              </a:ext>
            </a:extLst>
          </p:cNvPr>
          <p:cNvSpPr>
            <a:spLocks noGrp="1"/>
          </p:cNvSpPr>
          <p:nvPr>
            <p:ph type="body" sz="quarter" idx="25" hasCustomPrompt="1"/>
          </p:nvPr>
        </p:nvSpPr>
        <p:spPr>
          <a:xfrm>
            <a:off x="87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3" name="Shape 13">
            <a:extLst>
              <a:ext uri="{FF2B5EF4-FFF2-40B4-BE49-F238E27FC236}">
                <a16:creationId xmlns:a16="http://schemas.microsoft.com/office/drawing/2014/main" id="{322BE1A0-F056-8288-ED0A-A32E39079076}"/>
              </a:ext>
            </a:extLst>
          </p:cNvPr>
          <p:cNvSpPr/>
          <p:nvPr userDrawn="1"/>
        </p:nvSpPr>
        <p:spPr>
          <a:xfrm>
            <a:off x="807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4" name="Espace réservé du texte 3">
            <a:extLst>
              <a:ext uri="{FF2B5EF4-FFF2-40B4-BE49-F238E27FC236}">
                <a16:creationId xmlns:a16="http://schemas.microsoft.com/office/drawing/2014/main" id="{BD732D84-8C7E-B81D-2BD5-6B6360F18714}"/>
              </a:ext>
            </a:extLst>
          </p:cNvPr>
          <p:cNvSpPr>
            <a:spLocks noGrp="1"/>
          </p:cNvSpPr>
          <p:nvPr>
            <p:ph type="body" sz="quarter" idx="26" hasCustomPrompt="1"/>
          </p:nvPr>
        </p:nvSpPr>
        <p:spPr>
          <a:xfrm>
            <a:off x="825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E51B75EC-6604-BCB1-25FA-DF08FB28FC4A}"/>
              </a:ext>
            </a:extLst>
          </p:cNvPr>
          <p:cNvSpPr>
            <a:spLocks noGrp="1"/>
          </p:cNvSpPr>
          <p:nvPr>
            <p:ph type="body" sz="quarter" idx="27" hasCustomPrompt="1"/>
          </p:nvPr>
        </p:nvSpPr>
        <p:spPr>
          <a:xfrm>
            <a:off x="873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6" name="Espace réservé du texte 12">
            <a:extLst>
              <a:ext uri="{FF2B5EF4-FFF2-40B4-BE49-F238E27FC236}">
                <a16:creationId xmlns:a16="http://schemas.microsoft.com/office/drawing/2014/main" id="{A609108B-9B13-1DCC-2288-5FFD7104BCBD}"/>
              </a:ext>
            </a:extLst>
          </p:cNvPr>
          <p:cNvSpPr>
            <a:spLocks noGrp="1"/>
          </p:cNvSpPr>
          <p:nvPr>
            <p:ph type="body" sz="quarter" idx="28" hasCustomPrompt="1"/>
          </p:nvPr>
        </p:nvSpPr>
        <p:spPr>
          <a:xfrm>
            <a:off x="825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7" name="Shape 13">
            <a:extLst>
              <a:ext uri="{FF2B5EF4-FFF2-40B4-BE49-F238E27FC236}">
                <a16:creationId xmlns:a16="http://schemas.microsoft.com/office/drawing/2014/main" id="{6BE6177F-7891-4172-C94E-1E9A555FDEF4}"/>
              </a:ext>
            </a:extLst>
          </p:cNvPr>
          <p:cNvSpPr/>
          <p:nvPr userDrawn="1"/>
        </p:nvSpPr>
        <p:spPr>
          <a:xfrm>
            <a:off x="438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8" name="Espace réservé du texte 3">
            <a:extLst>
              <a:ext uri="{FF2B5EF4-FFF2-40B4-BE49-F238E27FC236}">
                <a16:creationId xmlns:a16="http://schemas.microsoft.com/office/drawing/2014/main" id="{87EEF48A-A86A-B1B3-97DA-4D033C5E206B}"/>
              </a:ext>
            </a:extLst>
          </p:cNvPr>
          <p:cNvSpPr>
            <a:spLocks noGrp="1"/>
          </p:cNvSpPr>
          <p:nvPr>
            <p:ph type="body" sz="quarter" idx="29" hasCustomPrompt="1"/>
          </p:nvPr>
        </p:nvSpPr>
        <p:spPr>
          <a:xfrm>
            <a:off x="456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9" name="Espace réservé du texte 12">
            <a:extLst>
              <a:ext uri="{FF2B5EF4-FFF2-40B4-BE49-F238E27FC236}">
                <a16:creationId xmlns:a16="http://schemas.microsoft.com/office/drawing/2014/main" id="{D3CDC65E-5FB0-60ED-F470-780811CF5C3E}"/>
              </a:ext>
            </a:extLst>
          </p:cNvPr>
          <p:cNvSpPr>
            <a:spLocks noGrp="1"/>
          </p:cNvSpPr>
          <p:nvPr>
            <p:ph type="body" sz="quarter" idx="30" hasCustomPrompt="1"/>
          </p:nvPr>
        </p:nvSpPr>
        <p:spPr>
          <a:xfrm>
            <a:off x="504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40" name="Espace réservé du texte 12">
            <a:extLst>
              <a:ext uri="{FF2B5EF4-FFF2-40B4-BE49-F238E27FC236}">
                <a16:creationId xmlns:a16="http://schemas.microsoft.com/office/drawing/2014/main" id="{B0FF2F6E-B5CB-D3CF-2E6D-73A44A5349AC}"/>
              </a:ext>
            </a:extLst>
          </p:cNvPr>
          <p:cNvSpPr>
            <a:spLocks noGrp="1"/>
          </p:cNvSpPr>
          <p:nvPr>
            <p:ph type="body" sz="quarter" idx="31" hasCustomPrompt="1"/>
          </p:nvPr>
        </p:nvSpPr>
        <p:spPr>
          <a:xfrm>
            <a:off x="456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674779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oxed - 2 columns X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80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7" name="Espace réservé du texte 12">
            <a:extLst>
              <a:ext uri="{FF2B5EF4-FFF2-40B4-BE49-F238E27FC236}">
                <a16:creationId xmlns:a16="http://schemas.microsoft.com/office/drawing/2014/main" id="{3A1F941B-3B70-590C-9946-FE6E6EBA99D2}"/>
              </a:ext>
            </a:extLst>
          </p:cNvPr>
          <p:cNvSpPr>
            <a:spLocks noGrp="1"/>
          </p:cNvSpPr>
          <p:nvPr>
            <p:ph type="body" sz="quarter" idx="19" hasCustomPrompt="1"/>
          </p:nvPr>
        </p:nvSpPr>
        <p:spPr>
          <a:xfrm>
            <a:off x="69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8" name="Espace réservé du texte 12">
            <a:extLst>
              <a:ext uri="{FF2B5EF4-FFF2-40B4-BE49-F238E27FC236}">
                <a16:creationId xmlns:a16="http://schemas.microsoft.com/office/drawing/2014/main" id="{65E855A2-E9E2-A838-C6E3-EDAB7B29B51E}"/>
              </a:ext>
            </a:extLst>
          </p:cNvPr>
          <p:cNvSpPr>
            <a:spLocks noGrp="1"/>
          </p:cNvSpPr>
          <p:nvPr>
            <p:ph type="body" sz="quarter" idx="20" hasCustomPrompt="1"/>
          </p:nvPr>
        </p:nvSpPr>
        <p:spPr>
          <a:xfrm>
            <a:off x="80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D688FBF-D5DB-5218-BC18-E10AB473AA58}"/>
              </a:ext>
            </a:extLst>
          </p:cNvPr>
          <p:cNvSpPr>
            <a:spLocks noGrp="1"/>
          </p:cNvSpPr>
          <p:nvPr>
            <p:ph type="body" sz="quarter" idx="21" hasCustomPrompt="1"/>
          </p:nvPr>
        </p:nvSpPr>
        <p:spPr>
          <a:xfrm>
            <a:off x="69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0" name="Espace réservé du texte 12">
            <a:extLst>
              <a:ext uri="{FF2B5EF4-FFF2-40B4-BE49-F238E27FC236}">
                <a16:creationId xmlns:a16="http://schemas.microsoft.com/office/drawing/2014/main" id="{DCEC2FE8-6ADB-E82E-DB45-8513236E3CF3}"/>
              </a:ext>
            </a:extLst>
          </p:cNvPr>
          <p:cNvSpPr>
            <a:spLocks noGrp="1"/>
          </p:cNvSpPr>
          <p:nvPr>
            <p:ph type="body" sz="quarter" idx="22" hasCustomPrompt="1"/>
          </p:nvPr>
        </p:nvSpPr>
        <p:spPr>
          <a:xfrm>
            <a:off x="80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1" name="Espace réservé du texte 12">
            <a:extLst>
              <a:ext uri="{FF2B5EF4-FFF2-40B4-BE49-F238E27FC236}">
                <a16:creationId xmlns:a16="http://schemas.microsoft.com/office/drawing/2014/main" id="{75FCA1F2-50A3-7341-35ED-AFCC696C2456}"/>
              </a:ext>
            </a:extLst>
          </p:cNvPr>
          <p:cNvSpPr>
            <a:spLocks noGrp="1"/>
          </p:cNvSpPr>
          <p:nvPr>
            <p:ph type="body" sz="quarter" idx="23" hasCustomPrompt="1"/>
          </p:nvPr>
        </p:nvSpPr>
        <p:spPr>
          <a:xfrm>
            <a:off x="69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2" name="Espace réservé du texte 12">
            <a:extLst>
              <a:ext uri="{FF2B5EF4-FFF2-40B4-BE49-F238E27FC236}">
                <a16:creationId xmlns:a16="http://schemas.microsoft.com/office/drawing/2014/main" id="{518B89DA-CEE5-F07E-434C-A69254B2DCD0}"/>
              </a:ext>
            </a:extLst>
          </p:cNvPr>
          <p:cNvSpPr>
            <a:spLocks noGrp="1"/>
          </p:cNvSpPr>
          <p:nvPr>
            <p:ph type="body" sz="quarter" idx="24" hasCustomPrompt="1"/>
          </p:nvPr>
        </p:nvSpPr>
        <p:spPr>
          <a:xfrm>
            <a:off x="80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3" name="Espace réservé du texte 12">
            <a:extLst>
              <a:ext uri="{FF2B5EF4-FFF2-40B4-BE49-F238E27FC236}">
                <a16:creationId xmlns:a16="http://schemas.microsoft.com/office/drawing/2014/main" id="{BB18EC85-651E-9533-0A36-398C4222B82B}"/>
              </a:ext>
            </a:extLst>
          </p:cNvPr>
          <p:cNvSpPr>
            <a:spLocks noGrp="1"/>
          </p:cNvSpPr>
          <p:nvPr>
            <p:ph type="body" sz="quarter" idx="25" hasCustomPrompt="1"/>
          </p:nvPr>
        </p:nvSpPr>
        <p:spPr>
          <a:xfrm>
            <a:off x="627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4" name="Espace réservé du texte 12">
            <a:extLst>
              <a:ext uri="{FF2B5EF4-FFF2-40B4-BE49-F238E27FC236}">
                <a16:creationId xmlns:a16="http://schemas.microsoft.com/office/drawing/2014/main" id="{E452435A-B9C6-C13E-AA12-C545867692BF}"/>
              </a:ext>
            </a:extLst>
          </p:cNvPr>
          <p:cNvSpPr>
            <a:spLocks noGrp="1"/>
          </p:cNvSpPr>
          <p:nvPr>
            <p:ph type="body" sz="quarter" idx="26" hasCustomPrompt="1"/>
          </p:nvPr>
        </p:nvSpPr>
        <p:spPr>
          <a:xfrm>
            <a:off x="638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5" name="Espace réservé du texte 12">
            <a:extLst>
              <a:ext uri="{FF2B5EF4-FFF2-40B4-BE49-F238E27FC236}">
                <a16:creationId xmlns:a16="http://schemas.microsoft.com/office/drawing/2014/main" id="{9E7A25A1-58D1-CE57-8B2C-ACBE790776D7}"/>
              </a:ext>
            </a:extLst>
          </p:cNvPr>
          <p:cNvSpPr>
            <a:spLocks noGrp="1"/>
          </p:cNvSpPr>
          <p:nvPr>
            <p:ph type="body" sz="quarter" idx="27" hasCustomPrompt="1"/>
          </p:nvPr>
        </p:nvSpPr>
        <p:spPr>
          <a:xfrm>
            <a:off x="627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6" name="Espace réservé du texte 12">
            <a:extLst>
              <a:ext uri="{FF2B5EF4-FFF2-40B4-BE49-F238E27FC236}">
                <a16:creationId xmlns:a16="http://schemas.microsoft.com/office/drawing/2014/main" id="{4056FF7A-49A9-8B01-6981-0B47706B3CAA}"/>
              </a:ext>
            </a:extLst>
          </p:cNvPr>
          <p:cNvSpPr>
            <a:spLocks noGrp="1"/>
          </p:cNvSpPr>
          <p:nvPr>
            <p:ph type="body" sz="quarter" idx="28" hasCustomPrompt="1"/>
          </p:nvPr>
        </p:nvSpPr>
        <p:spPr>
          <a:xfrm>
            <a:off x="638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7" name="Espace réservé du texte 12">
            <a:extLst>
              <a:ext uri="{FF2B5EF4-FFF2-40B4-BE49-F238E27FC236}">
                <a16:creationId xmlns:a16="http://schemas.microsoft.com/office/drawing/2014/main" id="{D8183968-5E34-00E9-F632-4BC91EF46975}"/>
              </a:ext>
            </a:extLst>
          </p:cNvPr>
          <p:cNvSpPr>
            <a:spLocks noGrp="1"/>
          </p:cNvSpPr>
          <p:nvPr>
            <p:ph type="body" sz="quarter" idx="29" hasCustomPrompt="1"/>
          </p:nvPr>
        </p:nvSpPr>
        <p:spPr>
          <a:xfrm>
            <a:off x="627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8" name="Espace réservé du texte 12">
            <a:extLst>
              <a:ext uri="{FF2B5EF4-FFF2-40B4-BE49-F238E27FC236}">
                <a16:creationId xmlns:a16="http://schemas.microsoft.com/office/drawing/2014/main" id="{61E18FAA-D2D9-E9F0-4BBF-815DF6A74485}"/>
              </a:ext>
            </a:extLst>
          </p:cNvPr>
          <p:cNvSpPr>
            <a:spLocks noGrp="1"/>
          </p:cNvSpPr>
          <p:nvPr>
            <p:ph type="body" sz="quarter" idx="30" hasCustomPrompt="1"/>
          </p:nvPr>
        </p:nvSpPr>
        <p:spPr>
          <a:xfrm>
            <a:off x="638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9" name="Espace réservé du texte 12">
            <a:extLst>
              <a:ext uri="{FF2B5EF4-FFF2-40B4-BE49-F238E27FC236}">
                <a16:creationId xmlns:a16="http://schemas.microsoft.com/office/drawing/2014/main" id="{A958646C-1624-93A9-12B2-7A5585751792}"/>
              </a:ext>
            </a:extLst>
          </p:cNvPr>
          <p:cNvSpPr>
            <a:spLocks noGrp="1"/>
          </p:cNvSpPr>
          <p:nvPr>
            <p:ph type="body" sz="quarter" idx="31" hasCustomPrompt="1"/>
          </p:nvPr>
        </p:nvSpPr>
        <p:spPr>
          <a:xfrm>
            <a:off x="627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40" name="Espace réservé du texte 12">
            <a:extLst>
              <a:ext uri="{FF2B5EF4-FFF2-40B4-BE49-F238E27FC236}">
                <a16:creationId xmlns:a16="http://schemas.microsoft.com/office/drawing/2014/main" id="{2245C934-D50D-154A-73CD-F646307FF9E6}"/>
              </a:ext>
            </a:extLst>
          </p:cNvPr>
          <p:cNvSpPr>
            <a:spLocks noGrp="1"/>
          </p:cNvSpPr>
          <p:nvPr>
            <p:ph type="body" sz="quarter" idx="32" hasCustomPrompt="1"/>
          </p:nvPr>
        </p:nvSpPr>
        <p:spPr>
          <a:xfrm>
            <a:off x="638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43" name="Espace réservé du texte 12">
            <a:extLst>
              <a:ext uri="{FF2B5EF4-FFF2-40B4-BE49-F238E27FC236}">
                <a16:creationId xmlns:a16="http://schemas.microsoft.com/office/drawing/2014/main" id="{18336BDE-5C48-FEE5-D0A7-36A5664725D7}"/>
              </a:ext>
            </a:extLst>
          </p:cNvPr>
          <p:cNvSpPr>
            <a:spLocks noGrp="1"/>
          </p:cNvSpPr>
          <p:nvPr>
            <p:ph type="body" sz="quarter" idx="33" hasCustomPrompt="1"/>
          </p:nvPr>
        </p:nvSpPr>
        <p:spPr>
          <a:xfrm>
            <a:off x="69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
        <p:nvSpPr>
          <p:cNvPr id="44" name="Espace réservé du texte 12">
            <a:extLst>
              <a:ext uri="{FF2B5EF4-FFF2-40B4-BE49-F238E27FC236}">
                <a16:creationId xmlns:a16="http://schemas.microsoft.com/office/drawing/2014/main" id="{DEDA1959-A99F-7A8A-8693-1B38ABA832B3}"/>
              </a:ext>
            </a:extLst>
          </p:cNvPr>
          <p:cNvSpPr>
            <a:spLocks noGrp="1"/>
          </p:cNvSpPr>
          <p:nvPr>
            <p:ph type="body" sz="quarter" idx="34" hasCustomPrompt="1"/>
          </p:nvPr>
        </p:nvSpPr>
        <p:spPr>
          <a:xfrm>
            <a:off x="627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Tree>
    <p:extLst>
      <p:ext uri="{BB962C8B-B14F-4D97-AF65-F5344CB8AC3E}">
        <p14:creationId xmlns:p14="http://schemas.microsoft.com/office/powerpoint/2010/main" val="1755013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rcles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243704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180704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180704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795495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732495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732495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100018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rcles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519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32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906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843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843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1485615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ircles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05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9" name="Espace réservé du texte 3">
            <a:extLst>
              <a:ext uri="{FF2B5EF4-FFF2-40B4-BE49-F238E27FC236}">
                <a16:creationId xmlns:a16="http://schemas.microsoft.com/office/drawing/2014/main" id="{75B64AD6-7559-80ED-EE9B-B069E1A6C916}"/>
              </a:ext>
            </a:extLst>
          </p:cNvPr>
          <p:cNvSpPr>
            <a:spLocks noGrp="1"/>
          </p:cNvSpPr>
          <p:nvPr>
            <p:ph type="body" sz="quarter" idx="26" hasCustomPrompt="1"/>
          </p:nvPr>
        </p:nvSpPr>
        <p:spPr>
          <a:xfrm>
            <a:off x="9336002"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0" name="Espace réservé du texte 12">
            <a:extLst>
              <a:ext uri="{FF2B5EF4-FFF2-40B4-BE49-F238E27FC236}">
                <a16:creationId xmlns:a16="http://schemas.microsoft.com/office/drawing/2014/main" id="{D793EAF9-5C9E-9CA8-9AAF-D2A0C80C4E0D}"/>
              </a:ext>
            </a:extLst>
          </p:cNvPr>
          <p:cNvSpPr>
            <a:spLocks noGrp="1"/>
          </p:cNvSpPr>
          <p:nvPr>
            <p:ph type="body" sz="quarter" idx="27" hasCustomPrompt="1"/>
          </p:nvPr>
        </p:nvSpPr>
        <p:spPr>
          <a:xfrm>
            <a:off x="8976002"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1" name="Espace réservé du texte 12">
            <a:extLst>
              <a:ext uri="{FF2B5EF4-FFF2-40B4-BE49-F238E27FC236}">
                <a16:creationId xmlns:a16="http://schemas.microsoft.com/office/drawing/2014/main" id="{891F8640-BFA7-C134-A4EA-D017CB4CD508}"/>
              </a:ext>
            </a:extLst>
          </p:cNvPr>
          <p:cNvSpPr>
            <a:spLocks noGrp="1"/>
          </p:cNvSpPr>
          <p:nvPr>
            <p:ph type="body" sz="quarter" idx="28" hasCustomPrompt="1"/>
          </p:nvPr>
        </p:nvSpPr>
        <p:spPr>
          <a:xfrm>
            <a:off x="8976002"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2" name="Espace réservé du texte 3">
            <a:extLst>
              <a:ext uri="{FF2B5EF4-FFF2-40B4-BE49-F238E27FC236}">
                <a16:creationId xmlns:a16="http://schemas.microsoft.com/office/drawing/2014/main" id="{C1E474AE-391E-174E-A604-8988D1C5BCE5}"/>
              </a:ext>
            </a:extLst>
          </p:cNvPr>
          <p:cNvSpPr>
            <a:spLocks noGrp="1"/>
          </p:cNvSpPr>
          <p:nvPr>
            <p:ph type="body" sz="quarter" idx="29" hasCustomPrompt="1"/>
          </p:nvPr>
        </p:nvSpPr>
        <p:spPr>
          <a:xfrm>
            <a:off x="3818013"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B0C77430-A9DB-BC68-632C-83CE7F72B561}"/>
              </a:ext>
            </a:extLst>
          </p:cNvPr>
          <p:cNvSpPr>
            <a:spLocks noGrp="1"/>
          </p:cNvSpPr>
          <p:nvPr>
            <p:ph type="body" sz="quarter" idx="30" hasCustomPrompt="1"/>
          </p:nvPr>
        </p:nvSpPr>
        <p:spPr>
          <a:xfrm>
            <a:off x="3458013"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4" name="Espace réservé du texte 12">
            <a:extLst>
              <a:ext uri="{FF2B5EF4-FFF2-40B4-BE49-F238E27FC236}">
                <a16:creationId xmlns:a16="http://schemas.microsoft.com/office/drawing/2014/main" id="{26D7ADA2-6DDD-7321-531E-28322335E4B9}"/>
              </a:ext>
            </a:extLst>
          </p:cNvPr>
          <p:cNvSpPr>
            <a:spLocks noGrp="1"/>
          </p:cNvSpPr>
          <p:nvPr>
            <p:ph type="body" sz="quarter" idx="31" hasCustomPrompt="1"/>
          </p:nvPr>
        </p:nvSpPr>
        <p:spPr>
          <a:xfrm>
            <a:off x="3458013"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5" name="Espace réservé du texte 3">
            <a:extLst>
              <a:ext uri="{FF2B5EF4-FFF2-40B4-BE49-F238E27FC236}">
                <a16:creationId xmlns:a16="http://schemas.microsoft.com/office/drawing/2014/main" id="{0842622E-0349-9BA2-1C21-EADD67D5A964}"/>
              </a:ext>
            </a:extLst>
          </p:cNvPr>
          <p:cNvSpPr>
            <a:spLocks noGrp="1"/>
          </p:cNvSpPr>
          <p:nvPr>
            <p:ph type="body" sz="quarter" idx="32" hasCustomPrompt="1"/>
          </p:nvPr>
        </p:nvSpPr>
        <p:spPr>
          <a:xfrm>
            <a:off x="6573989"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6" name="Espace réservé du texte 12">
            <a:extLst>
              <a:ext uri="{FF2B5EF4-FFF2-40B4-BE49-F238E27FC236}">
                <a16:creationId xmlns:a16="http://schemas.microsoft.com/office/drawing/2014/main" id="{F07AF857-E6A8-AB6E-9BC1-5C0C814039B9}"/>
              </a:ext>
            </a:extLst>
          </p:cNvPr>
          <p:cNvSpPr>
            <a:spLocks noGrp="1"/>
          </p:cNvSpPr>
          <p:nvPr>
            <p:ph type="body" sz="quarter" idx="33" hasCustomPrompt="1"/>
          </p:nvPr>
        </p:nvSpPr>
        <p:spPr>
          <a:xfrm>
            <a:off x="6213989"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7" name="Espace réservé du texte 12">
            <a:extLst>
              <a:ext uri="{FF2B5EF4-FFF2-40B4-BE49-F238E27FC236}">
                <a16:creationId xmlns:a16="http://schemas.microsoft.com/office/drawing/2014/main" id="{21F2FCEA-0391-B272-7341-7F2E9AA674E9}"/>
              </a:ext>
            </a:extLst>
          </p:cNvPr>
          <p:cNvSpPr>
            <a:spLocks noGrp="1"/>
          </p:cNvSpPr>
          <p:nvPr>
            <p:ph type="body" sz="quarter" idx="34" hasCustomPrompt="1"/>
          </p:nvPr>
        </p:nvSpPr>
        <p:spPr>
          <a:xfrm>
            <a:off x="6213989"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984428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ircles - 2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696000" y="2573304"/>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2406000" y="2573304"/>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2406000" y="3198779"/>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3A687307-0946-84C5-A4F3-DCFCC6DB0C07}"/>
              </a:ext>
            </a:extLst>
          </p:cNvPr>
          <p:cNvSpPr>
            <a:spLocks noGrp="1"/>
          </p:cNvSpPr>
          <p:nvPr>
            <p:ph type="body" sz="quarter" idx="26" hasCustomPrompt="1"/>
          </p:nvPr>
        </p:nvSpPr>
        <p:spPr>
          <a:xfrm>
            <a:off x="708484" y="443425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5C45B8A4-CE81-8459-4922-EACB627D37E5}"/>
              </a:ext>
            </a:extLst>
          </p:cNvPr>
          <p:cNvSpPr>
            <a:spLocks noGrp="1"/>
          </p:cNvSpPr>
          <p:nvPr>
            <p:ph type="body" sz="quarter" idx="27" hasCustomPrompt="1"/>
          </p:nvPr>
        </p:nvSpPr>
        <p:spPr>
          <a:xfrm>
            <a:off x="2418484" y="443425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18" name="Espace réservé du texte 12">
            <a:extLst>
              <a:ext uri="{FF2B5EF4-FFF2-40B4-BE49-F238E27FC236}">
                <a16:creationId xmlns:a16="http://schemas.microsoft.com/office/drawing/2014/main" id="{2AD5604D-58A2-4B59-0DEA-3982B05C3269}"/>
              </a:ext>
            </a:extLst>
          </p:cNvPr>
          <p:cNvSpPr>
            <a:spLocks noGrp="1"/>
          </p:cNvSpPr>
          <p:nvPr>
            <p:ph type="body" sz="quarter" idx="28" hasCustomPrompt="1"/>
          </p:nvPr>
        </p:nvSpPr>
        <p:spPr>
          <a:xfrm>
            <a:off x="2418484" y="505972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3" name="Espace réservé du texte 3">
            <a:extLst>
              <a:ext uri="{FF2B5EF4-FFF2-40B4-BE49-F238E27FC236}">
                <a16:creationId xmlns:a16="http://schemas.microsoft.com/office/drawing/2014/main" id="{C623A159-79A9-C798-3290-C939BEE2F009}"/>
              </a:ext>
            </a:extLst>
          </p:cNvPr>
          <p:cNvSpPr>
            <a:spLocks noGrp="1"/>
          </p:cNvSpPr>
          <p:nvPr>
            <p:ph type="body" sz="quarter" idx="29" hasCustomPrompt="1"/>
          </p:nvPr>
        </p:nvSpPr>
        <p:spPr>
          <a:xfrm>
            <a:off x="6378484" y="257330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0CCD470-F6D6-D038-A4BB-4C34F00666F5}"/>
              </a:ext>
            </a:extLst>
          </p:cNvPr>
          <p:cNvSpPr>
            <a:spLocks noGrp="1"/>
          </p:cNvSpPr>
          <p:nvPr>
            <p:ph type="body" sz="quarter" idx="30" hasCustomPrompt="1"/>
          </p:nvPr>
        </p:nvSpPr>
        <p:spPr>
          <a:xfrm>
            <a:off x="8088484" y="257330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33B48A22-D55D-73A5-ADFD-36F0ED73320A}"/>
              </a:ext>
            </a:extLst>
          </p:cNvPr>
          <p:cNvSpPr>
            <a:spLocks noGrp="1"/>
          </p:cNvSpPr>
          <p:nvPr>
            <p:ph type="body" sz="quarter" idx="31" hasCustomPrompt="1"/>
          </p:nvPr>
        </p:nvSpPr>
        <p:spPr>
          <a:xfrm>
            <a:off x="8088484" y="319877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6" name="Espace réservé du texte 3">
            <a:extLst>
              <a:ext uri="{FF2B5EF4-FFF2-40B4-BE49-F238E27FC236}">
                <a16:creationId xmlns:a16="http://schemas.microsoft.com/office/drawing/2014/main" id="{1EE494DC-781D-34F1-3A9D-92EC84FB020A}"/>
              </a:ext>
            </a:extLst>
          </p:cNvPr>
          <p:cNvSpPr>
            <a:spLocks noGrp="1"/>
          </p:cNvSpPr>
          <p:nvPr>
            <p:ph type="body" sz="quarter" idx="32" hasCustomPrompt="1"/>
          </p:nvPr>
        </p:nvSpPr>
        <p:spPr>
          <a:xfrm>
            <a:off x="6390968" y="4434252"/>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6900C00-8DC3-63A7-DE70-7388EEE04C7D}"/>
              </a:ext>
            </a:extLst>
          </p:cNvPr>
          <p:cNvSpPr>
            <a:spLocks noGrp="1"/>
          </p:cNvSpPr>
          <p:nvPr>
            <p:ph type="body" sz="quarter" idx="33" hasCustomPrompt="1"/>
          </p:nvPr>
        </p:nvSpPr>
        <p:spPr>
          <a:xfrm>
            <a:off x="8100968" y="4434252"/>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1A69C451-362B-A8A1-3C94-5B5B5ACBFDD2}"/>
              </a:ext>
            </a:extLst>
          </p:cNvPr>
          <p:cNvSpPr>
            <a:spLocks noGrp="1"/>
          </p:cNvSpPr>
          <p:nvPr>
            <p:ph type="body" sz="quarter" idx="34" hasCustomPrompt="1"/>
          </p:nvPr>
        </p:nvSpPr>
        <p:spPr>
          <a:xfrm>
            <a:off x="8100968" y="5059727"/>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039889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sign - Circle left">
    <p:spTree>
      <p:nvGrpSpPr>
        <p:cNvPr id="1" name=""/>
        <p:cNvGrpSpPr/>
        <p:nvPr/>
      </p:nvGrpSpPr>
      <p:grpSpPr>
        <a:xfrm>
          <a:off x="0" y="0"/>
          <a:ext cx="0" cy="0"/>
          <a:chOff x="0" y="0"/>
          <a:chExt cx="0" cy="0"/>
        </a:xfrm>
      </p:grpSpPr>
      <p:sp>
        <p:nvSpPr>
          <p:cNvPr id="10" name="Organigramme : Délai 9">
            <a:extLst>
              <a:ext uri="{FF2B5EF4-FFF2-40B4-BE49-F238E27FC236}">
                <a16:creationId xmlns:a16="http://schemas.microsoft.com/office/drawing/2014/main" id="{706F2CD8-088D-A175-027A-7564F0D67DB1}"/>
              </a:ext>
            </a:extLst>
          </p:cNvPr>
          <p:cNvSpPr/>
          <p:nvPr userDrawn="1"/>
        </p:nvSpPr>
        <p:spPr>
          <a:xfrm>
            <a:off x="0" y="0"/>
            <a:ext cx="5801032" cy="6858000"/>
          </a:xfrm>
          <a:prstGeom prst="flowChartDelay">
            <a:avLst/>
          </a:prstGeom>
          <a:gradFill>
            <a:gsLst>
              <a:gs pos="100000">
                <a:schemeClr val="accent2"/>
              </a:gs>
              <a:gs pos="0">
                <a:schemeClr val="accent1"/>
              </a:gs>
            </a:gsLst>
            <a:lin ang="2700000" scaled="0"/>
          </a:gradFill>
          <a:ln w="3175">
            <a:solidFill>
              <a:srgbClr val="EDE3E3"/>
            </a:solidFill>
            <a:prstDash val="solid"/>
          </a:ln>
          <a:effectLst>
            <a:outerShdw blurRad="114300" dist="38100" dir="5400000" algn="bl" rotWithShape="0">
              <a:srgbClr val="223843">
                <a:alpha val="13000"/>
              </a:srgbClr>
            </a:outerShdw>
          </a:effectLst>
        </p:spPr>
        <p:txBody>
          <a:bodyPr vert="horz" lIns="2052000" tIns="45720" rIns="91440" bIns="45720" rtlCol="0" anchor="ctr">
            <a:normAutofit/>
          </a:bodyPr>
          <a:lstStyle/>
          <a:p>
            <a:pPr lvl="0" indent="0">
              <a:lnSpc>
                <a:spcPct val="90000"/>
              </a:lnSpc>
              <a:spcBef>
                <a:spcPts val="1000"/>
              </a:spcBef>
              <a:buClr>
                <a:schemeClr val="accent2"/>
              </a:buClr>
              <a:buFont typeface="Arial" panose="020B0604020202020204" pitchFamily="34" charset="0"/>
              <a:buNone/>
            </a:pPr>
            <a:endParaRPr lang="fr-FR" sz="1100">
              <a:solidFill>
                <a:schemeClr val="tx1"/>
              </a:solidFill>
            </a:endParaRPr>
          </a:p>
        </p:txBody>
      </p:sp>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0" y="1352550"/>
            <a:ext cx="3895665" cy="2076449"/>
          </a:xfrm>
        </p:spPr>
        <p:txBody>
          <a:bodyPr/>
          <a:lstStyle>
            <a:lvl1pPr>
              <a:defRPr>
                <a:solidFill>
                  <a:schemeClr val="bg1"/>
                </a:solidFill>
              </a:defRPr>
            </a:lvl1p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2" name="Espace réservé du texte 11">
            <a:extLst>
              <a:ext uri="{FF2B5EF4-FFF2-40B4-BE49-F238E27FC236}">
                <a16:creationId xmlns:a16="http://schemas.microsoft.com/office/drawing/2014/main" id="{D0A77B0D-4CDA-836B-0F50-6D89831D01F7}"/>
              </a:ext>
            </a:extLst>
          </p:cNvPr>
          <p:cNvSpPr>
            <a:spLocks noGrp="1"/>
          </p:cNvSpPr>
          <p:nvPr>
            <p:ph type="body" sz="quarter" idx="14"/>
          </p:nvPr>
        </p:nvSpPr>
        <p:spPr>
          <a:xfrm>
            <a:off x="6095999" y="646111"/>
            <a:ext cx="5400675" cy="5565775"/>
          </a:xfrm>
        </p:spPr>
        <p:txBody>
          <a:bodyPr anchor="ct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5325" y="3429000"/>
            <a:ext cx="3895665" cy="2332704"/>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5870939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ign - Arrow down">
    <p:spTree>
      <p:nvGrpSpPr>
        <p:cNvPr id="1" name=""/>
        <p:cNvGrpSpPr/>
        <p:nvPr/>
      </p:nvGrpSpPr>
      <p:grpSpPr>
        <a:xfrm>
          <a:off x="0" y="0"/>
          <a:ext cx="0" cy="0"/>
          <a:chOff x="0" y="0"/>
          <a:chExt cx="0" cy="0"/>
        </a:xfrm>
      </p:grpSpPr>
      <p:pic>
        <p:nvPicPr>
          <p:cNvPr id="19" name="Graphique 18">
            <a:extLst>
              <a:ext uri="{FF2B5EF4-FFF2-40B4-BE49-F238E27FC236}">
                <a16:creationId xmlns:a16="http://schemas.microsoft.com/office/drawing/2014/main" id="{5C211679-39FE-B4C3-8293-DAEE705ACDF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3053" y="0"/>
            <a:ext cx="11207334" cy="6204155"/>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352550"/>
            <a:ext cx="10800000" cy="1272663"/>
          </a:xfrm>
        </p:spPr>
        <p:txBody>
          <a:bodyPr/>
          <a:lstStyle>
            <a:lvl1pPr algn="ctr">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438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2632587"/>
            <a:ext cx="10800000" cy="2332704"/>
          </a:xfrm>
        </p:spPr>
        <p:txBody>
          <a:bodyPr anchor="ctr" anchorCtr="0">
            <a:noAutofit/>
          </a:bodyPr>
          <a:lstStyle>
            <a:lvl1pPr marL="0" indent="0" algn="ctr">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678180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ircles - 2 columns X2">
    <p:spTree>
      <p:nvGrpSpPr>
        <p:cNvPr id="1" name=""/>
        <p:cNvGrpSpPr/>
        <p:nvPr/>
      </p:nvGrpSpPr>
      <p:grpSpPr>
        <a:xfrm>
          <a:off x="0" y="0"/>
          <a:ext cx="0" cy="0"/>
          <a:chOff x="0" y="0"/>
          <a:chExt cx="0" cy="0"/>
        </a:xfrm>
      </p:grpSpPr>
      <p:pic>
        <p:nvPicPr>
          <p:cNvPr id="11" name="Graphique 10">
            <a:extLst>
              <a:ext uri="{FF2B5EF4-FFF2-40B4-BE49-F238E27FC236}">
                <a16:creationId xmlns:a16="http://schemas.microsoft.com/office/drawing/2014/main" id="{708D0175-951A-3D62-E648-D3AD4D84BF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622998"/>
            <a:ext cx="11495999" cy="5612004"/>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844964"/>
            <a:ext cx="8749450" cy="1272619"/>
          </a:xfrm>
        </p:spPr>
        <p:txBody>
          <a:bodyPr/>
          <a:lstStyle>
            <a:lvl1pPr algn="l">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124325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3125037"/>
            <a:ext cx="8749450" cy="2332623"/>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5701666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Organigramme : Délai 3">
            <a:extLst>
              <a:ext uri="{FF2B5EF4-FFF2-40B4-BE49-F238E27FC236}">
                <a16:creationId xmlns:a16="http://schemas.microsoft.com/office/drawing/2014/main" id="{8E602A06-9A55-A2D8-4696-39A3B5EE612B}"/>
              </a:ext>
            </a:extLst>
          </p:cNvPr>
          <p:cNvSpPr/>
          <p:nvPr userDrawn="1"/>
        </p:nvSpPr>
        <p:spPr>
          <a:xfrm rot="16200000">
            <a:off x="4152900" y="-1181101"/>
            <a:ext cx="3886201" cy="12192002"/>
          </a:xfrm>
          <a:prstGeom prst="flowChartDelay">
            <a:avLst/>
          </a:prstGeom>
          <a:gradFill>
            <a:gsLst>
              <a:gs pos="100000">
                <a:schemeClr val="accent2"/>
              </a:gs>
              <a:gs pos="0">
                <a:schemeClr val="accent1"/>
              </a:gs>
            </a:gsLst>
            <a:lin ang="8100000" scaled="0"/>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39" name="Espace réservé du contenu 38">
            <a:extLst>
              <a:ext uri="{FF2B5EF4-FFF2-40B4-BE49-F238E27FC236}">
                <a16:creationId xmlns:a16="http://schemas.microsoft.com/office/drawing/2014/main" id="{EE620D96-FE46-9D76-8E36-C5BF0A42F982}"/>
              </a:ext>
            </a:extLst>
          </p:cNvPr>
          <p:cNvSpPr>
            <a:spLocks noGrp="1"/>
          </p:cNvSpPr>
          <p:nvPr>
            <p:ph sz="quarter" idx="11" hasCustomPrompt="1"/>
          </p:nvPr>
        </p:nvSpPr>
        <p:spPr>
          <a:xfrm>
            <a:off x="4262010" y="2114549"/>
            <a:ext cx="4414837" cy="1714500"/>
          </a:xfrm>
          <a:prstGeom prst="roundRect">
            <a:avLst>
              <a:gd name="adj" fmla="val 13334"/>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1080000" tIns="46800" numCol="1" anchor="ctr"/>
          <a:lstStyle>
            <a:lvl1pPr>
              <a:buNone/>
              <a:defRPr lang="fr-FR" sz="1400" b="1" dirty="0" smtClean="0"/>
            </a:lvl1pPr>
            <a:lvl2pPr>
              <a:defRPr sz="1400"/>
            </a:lvl2pPr>
            <a:lvl3pPr>
              <a:defRPr sz="1400"/>
            </a:lvl3pPr>
            <a:lvl4pPr>
              <a:defRPr sz="1400"/>
            </a:lvl4pPr>
            <a:lvl5pPr>
              <a:defRPr sz="1400"/>
            </a:lvl5pPr>
          </a:lstStyle>
          <a:p>
            <a:pPr marL="0" lvl="0"/>
            <a:r>
              <a:rPr lang="fr-FR" dirty="0"/>
              <a:t>{Prénom NOM}</a:t>
            </a:r>
          </a:p>
          <a:p>
            <a:pPr marL="0" lvl="0"/>
            <a:r>
              <a:rPr lang="fr-FR" dirty="0"/>
              <a:t>{rôle}</a:t>
            </a:r>
          </a:p>
          <a:p>
            <a:pPr marL="0" lvl="0"/>
            <a:r>
              <a:rPr lang="fr-FR" dirty="0"/>
              <a:t>{email}</a:t>
            </a:r>
          </a:p>
          <a:p>
            <a:pPr marL="0" lvl="0"/>
            <a:r>
              <a:rPr lang="fr-FR" dirty="0"/>
              <a:t>{phone}</a:t>
            </a:r>
          </a:p>
        </p:txBody>
      </p:sp>
      <p:sp>
        <p:nvSpPr>
          <p:cNvPr id="5" name="Shape 13">
            <a:extLst>
              <a:ext uri="{FF2B5EF4-FFF2-40B4-BE49-F238E27FC236}">
                <a16:creationId xmlns:a16="http://schemas.microsoft.com/office/drawing/2014/main" id="{B6D09F66-075D-C880-967C-21871DCAEAC7}"/>
              </a:ext>
            </a:extLst>
          </p:cNvPr>
          <p:cNvSpPr/>
          <p:nvPr userDrawn="1"/>
        </p:nvSpPr>
        <p:spPr>
          <a:xfrm>
            <a:off x="69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7" name="Shape 13">
            <a:extLst>
              <a:ext uri="{FF2B5EF4-FFF2-40B4-BE49-F238E27FC236}">
                <a16:creationId xmlns:a16="http://schemas.microsoft.com/office/drawing/2014/main" id="{67802574-7BFB-6C01-B815-AAF479893E78}"/>
              </a:ext>
            </a:extLst>
          </p:cNvPr>
          <p:cNvSpPr/>
          <p:nvPr userDrawn="1"/>
        </p:nvSpPr>
        <p:spPr>
          <a:xfrm>
            <a:off x="897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9" name="Shape 13">
            <a:extLst>
              <a:ext uri="{FF2B5EF4-FFF2-40B4-BE49-F238E27FC236}">
                <a16:creationId xmlns:a16="http://schemas.microsoft.com/office/drawing/2014/main" id="{7018B33A-4785-7F7D-570D-ED2CC19C693C}"/>
              </a:ext>
            </a:extLst>
          </p:cNvPr>
          <p:cNvSpPr/>
          <p:nvPr userDrawn="1"/>
        </p:nvSpPr>
        <p:spPr>
          <a:xfrm>
            <a:off x="3473612"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11" name="Shape 13">
            <a:extLst>
              <a:ext uri="{FF2B5EF4-FFF2-40B4-BE49-F238E27FC236}">
                <a16:creationId xmlns:a16="http://schemas.microsoft.com/office/drawing/2014/main" id="{C40A6881-443C-490F-B15D-7E4A7DCDA037}"/>
              </a:ext>
            </a:extLst>
          </p:cNvPr>
          <p:cNvSpPr/>
          <p:nvPr userDrawn="1"/>
        </p:nvSpPr>
        <p:spPr>
          <a:xfrm>
            <a:off x="6198388"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41" name="Espace réservé pour une image  40">
            <a:extLst>
              <a:ext uri="{FF2B5EF4-FFF2-40B4-BE49-F238E27FC236}">
                <a16:creationId xmlns:a16="http://schemas.microsoft.com/office/drawing/2014/main" id="{C3411395-E3D4-C7E3-A342-808963725FAB}"/>
              </a:ext>
            </a:extLst>
          </p:cNvPr>
          <p:cNvSpPr>
            <a:spLocks noGrp="1"/>
          </p:cNvSpPr>
          <p:nvPr>
            <p:ph type="pic" sz="quarter" idx="12"/>
          </p:nvPr>
        </p:nvSpPr>
        <p:spPr>
          <a:xfrm>
            <a:off x="3502025" y="2114550"/>
            <a:ext cx="1714500" cy="1714500"/>
          </a:xfrm>
          <a:prstGeom prst="ellipse">
            <a:avLst/>
          </a:prstGeom>
          <a:solidFill>
            <a:schemeClr val="bg1"/>
          </a:solidFill>
          <a:effectLst>
            <a:outerShdw blurRad="114300" dist="38100" dir="2700000" algn="tl" rotWithShape="0">
              <a:prstClr val="black">
                <a:alpha val="13000"/>
              </a:prstClr>
            </a:outerShdw>
          </a:effectLst>
        </p:spPr>
        <p:txBody>
          <a:bodyPr/>
          <a:lstStyle/>
          <a:p>
            <a:endParaRPr lang="en-US"/>
          </a:p>
        </p:txBody>
      </p:sp>
      <p:pic>
        <p:nvPicPr>
          <p:cNvPr id="13" name="Graphique 12">
            <a:extLst>
              <a:ext uri="{FF2B5EF4-FFF2-40B4-BE49-F238E27FC236}">
                <a16:creationId xmlns:a16="http://schemas.microsoft.com/office/drawing/2014/main" id="{7573D0AA-4134-73F2-54F2-B0524832B1C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73613" y="347083"/>
            <a:ext cx="5244774" cy="1619192"/>
          </a:xfrm>
          <a:prstGeom prst="rect">
            <a:avLst/>
          </a:prstGeom>
        </p:spPr>
      </p:pic>
    </p:spTree>
    <p:extLst>
      <p:ext uri="{BB962C8B-B14F-4D97-AF65-F5344CB8AC3E}">
        <p14:creationId xmlns:p14="http://schemas.microsoft.com/office/powerpoint/2010/main" val="10957035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885BA6A-7301-FA7E-4ADD-174AB6688057}"/>
              </a:ext>
            </a:extLst>
          </p:cNvPr>
          <p:cNvSpPr>
            <a:spLocks noGrp="1"/>
          </p:cNvSpPr>
          <p:nvPr>
            <p:ph type="title"/>
          </p:nvPr>
        </p:nvSpPr>
        <p:spPr>
          <a:xfrm>
            <a:off x="696000" y="1352551"/>
            <a:ext cx="10800000" cy="847184"/>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C8793C1-DAFA-E6B9-87C4-71F09EE2855E}"/>
              </a:ext>
            </a:extLst>
          </p:cNvPr>
          <p:cNvSpPr>
            <a:spLocks noGrp="1"/>
          </p:cNvSpPr>
          <p:nvPr>
            <p:ph type="body" idx="1"/>
          </p:nvPr>
        </p:nvSpPr>
        <p:spPr>
          <a:xfrm>
            <a:off x="696000" y="2379123"/>
            <a:ext cx="10800000" cy="3797839"/>
          </a:xfrm>
          <a:prstGeom prst="rect">
            <a:avLst/>
          </a:prstGeom>
        </p:spPr>
        <p:txBody>
          <a:bodyPr vert="horz" lIns="91440" tIns="45720" rIns="91440" bIns="45720" rtlCol="0" anchor="t">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FC112171-3162-57E2-8CDE-B0DEA1441C26}"/>
              </a:ext>
            </a:extLst>
          </p:cNvPr>
          <p:cNvSpPr>
            <a:spLocks noGrp="1"/>
          </p:cNvSpPr>
          <p:nvPr>
            <p:ph type="sldNum" sz="quarter" idx="4"/>
          </p:nvPr>
        </p:nvSpPr>
        <p:spPr>
          <a:xfrm>
            <a:off x="696000" y="6356350"/>
            <a:ext cx="2743200" cy="365125"/>
          </a:xfrm>
          <a:prstGeom prst="rect">
            <a:avLst/>
          </a:prstGeom>
        </p:spPr>
        <p:txBody>
          <a:bodyPr vert="horz" lIns="91440" tIns="45720" rIns="91440" bIns="45720" rtlCol="0" anchor="ctr"/>
          <a:lstStyle>
            <a:lvl1pPr algn="l">
              <a:defRPr sz="1000">
                <a:solidFill>
                  <a:schemeClr val="bg2"/>
                </a:solidFill>
              </a:defRPr>
            </a:lvl1pPr>
          </a:lstStyle>
          <a:p>
            <a:fld id="{262175C0-8CD5-419A-A749-8C17692C9EAC}" type="slidenum">
              <a:rPr lang="en-US" smtClean="0"/>
              <a:pPr/>
              <a:t>‹N°›</a:t>
            </a:fld>
            <a:endParaRPr lang="en-US" sz="1000"/>
          </a:p>
        </p:txBody>
      </p:sp>
      <p:pic>
        <p:nvPicPr>
          <p:cNvPr id="11" name="Graphique 10">
            <a:extLst>
              <a:ext uri="{FF2B5EF4-FFF2-40B4-BE49-F238E27FC236}">
                <a16:creationId xmlns:a16="http://schemas.microsoft.com/office/drawing/2014/main" id="{0CDCA030-CF2F-9749-6571-0854E26F953A}"/>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2257558335"/>
      </p:ext>
    </p:extLst>
  </p:cSld>
  <p:clrMap bg1="lt1" tx1="dk1" bg2="lt2" tx2="dk2" accent1="accent1" accent2="accent2" accent3="accent3" accent4="accent4" accent5="accent5" accent6="accent6" hlink="hlink" folHlink="folHlink"/>
  <p:sldLayoutIdLst>
    <p:sldLayoutId id="2147483677" r:id="rId1"/>
    <p:sldLayoutId id="2147483651" r:id="rId2"/>
    <p:sldLayoutId id="2147483657" r:id="rId3"/>
    <p:sldLayoutId id="2147483650" r:id="rId4"/>
    <p:sldLayoutId id="2147483652" r:id="rId5"/>
    <p:sldLayoutId id="2147483653" r:id="rId6"/>
    <p:sldLayoutId id="2147483676" r:id="rId7"/>
    <p:sldLayoutId id="2147483654" r:id="rId8"/>
    <p:sldLayoutId id="2147483675" r:id="rId9"/>
    <p:sldLayoutId id="2147483655" r:id="rId10"/>
    <p:sldLayoutId id="2147483656" r:id="rId11"/>
    <p:sldLayoutId id="2147483674" r:id="rId12"/>
    <p:sldLayoutId id="2147483660" r:id="rId13"/>
    <p:sldLayoutId id="2147483661" r:id="rId14"/>
    <p:sldLayoutId id="2147483658" r:id="rId15"/>
    <p:sldLayoutId id="2147483659" r:id="rId16"/>
    <p:sldLayoutId id="2147483662" r:id="rId17"/>
    <p:sldLayoutId id="2147483663" r:id="rId18"/>
    <p:sldLayoutId id="2147483664" r:id="rId19"/>
    <p:sldLayoutId id="2147483665" r:id="rId20"/>
    <p:sldLayoutId id="2147483667" r:id="rId21"/>
    <p:sldLayoutId id="2147483666" r:id="rId22"/>
    <p:sldLayoutId id="2147483668" r:id="rId23"/>
    <p:sldLayoutId id="2147483669" r:id="rId24"/>
    <p:sldLayoutId id="2147483670" r:id="rId25"/>
    <p:sldLayoutId id="2147483672" r:id="rId26"/>
    <p:sldLayoutId id="2147483673" r:id="rId27"/>
    <p:sldLayoutId id="2147483678" r:id="rId2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93B4F50-93BB-146F-EF1E-398B097AEAB6}"/>
              </a:ext>
            </a:extLst>
          </p:cNvPr>
          <p:cNvSpPr>
            <a:spLocks noGrp="1"/>
          </p:cNvSpPr>
          <p:nvPr>
            <p:ph type="ctrTitle"/>
          </p:nvPr>
        </p:nvSpPr>
        <p:spPr/>
        <p:txBody>
          <a:bodyPr/>
          <a:lstStyle/>
          <a:p>
            <a:r>
              <a:t>Présentation IA</a:t>
            </a:r>
          </a:p>
        </p:txBody>
      </p:sp>
      <p:sp>
        <p:nvSpPr>
          <p:cNvPr id="3" name="Espace réservé du texte 2">
            <a:extLst>
              <a:ext uri="{FF2B5EF4-FFF2-40B4-BE49-F238E27FC236}">
                <a16:creationId xmlns:a16="http://schemas.microsoft.com/office/drawing/2014/main" id="{7062B7CA-08DB-FB6D-7167-D3E2F902EB7C}"/>
              </a:ext>
            </a:extLst>
          </p:cNvPr>
          <p:cNvSpPr>
            <a:spLocks noGrp="1"/>
          </p:cNvSpPr>
          <p:nvPr>
            <p:ph type="body" idx="1"/>
          </p:nvPr>
        </p:nvSpPr>
        <p:spPr/>
        <p:txBody>
          <a:bodyPr/>
          <a:lstStyle/>
          <a:p>
            <a:r>
              <a:t>Votre intégrateur Odoo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B5098B2-5859-A676-116D-E66B61F20C33}"/>
              </a:ext>
            </a:extLst>
          </p:cNvPr>
          <p:cNvSpPr>
            <a:spLocks noGrp="1"/>
          </p:cNvSpPr>
          <p:nvPr>
            <p:ph type="title"/>
          </p:nvPr>
        </p:nvSpPr>
        <p:spPr/>
        <p:txBody>
          <a:bodyPr/>
          <a:lstStyle/>
          <a:p>
            <a:pPr/>
            <a:r>
              <a:t>Sommaire</a:t>
            </a:r>
          </a:p>
        </p:txBody>
      </p:sp>
      <p:sp>
        <p:nvSpPr>
          <p:cNvPr id="3" name="Espace réservé du texte 2">
            <a:extLst>
              <a:ext uri="{FF2B5EF4-FFF2-40B4-BE49-F238E27FC236}">
                <a16:creationId xmlns:a16="http://schemas.microsoft.com/office/drawing/2014/main" id="{C182DD91-DCB6-1042-2BE1-2499D287F356}"/>
              </a:ext>
            </a:extLst>
          </p:cNvPr>
          <p:cNvSpPr>
            <a:spLocks noGrp="1"/>
          </p:cNvSpPr>
          <p:nvPr>
            <p:ph type="body" sz="quarter" idx="14"/>
          </p:nvPr>
        </p:nvSpPr>
        <p:spPr/>
        <p:txBody>
          <a:bodyPr/>
          <a:lstStyle/>
          <a:p>
            <a:pPr/>
            <a:r>
              <a:t>01</a:t>
            </a:r>
            <a:endParaRPr lang="en-US"/>
          </a:p>
        </p:txBody>
      </p:sp>
      <p:sp>
        <p:nvSpPr>
          <p:cNvPr id="4" name="Espace réservé du texte 3">
            <a:extLst>
              <a:ext uri="{FF2B5EF4-FFF2-40B4-BE49-F238E27FC236}">
                <a16:creationId xmlns:a16="http://schemas.microsoft.com/office/drawing/2014/main" id="{528C5AEA-AC05-A0CC-2D07-E872EC78D8B8}"/>
              </a:ext>
            </a:extLst>
          </p:cNvPr>
          <p:cNvSpPr>
            <a:spLocks noGrp="1"/>
          </p:cNvSpPr>
          <p:nvPr>
            <p:ph type="body" sz="quarter" idx="15"/>
          </p:nvPr>
        </p:nvSpPr>
        <p:spPr/>
        <p:txBody>
          <a:bodyPr/>
          <a:lstStyle/>
          <a:p>
            <a:pPr/>
            <a:r>
              <a:t>Captivea et Odoo</a:t>
            </a:r>
            <a:endParaRPr lang="en-US"/>
          </a:p>
        </p:txBody>
      </p:sp>
      <p:sp>
        <p:nvSpPr>
          <p:cNvPr id="7" name="Espace réservé du texte 6">
            <a:extLst>
              <a:ext uri="{FF2B5EF4-FFF2-40B4-BE49-F238E27FC236}">
                <a16:creationId xmlns:a16="http://schemas.microsoft.com/office/drawing/2014/main" id="{6FAE23EB-E9B2-C401-5028-1642CDDD13CF}"/>
              </a:ext>
            </a:extLst>
          </p:cNvPr>
          <p:cNvSpPr>
            <a:spLocks noGrp="1"/>
          </p:cNvSpPr>
          <p:nvPr>
            <p:ph type="body" sz="quarter" idx="18"/>
          </p:nvPr>
        </p:nvSpPr>
        <p:spPr/>
        <p:txBody>
          <a:bodyPr/>
          <a:lstStyle/>
          <a:p>
            <a:pPr/>
            <a:r>
              <a:t>02</a:t>
            </a:r>
            <a:endParaRPr lang="en-US"/>
          </a:p>
        </p:txBody>
      </p:sp>
      <p:sp>
        <p:nvSpPr>
          <p:cNvPr id="8" name="Espace réservé du texte 7">
            <a:extLst>
              <a:ext uri="{FF2B5EF4-FFF2-40B4-BE49-F238E27FC236}">
                <a16:creationId xmlns:a16="http://schemas.microsoft.com/office/drawing/2014/main" id="{8748278C-56E6-49AD-6F5A-3E018DF50E19}"/>
              </a:ext>
            </a:extLst>
          </p:cNvPr>
          <p:cNvSpPr>
            <a:spLocks noGrp="1"/>
          </p:cNvSpPr>
          <p:nvPr>
            <p:ph type="body" sz="quarter" idx="19"/>
          </p:nvPr>
        </p:nvSpPr>
        <p:spPr/>
        <p:txBody>
          <a:bodyPr/>
          <a:lstStyle/>
          <a:p>
            <a:pPr/>
            <a:r>
              <a:t>Découvrir l’IA</a:t>
            </a:r>
            <a:endParaRPr lang="en-US"/>
          </a:p>
        </p:txBody>
      </p:sp>
      <p:sp>
        <p:nvSpPr>
          <p:cNvPr id="11" name="Espace réservé du texte 10">
            <a:extLst>
              <a:ext uri="{FF2B5EF4-FFF2-40B4-BE49-F238E27FC236}">
                <a16:creationId xmlns:a16="http://schemas.microsoft.com/office/drawing/2014/main" id="{F36E16D7-4F57-B3A6-CA3B-6AF29102A79F}"/>
              </a:ext>
            </a:extLst>
          </p:cNvPr>
          <p:cNvSpPr>
            <a:spLocks noGrp="1"/>
          </p:cNvSpPr>
          <p:nvPr>
            <p:ph type="body" sz="quarter" idx="22"/>
          </p:nvPr>
        </p:nvSpPr>
        <p:spPr/>
        <p:txBody>
          <a:bodyPr/>
          <a:lstStyle/>
          <a:p>
            <a:pPr/>
            <a:r>
              <a:t>03</a:t>
            </a:r>
            <a:endParaRPr lang="en-US"/>
          </a:p>
        </p:txBody>
      </p:sp>
      <p:sp>
        <p:nvSpPr>
          <p:cNvPr id="12" name="Espace réservé du texte 11">
            <a:extLst>
              <a:ext uri="{FF2B5EF4-FFF2-40B4-BE49-F238E27FC236}">
                <a16:creationId xmlns:a16="http://schemas.microsoft.com/office/drawing/2014/main" id="{E30A6114-F93C-CA19-81A8-3C600E461D7D}"/>
              </a:ext>
            </a:extLst>
          </p:cNvPr>
          <p:cNvSpPr>
            <a:spLocks noGrp="1"/>
          </p:cNvSpPr>
          <p:nvPr>
            <p:ph type="body" sz="quarter" idx="23"/>
          </p:nvPr>
        </p:nvSpPr>
        <p:spPr/>
        <p:txBody>
          <a:bodyPr/>
          <a:lstStyle/>
          <a:p>
            <a:pPr/>
            <a:r>
              <a:t>6 agents IA entraînés</a:t>
            </a:r>
            <a:endParaRPr lang="en-US"/>
          </a:p>
        </p:txBody>
      </p:sp>
      <p:sp>
        <p:nvSpPr>
          <p:cNvPr id="23" name="Espace réservé du texte 22">
            <a:extLst>
              <a:ext uri="{FF2B5EF4-FFF2-40B4-BE49-F238E27FC236}">
                <a16:creationId xmlns:a16="http://schemas.microsoft.com/office/drawing/2014/main" id="{DB16C0E0-3EAE-54B2-7CCE-341E58289FC3}"/>
              </a:ext>
            </a:extLst>
          </p:cNvPr>
          <p:cNvSpPr>
            <a:spLocks noGrp="1"/>
          </p:cNvSpPr>
          <p:nvPr>
            <p:ph type="body" sz="quarter" idx="13"/>
          </p:nvPr>
        </p:nvSpPr>
        <p:spPr/>
        <p:txBody>
          <a:bodyPr/>
          <a:lstStyle/>
          <a:p>
            <a:pPr/>
            <a:r>
              <a:t>SOMMAIRE</a:t>
            </a:r>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r>
              <a:rPr lang="fr-FR" dirty="0"/>
              <a:t>CAPTIVEA ET ODOO</a:t>
            </a:r>
            <a:endParaRPr dirty="0"/>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01</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NOUS DÉCOUVRIR</a:t>
            </a:r>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ÉCOSYSTÈME COMPLET</a:t>
            </a:r>
          </a:p>
        </p:txBody>
      </p:sp>
      <p:sp>
        <p:nvSpPr>
          <p:cNvPr id="3" name="Text Placeholder 2"/>
          <p:cNvSpPr>
            <a:spLocks noGrp="1"/>
          </p:cNvSpPr>
          <p:nvPr>
            <p:ph type="body" sz="quarter" idx="13"/>
          </p:nvPr>
        </p:nvSpPr>
        <p:spPr/>
        <p:txBody>
          <a:bodyPr/>
          <a:lstStyle/>
          <a:p>
            <a:r>
              <a:t>ODOO</a:t>
            </a:r>
          </a:p>
        </p:txBody>
      </p:sp>
      <p:sp>
        <p:nvSpPr>
          <p:cNvPr id="4" name="Text Placeholder 3"/>
          <p:cNvSpPr>
            <a:spLocks noGrp="1"/>
          </p:cNvSpPr>
          <p:nvPr>
            <p:ph type="body" sz="quarter" idx="23"/>
          </p:nvPr>
        </p:nvSpPr>
        <p:spPr/>
        <p:txBody>
          <a:bodyPr/>
          <a:lstStyle/>
          <a:p>
            <a:r>
              <a:rPr sz="3000"/>
              <a:t>ERP</a:t>
            </a:r>
          </a:p>
        </p:txBody>
      </p:sp>
      <p:sp>
        <p:nvSpPr>
          <p:cNvPr id="6" name="Text Placeholder 5"/>
          <p:cNvSpPr>
            <a:spLocks noGrp="1"/>
          </p:cNvSpPr>
          <p:nvPr>
            <p:ph type="body" sz="quarter" idx="25"/>
          </p:nvPr>
        </p:nvSpPr>
        <p:spPr>
          <a:xfrm>
            <a:off x="696000" y="4495801"/>
            <a:ext cx="2520000" cy="1698406"/>
          </a:xfrm>
        </p:spPr>
        <p:txBody>
          <a:bodyPr/>
          <a:lstStyle/>
          <a:p>
            <a:r>
              <a:t>Gérez l’ensemble de vos opérations.</a:t>
            </a:r>
          </a:p>
        </p:txBody>
      </p:sp>
      <p:sp>
        <p:nvSpPr>
          <p:cNvPr id="7" name="Text Placeholder 6"/>
          <p:cNvSpPr>
            <a:spLocks noGrp="1"/>
          </p:cNvSpPr>
          <p:nvPr>
            <p:ph type="body" sz="quarter" idx="26"/>
          </p:nvPr>
        </p:nvSpPr>
        <p:spPr/>
        <p:txBody>
          <a:bodyPr/>
          <a:lstStyle/>
          <a:p>
            <a:r>
              <a:rPr sz="3000"/>
              <a:t>AI</a:t>
            </a:r>
          </a:p>
        </p:txBody>
      </p:sp>
      <p:sp>
        <p:nvSpPr>
          <p:cNvPr id="9" name="Text Placeholder 8"/>
          <p:cNvSpPr>
            <a:spLocks noGrp="1"/>
          </p:cNvSpPr>
          <p:nvPr>
            <p:ph type="body" sz="quarter" idx="28"/>
          </p:nvPr>
        </p:nvSpPr>
        <p:spPr>
          <a:xfrm>
            <a:off x="8976002" y="4495801"/>
            <a:ext cx="2520000" cy="1698406"/>
          </a:xfrm>
        </p:spPr>
        <p:txBody>
          <a:bodyPr/>
          <a:lstStyle/>
          <a:p>
            <a:r>
              <a:t>Automatisations intelligentes.</a:t>
            </a:r>
          </a:p>
        </p:txBody>
      </p:sp>
      <p:sp>
        <p:nvSpPr>
          <p:cNvPr id="10" name="Text Placeholder 9"/>
          <p:cNvSpPr>
            <a:spLocks noGrp="1"/>
          </p:cNvSpPr>
          <p:nvPr>
            <p:ph type="body" sz="quarter" idx="29"/>
          </p:nvPr>
        </p:nvSpPr>
        <p:spPr/>
        <p:txBody>
          <a:bodyPr/>
          <a:lstStyle/>
          <a:p>
            <a:r>
              <a:rPr sz="3000"/>
              <a:t>WEB</a:t>
            </a:r>
          </a:p>
        </p:txBody>
      </p:sp>
      <p:sp>
        <p:nvSpPr>
          <p:cNvPr id="12" name="Text Placeholder 11"/>
          <p:cNvSpPr>
            <a:spLocks noGrp="1"/>
          </p:cNvSpPr>
          <p:nvPr>
            <p:ph type="body" sz="quarter" idx="31"/>
          </p:nvPr>
        </p:nvSpPr>
        <p:spPr>
          <a:xfrm>
            <a:off x="3458013" y="4495801"/>
            <a:ext cx="2520000" cy="1698406"/>
          </a:xfrm>
        </p:spPr>
        <p:txBody>
          <a:bodyPr/>
          <a:lstStyle/>
          <a:p>
            <a:r>
              <a:t>Site web, e-commerce et blog intégrés.</a:t>
            </a:r>
          </a:p>
        </p:txBody>
      </p:sp>
      <p:sp>
        <p:nvSpPr>
          <p:cNvPr id="13" name="Text Placeholder 12"/>
          <p:cNvSpPr>
            <a:spLocks noGrp="1"/>
          </p:cNvSpPr>
          <p:nvPr>
            <p:ph type="body" sz="quarter" idx="32"/>
          </p:nvPr>
        </p:nvSpPr>
        <p:spPr/>
        <p:txBody>
          <a:bodyPr/>
          <a:lstStyle/>
          <a:p>
            <a:r>
              <a:rPr sz="3000"/>
              <a:t>BI</a:t>
            </a:r>
          </a:p>
        </p:txBody>
      </p:sp>
      <p:sp>
        <p:nvSpPr>
          <p:cNvPr id="15" name="Text Placeholder 14"/>
          <p:cNvSpPr>
            <a:spLocks noGrp="1"/>
          </p:cNvSpPr>
          <p:nvPr>
            <p:ph type="body" sz="quarter" idx="34"/>
          </p:nvPr>
        </p:nvSpPr>
        <p:spPr>
          <a:xfrm>
            <a:off x="6213989" y="4495801"/>
            <a:ext cx="2520000" cy="1698406"/>
          </a:xfrm>
        </p:spPr>
        <p:txBody>
          <a:bodyPr/>
          <a:lstStyle/>
          <a:p>
            <a:r>
              <a:t>Tableaux de bord et analyses en temps réel.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CAPTIVEA EN QUELQUES CHIFFRES</a:t>
            </a:r>
          </a:p>
        </p:txBody>
      </p:sp>
      <p:sp>
        <p:nvSpPr>
          <p:cNvPr id="3" name="Text Placeholder 2"/>
          <p:cNvSpPr>
            <a:spLocks noGrp="1"/>
          </p:cNvSpPr>
          <p:nvPr>
            <p:ph type="body" sz="quarter" idx="20"/>
          </p:nvPr>
        </p:nvSpPr>
        <p:spPr/>
        <p:txBody>
          <a:bodyPr/>
          <a:lstStyle/>
          <a:p>
            <a:r>
              <a:rPr sz="2800"/>
              <a:t>+200</a:t>
            </a:r>
          </a:p>
        </p:txBody>
      </p:sp>
      <p:sp>
        <p:nvSpPr>
          <p:cNvPr id="4" name="Text Placeholder 3"/>
          <p:cNvSpPr>
            <a:spLocks noGrp="1"/>
          </p:cNvSpPr>
          <p:nvPr>
            <p:ph type="body" sz="quarter" idx="21"/>
          </p:nvPr>
        </p:nvSpPr>
        <p:spPr/>
        <p:txBody>
          <a:bodyPr/>
          <a:lstStyle/>
          <a:p>
            <a:r>
              <a:t>Employés heureux</a:t>
            </a:r>
          </a:p>
        </p:txBody>
      </p:sp>
      <p:sp>
        <p:nvSpPr>
          <p:cNvPr id="6" name="Text Placeholder 5"/>
          <p:cNvSpPr>
            <a:spLocks noGrp="1"/>
          </p:cNvSpPr>
          <p:nvPr>
            <p:ph type="body" sz="quarter" idx="13"/>
          </p:nvPr>
        </p:nvSpPr>
        <p:spPr/>
        <p:txBody>
          <a:bodyPr/>
          <a:lstStyle/>
          <a:p>
            <a:r>
              <a:t>CAPTIVEA</a:t>
            </a:r>
          </a:p>
        </p:txBody>
      </p:sp>
      <p:sp>
        <p:nvSpPr>
          <p:cNvPr id="7" name="Text Placeholder 6"/>
          <p:cNvSpPr>
            <a:spLocks noGrp="1"/>
          </p:cNvSpPr>
          <p:nvPr>
            <p:ph type="body" sz="quarter" idx="23"/>
          </p:nvPr>
        </p:nvSpPr>
        <p:spPr/>
        <p:txBody>
          <a:bodyPr/>
          <a:lstStyle/>
          <a:p>
            <a:r>
              <a:rPr sz="2800"/>
              <a:t>+800</a:t>
            </a:r>
          </a:p>
        </p:txBody>
      </p:sp>
      <p:sp>
        <p:nvSpPr>
          <p:cNvPr id="8" name="Text Placeholder 7"/>
          <p:cNvSpPr>
            <a:spLocks noGrp="1"/>
          </p:cNvSpPr>
          <p:nvPr>
            <p:ph type="body" sz="quarter" idx="24"/>
          </p:nvPr>
        </p:nvSpPr>
        <p:spPr/>
        <p:txBody>
          <a:bodyPr/>
          <a:lstStyle/>
          <a:p>
            <a:r>
              <a:t>Clients satisfaits</a:t>
            </a:r>
          </a:p>
        </p:txBody>
      </p:sp>
      <p:sp>
        <p:nvSpPr>
          <p:cNvPr id="10" name="Text Placeholder 9"/>
          <p:cNvSpPr>
            <a:spLocks noGrp="1"/>
          </p:cNvSpPr>
          <p:nvPr>
            <p:ph type="body" sz="quarter" idx="26"/>
          </p:nvPr>
        </p:nvSpPr>
        <p:spPr/>
        <p:txBody>
          <a:bodyPr/>
          <a:lstStyle/>
          <a:p>
            <a:r>
              <a:rPr sz="2800"/>
              <a:t>+18 ans</a:t>
            </a:r>
          </a:p>
        </p:txBody>
      </p:sp>
      <p:sp>
        <p:nvSpPr>
          <p:cNvPr id="11" name="Text Placeholder 10"/>
          <p:cNvSpPr>
            <a:spLocks noGrp="1"/>
          </p:cNvSpPr>
          <p:nvPr>
            <p:ph type="body" sz="quarter" idx="27"/>
          </p:nvPr>
        </p:nvSpPr>
        <p:spPr/>
        <p:txBody>
          <a:bodyPr/>
          <a:lstStyle/>
          <a:p>
            <a:r>
              <a:t>D’intégration ERP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dirty="0"/>
              <a:t>NOS RÉFÉRENCES</a:t>
            </a:r>
          </a:p>
        </p:txBody>
      </p:sp>
      <p:sp>
        <p:nvSpPr>
          <p:cNvPr id="3" name="Text Placeholder 2"/>
          <p:cNvSpPr>
            <a:spLocks noGrp="1"/>
          </p:cNvSpPr>
          <p:nvPr>
            <p:ph type="body" sz="quarter" idx="13"/>
          </p:nvPr>
        </p:nvSpPr>
        <p:spPr/>
        <p:txBody>
          <a:bodyPr/>
          <a:lstStyle/>
          <a:p>
            <a:r>
              <a:t>RÉFÉRENCES</a:t>
            </a:r>
          </a:p>
        </p:txBody>
      </p:sp>
      <p:pic>
        <p:nvPicPr>
          <p:cNvPr id="4" name="Picture 3" descr="image23.png"/>
          <p:cNvPicPr>
            <a:picLocks noChangeAspect="1"/>
          </p:cNvPicPr>
          <p:nvPr/>
        </p:nvPicPr>
        <p:blipFill>
          <a:blip r:embed="rId2"/>
          <a:stretch>
            <a:fillRect/>
          </a:stretch>
        </p:blipFill>
        <p:spPr>
          <a:xfrm>
            <a:off x="2560258" y="1326288"/>
            <a:ext cx="7071484" cy="497453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r>
              <a:rPr lang="fr-FR" dirty="0"/>
              <a:t>DECOUVRIR L’IA</a:t>
            </a:r>
            <a:endParaRPr dirty="0"/>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02</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IA</a:t>
            </a:r>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de l’IA</a:t>
            </a:r>
          </a:p>
        </p:txBody>
      </p:sp>
      <p:sp>
        <p:nvSpPr>
          <p:cNvPr id="3" name="Text Placeholder 2"/>
          <p:cNvSpPr>
            <a:spLocks noGrp="1"/>
          </p:cNvSpPr>
          <p:nvPr>
            <p:ph type="body" sz="quarter" idx="13"/>
          </p:nvPr>
        </p:nvSpPr>
        <p:spPr/>
        <p:txBody>
          <a:bodyPr/>
          <a:lstStyle/>
          <a:p>
            <a:r>
              <a:t>IA</a:t>
            </a:r>
          </a:p>
        </p:txBody>
      </p:sp>
      <p:grpSp>
        <p:nvGrpSpPr>
          <p:cNvPr id="20" name="Groupe 2">
            <a:extLst>
              <a:ext uri="{FF2B5EF4-FFF2-40B4-BE49-F238E27FC236}">
                <a16:creationId xmlns:a16="http://schemas.microsoft.com/office/drawing/2014/main" id="{D7A3F1A9-4615-16E0-5283-CB2B5890B4B3}"/>
              </a:ext>
            </a:extLst>
          </p:cNvPr>
          <p:cNvGrpSpPr/>
          <p:nvPr/>
        </p:nvGrpSpPr>
        <p:grpSpPr>
          <a:xfrm>
            <a:off x="4489072" y="1607249"/>
            <a:ext cx="3503545" cy="3643502"/>
            <a:chOff x="4872466" y="3220374"/>
            <a:chExt cx="2323651" cy="2622183"/>
          </a:xfrm>
          <a:solidFill>
            <a:srgbClr val="974347"/>
          </a:solidFill>
        </p:grpSpPr>
        <p:sp>
          <p:nvSpPr>
            <p:cNvPr id="10" name="Rounded Rectangle 7">
              <a:extLst>
                <a:ext uri="{FF2B5EF4-FFF2-40B4-BE49-F238E27FC236}">
                  <a16:creationId xmlns:a16="http://schemas.microsoft.com/office/drawing/2014/main" id="{E2A267D5-318B-24C0-4201-F8D5EC78C015}"/>
                </a:ext>
              </a:extLst>
            </p:cNvPr>
            <p:cNvSpPr/>
            <p:nvPr/>
          </p:nvSpPr>
          <p:spPr>
            <a:xfrm>
              <a:off x="4872466" y="3220374"/>
              <a:ext cx="2323651" cy="1153235"/>
            </a:xfrm>
            <a:custGeom>
              <a:avLst/>
              <a:gdLst/>
              <a:ahLst/>
              <a:cxnLst/>
              <a:rect l="0" t="0" r="0" b="0"/>
              <a:pathLst>
                <a:path w="2323651" h="1153235">
                  <a:moveTo>
                    <a:pt x="722702" y="1153235"/>
                  </a:moveTo>
                  <a:cubicBezTo>
                    <a:pt x="567945" y="1036131"/>
                    <a:pt x="467957" y="850454"/>
                    <a:pt x="467957" y="641424"/>
                  </a:cubicBezTo>
                  <a:cubicBezTo>
                    <a:pt x="467957" y="287175"/>
                    <a:pt x="755133" y="0"/>
                    <a:pt x="1109382" y="0"/>
                  </a:cubicBezTo>
                  <a:cubicBezTo>
                    <a:pt x="1463631" y="0"/>
                    <a:pt x="1750807" y="287175"/>
                    <a:pt x="1750807" y="641424"/>
                  </a:cubicBezTo>
                  <a:cubicBezTo>
                    <a:pt x="1750807" y="730051"/>
                    <a:pt x="1732832" y="814478"/>
                    <a:pt x="1700330" y="891262"/>
                  </a:cubicBezTo>
                  <a:moveTo>
                    <a:pt x="0" y="653527"/>
                  </a:moveTo>
                  <a:lnTo>
                    <a:pt x="467957" y="653527"/>
                  </a:lnTo>
                  <a:moveTo>
                    <a:pt x="2323651" y="653527"/>
                  </a:moveTo>
                  <a:lnTo>
                    <a:pt x="1750807" y="653527"/>
                  </a:lnTo>
                </a:path>
              </a:pathLst>
            </a:custGeom>
            <a:gradFill flip="none" rotWithShape="1">
              <a:gsLst>
                <a:gs pos="0">
                  <a:schemeClr val="accent1"/>
                </a:gs>
                <a:gs pos="100000">
                  <a:schemeClr val="accent2"/>
                </a:gs>
              </a:gsLst>
              <a:lin ang="2700000" scaled="0"/>
              <a:tileRect/>
            </a:gradFill>
            <a:ln w="12102">
              <a:solidFill>
                <a:schemeClr val="bg1"/>
              </a:solidFill>
            </a:ln>
          </p:spPr>
          <p:txBody>
            <a:bodyPr rtlCol="0" anchor="ctr"/>
            <a:lstStyle/>
            <a:p>
              <a:pPr algn="ctr"/>
              <a:endParaRPr/>
            </a:p>
          </p:txBody>
        </p:sp>
        <p:sp>
          <p:nvSpPr>
            <p:cNvPr id="11" name="Rounded Rectangle 8">
              <a:extLst>
                <a:ext uri="{FF2B5EF4-FFF2-40B4-BE49-F238E27FC236}">
                  <a16:creationId xmlns:a16="http://schemas.microsoft.com/office/drawing/2014/main" id="{8A15832C-C416-9AEC-4C6A-F842DEEF339A}"/>
                </a:ext>
              </a:extLst>
            </p:cNvPr>
            <p:cNvSpPr/>
            <p:nvPr/>
          </p:nvSpPr>
          <p:spPr>
            <a:xfrm>
              <a:off x="5516464" y="3278562"/>
              <a:ext cx="920529" cy="1497238"/>
            </a:xfrm>
            <a:custGeom>
              <a:avLst/>
              <a:gdLst/>
              <a:ahLst/>
              <a:cxnLst/>
              <a:rect l="0" t="0" r="0" b="0"/>
              <a:pathLst>
                <a:path w="920529" h="1497238">
                  <a:moveTo>
                    <a:pt x="67878" y="162550"/>
                  </a:moveTo>
                  <a:cubicBezTo>
                    <a:pt x="24987" y="174620"/>
                    <a:pt x="0" y="219181"/>
                    <a:pt x="12078" y="262072"/>
                  </a:cubicBezTo>
                  <a:lnTo>
                    <a:pt x="145236" y="735153"/>
                  </a:lnTo>
                  <a:cubicBezTo>
                    <a:pt x="176161" y="759575"/>
                    <a:pt x="208709" y="799013"/>
                    <a:pt x="211234" y="849504"/>
                  </a:cubicBezTo>
                  <a:cubicBezTo>
                    <a:pt x="212775" y="880430"/>
                    <a:pt x="213138" y="905433"/>
                    <a:pt x="213453" y="926999"/>
                  </a:cubicBezTo>
                  <a:cubicBezTo>
                    <a:pt x="213767" y="948808"/>
                    <a:pt x="214026" y="967115"/>
                    <a:pt x="215413" y="984502"/>
                  </a:cubicBezTo>
                  <a:lnTo>
                    <a:pt x="340632" y="1429368"/>
                  </a:lnTo>
                  <a:cubicBezTo>
                    <a:pt x="352702" y="1472259"/>
                    <a:pt x="397263" y="1497238"/>
                    <a:pt x="440154" y="1485168"/>
                  </a:cubicBezTo>
                  <a:lnTo>
                    <a:pt x="631710" y="1431224"/>
                  </a:lnTo>
                  <a:cubicBezTo>
                    <a:pt x="610967" y="1412877"/>
                    <a:pt x="584947" y="1388091"/>
                    <a:pt x="567898" y="1364386"/>
                  </a:cubicBezTo>
                  <a:cubicBezTo>
                    <a:pt x="497382" y="1266317"/>
                    <a:pt x="475114" y="1166344"/>
                    <a:pt x="420443" y="1069226"/>
                  </a:cubicBezTo>
                  <a:cubicBezTo>
                    <a:pt x="411617" y="1053550"/>
                    <a:pt x="412690" y="1033161"/>
                    <a:pt x="427568" y="1023044"/>
                  </a:cubicBezTo>
                  <a:cubicBezTo>
                    <a:pt x="440412" y="1014314"/>
                    <a:pt x="457283" y="1006818"/>
                    <a:pt x="477486" y="1006818"/>
                  </a:cubicBezTo>
                  <a:cubicBezTo>
                    <a:pt x="529929" y="1010853"/>
                    <a:pt x="560855" y="1047160"/>
                    <a:pt x="574305" y="1059262"/>
                  </a:cubicBezTo>
                  <a:lnTo>
                    <a:pt x="434902" y="690205"/>
                  </a:lnTo>
                  <a:cubicBezTo>
                    <a:pt x="426833" y="666000"/>
                    <a:pt x="408357" y="614049"/>
                    <a:pt x="461898" y="588795"/>
                  </a:cubicBezTo>
                  <a:cubicBezTo>
                    <a:pt x="515858" y="563332"/>
                    <a:pt x="543137" y="610160"/>
                    <a:pt x="552553" y="631678"/>
                  </a:cubicBezTo>
                  <a:lnTo>
                    <a:pt x="690600" y="996886"/>
                  </a:lnTo>
                  <a:cubicBezTo>
                    <a:pt x="674730" y="953415"/>
                    <a:pt x="660570" y="874120"/>
                    <a:pt x="715491" y="853522"/>
                  </a:cubicBezTo>
                  <a:cubicBezTo>
                    <a:pt x="780036" y="829317"/>
                    <a:pt x="817691" y="924789"/>
                    <a:pt x="828446" y="958409"/>
                  </a:cubicBezTo>
                  <a:cubicBezTo>
                    <a:pt x="825896" y="929065"/>
                    <a:pt x="820926" y="860977"/>
                    <a:pt x="858331" y="840298"/>
                  </a:cubicBezTo>
                  <a:lnTo>
                    <a:pt x="844590" y="845454"/>
                  </a:lnTo>
                  <a:cubicBezTo>
                    <a:pt x="844590" y="845454"/>
                    <a:pt x="800982" y="849488"/>
                    <a:pt x="780036" y="821281"/>
                  </a:cubicBezTo>
                  <a:cubicBezTo>
                    <a:pt x="741099" y="768838"/>
                    <a:pt x="808275" y="684121"/>
                    <a:pt x="808275" y="684121"/>
                  </a:cubicBezTo>
                  <a:lnTo>
                    <a:pt x="856693" y="619575"/>
                  </a:lnTo>
                  <a:cubicBezTo>
                    <a:pt x="856846" y="619422"/>
                    <a:pt x="856531" y="619721"/>
                    <a:pt x="856693" y="619575"/>
                  </a:cubicBezTo>
                  <a:lnTo>
                    <a:pt x="844590" y="579234"/>
                  </a:lnTo>
                  <a:lnTo>
                    <a:pt x="796899" y="405025"/>
                  </a:lnTo>
                  <a:lnTo>
                    <a:pt x="702001" y="67878"/>
                  </a:lnTo>
                  <a:cubicBezTo>
                    <a:pt x="689930" y="24987"/>
                    <a:pt x="645370" y="0"/>
                    <a:pt x="602479" y="12078"/>
                  </a:cubicBezTo>
                  <a:lnTo>
                    <a:pt x="67878" y="162550"/>
                  </a:lnTo>
                  <a:moveTo>
                    <a:pt x="909596" y="805395"/>
                  </a:moveTo>
                  <a:cubicBezTo>
                    <a:pt x="901657" y="816618"/>
                    <a:pt x="892629" y="825469"/>
                    <a:pt x="876863" y="833351"/>
                  </a:cubicBezTo>
                  <a:lnTo>
                    <a:pt x="872313" y="835054"/>
                  </a:lnTo>
                  <a:cubicBezTo>
                    <a:pt x="891531" y="830237"/>
                    <a:pt x="907418" y="834812"/>
                    <a:pt x="920529" y="844260"/>
                  </a:cubicBezTo>
                  <a:lnTo>
                    <a:pt x="909596" y="805395"/>
                  </a:lnTo>
                  <a:moveTo>
                    <a:pt x="690600" y="996886"/>
                  </a:moveTo>
                  <a:cubicBezTo>
                    <a:pt x="690834" y="997516"/>
                    <a:pt x="691060" y="998137"/>
                    <a:pt x="691286" y="998750"/>
                  </a:cubicBezTo>
                  <a:lnTo>
                    <a:pt x="690600" y="996886"/>
                  </a:lnTo>
                </a:path>
              </a:pathLst>
            </a:custGeom>
            <a:solidFill>
              <a:schemeClr val="bg1"/>
            </a:solidFill>
            <a:ln>
              <a:solidFill>
                <a:schemeClr val="bg1"/>
              </a:solidFill>
            </a:ln>
          </p:spPr>
          <p:txBody>
            <a:bodyPr rtlCol="0" anchor="ctr"/>
            <a:lstStyle/>
            <a:p>
              <a:pPr algn="ctr"/>
              <a:endParaRPr/>
            </a:p>
          </p:txBody>
        </p:sp>
        <p:sp>
          <p:nvSpPr>
            <p:cNvPr id="12" name="Rounded Rectangle 9">
              <a:extLst>
                <a:ext uri="{FF2B5EF4-FFF2-40B4-BE49-F238E27FC236}">
                  <a16:creationId xmlns:a16="http://schemas.microsoft.com/office/drawing/2014/main" id="{5B5E481F-7F5B-B356-BF54-9F9E297E50D2}"/>
                </a:ext>
              </a:extLst>
            </p:cNvPr>
            <p:cNvSpPr/>
            <p:nvPr/>
          </p:nvSpPr>
          <p:spPr>
            <a:xfrm>
              <a:off x="5516466" y="3278564"/>
              <a:ext cx="920530" cy="1497240"/>
            </a:xfrm>
            <a:custGeom>
              <a:avLst/>
              <a:gdLst/>
              <a:ahLst/>
              <a:cxnLst/>
              <a:rect l="0" t="0" r="0" b="0"/>
              <a:pathLst>
                <a:path w="920530" h="1497240">
                  <a:moveTo>
                    <a:pt x="67877" y="162546"/>
                  </a:moveTo>
                  <a:cubicBezTo>
                    <a:pt x="24984" y="174620"/>
                    <a:pt x="0" y="219178"/>
                    <a:pt x="12073" y="262071"/>
                  </a:cubicBezTo>
                  <a:lnTo>
                    <a:pt x="145231" y="735153"/>
                  </a:lnTo>
                  <a:cubicBezTo>
                    <a:pt x="176156" y="759572"/>
                    <a:pt x="208704" y="799009"/>
                    <a:pt x="211228" y="849505"/>
                  </a:cubicBezTo>
                  <a:cubicBezTo>
                    <a:pt x="212775" y="880430"/>
                    <a:pt x="213136" y="905429"/>
                    <a:pt x="213447" y="927000"/>
                  </a:cubicBezTo>
                  <a:cubicBezTo>
                    <a:pt x="213762" y="948809"/>
                    <a:pt x="214026" y="967115"/>
                    <a:pt x="215414" y="984498"/>
                  </a:cubicBezTo>
                  <a:lnTo>
                    <a:pt x="340630" y="1429363"/>
                  </a:lnTo>
                  <a:cubicBezTo>
                    <a:pt x="352703" y="1472256"/>
                    <a:pt x="397262" y="1497240"/>
                    <a:pt x="440155" y="1485167"/>
                  </a:cubicBezTo>
                  <a:lnTo>
                    <a:pt x="631704" y="1431221"/>
                  </a:lnTo>
                  <a:cubicBezTo>
                    <a:pt x="610968" y="1412877"/>
                    <a:pt x="584942" y="1388086"/>
                    <a:pt x="567900" y="1364386"/>
                  </a:cubicBezTo>
                  <a:cubicBezTo>
                    <a:pt x="497382" y="1266315"/>
                    <a:pt x="475112" y="1166344"/>
                    <a:pt x="420441" y="1069222"/>
                  </a:cubicBezTo>
                  <a:cubicBezTo>
                    <a:pt x="411616" y="1053545"/>
                    <a:pt x="412685" y="1033157"/>
                    <a:pt x="427563" y="1023043"/>
                  </a:cubicBezTo>
                  <a:cubicBezTo>
                    <a:pt x="440408" y="1014310"/>
                    <a:pt x="457279" y="1006817"/>
                    <a:pt x="477480" y="1006817"/>
                  </a:cubicBezTo>
                  <a:cubicBezTo>
                    <a:pt x="529924" y="1010851"/>
                    <a:pt x="560852" y="1047159"/>
                    <a:pt x="574299" y="1059260"/>
                  </a:cubicBezTo>
                  <a:lnTo>
                    <a:pt x="434898" y="690200"/>
                  </a:lnTo>
                  <a:cubicBezTo>
                    <a:pt x="426829" y="665995"/>
                    <a:pt x="408355" y="614049"/>
                    <a:pt x="461893" y="588793"/>
                  </a:cubicBezTo>
                  <a:cubicBezTo>
                    <a:pt x="515859" y="563333"/>
                    <a:pt x="543135" y="610157"/>
                    <a:pt x="552549" y="631672"/>
                  </a:cubicBezTo>
                  <a:lnTo>
                    <a:pt x="690599" y="996886"/>
                  </a:lnTo>
                  <a:cubicBezTo>
                    <a:pt x="674727" y="953414"/>
                    <a:pt x="660566" y="874116"/>
                    <a:pt x="715492" y="853519"/>
                  </a:cubicBezTo>
                  <a:cubicBezTo>
                    <a:pt x="780038" y="829314"/>
                    <a:pt x="817690" y="924788"/>
                    <a:pt x="828448" y="958406"/>
                  </a:cubicBezTo>
                  <a:cubicBezTo>
                    <a:pt x="825896" y="929059"/>
                    <a:pt x="820923" y="860972"/>
                    <a:pt x="858328" y="840299"/>
                  </a:cubicBezTo>
                  <a:lnTo>
                    <a:pt x="844585" y="845452"/>
                  </a:lnTo>
                  <a:cubicBezTo>
                    <a:pt x="844585" y="845452"/>
                    <a:pt x="800983" y="849486"/>
                    <a:pt x="780038" y="821277"/>
                  </a:cubicBezTo>
                  <a:cubicBezTo>
                    <a:pt x="741100" y="768835"/>
                    <a:pt x="808275" y="684117"/>
                    <a:pt x="808275" y="684117"/>
                  </a:cubicBezTo>
                  <a:lnTo>
                    <a:pt x="856687" y="619571"/>
                  </a:lnTo>
                  <a:cubicBezTo>
                    <a:pt x="856840" y="619418"/>
                    <a:pt x="856526" y="619723"/>
                    <a:pt x="856687" y="619571"/>
                  </a:cubicBezTo>
                  <a:lnTo>
                    <a:pt x="844585" y="579230"/>
                  </a:lnTo>
                  <a:lnTo>
                    <a:pt x="796898" y="405022"/>
                  </a:lnTo>
                  <a:lnTo>
                    <a:pt x="702002" y="67877"/>
                  </a:lnTo>
                  <a:cubicBezTo>
                    <a:pt x="689929" y="24984"/>
                    <a:pt x="645370" y="0"/>
                    <a:pt x="602477" y="12073"/>
                  </a:cubicBezTo>
                  <a:close/>
                  <a:moveTo>
                    <a:pt x="909591" y="805393"/>
                  </a:moveTo>
                  <a:cubicBezTo>
                    <a:pt x="901657" y="816615"/>
                    <a:pt x="892630" y="825465"/>
                    <a:pt x="876858" y="833351"/>
                  </a:cubicBezTo>
                  <a:lnTo>
                    <a:pt x="872311" y="835055"/>
                  </a:lnTo>
                  <a:cubicBezTo>
                    <a:pt x="891531" y="830235"/>
                    <a:pt x="907418" y="834808"/>
                    <a:pt x="920530" y="844260"/>
                  </a:cubicBezTo>
                  <a:close/>
                  <a:moveTo>
                    <a:pt x="690599" y="996886"/>
                  </a:moveTo>
                  <a:cubicBezTo>
                    <a:pt x="690828" y="997514"/>
                    <a:pt x="691058" y="998135"/>
                    <a:pt x="691288" y="998747"/>
                  </a:cubicBezTo>
                  <a:close/>
                  <a:moveTo>
                    <a:pt x="163443" y="336721"/>
                  </a:moveTo>
                  <a:cubicBezTo>
                    <a:pt x="160982" y="328157"/>
                    <a:pt x="165929" y="319217"/>
                    <a:pt x="174494" y="316755"/>
                  </a:cubicBezTo>
                  <a:lnTo>
                    <a:pt x="263367" y="291208"/>
                  </a:lnTo>
                  <a:cubicBezTo>
                    <a:pt x="271932" y="288747"/>
                    <a:pt x="280872" y="293694"/>
                    <a:pt x="283333" y="302259"/>
                  </a:cubicBezTo>
                  <a:lnTo>
                    <a:pt x="308880" y="391132"/>
                  </a:lnTo>
                  <a:cubicBezTo>
                    <a:pt x="311342" y="399697"/>
                    <a:pt x="306395" y="408636"/>
                    <a:pt x="297830" y="411098"/>
                  </a:cubicBezTo>
                  <a:lnTo>
                    <a:pt x="208956" y="436645"/>
                  </a:lnTo>
                  <a:cubicBezTo>
                    <a:pt x="200392" y="439107"/>
                    <a:pt x="191452" y="434160"/>
                    <a:pt x="188990" y="425594"/>
                  </a:cubicBezTo>
                  <a:close/>
                  <a:moveTo>
                    <a:pt x="328840" y="286479"/>
                  </a:moveTo>
                  <a:cubicBezTo>
                    <a:pt x="326378" y="277913"/>
                    <a:pt x="331326" y="268974"/>
                    <a:pt x="339890" y="266512"/>
                  </a:cubicBezTo>
                  <a:lnTo>
                    <a:pt x="428763" y="240966"/>
                  </a:lnTo>
                  <a:cubicBezTo>
                    <a:pt x="437329" y="238503"/>
                    <a:pt x="446267" y="243451"/>
                    <a:pt x="448730" y="252016"/>
                  </a:cubicBezTo>
                  <a:lnTo>
                    <a:pt x="474276" y="340889"/>
                  </a:lnTo>
                  <a:cubicBezTo>
                    <a:pt x="476739" y="349454"/>
                    <a:pt x="471791" y="358393"/>
                    <a:pt x="463226" y="360856"/>
                  </a:cubicBezTo>
                  <a:lnTo>
                    <a:pt x="374353" y="386402"/>
                  </a:lnTo>
                  <a:cubicBezTo>
                    <a:pt x="365788" y="388864"/>
                    <a:pt x="356849" y="383917"/>
                    <a:pt x="354386" y="375352"/>
                  </a:cubicBezTo>
                  <a:close/>
                  <a:moveTo>
                    <a:pt x="490206" y="238070"/>
                  </a:moveTo>
                  <a:cubicBezTo>
                    <a:pt x="487744" y="229505"/>
                    <a:pt x="492691" y="220566"/>
                    <a:pt x="501256" y="218103"/>
                  </a:cubicBezTo>
                  <a:lnTo>
                    <a:pt x="590130" y="192557"/>
                  </a:lnTo>
                  <a:cubicBezTo>
                    <a:pt x="598694" y="190095"/>
                    <a:pt x="607634" y="195042"/>
                    <a:pt x="610096" y="203607"/>
                  </a:cubicBezTo>
                  <a:lnTo>
                    <a:pt x="635643" y="292480"/>
                  </a:lnTo>
                  <a:cubicBezTo>
                    <a:pt x="638104" y="301046"/>
                    <a:pt x="633157" y="309985"/>
                    <a:pt x="624591" y="312447"/>
                  </a:cubicBezTo>
                  <a:lnTo>
                    <a:pt x="535719" y="337993"/>
                  </a:lnTo>
                  <a:cubicBezTo>
                    <a:pt x="527154" y="340456"/>
                    <a:pt x="518215" y="335508"/>
                    <a:pt x="515753" y="326943"/>
                  </a:cubicBezTo>
                  <a:close/>
                  <a:moveTo>
                    <a:pt x="219921" y="514222"/>
                  </a:moveTo>
                  <a:cubicBezTo>
                    <a:pt x="217459" y="505658"/>
                    <a:pt x="222407" y="496718"/>
                    <a:pt x="230972" y="494257"/>
                  </a:cubicBezTo>
                  <a:lnTo>
                    <a:pt x="319845" y="468709"/>
                  </a:lnTo>
                  <a:cubicBezTo>
                    <a:pt x="328410" y="466248"/>
                    <a:pt x="337349" y="471195"/>
                    <a:pt x="339811" y="479760"/>
                  </a:cubicBezTo>
                  <a:lnTo>
                    <a:pt x="365357" y="568633"/>
                  </a:lnTo>
                  <a:cubicBezTo>
                    <a:pt x="367820" y="577198"/>
                    <a:pt x="362872" y="586138"/>
                    <a:pt x="354307" y="588599"/>
                  </a:cubicBezTo>
                  <a:lnTo>
                    <a:pt x="265434" y="614146"/>
                  </a:lnTo>
                  <a:cubicBezTo>
                    <a:pt x="256870" y="616608"/>
                    <a:pt x="247930" y="611661"/>
                    <a:pt x="245468" y="603095"/>
                  </a:cubicBezTo>
                  <a:close/>
                  <a:moveTo>
                    <a:pt x="385317" y="463980"/>
                  </a:moveTo>
                  <a:cubicBezTo>
                    <a:pt x="382856" y="455414"/>
                    <a:pt x="387803" y="446476"/>
                    <a:pt x="396368" y="444013"/>
                  </a:cubicBezTo>
                  <a:lnTo>
                    <a:pt x="485241" y="418467"/>
                  </a:lnTo>
                  <a:cubicBezTo>
                    <a:pt x="493806" y="416004"/>
                    <a:pt x="502745" y="420952"/>
                    <a:pt x="505207" y="429517"/>
                  </a:cubicBezTo>
                  <a:lnTo>
                    <a:pt x="530754" y="518390"/>
                  </a:lnTo>
                  <a:cubicBezTo>
                    <a:pt x="533216" y="526956"/>
                    <a:pt x="528269" y="535894"/>
                    <a:pt x="519704" y="538357"/>
                  </a:cubicBezTo>
                  <a:lnTo>
                    <a:pt x="430830" y="563903"/>
                  </a:lnTo>
                  <a:cubicBezTo>
                    <a:pt x="422266" y="566366"/>
                    <a:pt x="413326" y="561417"/>
                    <a:pt x="410864" y="552853"/>
                  </a:cubicBezTo>
                  <a:close/>
                  <a:moveTo>
                    <a:pt x="546684" y="415571"/>
                  </a:moveTo>
                  <a:cubicBezTo>
                    <a:pt x="544221" y="407006"/>
                    <a:pt x="549169" y="398067"/>
                    <a:pt x="557734" y="395605"/>
                  </a:cubicBezTo>
                  <a:lnTo>
                    <a:pt x="646607" y="370058"/>
                  </a:lnTo>
                  <a:cubicBezTo>
                    <a:pt x="655172" y="367596"/>
                    <a:pt x="664111" y="372543"/>
                    <a:pt x="666574" y="381108"/>
                  </a:cubicBezTo>
                  <a:lnTo>
                    <a:pt x="692120" y="469982"/>
                  </a:lnTo>
                  <a:cubicBezTo>
                    <a:pt x="694582" y="478547"/>
                    <a:pt x="689634" y="487486"/>
                    <a:pt x="681069" y="489948"/>
                  </a:cubicBezTo>
                  <a:lnTo>
                    <a:pt x="592197" y="515495"/>
                  </a:lnTo>
                  <a:cubicBezTo>
                    <a:pt x="583631" y="517957"/>
                    <a:pt x="574693" y="513010"/>
                    <a:pt x="572230" y="504444"/>
                  </a:cubicBezTo>
                  <a:close/>
                  <a:moveTo>
                    <a:pt x="268330" y="691723"/>
                  </a:moveTo>
                  <a:cubicBezTo>
                    <a:pt x="265869" y="683159"/>
                    <a:pt x="270816" y="674219"/>
                    <a:pt x="279382" y="671758"/>
                  </a:cubicBezTo>
                  <a:lnTo>
                    <a:pt x="368254" y="646210"/>
                  </a:lnTo>
                  <a:cubicBezTo>
                    <a:pt x="376819" y="643749"/>
                    <a:pt x="385759" y="648696"/>
                    <a:pt x="388220" y="657262"/>
                  </a:cubicBezTo>
                  <a:lnTo>
                    <a:pt x="413767" y="746134"/>
                  </a:lnTo>
                  <a:cubicBezTo>
                    <a:pt x="416229" y="754699"/>
                    <a:pt x="411282" y="763639"/>
                    <a:pt x="402717" y="766100"/>
                  </a:cubicBezTo>
                  <a:lnTo>
                    <a:pt x="313843" y="791647"/>
                  </a:lnTo>
                  <a:cubicBezTo>
                    <a:pt x="305279" y="794109"/>
                    <a:pt x="296339" y="789162"/>
                    <a:pt x="293877" y="780597"/>
                  </a:cubicBezTo>
                  <a:close/>
                  <a:moveTo>
                    <a:pt x="595093" y="593072"/>
                  </a:moveTo>
                  <a:cubicBezTo>
                    <a:pt x="592631" y="584507"/>
                    <a:pt x="597578" y="575568"/>
                    <a:pt x="606143" y="573106"/>
                  </a:cubicBezTo>
                  <a:lnTo>
                    <a:pt x="695017" y="547559"/>
                  </a:lnTo>
                  <a:cubicBezTo>
                    <a:pt x="703581" y="545097"/>
                    <a:pt x="712521" y="550044"/>
                    <a:pt x="714983" y="558610"/>
                  </a:cubicBezTo>
                  <a:lnTo>
                    <a:pt x="740530" y="647483"/>
                  </a:lnTo>
                  <a:cubicBezTo>
                    <a:pt x="742991" y="656048"/>
                    <a:pt x="738044" y="664987"/>
                    <a:pt x="729479" y="667449"/>
                  </a:cubicBezTo>
                  <a:lnTo>
                    <a:pt x="640606" y="692996"/>
                  </a:lnTo>
                  <a:cubicBezTo>
                    <a:pt x="632041" y="695458"/>
                    <a:pt x="623102" y="690511"/>
                    <a:pt x="620640" y="681946"/>
                  </a:cubicBezTo>
                  <a:close/>
                  <a:moveTo>
                    <a:pt x="568919" y="1364199"/>
                  </a:moveTo>
                  <a:lnTo>
                    <a:pt x="451858" y="1397510"/>
                  </a:lnTo>
                  <a:cubicBezTo>
                    <a:pt x="426144" y="1404828"/>
                    <a:pt x="399365" y="1389914"/>
                    <a:pt x="392048" y="1364199"/>
                  </a:cubicBezTo>
                  <a:lnTo>
                    <a:pt x="87307" y="293298"/>
                  </a:lnTo>
                  <a:cubicBezTo>
                    <a:pt x="79990" y="267583"/>
                    <a:pt x="94904" y="240804"/>
                    <a:pt x="120618" y="233487"/>
                  </a:cubicBezTo>
                  <a:lnTo>
                    <a:pt x="588740" y="100276"/>
                  </a:lnTo>
                  <a:cubicBezTo>
                    <a:pt x="614455" y="92959"/>
                    <a:pt x="641233" y="107873"/>
                    <a:pt x="648551" y="133587"/>
                  </a:cubicBezTo>
                  <a:lnTo>
                    <a:pt x="806351" y="688121"/>
                  </a:lnTo>
                </a:path>
              </a:pathLst>
            </a:custGeom>
            <a:gradFill flip="none" rotWithShape="1">
              <a:gsLst>
                <a:gs pos="0">
                  <a:schemeClr val="accent1"/>
                </a:gs>
                <a:gs pos="100000">
                  <a:schemeClr val="accent2"/>
                </a:gs>
              </a:gsLst>
              <a:lin ang="2700000" scaled="0"/>
              <a:tileRect/>
            </a:gradFill>
            <a:ln w="12102">
              <a:solidFill>
                <a:schemeClr val="bg1"/>
              </a:solidFill>
            </a:ln>
          </p:spPr>
          <p:txBody>
            <a:bodyPr rtlCol="0" anchor="ctr"/>
            <a:lstStyle/>
            <a:p>
              <a:pPr algn="ctr"/>
              <a:endParaRPr/>
            </a:p>
          </p:txBody>
        </p:sp>
        <p:sp>
          <p:nvSpPr>
            <p:cNvPr id="13" name="Rounded Rectangle 10">
              <a:extLst>
                <a:ext uri="{FF2B5EF4-FFF2-40B4-BE49-F238E27FC236}">
                  <a16:creationId xmlns:a16="http://schemas.microsoft.com/office/drawing/2014/main" id="{A4B71088-9608-C2B3-FD2F-E6361912E966}"/>
                </a:ext>
              </a:extLst>
            </p:cNvPr>
            <p:cNvSpPr/>
            <p:nvPr/>
          </p:nvSpPr>
          <p:spPr>
            <a:xfrm>
              <a:off x="5582471" y="3635904"/>
              <a:ext cx="1132239" cy="1301132"/>
            </a:xfrm>
            <a:custGeom>
              <a:avLst/>
              <a:gdLst/>
              <a:ahLst/>
              <a:cxnLst/>
              <a:rect l="0" t="0" r="0" b="0"/>
              <a:pathLst>
                <a:path w="1132239" h="1301132">
                  <a:moveTo>
                    <a:pt x="68580" y="1153757"/>
                  </a:moveTo>
                  <a:lnTo>
                    <a:pt x="64545" y="1285003"/>
                  </a:lnTo>
                  <a:lnTo>
                    <a:pt x="476025" y="1297105"/>
                  </a:lnTo>
                  <a:lnTo>
                    <a:pt x="480060" y="1198141"/>
                  </a:lnTo>
                  <a:lnTo>
                    <a:pt x="492162" y="1182004"/>
                  </a:lnTo>
                  <a:lnTo>
                    <a:pt x="565647" y="1073857"/>
                  </a:lnTo>
                  <a:cubicBezTo>
                    <a:pt x="515882" y="1088784"/>
                    <a:pt x="423582" y="1113408"/>
                    <a:pt x="367104" y="1129544"/>
                  </a:cubicBezTo>
                  <a:cubicBezTo>
                    <a:pt x="314661" y="1144527"/>
                    <a:pt x="283735" y="1089203"/>
                    <a:pt x="274320" y="1060964"/>
                  </a:cubicBezTo>
                  <a:lnTo>
                    <a:pt x="225910" y="899600"/>
                  </a:lnTo>
                  <a:cubicBezTo>
                    <a:pt x="205740" y="832359"/>
                    <a:pt x="169432" y="693860"/>
                    <a:pt x="157330" y="657553"/>
                  </a:cubicBezTo>
                  <a:cubicBezTo>
                    <a:pt x="143065" y="614759"/>
                    <a:pt x="149262" y="572852"/>
                    <a:pt x="145228" y="492170"/>
                  </a:cubicBezTo>
                  <a:cubicBezTo>
                    <a:pt x="141194" y="411488"/>
                    <a:pt x="60511" y="359036"/>
                    <a:pt x="32272" y="350968"/>
                  </a:cubicBezTo>
                  <a:cubicBezTo>
                    <a:pt x="9681" y="344513"/>
                    <a:pt x="1347" y="361731"/>
                    <a:pt x="0" y="371138"/>
                  </a:cubicBezTo>
                  <a:lnTo>
                    <a:pt x="12102" y="693868"/>
                  </a:lnTo>
                  <a:cubicBezTo>
                    <a:pt x="13449" y="798755"/>
                    <a:pt x="16943" y="1019824"/>
                    <a:pt x="20170" y="1065007"/>
                  </a:cubicBezTo>
                  <a:cubicBezTo>
                    <a:pt x="23397" y="1110189"/>
                    <a:pt x="53790" y="1143002"/>
                    <a:pt x="68580" y="1153757"/>
                  </a:cubicBezTo>
                  <a:moveTo>
                    <a:pt x="697902" y="1301132"/>
                  </a:moveTo>
                  <a:cubicBezTo>
                    <a:pt x="697902" y="1301132"/>
                    <a:pt x="696522" y="1250770"/>
                    <a:pt x="681765" y="1222781"/>
                  </a:cubicBezTo>
                  <a:cubicBezTo>
                    <a:pt x="647362" y="1157549"/>
                    <a:pt x="565647" y="1073857"/>
                    <a:pt x="565647" y="1073857"/>
                  </a:cubicBezTo>
                  <a:cubicBezTo>
                    <a:pt x="542427" y="1053348"/>
                    <a:pt x="518367" y="1029595"/>
                    <a:pt x="500230" y="1004487"/>
                  </a:cubicBezTo>
                  <a:cubicBezTo>
                    <a:pt x="432651" y="910911"/>
                    <a:pt x="409204" y="810139"/>
                    <a:pt x="354227" y="711795"/>
                  </a:cubicBezTo>
                  <a:cubicBezTo>
                    <a:pt x="345497" y="696167"/>
                    <a:pt x="346579" y="675900"/>
                    <a:pt x="361198" y="665564"/>
                  </a:cubicBezTo>
                  <a:cubicBezTo>
                    <a:pt x="373470" y="656891"/>
                    <a:pt x="389235" y="649484"/>
                    <a:pt x="407445" y="649484"/>
                  </a:cubicBezTo>
                  <a:cubicBezTo>
                    <a:pt x="459889" y="649484"/>
                    <a:pt x="494849" y="689834"/>
                    <a:pt x="508298" y="701936"/>
                  </a:cubicBezTo>
                  <a:lnTo>
                    <a:pt x="367104" y="326779"/>
                  </a:lnTo>
                  <a:cubicBezTo>
                    <a:pt x="359036" y="302574"/>
                    <a:pt x="344513" y="252535"/>
                    <a:pt x="399377" y="229944"/>
                  </a:cubicBezTo>
                  <a:cubicBezTo>
                    <a:pt x="454241" y="207353"/>
                    <a:pt x="478712" y="256852"/>
                    <a:pt x="488128" y="278370"/>
                  </a:cubicBezTo>
                  <a:lnTo>
                    <a:pt x="624602" y="639552"/>
                  </a:lnTo>
                  <a:cubicBezTo>
                    <a:pt x="608724" y="596081"/>
                    <a:pt x="594564" y="516778"/>
                    <a:pt x="649492" y="496180"/>
                  </a:cubicBezTo>
                  <a:cubicBezTo>
                    <a:pt x="714038" y="471975"/>
                    <a:pt x="751685" y="567455"/>
                    <a:pt x="762448" y="601067"/>
                  </a:cubicBezTo>
                  <a:cubicBezTo>
                    <a:pt x="759753" y="570141"/>
                    <a:pt x="754380" y="496180"/>
                    <a:pt x="798755" y="480043"/>
                  </a:cubicBezTo>
                  <a:cubicBezTo>
                    <a:pt x="850319" y="461293"/>
                    <a:pt x="879437" y="508282"/>
                    <a:pt x="895574" y="544589"/>
                  </a:cubicBezTo>
                  <a:cubicBezTo>
                    <a:pt x="908483" y="573635"/>
                    <a:pt x="917084" y="594346"/>
                    <a:pt x="919778" y="601067"/>
                  </a:cubicBezTo>
                  <a:cubicBezTo>
                    <a:pt x="909015" y="566107"/>
                    <a:pt x="895574" y="497793"/>
                    <a:pt x="939949" y="480043"/>
                  </a:cubicBezTo>
                  <a:cubicBezTo>
                    <a:pt x="980290" y="463907"/>
                    <a:pt x="1016597" y="476009"/>
                    <a:pt x="1032734" y="520385"/>
                  </a:cubicBezTo>
                  <a:lnTo>
                    <a:pt x="1113416" y="718072"/>
                  </a:lnTo>
                  <a:cubicBezTo>
                    <a:pt x="1132239" y="777229"/>
                    <a:pt x="1109382" y="883463"/>
                    <a:pt x="1105348" y="927838"/>
                  </a:cubicBezTo>
                  <a:cubicBezTo>
                    <a:pt x="1105348" y="927838"/>
                    <a:pt x="1091543" y="1006697"/>
                    <a:pt x="1101314" y="1060964"/>
                  </a:cubicBezTo>
                  <a:cubicBezTo>
                    <a:pt x="1108615" y="1101507"/>
                    <a:pt x="1125518" y="1177954"/>
                    <a:pt x="1125518" y="1177954"/>
                  </a:cubicBezTo>
                  <a:lnTo>
                    <a:pt x="697902" y="1301132"/>
                  </a:lnTo>
                  <a:moveTo>
                    <a:pt x="750345" y="28238"/>
                  </a:moveTo>
                  <a:lnTo>
                    <a:pt x="730175" y="48409"/>
                  </a:lnTo>
                  <a:lnTo>
                    <a:pt x="778584" y="221892"/>
                  </a:lnTo>
                  <a:cubicBezTo>
                    <a:pt x="789339" y="207103"/>
                    <a:pt x="821346" y="170255"/>
                    <a:pt x="847164" y="141210"/>
                  </a:cubicBezTo>
                  <a:cubicBezTo>
                    <a:pt x="872983" y="112164"/>
                    <a:pt x="874056" y="83385"/>
                    <a:pt x="871369" y="72630"/>
                  </a:cubicBezTo>
                  <a:cubicBezTo>
                    <a:pt x="870022" y="60527"/>
                    <a:pt x="860073" y="32272"/>
                    <a:pt x="831028" y="16136"/>
                  </a:cubicBezTo>
                  <a:cubicBezTo>
                    <a:pt x="801982" y="0"/>
                    <a:pt x="770516" y="8060"/>
                    <a:pt x="750345" y="28238"/>
                  </a:cubicBezTo>
                  <a:moveTo>
                    <a:pt x="790687" y="262233"/>
                  </a:moveTo>
                  <a:lnTo>
                    <a:pt x="742277" y="326779"/>
                  </a:lnTo>
                  <a:cubicBezTo>
                    <a:pt x="742277" y="326779"/>
                    <a:pt x="675101" y="411496"/>
                    <a:pt x="714038" y="463939"/>
                  </a:cubicBezTo>
                  <a:cubicBezTo>
                    <a:pt x="734983" y="492154"/>
                    <a:pt x="778584" y="488120"/>
                    <a:pt x="778584" y="488120"/>
                  </a:cubicBezTo>
                  <a:lnTo>
                    <a:pt x="810857" y="476017"/>
                  </a:lnTo>
                  <a:cubicBezTo>
                    <a:pt x="843130" y="459881"/>
                    <a:pt x="847164" y="439710"/>
                    <a:pt x="871369" y="403427"/>
                  </a:cubicBezTo>
                  <a:cubicBezTo>
                    <a:pt x="895727" y="366911"/>
                    <a:pt x="909015" y="337542"/>
                    <a:pt x="911710" y="326779"/>
                  </a:cubicBezTo>
                  <a:cubicBezTo>
                    <a:pt x="914397" y="316024"/>
                    <a:pt x="911710" y="286438"/>
                    <a:pt x="871369" y="262233"/>
                  </a:cubicBezTo>
                  <a:cubicBezTo>
                    <a:pt x="838975" y="242797"/>
                    <a:pt x="802789" y="250131"/>
                    <a:pt x="790687" y="262233"/>
                  </a:cubicBezTo>
                  <a:moveTo>
                    <a:pt x="508298" y="701936"/>
                  </a:moveTo>
                  <a:lnTo>
                    <a:pt x="576878" y="859258"/>
                  </a:lnTo>
                  <a:moveTo>
                    <a:pt x="624602" y="639552"/>
                  </a:moveTo>
                  <a:lnTo>
                    <a:pt x="625288" y="641408"/>
                  </a:lnTo>
                  <a:cubicBezTo>
                    <a:pt x="625054" y="640795"/>
                    <a:pt x="624828" y="640182"/>
                    <a:pt x="624602" y="639552"/>
                  </a:cubicBezTo>
                </a:path>
              </a:pathLst>
            </a:custGeom>
            <a:grpFill/>
            <a:ln>
              <a:solidFill>
                <a:schemeClr val="bg1"/>
              </a:solidFill>
            </a:ln>
          </p:spPr>
          <p:txBody>
            <a:bodyPr rtlCol="0" anchor="ctr"/>
            <a:lstStyle/>
            <a:p>
              <a:pPr algn="ctr"/>
              <a:endParaRPr/>
            </a:p>
          </p:txBody>
        </p:sp>
        <p:sp>
          <p:nvSpPr>
            <p:cNvPr id="14" name="Rounded Rectangle 11">
              <a:extLst>
                <a:ext uri="{FF2B5EF4-FFF2-40B4-BE49-F238E27FC236}">
                  <a16:creationId xmlns:a16="http://schemas.microsoft.com/office/drawing/2014/main" id="{DF042E02-A823-1895-1E41-46A5B7D836BF}"/>
                </a:ext>
              </a:extLst>
            </p:cNvPr>
            <p:cNvSpPr/>
            <p:nvPr/>
          </p:nvSpPr>
          <p:spPr>
            <a:xfrm>
              <a:off x="5582471" y="3635907"/>
              <a:ext cx="1132241" cy="1301128"/>
            </a:xfrm>
            <a:custGeom>
              <a:avLst/>
              <a:gdLst/>
              <a:ahLst/>
              <a:cxnLst/>
              <a:rect l="0" t="0" r="0" b="0"/>
              <a:pathLst>
                <a:path w="1132241" h="1301128">
                  <a:moveTo>
                    <a:pt x="68580" y="1153756"/>
                  </a:moveTo>
                  <a:lnTo>
                    <a:pt x="64545" y="1284997"/>
                  </a:lnTo>
                  <a:lnTo>
                    <a:pt x="476025" y="1297099"/>
                  </a:lnTo>
                  <a:lnTo>
                    <a:pt x="480060" y="1198136"/>
                  </a:lnTo>
                  <a:lnTo>
                    <a:pt x="492162" y="1181999"/>
                  </a:lnTo>
                  <a:lnTo>
                    <a:pt x="565648" y="1073857"/>
                  </a:lnTo>
                  <a:cubicBezTo>
                    <a:pt x="515884" y="1088782"/>
                    <a:pt x="423582" y="1113401"/>
                    <a:pt x="367104" y="1129537"/>
                  </a:cubicBezTo>
                  <a:cubicBezTo>
                    <a:pt x="314661" y="1144521"/>
                    <a:pt x="283733" y="1089198"/>
                    <a:pt x="274320" y="1060957"/>
                  </a:cubicBezTo>
                  <a:lnTo>
                    <a:pt x="225910" y="899592"/>
                  </a:lnTo>
                  <a:cubicBezTo>
                    <a:pt x="205740" y="832357"/>
                    <a:pt x="169432" y="693852"/>
                    <a:pt x="157330" y="657545"/>
                  </a:cubicBezTo>
                  <a:cubicBezTo>
                    <a:pt x="143067" y="614757"/>
                    <a:pt x="149262" y="572847"/>
                    <a:pt x="145228" y="492165"/>
                  </a:cubicBezTo>
                  <a:cubicBezTo>
                    <a:pt x="141194" y="411483"/>
                    <a:pt x="60511" y="359035"/>
                    <a:pt x="32272" y="350967"/>
                  </a:cubicBezTo>
                  <a:cubicBezTo>
                    <a:pt x="9681" y="344512"/>
                    <a:pt x="1344" y="361724"/>
                    <a:pt x="0" y="371138"/>
                  </a:cubicBezTo>
                  <a:lnTo>
                    <a:pt x="12102" y="693867"/>
                  </a:lnTo>
                  <a:cubicBezTo>
                    <a:pt x="13447" y="798754"/>
                    <a:pt x="16943" y="1019824"/>
                    <a:pt x="20170" y="1065006"/>
                  </a:cubicBezTo>
                  <a:cubicBezTo>
                    <a:pt x="23397" y="1110188"/>
                    <a:pt x="53788" y="1142998"/>
                    <a:pt x="68580" y="1153756"/>
                  </a:cubicBezTo>
                  <a:close/>
                  <a:moveTo>
                    <a:pt x="697902" y="1301128"/>
                  </a:moveTo>
                  <a:cubicBezTo>
                    <a:pt x="697902" y="1301128"/>
                    <a:pt x="696525" y="1250765"/>
                    <a:pt x="681765" y="1222774"/>
                  </a:cubicBezTo>
                  <a:cubicBezTo>
                    <a:pt x="647366" y="1157543"/>
                    <a:pt x="565648" y="1073857"/>
                    <a:pt x="565648" y="1073857"/>
                  </a:cubicBezTo>
                  <a:cubicBezTo>
                    <a:pt x="542430" y="1053346"/>
                    <a:pt x="518365" y="1029590"/>
                    <a:pt x="500230" y="1004479"/>
                  </a:cubicBezTo>
                  <a:cubicBezTo>
                    <a:pt x="432648" y="910904"/>
                    <a:pt x="409204" y="810136"/>
                    <a:pt x="354229" y="711791"/>
                  </a:cubicBezTo>
                  <a:cubicBezTo>
                    <a:pt x="345494" y="696165"/>
                    <a:pt x="346580" y="675894"/>
                    <a:pt x="361199" y="665562"/>
                  </a:cubicBezTo>
                  <a:cubicBezTo>
                    <a:pt x="373468" y="656890"/>
                    <a:pt x="389232" y="649477"/>
                    <a:pt x="407445" y="649477"/>
                  </a:cubicBezTo>
                  <a:cubicBezTo>
                    <a:pt x="459889" y="649477"/>
                    <a:pt x="494851" y="689834"/>
                    <a:pt x="508298" y="701934"/>
                  </a:cubicBezTo>
                  <a:lnTo>
                    <a:pt x="367104" y="326778"/>
                  </a:lnTo>
                  <a:cubicBezTo>
                    <a:pt x="359036" y="302573"/>
                    <a:pt x="344513" y="252536"/>
                    <a:pt x="399377" y="229945"/>
                  </a:cubicBezTo>
                  <a:cubicBezTo>
                    <a:pt x="454241" y="207354"/>
                    <a:pt x="478715" y="256850"/>
                    <a:pt x="488127" y="278366"/>
                  </a:cubicBezTo>
                  <a:lnTo>
                    <a:pt x="624599" y="639547"/>
                  </a:lnTo>
                  <a:cubicBezTo>
                    <a:pt x="608727" y="596074"/>
                    <a:pt x="594566" y="516776"/>
                    <a:pt x="649492" y="496179"/>
                  </a:cubicBezTo>
                  <a:cubicBezTo>
                    <a:pt x="714038" y="471974"/>
                    <a:pt x="751689" y="567448"/>
                    <a:pt x="762447" y="601066"/>
                  </a:cubicBezTo>
                  <a:cubicBezTo>
                    <a:pt x="759757" y="570138"/>
                    <a:pt x="754379" y="496179"/>
                    <a:pt x="798754" y="480043"/>
                  </a:cubicBezTo>
                  <a:cubicBezTo>
                    <a:pt x="850320" y="461291"/>
                    <a:pt x="879436" y="508281"/>
                    <a:pt x="895573" y="544588"/>
                  </a:cubicBezTo>
                  <a:cubicBezTo>
                    <a:pt x="908482" y="573634"/>
                    <a:pt x="917088" y="594343"/>
                    <a:pt x="919778" y="601066"/>
                  </a:cubicBezTo>
                  <a:cubicBezTo>
                    <a:pt x="909019" y="566104"/>
                    <a:pt x="895573" y="497793"/>
                    <a:pt x="939948" y="480043"/>
                  </a:cubicBezTo>
                  <a:cubicBezTo>
                    <a:pt x="980289" y="463906"/>
                    <a:pt x="1016596" y="476008"/>
                    <a:pt x="1032733" y="520384"/>
                  </a:cubicBezTo>
                  <a:lnTo>
                    <a:pt x="1113415" y="718068"/>
                  </a:lnTo>
                  <a:cubicBezTo>
                    <a:pt x="1132241" y="777226"/>
                    <a:pt x="1109382" y="883456"/>
                    <a:pt x="1105348" y="927831"/>
                  </a:cubicBezTo>
                  <a:cubicBezTo>
                    <a:pt x="1105348" y="927831"/>
                    <a:pt x="1091543" y="1006690"/>
                    <a:pt x="1101314" y="1060957"/>
                  </a:cubicBezTo>
                  <a:cubicBezTo>
                    <a:pt x="1108614" y="1101502"/>
                    <a:pt x="1125518" y="1177947"/>
                    <a:pt x="1125518" y="1177947"/>
                  </a:cubicBezTo>
                  <a:lnTo>
                    <a:pt x="697902" y="1301128"/>
                  </a:lnTo>
                  <a:close/>
                  <a:moveTo>
                    <a:pt x="750342" y="28238"/>
                  </a:moveTo>
                  <a:lnTo>
                    <a:pt x="730172" y="48409"/>
                  </a:lnTo>
                  <a:lnTo>
                    <a:pt x="778583" y="221890"/>
                  </a:lnTo>
                  <a:cubicBezTo>
                    <a:pt x="789341" y="207099"/>
                    <a:pt x="821343" y="170254"/>
                    <a:pt x="847161" y="141208"/>
                  </a:cubicBezTo>
                  <a:cubicBezTo>
                    <a:pt x="872979" y="112162"/>
                    <a:pt x="874055" y="83386"/>
                    <a:pt x="871366" y="72628"/>
                  </a:cubicBezTo>
                  <a:cubicBezTo>
                    <a:pt x="870021" y="60521"/>
                    <a:pt x="860070" y="32272"/>
                    <a:pt x="831025" y="16136"/>
                  </a:cubicBezTo>
                  <a:cubicBezTo>
                    <a:pt x="801979" y="0"/>
                    <a:pt x="770516" y="8053"/>
                    <a:pt x="750342" y="28238"/>
                  </a:cubicBezTo>
                  <a:close/>
                  <a:moveTo>
                    <a:pt x="790686" y="262232"/>
                  </a:moveTo>
                  <a:lnTo>
                    <a:pt x="742274" y="326778"/>
                  </a:lnTo>
                  <a:cubicBezTo>
                    <a:pt x="742274" y="326778"/>
                    <a:pt x="675099" y="411495"/>
                    <a:pt x="714038" y="463938"/>
                  </a:cubicBezTo>
                  <a:cubicBezTo>
                    <a:pt x="734983" y="492147"/>
                    <a:pt x="778584" y="488112"/>
                    <a:pt x="778584" y="488112"/>
                  </a:cubicBezTo>
                  <a:lnTo>
                    <a:pt x="810857" y="476011"/>
                  </a:lnTo>
                  <a:cubicBezTo>
                    <a:pt x="843130" y="459874"/>
                    <a:pt x="847163" y="439703"/>
                    <a:pt x="871366" y="403426"/>
                  </a:cubicBezTo>
                  <a:cubicBezTo>
                    <a:pt x="895727" y="366910"/>
                    <a:pt x="909018" y="337535"/>
                    <a:pt x="911707" y="326778"/>
                  </a:cubicBezTo>
                  <a:cubicBezTo>
                    <a:pt x="914396" y="316020"/>
                    <a:pt x="911707" y="286436"/>
                    <a:pt x="871366" y="262232"/>
                  </a:cubicBezTo>
                  <a:cubicBezTo>
                    <a:pt x="838974" y="242797"/>
                    <a:pt x="802788" y="250129"/>
                    <a:pt x="790686" y="262232"/>
                  </a:cubicBezTo>
                  <a:close/>
                  <a:moveTo>
                    <a:pt x="508298" y="701934"/>
                  </a:moveTo>
                  <a:lnTo>
                    <a:pt x="576878" y="859251"/>
                  </a:lnTo>
                  <a:moveTo>
                    <a:pt x="624599" y="639547"/>
                  </a:moveTo>
                  <a:lnTo>
                    <a:pt x="625287" y="641407"/>
                  </a:lnTo>
                  <a:cubicBezTo>
                    <a:pt x="625057" y="640795"/>
                    <a:pt x="624828" y="640174"/>
                    <a:pt x="624599" y="639547"/>
                  </a:cubicBezTo>
                  <a:close/>
                </a:path>
              </a:pathLst>
            </a:custGeom>
            <a:solidFill>
              <a:schemeClr val="bg1"/>
            </a:solidFill>
            <a:ln w="12102">
              <a:solidFill>
                <a:srgbClr val="974347"/>
              </a:solidFill>
            </a:ln>
          </p:spPr>
          <p:txBody>
            <a:bodyPr rtlCol="0" anchor="ctr"/>
            <a:lstStyle/>
            <a:p>
              <a:pPr algn="ctr"/>
              <a:endParaRPr/>
            </a:p>
          </p:txBody>
        </p:sp>
        <p:sp>
          <p:nvSpPr>
            <p:cNvPr id="15" name="Rounded Rectangle 12">
              <a:extLst>
                <a:ext uri="{FF2B5EF4-FFF2-40B4-BE49-F238E27FC236}">
                  <a16:creationId xmlns:a16="http://schemas.microsoft.com/office/drawing/2014/main" id="{08D836CB-D5D3-435D-03EA-C25C20A2EE3E}"/>
                </a:ext>
              </a:extLst>
            </p:cNvPr>
            <p:cNvSpPr/>
            <p:nvPr/>
          </p:nvSpPr>
          <p:spPr>
            <a:xfrm>
              <a:off x="5344458" y="4800480"/>
              <a:ext cx="1706431" cy="1042077"/>
            </a:xfrm>
            <a:custGeom>
              <a:avLst/>
              <a:gdLst/>
              <a:ahLst/>
              <a:cxnLst/>
              <a:rect l="0" t="0" r="0" b="0"/>
              <a:pathLst>
                <a:path w="1706431" h="1042077">
                  <a:moveTo>
                    <a:pt x="730917" y="133666"/>
                  </a:moveTo>
                  <a:cubicBezTo>
                    <a:pt x="743988" y="134061"/>
                    <a:pt x="754380" y="144776"/>
                    <a:pt x="754380" y="157855"/>
                  </a:cubicBezTo>
                  <a:lnTo>
                    <a:pt x="754380" y="263476"/>
                  </a:lnTo>
                  <a:lnTo>
                    <a:pt x="774187" y="263476"/>
                  </a:lnTo>
                  <a:cubicBezTo>
                    <a:pt x="787693" y="263476"/>
                    <a:pt x="798585" y="274529"/>
                    <a:pt x="798384" y="288035"/>
                  </a:cubicBezTo>
                  <a:lnTo>
                    <a:pt x="673697" y="1042077"/>
                  </a:lnTo>
                  <a:lnTo>
                    <a:pt x="0" y="1042077"/>
                  </a:lnTo>
                  <a:lnTo>
                    <a:pt x="144034" y="286414"/>
                  </a:lnTo>
                  <a:cubicBezTo>
                    <a:pt x="144703" y="273561"/>
                    <a:pt x="155329" y="263476"/>
                    <a:pt x="168206" y="263476"/>
                  </a:cubicBezTo>
                  <a:lnTo>
                    <a:pt x="213808" y="263476"/>
                  </a:lnTo>
                  <a:lnTo>
                    <a:pt x="227475" y="140451"/>
                  </a:lnTo>
                  <a:cubicBezTo>
                    <a:pt x="228871" y="127913"/>
                    <a:pt x="239666" y="118546"/>
                    <a:pt x="252285" y="118933"/>
                  </a:cubicBezTo>
                  <a:lnTo>
                    <a:pt x="730917" y="133666"/>
                  </a:lnTo>
                  <a:moveTo>
                    <a:pt x="1394199" y="3945"/>
                  </a:moveTo>
                  <a:cubicBezTo>
                    <a:pt x="1406132" y="0"/>
                    <a:pt x="1419097" y="5849"/>
                    <a:pt x="1424043" y="17395"/>
                  </a:cubicBezTo>
                  <a:lnTo>
                    <a:pt x="1452282" y="118256"/>
                  </a:lnTo>
                  <a:cubicBezTo>
                    <a:pt x="1464223" y="114254"/>
                    <a:pt x="1488589" y="114222"/>
                    <a:pt x="1496657" y="134392"/>
                  </a:cubicBezTo>
                  <a:lnTo>
                    <a:pt x="1706431" y="1042077"/>
                  </a:lnTo>
                  <a:lnTo>
                    <a:pt x="1044836" y="1042077"/>
                  </a:lnTo>
                  <a:lnTo>
                    <a:pt x="923812" y="307859"/>
                  </a:lnTo>
                  <a:cubicBezTo>
                    <a:pt x="919778" y="287689"/>
                    <a:pt x="926564" y="272012"/>
                    <a:pt x="939949" y="267518"/>
                  </a:cubicBezTo>
                  <a:lnTo>
                    <a:pt x="911710" y="166665"/>
                  </a:lnTo>
                  <a:cubicBezTo>
                    <a:pt x="906877" y="153796"/>
                    <a:pt x="916817" y="141678"/>
                    <a:pt x="931881" y="138426"/>
                  </a:cubicBezTo>
                  <a:lnTo>
                    <a:pt x="1394199" y="3945"/>
                  </a:lnTo>
                </a:path>
              </a:pathLst>
            </a:custGeom>
            <a:grpFill/>
            <a:ln>
              <a:solidFill>
                <a:schemeClr val="bg1"/>
              </a:solidFill>
            </a:ln>
          </p:spPr>
          <p:txBody>
            <a:bodyPr rtlCol="0" anchor="ctr"/>
            <a:lstStyle/>
            <a:p>
              <a:pPr algn="ctr"/>
              <a:endParaRPr/>
            </a:p>
          </p:txBody>
        </p:sp>
        <p:sp>
          <p:nvSpPr>
            <p:cNvPr id="16" name="Rounded Rectangle 13">
              <a:extLst>
                <a:ext uri="{FF2B5EF4-FFF2-40B4-BE49-F238E27FC236}">
                  <a16:creationId xmlns:a16="http://schemas.microsoft.com/office/drawing/2014/main" id="{FB75D3C0-EFE3-9EEB-503A-9F195537003A}"/>
                </a:ext>
              </a:extLst>
            </p:cNvPr>
            <p:cNvSpPr/>
            <p:nvPr/>
          </p:nvSpPr>
          <p:spPr>
            <a:xfrm>
              <a:off x="5344458" y="4800733"/>
              <a:ext cx="1706431" cy="1041818"/>
            </a:xfrm>
            <a:custGeom>
              <a:avLst/>
              <a:gdLst/>
              <a:ahLst/>
              <a:cxnLst/>
              <a:rect l="0" t="0" r="0" b="0"/>
              <a:pathLst>
                <a:path w="1706431" h="1041818">
                  <a:moveTo>
                    <a:pt x="1044836" y="1041818"/>
                  </a:moveTo>
                  <a:lnTo>
                    <a:pt x="923812" y="307608"/>
                  </a:lnTo>
                  <a:cubicBezTo>
                    <a:pt x="919778" y="291472"/>
                    <a:pt x="926413" y="271761"/>
                    <a:pt x="939801" y="267267"/>
                  </a:cubicBezTo>
                  <a:lnTo>
                    <a:pt x="911710" y="170448"/>
                  </a:lnTo>
                  <a:cubicBezTo>
                    <a:pt x="906880" y="157579"/>
                    <a:pt x="913722" y="143277"/>
                    <a:pt x="926773" y="138961"/>
                  </a:cubicBezTo>
                  <a:lnTo>
                    <a:pt x="1394093" y="3945"/>
                  </a:lnTo>
                  <a:cubicBezTo>
                    <a:pt x="1406026" y="0"/>
                    <a:pt x="1418994" y="5844"/>
                    <a:pt x="1423941" y="17398"/>
                  </a:cubicBezTo>
                  <a:lnTo>
                    <a:pt x="1452282" y="118005"/>
                  </a:lnTo>
                  <a:cubicBezTo>
                    <a:pt x="1463882" y="114111"/>
                    <a:pt x="1487184" y="113975"/>
                    <a:pt x="1495913" y="132434"/>
                  </a:cubicBezTo>
                  <a:cubicBezTo>
                    <a:pt x="1496443" y="133553"/>
                    <a:pt x="1496798" y="134747"/>
                    <a:pt x="1497076" y="135953"/>
                  </a:cubicBezTo>
                  <a:lnTo>
                    <a:pt x="1706431" y="1041818"/>
                  </a:lnTo>
                  <a:lnTo>
                    <a:pt x="1044836" y="1041818"/>
                  </a:lnTo>
                  <a:close/>
                  <a:moveTo>
                    <a:pt x="0" y="1041811"/>
                  </a:moveTo>
                  <a:lnTo>
                    <a:pt x="144030" y="286155"/>
                  </a:lnTo>
                  <a:cubicBezTo>
                    <a:pt x="144701" y="273296"/>
                    <a:pt x="155324" y="263213"/>
                    <a:pt x="168201" y="263213"/>
                  </a:cubicBezTo>
                  <a:lnTo>
                    <a:pt x="213808" y="263213"/>
                  </a:lnTo>
                  <a:lnTo>
                    <a:pt x="227477" y="140192"/>
                  </a:lnTo>
                  <a:cubicBezTo>
                    <a:pt x="228870" y="127651"/>
                    <a:pt x="239665" y="118284"/>
                    <a:pt x="252278" y="118672"/>
                  </a:cubicBezTo>
                  <a:lnTo>
                    <a:pt x="730919" y="133400"/>
                  </a:lnTo>
                  <a:cubicBezTo>
                    <a:pt x="743992" y="133802"/>
                    <a:pt x="754379" y="144515"/>
                    <a:pt x="754379" y="157593"/>
                  </a:cubicBezTo>
                  <a:lnTo>
                    <a:pt x="754379" y="263213"/>
                  </a:lnTo>
                  <a:lnTo>
                    <a:pt x="774186" y="263213"/>
                  </a:lnTo>
                  <a:cubicBezTo>
                    <a:pt x="787088" y="263213"/>
                    <a:pt x="797604" y="273299"/>
                    <a:pt x="798349" y="285972"/>
                  </a:cubicBezTo>
                  <a:cubicBezTo>
                    <a:pt x="798419" y="287172"/>
                    <a:pt x="798290" y="288374"/>
                    <a:pt x="798094" y="289561"/>
                  </a:cubicBezTo>
                  <a:lnTo>
                    <a:pt x="673697" y="1041811"/>
                  </a:lnTo>
                  <a:lnTo>
                    <a:pt x="0" y="1041811"/>
                  </a:lnTo>
                  <a:close/>
                  <a:moveTo>
                    <a:pt x="939801" y="267267"/>
                  </a:moveTo>
                  <a:lnTo>
                    <a:pt x="1452282" y="118005"/>
                  </a:lnTo>
                  <a:moveTo>
                    <a:pt x="213808" y="263213"/>
                  </a:moveTo>
                  <a:lnTo>
                    <a:pt x="754379" y="263213"/>
                  </a:lnTo>
                </a:path>
              </a:pathLst>
            </a:custGeom>
            <a:gradFill flip="none" rotWithShape="1">
              <a:gsLst>
                <a:gs pos="0">
                  <a:schemeClr val="accent1"/>
                </a:gs>
                <a:gs pos="100000">
                  <a:schemeClr val="accent2"/>
                </a:gs>
              </a:gsLst>
              <a:lin ang="2700000" scaled="0"/>
              <a:tileRect/>
            </a:gradFill>
            <a:ln w="12102">
              <a:solidFill>
                <a:schemeClr val="bg1"/>
              </a:solidFill>
            </a:ln>
          </p:spPr>
          <p:txBody>
            <a:bodyPr rtlCol="0" anchor="ctr"/>
            <a:lstStyle/>
            <a:p>
              <a:pPr algn="ctr"/>
              <a:endParaRPr dirty="0"/>
            </a:p>
          </p:txBody>
        </p:sp>
      </p:grpSp>
      <p:sp>
        <p:nvSpPr>
          <p:cNvPr id="5" name="Rounded Rectangle 2">
            <a:extLst>
              <a:ext uri="{FF2B5EF4-FFF2-40B4-BE49-F238E27FC236}">
                <a16:creationId xmlns:a16="http://schemas.microsoft.com/office/drawing/2014/main" id="{168B643D-DEB5-ACBC-807F-360709525C2E}"/>
              </a:ext>
            </a:extLst>
          </p:cNvPr>
          <p:cNvSpPr/>
          <p:nvPr/>
        </p:nvSpPr>
        <p:spPr>
          <a:xfrm>
            <a:off x="3731759" y="1854579"/>
            <a:ext cx="563329" cy="563329"/>
          </a:xfrm>
          <a:custGeom>
            <a:avLst/>
            <a:gdLst/>
            <a:ahLst/>
            <a:cxnLst/>
            <a:rect l="0" t="0" r="0" b="0"/>
            <a:pathLst>
              <a:path w="580912" h="580912">
                <a:moveTo>
                  <a:pt x="0" y="290456"/>
                </a:moveTo>
                <a:cubicBezTo>
                  <a:pt x="0" y="450871"/>
                  <a:pt x="130041" y="580912"/>
                  <a:pt x="290456" y="580912"/>
                </a:cubicBezTo>
                <a:cubicBezTo>
                  <a:pt x="450871" y="580912"/>
                  <a:pt x="580912" y="450871"/>
                  <a:pt x="580912" y="290456"/>
                </a:cubicBezTo>
                <a:cubicBezTo>
                  <a:pt x="580912" y="130041"/>
                  <a:pt x="450871" y="0"/>
                  <a:pt x="290456" y="0"/>
                </a:cubicBezTo>
                <a:cubicBezTo>
                  <a:pt x="130041" y="0"/>
                  <a:pt x="0" y="130041"/>
                  <a:pt x="0" y="290456"/>
                </a:cubicBezTo>
              </a:path>
            </a:pathLst>
          </a:custGeom>
          <a:noFill/>
          <a:ln w="12102">
            <a:solidFill>
              <a:srgbClr val="FFFFFF"/>
            </a:solidFill>
          </a:ln>
        </p:spPr>
        <p:txBody>
          <a:bodyPr rtlCol="0" anchor="ctr"/>
          <a:lstStyle/>
          <a:p>
            <a:pPr algn="ctr"/>
            <a:endParaRPr/>
          </a:p>
        </p:txBody>
      </p:sp>
      <p:grpSp>
        <p:nvGrpSpPr>
          <p:cNvPr id="32" name="Groupe 31">
            <a:extLst>
              <a:ext uri="{FF2B5EF4-FFF2-40B4-BE49-F238E27FC236}">
                <a16:creationId xmlns:a16="http://schemas.microsoft.com/office/drawing/2014/main" id="{A9285DC1-A938-971D-D1B8-AA91E99F9614}"/>
              </a:ext>
            </a:extLst>
          </p:cNvPr>
          <p:cNvGrpSpPr/>
          <p:nvPr/>
        </p:nvGrpSpPr>
        <p:grpSpPr>
          <a:xfrm>
            <a:off x="433496" y="1744679"/>
            <a:ext cx="3200399" cy="1209574"/>
            <a:chOff x="433496" y="2541092"/>
            <a:chExt cx="3200399" cy="1209574"/>
          </a:xfrm>
        </p:grpSpPr>
        <p:sp>
          <p:nvSpPr>
            <p:cNvPr id="21" name="TextBox 18">
              <a:extLst>
                <a:ext uri="{FF2B5EF4-FFF2-40B4-BE49-F238E27FC236}">
                  <a16:creationId xmlns:a16="http://schemas.microsoft.com/office/drawing/2014/main" id="{F7C2E538-B269-ADD1-C21E-F4495B65837B}"/>
                </a:ext>
              </a:extLst>
            </p:cNvPr>
            <p:cNvSpPr txBox="1"/>
            <p:nvPr/>
          </p:nvSpPr>
          <p:spPr>
            <a:xfrm>
              <a:off x="433496" y="2541092"/>
              <a:ext cx="3200399" cy="307777"/>
            </a:xfrm>
            <a:prstGeom prst="rect">
              <a:avLst/>
            </a:prstGeom>
            <a:noFill/>
            <a:ln>
              <a:noFill/>
            </a:ln>
          </p:spPr>
          <p:txBody>
            <a:bodyPr wrap="square" lIns="0" tIns="0" rIns="0" bIns="0" anchor="t">
              <a:spAutoFit/>
            </a:bodyPr>
            <a:lstStyle/>
            <a:p>
              <a:pPr algn="ctr"/>
              <a:r>
                <a:rPr sz="2000" b="1" dirty="0">
                  <a:solidFill>
                    <a:schemeClr val="accent1"/>
                  </a:solidFill>
                </a:rPr>
                <a:t>Impact Massif</a:t>
              </a:r>
            </a:p>
          </p:txBody>
        </p:sp>
        <p:sp>
          <p:nvSpPr>
            <p:cNvPr id="22" name="TextBox 19">
              <a:extLst>
                <a:ext uri="{FF2B5EF4-FFF2-40B4-BE49-F238E27FC236}">
                  <a16:creationId xmlns:a16="http://schemas.microsoft.com/office/drawing/2014/main" id="{8F67ABB2-BCA0-55A4-3990-FAF3FA87FA0C}"/>
                </a:ext>
              </a:extLst>
            </p:cNvPr>
            <p:cNvSpPr txBox="1"/>
            <p:nvPr/>
          </p:nvSpPr>
          <p:spPr>
            <a:xfrm>
              <a:off x="433496" y="2888891"/>
              <a:ext cx="3200399" cy="861775"/>
            </a:xfrm>
            <a:prstGeom prst="rect">
              <a:avLst/>
            </a:prstGeom>
            <a:noFill/>
            <a:ln>
              <a:noFill/>
            </a:ln>
          </p:spPr>
          <p:txBody>
            <a:bodyPr wrap="square" lIns="0" tIns="0" rIns="0" bIns="0" anchor="t">
              <a:spAutoFit/>
            </a:bodyPr>
            <a:lstStyle/>
            <a:p>
              <a:pPr algn="ctr"/>
              <a:r>
                <a:rPr lang="fr-FR" sz="1400" b="0" dirty="0"/>
                <a:t>Leroy Merlin a déployé l'IA pour assister ses 28 000 collaborateurs, divisant par 10 le temps de recherche d'information technique pour mieux servir le client.</a:t>
              </a:r>
              <a:endParaRPr sz="1400" b="0" dirty="0"/>
            </a:p>
          </p:txBody>
        </p:sp>
      </p:grpSp>
      <p:sp>
        <p:nvSpPr>
          <p:cNvPr id="9" name="TextBox 21">
            <a:extLst>
              <a:ext uri="{FF2B5EF4-FFF2-40B4-BE49-F238E27FC236}">
                <a16:creationId xmlns:a16="http://schemas.microsoft.com/office/drawing/2014/main" id="{6A2E87F7-6E0B-0D05-EAED-198F58A895CA}"/>
              </a:ext>
            </a:extLst>
          </p:cNvPr>
          <p:cNvSpPr txBox="1"/>
          <p:nvPr/>
        </p:nvSpPr>
        <p:spPr>
          <a:xfrm>
            <a:off x="1328581" y="5569883"/>
            <a:ext cx="9824526" cy="553998"/>
          </a:xfrm>
          <a:prstGeom prst="rect">
            <a:avLst/>
          </a:prstGeom>
          <a:noFill/>
          <a:ln>
            <a:noFill/>
          </a:ln>
        </p:spPr>
        <p:txBody>
          <a:bodyPr wrap="square" lIns="0" tIns="0" rIns="0" bIns="0" anchor="t">
            <a:spAutoFit/>
          </a:bodyPr>
          <a:lstStyle/>
          <a:p>
            <a:pPr algn="ctr"/>
            <a:r>
              <a:rPr lang="fr-FR" b="1" dirty="0">
                <a:solidFill>
                  <a:schemeClr val="accent1"/>
                </a:solidFill>
              </a:rPr>
              <a:t>NOTRE MISSION</a:t>
            </a:r>
          </a:p>
          <a:p>
            <a:pPr algn="ctr"/>
            <a:r>
              <a:rPr lang="fr-FR" b="1" dirty="0"/>
              <a:t>Décharger vos équipes de la charge mentale pour qu'elles se concentrent sur la valeur ajoutée.</a:t>
            </a:r>
            <a:endParaRPr b="1" dirty="0"/>
          </a:p>
        </p:txBody>
      </p:sp>
      <p:cxnSp>
        <p:nvCxnSpPr>
          <p:cNvPr id="34" name="Connecteur droit avec flèche 33">
            <a:extLst>
              <a:ext uri="{FF2B5EF4-FFF2-40B4-BE49-F238E27FC236}">
                <a16:creationId xmlns:a16="http://schemas.microsoft.com/office/drawing/2014/main" id="{8424C70C-C746-6D3B-92B3-A81BDE9439F1}"/>
              </a:ext>
            </a:extLst>
          </p:cNvPr>
          <p:cNvCxnSpPr>
            <a:cxnSpLocks/>
            <a:endCxn id="22" idx="3"/>
          </p:cNvCxnSpPr>
          <p:nvPr/>
        </p:nvCxnSpPr>
        <p:spPr>
          <a:xfrm flipH="1">
            <a:off x="3633895" y="2523366"/>
            <a:ext cx="1407449" cy="0"/>
          </a:xfrm>
          <a:prstGeom prst="straightConnector1">
            <a:avLst/>
          </a:prstGeom>
          <a:ln w="9525">
            <a:tailEnd type="triangle"/>
          </a:ln>
        </p:spPr>
        <p:style>
          <a:lnRef idx="2">
            <a:schemeClr val="accent4"/>
          </a:lnRef>
          <a:fillRef idx="0">
            <a:schemeClr val="accent4"/>
          </a:fillRef>
          <a:effectRef idx="1">
            <a:schemeClr val="accent4"/>
          </a:effectRef>
          <a:fontRef idx="minor">
            <a:schemeClr val="tx1"/>
          </a:fontRef>
        </p:style>
      </p:cxnSp>
      <p:grpSp>
        <p:nvGrpSpPr>
          <p:cNvPr id="42" name="Groupe 41">
            <a:extLst>
              <a:ext uri="{FF2B5EF4-FFF2-40B4-BE49-F238E27FC236}">
                <a16:creationId xmlns:a16="http://schemas.microsoft.com/office/drawing/2014/main" id="{2B57BC50-80B3-55FF-EEAF-E4C9C75FF48E}"/>
              </a:ext>
            </a:extLst>
          </p:cNvPr>
          <p:cNvGrpSpPr/>
          <p:nvPr/>
        </p:nvGrpSpPr>
        <p:grpSpPr>
          <a:xfrm>
            <a:off x="433496" y="3856071"/>
            <a:ext cx="3200399" cy="994130"/>
            <a:chOff x="433496" y="2541092"/>
            <a:chExt cx="3200399" cy="994130"/>
          </a:xfrm>
        </p:grpSpPr>
        <p:sp>
          <p:nvSpPr>
            <p:cNvPr id="43" name="TextBox 18">
              <a:extLst>
                <a:ext uri="{FF2B5EF4-FFF2-40B4-BE49-F238E27FC236}">
                  <a16:creationId xmlns:a16="http://schemas.microsoft.com/office/drawing/2014/main" id="{E600C91C-6ADD-1C23-7132-4C2FD6EA39DE}"/>
                </a:ext>
              </a:extLst>
            </p:cNvPr>
            <p:cNvSpPr txBox="1"/>
            <p:nvPr/>
          </p:nvSpPr>
          <p:spPr>
            <a:xfrm>
              <a:off x="433496" y="2541092"/>
              <a:ext cx="3200399" cy="307777"/>
            </a:xfrm>
            <a:prstGeom prst="rect">
              <a:avLst/>
            </a:prstGeom>
            <a:noFill/>
            <a:ln>
              <a:noFill/>
            </a:ln>
          </p:spPr>
          <p:txBody>
            <a:bodyPr wrap="square" lIns="0" tIns="0" rIns="0" bIns="0" anchor="t">
              <a:spAutoFit/>
            </a:bodyPr>
            <a:lstStyle/>
            <a:p>
              <a:pPr algn="ctr"/>
              <a:r>
                <a:rPr lang="en-US" sz="2000" b="1" dirty="0" err="1">
                  <a:solidFill>
                    <a:schemeClr val="accent1"/>
                  </a:solidFill>
                </a:rPr>
                <a:t>Préférence</a:t>
              </a:r>
              <a:r>
                <a:rPr lang="en-US" sz="2000" b="1" dirty="0">
                  <a:solidFill>
                    <a:schemeClr val="accent1"/>
                  </a:solidFill>
                </a:rPr>
                <a:t> Client</a:t>
              </a:r>
            </a:p>
          </p:txBody>
        </p:sp>
        <p:sp>
          <p:nvSpPr>
            <p:cNvPr id="44" name="TextBox 19">
              <a:extLst>
                <a:ext uri="{FF2B5EF4-FFF2-40B4-BE49-F238E27FC236}">
                  <a16:creationId xmlns:a16="http://schemas.microsoft.com/office/drawing/2014/main" id="{D4B5E2F9-E694-EA84-A56A-E779843E13D4}"/>
                </a:ext>
              </a:extLst>
            </p:cNvPr>
            <p:cNvSpPr txBox="1"/>
            <p:nvPr/>
          </p:nvSpPr>
          <p:spPr>
            <a:xfrm>
              <a:off x="433496" y="2888891"/>
              <a:ext cx="3200399" cy="646331"/>
            </a:xfrm>
            <a:prstGeom prst="rect">
              <a:avLst/>
            </a:prstGeom>
            <a:noFill/>
            <a:ln>
              <a:noFill/>
            </a:ln>
          </p:spPr>
          <p:txBody>
            <a:bodyPr wrap="square" lIns="0" tIns="0" rIns="0" bIns="0" anchor="t">
              <a:spAutoFit/>
            </a:bodyPr>
            <a:lstStyle/>
            <a:p>
              <a:pPr algn="ctr"/>
              <a:r>
                <a:rPr lang="fr-FR" sz="1400" dirty="0"/>
                <a:t>51% des consommateurs préfèrent une réponse immédiate d'un agent IA plutôt que d'attendre un humain.</a:t>
              </a:r>
            </a:p>
          </p:txBody>
        </p:sp>
      </p:grpSp>
      <p:cxnSp>
        <p:nvCxnSpPr>
          <p:cNvPr id="45" name="Connecteur droit avec flèche 44">
            <a:extLst>
              <a:ext uri="{FF2B5EF4-FFF2-40B4-BE49-F238E27FC236}">
                <a16:creationId xmlns:a16="http://schemas.microsoft.com/office/drawing/2014/main" id="{E5FBA366-764F-221E-C388-2CF600313EB8}"/>
              </a:ext>
            </a:extLst>
          </p:cNvPr>
          <p:cNvCxnSpPr>
            <a:cxnSpLocks/>
            <a:endCxn id="43" idx="3"/>
          </p:cNvCxnSpPr>
          <p:nvPr/>
        </p:nvCxnSpPr>
        <p:spPr>
          <a:xfrm flipH="1">
            <a:off x="3633895" y="3096256"/>
            <a:ext cx="1695189" cy="913704"/>
          </a:xfrm>
          <a:prstGeom prst="straightConnector1">
            <a:avLst/>
          </a:prstGeom>
          <a:ln w="9525">
            <a:tailEnd type="triangle"/>
          </a:ln>
        </p:spPr>
        <p:style>
          <a:lnRef idx="2">
            <a:schemeClr val="accent4"/>
          </a:lnRef>
          <a:fillRef idx="0">
            <a:schemeClr val="accent4"/>
          </a:fillRef>
          <a:effectRef idx="1">
            <a:schemeClr val="accent4"/>
          </a:effectRef>
          <a:fontRef idx="minor">
            <a:schemeClr val="tx1"/>
          </a:fontRef>
        </p:style>
      </p:cxnSp>
      <p:grpSp>
        <p:nvGrpSpPr>
          <p:cNvPr id="55" name="Groupe 54">
            <a:extLst>
              <a:ext uri="{FF2B5EF4-FFF2-40B4-BE49-F238E27FC236}">
                <a16:creationId xmlns:a16="http://schemas.microsoft.com/office/drawing/2014/main" id="{268F091C-3A3C-694C-636A-4E7B3B4F97C7}"/>
              </a:ext>
            </a:extLst>
          </p:cNvPr>
          <p:cNvGrpSpPr/>
          <p:nvPr/>
        </p:nvGrpSpPr>
        <p:grpSpPr>
          <a:xfrm>
            <a:off x="8411350" y="1949615"/>
            <a:ext cx="3200399" cy="778686"/>
            <a:chOff x="433496" y="2541092"/>
            <a:chExt cx="3200399" cy="778686"/>
          </a:xfrm>
        </p:grpSpPr>
        <p:sp>
          <p:nvSpPr>
            <p:cNvPr id="56" name="TextBox 18">
              <a:extLst>
                <a:ext uri="{FF2B5EF4-FFF2-40B4-BE49-F238E27FC236}">
                  <a16:creationId xmlns:a16="http://schemas.microsoft.com/office/drawing/2014/main" id="{C101530B-D806-096F-C5FB-2CB68AC15A19}"/>
                </a:ext>
              </a:extLst>
            </p:cNvPr>
            <p:cNvSpPr txBox="1"/>
            <p:nvPr/>
          </p:nvSpPr>
          <p:spPr>
            <a:xfrm>
              <a:off x="433496" y="2541092"/>
              <a:ext cx="3200399" cy="307777"/>
            </a:xfrm>
            <a:prstGeom prst="rect">
              <a:avLst/>
            </a:prstGeom>
            <a:noFill/>
            <a:ln>
              <a:noFill/>
            </a:ln>
          </p:spPr>
          <p:txBody>
            <a:bodyPr wrap="square" lIns="0" tIns="0" rIns="0" bIns="0" anchor="t">
              <a:spAutoFit/>
            </a:bodyPr>
            <a:lstStyle/>
            <a:p>
              <a:pPr algn="ctr"/>
              <a:r>
                <a:rPr lang="en-US" sz="2000" b="1" dirty="0">
                  <a:solidFill>
                    <a:schemeClr val="accent1"/>
                  </a:solidFill>
                </a:rPr>
                <a:t>Adoption </a:t>
              </a:r>
              <a:r>
                <a:rPr lang="en-US" sz="2000" b="1" dirty="0" err="1">
                  <a:solidFill>
                    <a:schemeClr val="accent1"/>
                  </a:solidFill>
                </a:rPr>
                <a:t>Fulgurante</a:t>
              </a:r>
              <a:endParaRPr lang="en-US" sz="2000" b="1" dirty="0">
                <a:solidFill>
                  <a:schemeClr val="accent1"/>
                </a:solidFill>
              </a:endParaRPr>
            </a:p>
          </p:txBody>
        </p:sp>
        <p:sp>
          <p:nvSpPr>
            <p:cNvPr id="57" name="TextBox 19">
              <a:extLst>
                <a:ext uri="{FF2B5EF4-FFF2-40B4-BE49-F238E27FC236}">
                  <a16:creationId xmlns:a16="http://schemas.microsoft.com/office/drawing/2014/main" id="{F3777AFE-4D45-CAE4-C319-DEE71DED9E99}"/>
                </a:ext>
              </a:extLst>
            </p:cNvPr>
            <p:cNvSpPr txBox="1"/>
            <p:nvPr/>
          </p:nvSpPr>
          <p:spPr>
            <a:xfrm>
              <a:off x="433496" y="2888891"/>
              <a:ext cx="3200399" cy="430887"/>
            </a:xfrm>
            <a:prstGeom prst="rect">
              <a:avLst/>
            </a:prstGeom>
            <a:noFill/>
            <a:ln>
              <a:noFill/>
            </a:ln>
          </p:spPr>
          <p:txBody>
            <a:bodyPr wrap="square" lIns="0" tIns="0" rIns="0" bIns="0" anchor="t">
              <a:spAutoFit/>
            </a:bodyPr>
            <a:lstStyle/>
            <a:p>
              <a:pPr algn="ctr"/>
              <a:r>
                <a:rPr lang="fr-FR" sz="1400" dirty="0"/>
                <a:t>85% des entreprises intègrent des agents IA pour leur support client cette année.</a:t>
              </a:r>
            </a:p>
          </p:txBody>
        </p:sp>
      </p:grpSp>
      <p:cxnSp>
        <p:nvCxnSpPr>
          <p:cNvPr id="58" name="Connecteur droit avec flèche 57">
            <a:extLst>
              <a:ext uri="{FF2B5EF4-FFF2-40B4-BE49-F238E27FC236}">
                <a16:creationId xmlns:a16="http://schemas.microsoft.com/office/drawing/2014/main" id="{890391D4-6ABA-2AEF-09B8-AF95D5F1BB28}"/>
              </a:ext>
            </a:extLst>
          </p:cNvPr>
          <p:cNvCxnSpPr>
            <a:cxnSpLocks/>
            <a:endCxn id="57" idx="1"/>
          </p:cNvCxnSpPr>
          <p:nvPr/>
        </p:nvCxnSpPr>
        <p:spPr>
          <a:xfrm>
            <a:off x="7187381" y="2512858"/>
            <a:ext cx="1223969" cy="0"/>
          </a:xfrm>
          <a:prstGeom prst="straightConnector1">
            <a:avLst/>
          </a:prstGeom>
          <a:ln w="9525">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fontScale="90000"/>
          </a:bodyPr>
          <a:lstStyle/>
          <a:p>
            <a:r>
              <a:t>Quel moteur IA pour mon entreprise ?</a:t>
            </a:r>
          </a:p>
        </p:txBody>
      </p:sp>
      <p:sp>
        <p:nvSpPr>
          <p:cNvPr id="3" name="Text Placeholder 2"/>
          <p:cNvSpPr>
            <a:spLocks noGrp="1"/>
          </p:cNvSpPr>
          <p:nvPr>
            <p:ph type="body" sz="quarter" idx="13"/>
          </p:nvPr>
        </p:nvSpPr>
        <p:spPr/>
        <p:txBody>
          <a:bodyPr/>
          <a:lstStyle/>
          <a:p>
            <a:r>
              <a:t>IA</a:t>
            </a:r>
          </a:p>
        </p:txBody>
      </p:sp>
      <p:grpSp>
        <p:nvGrpSpPr>
          <p:cNvPr id="9001" name="TransplantBody"/>
          <p:cNvGrpSpPr/>
          <p:nvPr/>
        </p:nvGrpSpPr>
        <p:grpSpPr>
          <a:xfrm>
            <a:off x="1418547" y="1600200"/>
            <a:ext cx="9351858" cy="4390357"/>
            <a:chOff x="1304815" y="1721818"/>
            <a:chExt cx="9499585" cy="4459709"/>
          </a:xfrm>
        </p:grpSpPr>
        <p:sp>
          <p:nvSpPr>
            <p:cNvPr id="22" name="TextBox 19">
              <a:extLst>
                <a:ext uri="{FF2B5EF4-FFF2-40B4-BE49-F238E27FC236}">
                  <a16:creationId xmlns:a16="http://schemas.microsoft.com/office/drawing/2014/main" id="{B4B114DD-23E8-C856-2480-592A794BD53D}"/>
                </a:ext>
              </a:extLst>
            </p:cNvPr>
            <p:cNvSpPr txBox="1"/>
            <p:nvPr/>
          </p:nvSpPr>
          <p:spPr>
            <a:xfrm>
              <a:off x="1304815" y="2877744"/>
              <a:ext cx="3144030" cy="1094234"/>
            </a:xfrm>
            <a:prstGeom prst="rect">
              <a:avLst/>
            </a:prstGeom>
            <a:noFill/>
            <a:ln>
              <a:noFill/>
            </a:ln>
          </p:spPr>
          <p:txBody>
            <a:bodyPr wrap="square" lIns="0" tIns="0" rIns="0" bIns="0" anchor="t">
              <a:spAutoFit/>
            </a:bodyPr>
            <a:lstStyle/>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400" b="0" i="0" u="none" strike="noStrike" kern="1200" cap="none" spc="0" normalizeH="0" baseline="0" noProof="0" dirty="0">
                  <a:ln>
                    <a:noFill/>
                  </a:ln>
                  <a:solidFill>
                    <a:srgbClr val="000000"/>
                  </a:solidFill>
                  <a:effectLst/>
                  <a:uLnTx/>
                  <a:uFillTx/>
                  <a:ea typeface="+mn-ea"/>
                  <a:cs typeface="+mn-cs"/>
                </a:rPr>
                <a:t>S</a:t>
              </a:r>
              <a:r>
                <a:rPr kumimoji="0" lang="fr-FR" sz="1400" b="0" i="0" u="none" strike="noStrike" kern="1200" cap="none" spc="0" normalizeH="0" baseline="0" noProof="0" dirty="0" err="1">
                  <a:ln>
                    <a:noFill/>
                  </a:ln>
                  <a:solidFill>
                    <a:srgbClr val="000000"/>
                  </a:solidFill>
                  <a:effectLst/>
                  <a:uLnTx/>
                  <a:uFillTx/>
                  <a:ea typeface="+mn-ea"/>
                  <a:cs typeface="+mn-cs"/>
                </a:rPr>
                <a:t>ouveraineté</a:t>
              </a:r>
              <a:r>
                <a:rPr kumimoji="0" lang="fr-FR" sz="1400" b="0" i="0" u="none" strike="noStrike" kern="1200" cap="none" spc="0" normalizeH="0" baseline="0" noProof="0" dirty="0">
                  <a:ln>
                    <a:noFill/>
                  </a:ln>
                  <a:solidFill>
                    <a:srgbClr val="000000"/>
                  </a:solidFill>
                  <a:effectLst/>
                  <a:uLnTx/>
                  <a:uFillTx/>
                  <a:ea typeface="+mn-ea"/>
                  <a:cs typeface="+mn-cs"/>
                </a:rPr>
                <a:t> des données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dirty="0">
                  <a:solidFill>
                    <a:srgbClr val="000000"/>
                  </a:solidFill>
                </a:rPr>
                <a:t>E</a:t>
              </a:r>
              <a:r>
                <a:rPr kumimoji="0" lang="fr-FR" sz="1400" b="0" i="0" u="none" strike="noStrike" kern="1200" cap="none" spc="0" normalizeH="0" baseline="0" noProof="0" dirty="0" err="1">
                  <a:ln>
                    <a:noFill/>
                  </a:ln>
                  <a:solidFill>
                    <a:srgbClr val="000000"/>
                  </a:solidFill>
                  <a:effectLst/>
                  <a:uLnTx/>
                  <a:uFillTx/>
                  <a:ea typeface="+mn-ea"/>
                  <a:cs typeface="+mn-cs"/>
                </a:rPr>
                <a:t>fficacité</a:t>
              </a:r>
              <a:r>
                <a:rPr kumimoji="0" lang="fr-FR" sz="1400" b="0" i="0" u="none" strike="noStrike" kern="1200" cap="none" spc="0" normalizeH="0" baseline="0" noProof="0" dirty="0">
                  <a:ln>
                    <a:noFill/>
                  </a:ln>
                  <a:solidFill>
                    <a:srgbClr val="000000"/>
                  </a:solidFill>
                  <a:effectLst/>
                  <a:uLnTx/>
                  <a:uFillTx/>
                  <a:ea typeface="+mn-ea"/>
                  <a:cs typeface="+mn-cs"/>
                </a:rPr>
                <a:t> des coûts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Idéal pour les processus métiers critiques et l’analyse documentaire confidentielle</a:t>
              </a:r>
              <a:endParaRPr kumimoji="0" sz="1400" b="0" i="0" u="none" strike="noStrike" kern="1200" cap="none" spc="0" normalizeH="0" baseline="0" noProof="0" dirty="0">
                <a:ln>
                  <a:noFill/>
                </a:ln>
                <a:solidFill>
                  <a:srgbClr val="000000"/>
                </a:solidFill>
                <a:effectLst/>
                <a:uLnTx/>
                <a:uFillTx/>
                <a:ea typeface="+mn-ea"/>
                <a:cs typeface="+mn-cs"/>
              </a:endParaRPr>
            </a:p>
          </p:txBody>
        </p:sp>
        <p:sp>
          <p:nvSpPr>
            <p:cNvPr id="6" name="TextBox 19">
              <a:extLst>
                <a:ext uri="{FF2B5EF4-FFF2-40B4-BE49-F238E27FC236}">
                  <a16:creationId xmlns:a16="http://schemas.microsoft.com/office/drawing/2014/main" id="{A7C91F3B-7925-4EE0-45A0-C84675487B49}"/>
                </a:ext>
              </a:extLst>
            </p:cNvPr>
            <p:cNvSpPr txBox="1"/>
            <p:nvPr/>
          </p:nvSpPr>
          <p:spPr>
            <a:xfrm>
              <a:off x="1304815" y="5306139"/>
              <a:ext cx="3144030" cy="875387"/>
            </a:xfrm>
            <a:prstGeom prst="rect">
              <a:avLst/>
            </a:prstGeom>
            <a:noFill/>
            <a:ln>
              <a:noFill/>
            </a:ln>
          </p:spPr>
          <p:txBody>
            <a:bodyPr wrap="square" lIns="0" tIns="0" rIns="0" bIns="0" anchor="t">
              <a:spAutoFit/>
            </a:bodyPr>
            <a:lstStyle/>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dirty="0">
                  <a:solidFill>
                    <a:srgbClr val="000000"/>
                  </a:solidFill>
                </a:rPr>
                <a:t>Nuance linguistique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dirty="0">
                  <a:solidFill>
                    <a:srgbClr val="000000"/>
                  </a:solidFill>
                </a:rPr>
                <a:t>Analyse de code</a:t>
              </a:r>
              <a:endParaRPr kumimoji="0" lang="fr-FR" sz="1400" b="0" i="0" u="none" strike="noStrike" kern="1200" cap="none" spc="0" normalizeH="0" baseline="0" noProof="0" dirty="0">
                <a:ln>
                  <a:noFill/>
                </a:ln>
                <a:solidFill>
                  <a:srgbClr val="000000"/>
                </a:solidFill>
                <a:effectLst/>
                <a:uLnTx/>
                <a:uFillTx/>
                <a:ea typeface="+mn-ea"/>
                <a:cs typeface="+mn-cs"/>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Idéal pour la rédaction marketing et la synthèse de documents</a:t>
              </a:r>
              <a:endParaRPr kumimoji="0" sz="1400" b="0" i="0" u="none" strike="noStrike" kern="1200" cap="none" spc="0" normalizeH="0" baseline="0" noProof="0" dirty="0">
                <a:ln>
                  <a:noFill/>
                </a:ln>
                <a:solidFill>
                  <a:srgbClr val="000000"/>
                </a:solidFill>
                <a:effectLst/>
                <a:uLnTx/>
                <a:uFillTx/>
                <a:ea typeface="+mn-ea"/>
                <a:cs typeface="+mn-cs"/>
              </a:endParaRPr>
            </a:p>
          </p:txBody>
        </p:sp>
        <p:sp>
          <p:nvSpPr>
            <p:cNvPr id="9" name="TextBox 19">
              <a:extLst>
                <a:ext uri="{FF2B5EF4-FFF2-40B4-BE49-F238E27FC236}">
                  <a16:creationId xmlns:a16="http://schemas.microsoft.com/office/drawing/2014/main" id="{115DB18C-0579-EE29-50A1-FDFE84E48AD8}"/>
                </a:ext>
              </a:extLst>
            </p:cNvPr>
            <p:cNvSpPr txBox="1"/>
            <p:nvPr/>
          </p:nvSpPr>
          <p:spPr>
            <a:xfrm>
              <a:off x="7660370" y="5306140"/>
              <a:ext cx="3144030" cy="875387"/>
            </a:xfrm>
            <a:prstGeom prst="rect">
              <a:avLst/>
            </a:prstGeom>
            <a:noFill/>
            <a:ln>
              <a:noFill/>
            </a:ln>
          </p:spPr>
          <p:txBody>
            <a:bodyPr wrap="square" lIns="0" tIns="0" rIns="0" bIns="0" anchor="t">
              <a:spAutoFit/>
            </a:bodyPr>
            <a:lstStyle/>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Google Workspace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Multimodales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Idéal pour les </a:t>
              </a:r>
              <a:r>
                <a:rPr kumimoji="0" lang="fr-FR" sz="1400" b="0" i="0" u="none" strike="noStrike" kern="1200" cap="none" spc="0" normalizeH="0" baseline="0" noProof="0" dirty="0" err="1">
                  <a:ln>
                    <a:noFill/>
                  </a:ln>
                  <a:solidFill>
                    <a:srgbClr val="000000"/>
                  </a:solidFill>
                  <a:effectLst/>
                  <a:uLnTx/>
                  <a:uFillTx/>
                  <a:ea typeface="+mn-ea"/>
                  <a:cs typeface="+mn-cs"/>
                </a:rPr>
                <a:t>users</a:t>
              </a:r>
              <a:r>
                <a:rPr kumimoji="0" lang="fr-FR" sz="1400" b="0" i="0" u="none" strike="noStrike" kern="1200" cap="none" spc="0" normalizeH="0" baseline="0" noProof="0" dirty="0">
                  <a:ln>
                    <a:noFill/>
                  </a:ln>
                  <a:solidFill>
                    <a:srgbClr val="000000"/>
                  </a:solidFill>
                  <a:effectLst/>
                  <a:uLnTx/>
                  <a:uFillTx/>
                  <a:ea typeface="+mn-ea"/>
                  <a:cs typeface="+mn-cs"/>
                </a:rPr>
                <a:t> Google et les tâches diverses (image, vidéo)</a:t>
              </a:r>
              <a:endParaRPr kumimoji="0" sz="1400" b="0" i="0" u="none" strike="noStrike" kern="1200" cap="none" spc="0" normalizeH="0" baseline="0" noProof="0" dirty="0">
                <a:ln>
                  <a:noFill/>
                </a:ln>
                <a:solidFill>
                  <a:srgbClr val="000000"/>
                </a:solidFill>
                <a:effectLst/>
                <a:uLnTx/>
                <a:uFillTx/>
                <a:ea typeface="+mn-ea"/>
                <a:cs typeface="+mn-cs"/>
              </a:endParaRPr>
            </a:p>
          </p:txBody>
        </p:sp>
        <p:sp>
          <p:nvSpPr>
            <p:cNvPr id="20" name="TextBox 19">
              <a:extLst>
                <a:ext uri="{FF2B5EF4-FFF2-40B4-BE49-F238E27FC236}">
                  <a16:creationId xmlns:a16="http://schemas.microsoft.com/office/drawing/2014/main" id="{441C0D81-4EDF-8A2B-CF53-2D5B21725709}"/>
                </a:ext>
              </a:extLst>
            </p:cNvPr>
            <p:cNvSpPr txBox="1"/>
            <p:nvPr/>
          </p:nvSpPr>
          <p:spPr>
            <a:xfrm>
              <a:off x="7660370" y="3016243"/>
              <a:ext cx="3144030" cy="875387"/>
            </a:xfrm>
            <a:prstGeom prst="rect">
              <a:avLst/>
            </a:prstGeom>
            <a:noFill/>
            <a:ln>
              <a:noFill/>
            </a:ln>
          </p:spPr>
          <p:txBody>
            <a:bodyPr wrap="square" lIns="0" tIns="0" rIns="0" bIns="0" anchor="t">
              <a:spAutoFit/>
            </a:bodyPr>
            <a:lstStyle/>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Polyvalence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dirty="0">
                  <a:solidFill>
                    <a:srgbClr val="000000"/>
                  </a:solidFill>
                </a:rPr>
                <a:t>Créativité</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solidFill>
                  <a:effectLst/>
                  <a:uLnTx/>
                  <a:uFillTx/>
                  <a:ea typeface="+mn-ea"/>
                  <a:cs typeface="+mn-cs"/>
                </a:rPr>
                <a:t>Idéal pour brainstormer et réalisé des tâches diverses </a:t>
              </a:r>
              <a:endParaRPr kumimoji="0" sz="1400" b="0" i="0" u="none" strike="noStrike" kern="1200" cap="none" spc="0" normalizeH="0" baseline="0" noProof="0" dirty="0">
                <a:ln>
                  <a:noFill/>
                </a:ln>
                <a:solidFill>
                  <a:srgbClr val="000000"/>
                </a:solidFill>
                <a:effectLst/>
                <a:uLnTx/>
                <a:uFillTx/>
                <a:ea typeface="+mn-ea"/>
                <a:cs typeface="+mn-cs"/>
              </a:endParaRPr>
            </a:p>
          </p:txBody>
        </p:sp>
        <p:grpSp>
          <p:nvGrpSpPr>
            <p:cNvPr id="38" name="Groupe 37">
              <a:extLst>
                <a:ext uri="{FF2B5EF4-FFF2-40B4-BE49-F238E27FC236}">
                  <a16:creationId xmlns:a16="http://schemas.microsoft.com/office/drawing/2014/main" id="{F3912230-C72A-E140-D429-22EBF34A89AE}"/>
                </a:ext>
              </a:extLst>
            </p:cNvPr>
            <p:cNvGrpSpPr/>
            <p:nvPr/>
          </p:nvGrpSpPr>
          <p:grpSpPr>
            <a:xfrm>
              <a:off x="4876156" y="1721818"/>
              <a:ext cx="2490487" cy="4447975"/>
              <a:chOff x="4883128" y="1671018"/>
              <a:chExt cx="2490487" cy="4447975"/>
            </a:xfrm>
          </p:grpSpPr>
          <p:sp>
            <p:nvSpPr>
              <p:cNvPr id="31" name="Flèche : virage 30">
                <a:extLst>
                  <a:ext uri="{FF2B5EF4-FFF2-40B4-BE49-F238E27FC236}">
                    <a16:creationId xmlns:a16="http://schemas.microsoft.com/office/drawing/2014/main" id="{F6C5A8EF-8C25-5F8D-DCEA-C76080D8CE6A}"/>
                  </a:ext>
                </a:extLst>
              </p:cNvPr>
              <p:cNvSpPr/>
              <p:nvPr/>
            </p:nvSpPr>
            <p:spPr>
              <a:xfrm rot="10800000">
                <a:off x="5170023" y="1671018"/>
                <a:ext cx="925975" cy="4447975"/>
              </a:xfrm>
              <a:prstGeom prst="bentArrow">
                <a:avLst>
                  <a:gd name="adj1" fmla="val 25000"/>
                  <a:gd name="adj2" fmla="val 25000"/>
                  <a:gd name="adj3" fmla="val 25000"/>
                  <a:gd name="adj4" fmla="val 525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2" name="Flèche : virage 31">
                <a:extLst>
                  <a:ext uri="{FF2B5EF4-FFF2-40B4-BE49-F238E27FC236}">
                    <a16:creationId xmlns:a16="http://schemas.microsoft.com/office/drawing/2014/main" id="{F1F2BA99-C49C-B066-368F-CEA2121A72E5}"/>
                  </a:ext>
                </a:extLst>
              </p:cNvPr>
              <p:cNvSpPr/>
              <p:nvPr/>
            </p:nvSpPr>
            <p:spPr>
              <a:xfrm rot="10800000" flipH="1">
                <a:off x="6153914" y="1671018"/>
                <a:ext cx="925975" cy="4447974"/>
              </a:xfrm>
              <a:prstGeom prst="bentArrow">
                <a:avLst>
                  <a:gd name="adj1" fmla="val 25000"/>
                  <a:gd name="adj2" fmla="val 25000"/>
                  <a:gd name="adj3" fmla="val 25000"/>
                  <a:gd name="adj4" fmla="val 525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Flèche : virage 32">
                <a:extLst>
                  <a:ext uri="{FF2B5EF4-FFF2-40B4-BE49-F238E27FC236}">
                    <a16:creationId xmlns:a16="http://schemas.microsoft.com/office/drawing/2014/main" id="{4B1D1F0C-FBE3-DF07-74E1-BD96666709D9}"/>
                  </a:ext>
                </a:extLst>
              </p:cNvPr>
              <p:cNvSpPr/>
              <p:nvPr/>
            </p:nvSpPr>
            <p:spPr>
              <a:xfrm rot="10800000">
                <a:off x="4883128" y="1671020"/>
                <a:ext cx="925975" cy="2051840"/>
              </a:xfrm>
              <a:prstGeom prst="bentArrow">
                <a:avLst>
                  <a:gd name="adj1" fmla="val 25000"/>
                  <a:gd name="adj2" fmla="val 25000"/>
                  <a:gd name="adj3" fmla="val 25000"/>
                  <a:gd name="adj4" fmla="val 525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4" name="Flèche : virage 33">
                <a:extLst>
                  <a:ext uri="{FF2B5EF4-FFF2-40B4-BE49-F238E27FC236}">
                    <a16:creationId xmlns:a16="http://schemas.microsoft.com/office/drawing/2014/main" id="{71F5260C-5187-56BA-CCAA-4A35A800F0A3}"/>
                  </a:ext>
                </a:extLst>
              </p:cNvPr>
              <p:cNvSpPr/>
              <p:nvPr/>
            </p:nvSpPr>
            <p:spPr>
              <a:xfrm rot="10800000" flipH="1">
                <a:off x="6447640" y="1671018"/>
                <a:ext cx="925975" cy="2051840"/>
              </a:xfrm>
              <a:prstGeom prst="bentArrow">
                <a:avLst>
                  <a:gd name="adj1" fmla="val 25000"/>
                  <a:gd name="adj2" fmla="val 25000"/>
                  <a:gd name="adj3" fmla="val 25000"/>
                  <a:gd name="adj4" fmla="val 525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pic>
          <p:nvPicPr>
            <p:cNvPr id="1026" name="Picture 2" descr="Dassault Systèmes et Mistral AI s'associent afin d'accélérer l'économie  générative en proposant des solutions industrielles de confiance basées sur  l'IA | Dassault Systèmes">
              <a:extLst>
                <a:ext uri="{FF2B5EF4-FFF2-40B4-BE49-F238E27FC236}">
                  <a16:creationId xmlns:a16="http://schemas.microsoft.com/office/drawing/2014/main" id="{57FA9EED-3DAF-8C6A-14C3-DABB3EE69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815" y="2190949"/>
              <a:ext cx="1794076" cy="6867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F8CC822-23AF-0BE2-9FA1-D1DE221DE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0828" y="4853316"/>
              <a:ext cx="1794076" cy="3854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94A52E2-D748-70B7-DA1E-B83D7AB5F4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0370" y="4575795"/>
              <a:ext cx="1794076" cy="6629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atGPT Vertical Logo PNG, SVG, AI Vector – Free Download">
              <a:extLst>
                <a:ext uri="{FF2B5EF4-FFF2-40B4-BE49-F238E27FC236}">
                  <a16:creationId xmlns:a16="http://schemas.microsoft.com/office/drawing/2014/main" id="{DCCFD99B-D58F-FFE4-E177-9AA0C62BE3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0370" y="2405126"/>
              <a:ext cx="1845135" cy="53840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fontScale="90000"/>
          </a:bodyPr>
          <a:lstStyle/>
          <a:p>
            <a:r>
              <a:rPr dirty="0" err="1"/>
              <a:t>Intégration</a:t>
            </a:r>
            <a:r>
              <a:rPr dirty="0"/>
              <a:t> IA : Le choc des </a:t>
            </a:r>
            <a:r>
              <a:rPr dirty="0" err="1"/>
              <a:t>réalités</a:t>
            </a:r>
            <a:endParaRPr dirty="0"/>
          </a:p>
        </p:txBody>
      </p:sp>
      <p:sp>
        <p:nvSpPr>
          <p:cNvPr id="3" name="Text Placeholder 2"/>
          <p:cNvSpPr>
            <a:spLocks noGrp="1"/>
          </p:cNvSpPr>
          <p:nvPr>
            <p:ph type="body" sz="quarter" idx="13"/>
          </p:nvPr>
        </p:nvSpPr>
        <p:spPr/>
        <p:txBody>
          <a:bodyPr/>
          <a:lstStyle/>
          <a:p>
            <a:r>
              <a:t>IA</a:t>
            </a:r>
          </a:p>
        </p:txBody>
      </p:sp>
      <p:grpSp>
        <p:nvGrpSpPr>
          <p:cNvPr id="20" name="Group 4">
            <a:extLst>
              <a:ext uri="{FF2B5EF4-FFF2-40B4-BE49-F238E27FC236}">
                <a16:creationId xmlns:a16="http://schemas.microsoft.com/office/drawing/2014/main" id="{12CCEBB4-0F31-55D8-C8F9-12E17726C475}"/>
              </a:ext>
            </a:extLst>
          </p:cNvPr>
          <p:cNvGrpSpPr/>
          <p:nvPr/>
        </p:nvGrpSpPr>
        <p:grpSpPr>
          <a:xfrm>
            <a:off x="4981625" y="3737050"/>
            <a:ext cx="2536420" cy="2448447"/>
            <a:chOff x="2168539" y="3038204"/>
            <a:chExt cx="1983432" cy="2448447"/>
          </a:xfrm>
        </p:grpSpPr>
        <p:sp>
          <p:nvSpPr>
            <p:cNvPr id="31" name="Rounded Rectangle 1">
              <a:extLst>
                <a:ext uri="{FF2B5EF4-FFF2-40B4-BE49-F238E27FC236}">
                  <a16:creationId xmlns:a16="http://schemas.microsoft.com/office/drawing/2014/main" id="{EB1960AD-1BC1-AADD-22CB-C29DC29F6EF3}"/>
                </a:ext>
              </a:extLst>
            </p:cNvPr>
            <p:cNvSpPr/>
            <p:nvPr/>
          </p:nvSpPr>
          <p:spPr>
            <a:xfrm>
              <a:off x="2168539" y="4796445"/>
              <a:ext cx="225304" cy="187236"/>
            </a:xfrm>
            <a:custGeom>
              <a:avLst/>
              <a:gdLst/>
              <a:ahLst/>
              <a:cxnLst/>
              <a:rect l="0" t="0" r="0" b="0"/>
              <a:pathLst>
                <a:path w="225304" h="187236">
                  <a:moveTo>
                    <a:pt x="102158" y="0"/>
                  </a:moveTo>
                  <a:cubicBezTo>
                    <a:pt x="103224" y="11722"/>
                    <a:pt x="106800" y="22314"/>
                    <a:pt x="112908" y="29441"/>
                  </a:cubicBezTo>
                  <a:cubicBezTo>
                    <a:pt x="131028" y="50573"/>
                    <a:pt x="199044" y="91119"/>
                    <a:pt x="225304" y="135795"/>
                  </a:cubicBezTo>
                  <a:lnTo>
                    <a:pt x="224679" y="137925"/>
                  </a:lnTo>
                  <a:cubicBezTo>
                    <a:pt x="211530" y="164224"/>
                    <a:pt x="164415" y="179563"/>
                    <a:pt x="142495" y="183949"/>
                  </a:cubicBezTo>
                  <a:cubicBezTo>
                    <a:pt x="110719" y="187236"/>
                    <a:pt x="41901" y="176059"/>
                    <a:pt x="20861" y="105051"/>
                  </a:cubicBezTo>
                  <a:cubicBezTo>
                    <a:pt x="0" y="34622"/>
                    <a:pt x="65800" y="5812"/>
                    <a:pt x="102158" y="0"/>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4" name="Rounded Rectangle 2">
              <a:extLst>
                <a:ext uri="{FF2B5EF4-FFF2-40B4-BE49-F238E27FC236}">
                  <a16:creationId xmlns:a16="http://schemas.microsoft.com/office/drawing/2014/main" id="{74A60C2C-D84C-9DBC-DBF8-01109E8FACE9}"/>
                </a:ext>
              </a:extLst>
            </p:cNvPr>
            <p:cNvSpPr/>
            <p:nvPr/>
          </p:nvSpPr>
          <p:spPr>
            <a:xfrm>
              <a:off x="3763166" y="5331796"/>
              <a:ext cx="171818" cy="154855"/>
            </a:xfrm>
            <a:custGeom>
              <a:avLst/>
              <a:gdLst/>
              <a:ahLst/>
              <a:cxnLst/>
              <a:rect l="0" t="0" r="0" b="0"/>
              <a:pathLst>
                <a:path w="171818" h="154855">
                  <a:moveTo>
                    <a:pt x="131061" y="0"/>
                  </a:moveTo>
                  <a:cubicBezTo>
                    <a:pt x="171818" y="25595"/>
                    <a:pt x="171568" y="73736"/>
                    <a:pt x="168551" y="85820"/>
                  </a:cubicBezTo>
                  <a:cubicBezTo>
                    <a:pt x="165263" y="98970"/>
                    <a:pt x="129102" y="154855"/>
                    <a:pt x="56779" y="131844"/>
                  </a:cubicBezTo>
                  <a:cubicBezTo>
                    <a:pt x="3155" y="114775"/>
                    <a:pt x="0" y="49330"/>
                    <a:pt x="5930" y="11933"/>
                  </a:cubicBezTo>
                  <a:cubicBezTo>
                    <a:pt x="51421" y="26575"/>
                    <a:pt x="105656" y="16542"/>
                    <a:pt x="131061" y="0"/>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5" name="Rounded Rectangle 3">
              <a:extLst>
                <a:ext uri="{FF2B5EF4-FFF2-40B4-BE49-F238E27FC236}">
                  <a16:creationId xmlns:a16="http://schemas.microsoft.com/office/drawing/2014/main" id="{8CD8F36F-847F-DEA9-92ED-46D4CD37F4A3}"/>
                </a:ext>
              </a:extLst>
            </p:cNvPr>
            <p:cNvSpPr/>
            <p:nvPr/>
          </p:nvSpPr>
          <p:spPr>
            <a:xfrm>
              <a:off x="2261723" y="3038204"/>
              <a:ext cx="1890248" cy="2326814"/>
            </a:xfrm>
            <a:custGeom>
              <a:avLst/>
              <a:gdLst/>
              <a:ahLst/>
              <a:cxnLst/>
              <a:rect l="0" t="0" r="0" b="0"/>
              <a:pathLst>
                <a:path w="1890248" h="2326814">
                  <a:moveTo>
                    <a:pt x="1502336" y="400404"/>
                  </a:moveTo>
                  <a:cubicBezTo>
                    <a:pt x="1474946" y="354380"/>
                    <a:pt x="1420152" y="232747"/>
                    <a:pt x="1413577" y="183436"/>
                  </a:cubicBezTo>
                  <a:cubicBezTo>
                    <a:pt x="1407002" y="134125"/>
                    <a:pt x="1383990" y="101251"/>
                    <a:pt x="1380703" y="61802"/>
                  </a:cubicBezTo>
                  <a:cubicBezTo>
                    <a:pt x="1369749" y="39882"/>
                    <a:pt x="1324817" y="0"/>
                    <a:pt x="1232771" y="15779"/>
                  </a:cubicBezTo>
                  <a:cubicBezTo>
                    <a:pt x="1219621" y="23669"/>
                    <a:pt x="1266742" y="69475"/>
                    <a:pt x="1291944" y="91389"/>
                  </a:cubicBezTo>
                  <a:cubicBezTo>
                    <a:pt x="1299616" y="99062"/>
                    <a:pt x="1308380" y="119003"/>
                    <a:pt x="1282081" y="137412"/>
                  </a:cubicBezTo>
                  <a:cubicBezTo>
                    <a:pt x="1255782" y="155822"/>
                    <a:pt x="1225104" y="151660"/>
                    <a:pt x="1213046" y="147275"/>
                  </a:cubicBezTo>
                  <a:cubicBezTo>
                    <a:pt x="1202093" y="152751"/>
                    <a:pt x="1186747" y="167656"/>
                    <a:pt x="1213046" y="183436"/>
                  </a:cubicBezTo>
                  <a:cubicBezTo>
                    <a:pt x="1245920" y="203160"/>
                    <a:pt x="1291944" y="180148"/>
                    <a:pt x="1318243" y="206448"/>
                  </a:cubicBezTo>
                  <a:cubicBezTo>
                    <a:pt x="1344542" y="232747"/>
                    <a:pt x="1367553" y="265621"/>
                    <a:pt x="1374128" y="318219"/>
                  </a:cubicBezTo>
                  <a:cubicBezTo>
                    <a:pt x="1379388" y="360297"/>
                    <a:pt x="1380703" y="408076"/>
                    <a:pt x="1380703" y="426703"/>
                  </a:cubicBezTo>
                  <a:cubicBezTo>
                    <a:pt x="1365976" y="435230"/>
                    <a:pt x="1340827" y="457690"/>
                    <a:pt x="1327368" y="492450"/>
                  </a:cubicBezTo>
                  <a:cubicBezTo>
                    <a:pt x="1321806" y="506823"/>
                    <a:pt x="1318243" y="523299"/>
                    <a:pt x="1318243" y="541761"/>
                  </a:cubicBezTo>
                  <a:cubicBezTo>
                    <a:pt x="1318243" y="581210"/>
                    <a:pt x="1298518" y="637096"/>
                    <a:pt x="1305093" y="673257"/>
                  </a:cubicBezTo>
                  <a:cubicBezTo>
                    <a:pt x="1305093" y="689694"/>
                    <a:pt x="1314955" y="758729"/>
                    <a:pt x="1354404" y="758729"/>
                  </a:cubicBezTo>
                  <a:cubicBezTo>
                    <a:pt x="1393853" y="758729"/>
                    <a:pt x="1407002" y="762016"/>
                    <a:pt x="1410290" y="775166"/>
                  </a:cubicBezTo>
                  <a:cubicBezTo>
                    <a:pt x="1412919" y="785686"/>
                    <a:pt x="1411388" y="810229"/>
                    <a:pt x="1410290" y="821189"/>
                  </a:cubicBezTo>
                  <a:cubicBezTo>
                    <a:pt x="1387278" y="817902"/>
                    <a:pt x="1341254" y="804752"/>
                    <a:pt x="1298518" y="808040"/>
                  </a:cubicBezTo>
                  <a:cubicBezTo>
                    <a:pt x="1243303" y="817902"/>
                    <a:pt x="1111137" y="867213"/>
                    <a:pt x="1058539" y="906661"/>
                  </a:cubicBezTo>
                  <a:cubicBezTo>
                    <a:pt x="1042102" y="913236"/>
                    <a:pt x="1035527" y="906661"/>
                    <a:pt x="999366" y="863925"/>
                  </a:cubicBezTo>
                  <a:cubicBezTo>
                    <a:pt x="967590" y="827764"/>
                    <a:pt x="892854" y="726513"/>
                    <a:pt x="848146" y="610796"/>
                  </a:cubicBezTo>
                  <a:cubicBezTo>
                    <a:pt x="792260" y="466151"/>
                    <a:pt x="664052" y="429990"/>
                    <a:pt x="644328" y="433277"/>
                  </a:cubicBezTo>
                  <a:cubicBezTo>
                    <a:pt x="624603" y="436565"/>
                    <a:pt x="598304" y="472726"/>
                    <a:pt x="604879" y="485876"/>
                  </a:cubicBezTo>
                  <a:cubicBezTo>
                    <a:pt x="611454" y="499025"/>
                    <a:pt x="650903" y="551623"/>
                    <a:pt x="667340" y="581210"/>
                  </a:cubicBezTo>
                  <a:cubicBezTo>
                    <a:pt x="683776" y="610796"/>
                    <a:pt x="723225" y="643670"/>
                    <a:pt x="749524" y="660107"/>
                  </a:cubicBezTo>
                  <a:cubicBezTo>
                    <a:pt x="775823" y="676544"/>
                    <a:pt x="775823" y="686406"/>
                    <a:pt x="792260" y="748867"/>
                  </a:cubicBezTo>
                  <a:cubicBezTo>
                    <a:pt x="808697" y="811327"/>
                    <a:pt x="874445" y="985559"/>
                    <a:pt x="930331" y="1034870"/>
                  </a:cubicBezTo>
                  <a:cubicBezTo>
                    <a:pt x="986216" y="1084181"/>
                    <a:pt x="1009228" y="1067744"/>
                    <a:pt x="1055251" y="1051307"/>
                  </a:cubicBezTo>
                  <a:cubicBezTo>
                    <a:pt x="1101275" y="1034870"/>
                    <a:pt x="1239345" y="992134"/>
                    <a:pt x="1272219" y="1008571"/>
                  </a:cubicBezTo>
                  <a:cubicBezTo>
                    <a:pt x="1286072" y="1015494"/>
                    <a:pt x="1287085" y="1023587"/>
                    <a:pt x="1284113" y="1041444"/>
                  </a:cubicBezTo>
                  <a:cubicBezTo>
                    <a:pt x="1280030" y="1065982"/>
                    <a:pt x="1268419" y="1108954"/>
                    <a:pt x="1272219" y="1192664"/>
                  </a:cubicBezTo>
                  <a:cubicBezTo>
                    <a:pt x="1272219" y="1245263"/>
                    <a:pt x="1249207" y="1291286"/>
                    <a:pt x="1249207" y="1363609"/>
                  </a:cubicBezTo>
                  <a:cubicBezTo>
                    <a:pt x="1249207" y="1403057"/>
                    <a:pt x="1186747" y="1422782"/>
                    <a:pt x="1170310" y="1475380"/>
                  </a:cubicBezTo>
                  <a:cubicBezTo>
                    <a:pt x="1157161" y="1491159"/>
                    <a:pt x="1123195" y="1506058"/>
                    <a:pt x="1107850" y="1511541"/>
                  </a:cubicBezTo>
                  <a:cubicBezTo>
                    <a:pt x="1073884" y="1494006"/>
                    <a:pt x="982929" y="1458943"/>
                    <a:pt x="956630" y="1439219"/>
                  </a:cubicBezTo>
                  <a:cubicBezTo>
                    <a:pt x="930331" y="1419494"/>
                    <a:pt x="894169" y="1357034"/>
                    <a:pt x="818559" y="1327447"/>
                  </a:cubicBezTo>
                  <a:cubicBezTo>
                    <a:pt x="773930" y="1305133"/>
                    <a:pt x="689273" y="1269353"/>
                    <a:pt x="631178" y="1263264"/>
                  </a:cubicBezTo>
                  <a:cubicBezTo>
                    <a:pt x="612249" y="1261285"/>
                    <a:pt x="596141" y="1262456"/>
                    <a:pt x="585155" y="1268274"/>
                  </a:cubicBezTo>
                  <a:cubicBezTo>
                    <a:pt x="529269" y="1297861"/>
                    <a:pt x="486533" y="1386620"/>
                    <a:pt x="407636" y="1458943"/>
                  </a:cubicBezTo>
                  <a:cubicBezTo>
                    <a:pt x="344518" y="1516801"/>
                    <a:pt x="249841" y="1636462"/>
                    <a:pt x="210392" y="1689060"/>
                  </a:cubicBezTo>
                  <a:cubicBezTo>
                    <a:pt x="190668" y="1690158"/>
                    <a:pt x="145960" y="1694977"/>
                    <a:pt x="124920" y="1705497"/>
                  </a:cubicBezTo>
                  <a:cubicBezTo>
                    <a:pt x="95334" y="1705497"/>
                    <a:pt x="72322" y="1672623"/>
                    <a:pt x="39448" y="1689060"/>
                  </a:cubicBezTo>
                  <a:cubicBezTo>
                    <a:pt x="6574" y="1705497"/>
                    <a:pt x="0" y="1764670"/>
                    <a:pt x="19724" y="1787682"/>
                  </a:cubicBezTo>
                  <a:cubicBezTo>
                    <a:pt x="39448" y="1810694"/>
                    <a:pt x="118346" y="1856717"/>
                    <a:pt x="138070" y="1906028"/>
                  </a:cubicBezTo>
                  <a:cubicBezTo>
                    <a:pt x="157794" y="1955339"/>
                    <a:pt x="223542" y="1935614"/>
                    <a:pt x="233404" y="1906028"/>
                  </a:cubicBezTo>
                  <a:cubicBezTo>
                    <a:pt x="241294" y="1882359"/>
                    <a:pt x="232313" y="1845757"/>
                    <a:pt x="226829" y="1830418"/>
                  </a:cubicBezTo>
                  <a:cubicBezTo>
                    <a:pt x="250939" y="1799733"/>
                    <a:pt x="319534" y="1728509"/>
                    <a:pt x="401061" y="1689060"/>
                  </a:cubicBezTo>
                  <a:cubicBezTo>
                    <a:pt x="482588" y="1649611"/>
                    <a:pt x="542419" y="1589340"/>
                    <a:pt x="562143" y="1564139"/>
                  </a:cubicBezTo>
                  <a:cubicBezTo>
                    <a:pt x="574201" y="1572904"/>
                    <a:pt x="608824" y="1591753"/>
                    <a:pt x="650903" y="1597013"/>
                  </a:cubicBezTo>
                  <a:cubicBezTo>
                    <a:pt x="703501" y="1603588"/>
                    <a:pt x="917181" y="1725221"/>
                    <a:pt x="966492" y="1764670"/>
                  </a:cubicBezTo>
                  <a:cubicBezTo>
                    <a:pt x="1015803" y="1804119"/>
                    <a:pt x="1074976" y="1876441"/>
                    <a:pt x="1157161" y="1876441"/>
                  </a:cubicBezTo>
                  <a:cubicBezTo>
                    <a:pt x="1239345" y="1876441"/>
                    <a:pt x="1331392" y="1899453"/>
                    <a:pt x="1380703" y="1929040"/>
                  </a:cubicBezTo>
                  <a:cubicBezTo>
                    <a:pt x="1420152" y="1952709"/>
                    <a:pt x="1486997" y="1956437"/>
                    <a:pt x="1515486" y="1955339"/>
                  </a:cubicBezTo>
                  <a:cubicBezTo>
                    <a:pt x="1485899" y="2000264"/>
                    <a:pt x="1414234" y="2099984"/>
                    <a:pt x="1364266" y="2139433"/>
                  </a:cubicBezTo>
                  <a:cubicBezTo>
                    <a:pt x="1353313" y="2140530"/>
                    <a:pt x="1329420" y="2149295"/>
                    <a:pt x="1321530" y="2175594"/>
                  </a:cubicBezTo>
                  <a:cubicBezTo>
                    <a:pt x="1311668" y="2208468"/>
                    <a:pt x="1311668" y="2277503"/>
                    <a:pt x="1337967" y="2280790"/>
                  </a:cubicBezTo>
                  <a:cubicBezTo>
                    <a:pt x="1364266" y="2284078"/>
                    <a:pt x="1439876" y="2280790"/>
                    <a:pt x="1502336" y="2303802"/>
                  </a:cubicBezTo>
                  <a:cubicBezTo>
                    <a:pt x="1564797" y="2326814"/>
                    <a:pt x="1646982" y="2300515"/>
                    <a:pt x="1646982" y="2274215"/>
                  </a:cubicBezTo>
                  <a:cubicBezTo>
                    <a:pt x="1646982" y="2247916"/>
                    <a:pt x="1623970" y="2215042"/>
                    <a:pt x="1574659" y="2208468"/>
                  </a:cubicBezTo>
                  <a:cubicBezTo>
                    <a:pt x="1535210" y="2203208"/>
                    <a:pt x="1503434" y="2184358"/>
                    <a:pt x="1492474" y="2175594"/>
                  </a:cubicBezTo>
                  <a:cubicBezTo>
                    <a:pt x="1557131" y="2110944"/>
                    <a:pt x="1700237" y="1971118"/>
                    <a:pt x="1755465" y="1929040"/>
                  </a:cubicBezTo>
                  <a:cubicBezTo>
                    <a:pt x="1824501" y="1876441"/>
                    <a:pt x="1890248" y="1790969"/>
                    <a:pt x="1886961" y="1728509"/>
                  </a:cubicBezTo>
                  <a:cubicBezTo>
                    <a:pt x="1883674" y="1666048"/>
                    <a:pt x="1854087" y="1633175"/>
                    <a:pt x="1811351" y="1629887"/>
                  </a:cubicBezTo>
                  <a:cubicBezTo>
                    <a:pt x="1777162" y="1627257"/>
                    <a:pt x="1674379" y="1628789"/>
                    <a:pt x="1627257" y="1629887"/>
                  </a:cubicBezTo>
                  <a:cubicBezTo>
                    <a:pt x="1628355" y="1579478"/>
                    <a:pt x="1643694" y="1448423"/>
                    <a:pt x="1696292" y="1327447"/>
                  </a:cubicBezTo>
                  <a:cubicBezTo>
                    <a:pt x="1748891" y="1206471"/>
                    <a:pt x="1744512" y="1119244"/>
                    <a:pt x="1735741" y="1090755"/>
                  </a:cubicBezTo>
                  <a:cubicBezTo>
                    <a:pt x="1748891" y="1085272"/>
                    <a:pt x="1772560" y="1053279"/>
                    <a:pt x="1762040" y="969122"/>
                  </a:cubicBezTo>
                  <a:cubicBezTo>
                    <a:pt x="1748891" y="863925"/>
                    <a:pt x="1739028" y="811327"/>
                    <a:pt x="1729166" y="755442"/>
                  </a:cubicBezTo>
                  <a:cubicBezTo>
                    <a:pt x="1721277" y="710733"/>
                    <a:pt x="1695201" y="688596"/>
                    <a:pt x="1683143" y="683119"/>
                  </a:cubicBezTo>
                  <a:cubicBezTo>
                    <a:pt x="1683143" y="677642"/>
                    <a:pt x="1681170" y="664052"/>
                    <a:pt x="1673281" y="653533"/>
                  </a:cubicBezTo>
                  <a:cubicBezTo>
                    <a:pt x="1683143" y="628331"/>
                    <a:pt x="1698265" y="564773"/>
                    <a:pt x="1679855" y="512175"/>
                  </a:cubicBezTo>
                  <a:cubicBezTo>
                    <a:pt x="1656844" y="446427"/>
                    <a:pt x="1584521" y="400404"/>
                    <a:pt x="1502336" y="400404"/>
                  </a:cubicBezTo>
                </a:path>
              </a:pathLst>
            </a:custGeom>
            <a:solidFill>
              <a:srgbClr val="974347"/>
            </a:solidFill>
            <a:ln>
              <a:solidFill>
                <a:schemeClr val="tx1"/>
              </a:solidFill>
            </a:ln>
          </p:spPr>
          <p:txBody>
            <a:bodyPr rtlCol="0" anchor="ctr"/>
            <a:lstStyle/>
            <a:p>
              <a:pPr algn="ctr"/>
              <a:endParaRPr/>
            </a:p>
          </p:txBody>
        </p:sp>
      </p:grpSp>
      <p:grpSp>
        <p:nvGrpSpPr>
          <p:cNvPr id="6" name="Group 8">
            <a:extLst>
              <a:ext uri="{FF2B5EF4-FFF2-40B4-BE49-F238E27FC236}">
                <a16:creationId xmlns:a16="http://schemas.microsoft.com/office/drawing/2014/main" id="{902B100A-67F3-DAF8-087F-28E2EF46A0F1}"/>
              </a:ext>
            </a:extLst>
          </p:cNvPr>
          <p:cNvGrpSpPr/>
          <p:nvPr/>
        </p:nvGrpSpPr>
        <p:grpSpPr>
          <a:xfrm>
            <a:off x="4981621" y="3737048"/>
            <a:ext cx="2536428" cy="2448448"/>
            <a:chOff x="2168536" y="3038202"/>
            <a:chExt cx="1983438" cy="2448448"/>
          </a:xfrm>
        </p:grpSpPr>
        <p:sp>
          <p:nvSpPr>
            <p:cNvPr id="7" name="Rounded Rectangle 5">
              <a:extLst>
                <a:ext uri="{FF2B5EF4-FFF2-40B4-BE49-F238E27FC236}">
                  <a16:creationId xmlns:a16="http://schemas.microsoft.com/office/drawing/2014/main" id="{D7B1A3CD-413F-C189-561E-C556606B5E71}"/>
                </a:ext>
              </a:extLst>
            </p:cNvPr>
            <p:cNvSpPr/>
            <p:nvPr/>
          </p:nvSpPr>
          <p:spPr>
            <a:xfrm>
              <a:off x="2168536" y="4796447"/>
              <a:ext cx="225307" cy="187233"/>
            </a:xfrm>
            <a:custGeom>
              <a:avLst/>
              <a:gdLst/>
              <a:ahLst/>
              <a:cxnLst/>
              <a:rect l="0" t="0" r="0" b="0"/>
              <a:pathLst>
                <a:path w="225307" h="187233">
                  <a:moveTo>
                    <a:pt x="102159" y="0"/>
                  </a:moveTo>
                  <a:cubicBezTo>
                    <a:pt x="103223" y="11718"/>
                    <a:pt x="106805" y="22312"/>
                    <a:pt x="112913" y="29438"/>
                  </a:cubicBezTo>
                  <a:cubicBezTo>
                    <a:pt x="131028" y="50572"/>
                    <a:pt x="199046" y="91117"/>
                    <a:pt x="225307" y="135790"/>
                  </a:cubicBezTo>
                  <a:lnTo>
                    <a:pt x="224685" y="137922"/>
                  </a:lnTo>
                  <a:cubicBezTo>
                    <a:pt x="211535" y="164221"/>
                    <a:pt x="164416" y="179563"/>
                    <a:pt x="142500" y="183945"/>
                  </a:cubicBezTo>
                  <a:cubicBezTo>
                    <a:pt x="110722" y="187233"/>
                    <a:pt x="41906" y="176056"/>
                    <a:pt x="20867" y="105048"/>
                  </a:cubicBezTo>
                  <a:cubicBezTo>
                    <a:pt x="0" y="34622"/>
                    <a:pt x="65800" y="5812"/>
                    <a:pt x="102159" y="0"/>
                  </a:cubicBezTo>
                  <a:close/>
                </a:path>
              </a:pathLst>
            </a:custGeom>
            <a:noFill/>
            <a:ln w="9861">
              <a:solidFill>
                <a:srgbClr val="484848"/>
              </a:solidFill>
            </a:ln>
          </p:spPr>
          <p:txBody>
            <a:bodyPr rtlCol="0" anchor="ctr"/>
            <a:lstStyle/>
            <a:p>
              <a:pPr algn="ctr"/>
              <a:endParaRPr/>
            </a:p>
          </p:txBody>
        </p:sp>
        <p:sp>
          <p:nvSpPr>
            <p:cNvPr id="8" name="Rounded Rectangle 6">
              <a:extLst>
                <a:ext uri="{FF2B5EF4-FFF2-40B4-BE49-F238E27FC236}">
                  <a16:creationId xmlns:a16="http://schemas.microsoft.com/office/drawing/2014/main" id="{476EEACA-9286-8B3E-D507-269341B15C83}"/>
                </a:ext>
              </a:extLst>
            </p:cNvPr>
            <p:cNvSpPr/>
            <p:nvPr/>
          </p:nvSpPr>
          <p:spPr>
            <a:xfrm>
              <a:off x="3763163" y="5331797"/>
              <a:ext cx="171821" cy="154853"/>
            </a:xfrm>
            <a:custGeom>
              <a:avLst/>
              <a:gdLst/>
              <a:ahLst/>
              <a:cxnLst/>
              <a:rect l="0" t="0" r="0" b="0"/>
              <a:pathLst>
                <a:path w="171821" h="154853">
                  <a:moveTo>
                    <a:pt x="131063" y="0"/>
                  </a:moveTo>
                  <a:cubicBezTo>
                    <a:pt x="171821" y="25592"/>
                    <a:pt x="171573" y="73738"/>
                    <a:pt x="168553" y="85818"/>
                  </a:cubicBezTo>
                  <a:cubicBezTo>
                    <a:pt x="165266" y="98968"/>
                    <a:pt x="129104" y="154853"/>
                    <a:pt x="56782" y="131842"/>
                  </a:cubicBezTo>
                  <a:cubicBezTo>
                    <a:pt x="3158" y="114777"/>
                    <a:pt x="0" y="49331"/>
                    <a:pt x="5930" y="11929"/>
                  </a:cubicBezTo>
                  <a:cubicBezTo>
                    <a:pt x="51424" y="26575"/>
                    <a:pt x="105656" y="16538"/>
                    <a:pt x="131063" y="0"/>
                  </a:cubicBezTo>
                  <a:close/>
                </a:path>
              </a:pathLst>
            </a:custGeom>
            <a:noFill/>
            <a:ln w="9861">
              <a:solidFill>
                <a:srgbClr val="484848"/>
              </a:solidFill>
            </a:ln>
          </p:spPr>
          <p:txBody>
            <a:bodyPr rtlCol="0" anchor="ctr"/>
            <a:lstStyle/>
            <a:p>
              <a:pPr algn="ctr"/>
              <a:endParaRPr/>
            </a:p>
          </p:txBody>
        </p:sp>
        <p:sp>
          <p:nvSpPr>
            <p:cNvPr id="9" name="Rounded Rectangle 7">
              <a:extLst>
                <a:ext uri="{FF2B5EF4-FFF2-40B4-BE49-F238E27FC236}">
                  <a16:creationId xmlns:a16="http://schemas.microsoft.com/office/drawing/2014/main" id="{02BEF4D7-FD86-99D2-475D-63EC6AB33EA3}"/>
                </a:ext>
              </a:extLst>
            </p:cNvPr>
            <p:cNvSpPr/>
            <p:nvPr/>
          </p:nvSpPr>
          <p:spPr>
            <a:xfrm>
              <a:off x="2261726" y="3038202"/>
              <a:ext cx="1890248" cy="2326815"/>
            </a:xfrm>
            <a:custGeom>
              <a:avLst/>
              <a:gdLst/>
              <a:ahLst/>
              <a:cxnLst/>
              <a:rect l="0" t="0" r="0" b="0"/>
              <a:pathLst>
                <a:path w="1890248" h="2326815">
                  <a:moveTo>
                    <a:pt x="1502336" y="400404"/>
                  </a:moveTo>
                  <a:cubicBezTo>
                    <a:pt x="1474941" y="354380"/>
                    <a:pt x="1420152" y="232747"/>
                    <a:pt x="1413577" y="183436"/>
                  </a:cubicBezTo>
                  <a:cubicBezTo>
                    <a:pt x="1407002" y="134125"/>
                    <a:pt x="1383990" y="101251"/>
                    <a:pt x="1380703" y="61802"/>
                  </a:cubicBezTo>
                  <a:cubicBezTo>
                    <a:pt x="1369745" y="39887"/>
                    <a:pt x="1324817" y="0"/>
                    <a:pt x="1232771" y="15779"/>
                  </a:cubicBezTo>
                  <a:cubicBezTo>
                    <a:pt x="1219621" y="23669"/>
                    <a:pt x="1266740" y="69474"/>
                    <a:pt x="1291944" y="91390"/>
                  </a:cubicBezTo>
                  <a:cubicBezTo>
                    <a:pt x="1299614" y="99060"/>
                    <a:pt x="1308380" y="119004"/>
                    <a:pt x="1282081" y="137414"/>
                  </a:cubicBezTo>
                  <a:cubicBezTo>
                    <a:pt x="1255782" y="155823"/>
                    <a:pt x="1222908" y="140701"/>
                    <a:pt x="1213046" y="147276"/>
                  </a:cubicBezTo>
                  <a:cubicBezTo>
                    <a:pt x="1202088" y="152754"/>
                    <a:pt x="1186747" y="167656"/>
                    <a:pt x="1213046" y="183436"/>
                  </a:cubicBezTo>
                  <a:cubicBezTo>
                    <a:pt x="1245920" y="203161"/>
                    <a:pt x="1291944" y="180150"/>
                    <a:pt x="1318243" y="206449"/>
                  </a:cubicBezTo>
                  <a:cubicBezTo>
                    <a:pt x="1344542" y="232748"/>
                    <a:pt x="1367553" y="265622"/>
                    <a:pt x="1374128" y="318220"/>
                  </a:cubicBezTo>
                  <a:cubicBezTo>
                    <a:pt x="1379388" y="360299"/>
                    <a:pt x="1380703" y="408075"/>
                    <a:pt x="1380703" y="426704"/>
                  </a:cubicBezTo>
                  <a:moveTo>
                    <a:pt x="1502336" y="400404"/>
                  </a:moveTo>
                  <a:cubicBezTo>
                    <a:pt x="1584521" y="400404"/>
                    <a:pt x="1656844" y="446428"/>
                    <a:pt x="1679855" y="512176"/>
                  </a:cubicBezTo>
                  <a:cubicBezTo>
                    <a:pt x="1698265" y="564774"/>
                    <a:pt x="1683143" y="628330"/>
                    <a:pt x="1673281" y="653534"/>
                  </a:cubicBezTo>
                  <a:moveTo>
                    <a:pt x="1380703" y="426704"/>
                  </a:moveTo>
                  <a:cubicBezTo>
                    <a:pt x="1407002" y="411477"/>
                    <a:pt x="1457628" y="400404"/>
                    <a:pt x="1502336" y="400404"/>
                  </a:cubicBezTo>
                  <a:moveTo>
                    <a:pt x="1380703" y="426704"/>
                  </a:moveTo>
                  <a:cubicBezTo>
                    <a:pt x="1365973" y="435231"/>
                    <a:pt x="1340822" y="457691"/>
                    <a:pt x="1327368" y="492452"/>
                  </a:cubicBezTo>
                  <a:moveTo>
                    <a:pt x="1410290" y="821191"/>
                  </a:moveTo>
                  <a:cubicBezTo>
                    <a:pt x="1411386" y="810232"/>
                    <a:pt x="1412919" y="785687"/>
                    <a:pt x="1410290" y="775167"/>
                  </a:cubicBezTo>
                  <a:cubicBezTo>
                    <a:pt x="1407002" y="762018"/>
                    <a:pt x="1393853" y="758730"/>
                    <a:pt x="1354404" y="758730"/>
                  </a:cubicBezTo>
                  <a:cubicBezTo>
                    <a:pt x="1314955" y="758730"/>
                    <a:pt x="1305093" y="689695"/>
                    <a:pt x="1305093" y="673258"/>
                  </a:cubicBezTo>
                  <a:cubicBezTo>
                    <a:pt x="1298518" y="637097"/>
                    <a:pt x="1318243" y="581211"/>
                    <a:pt x="1318243" y="541763"/>
                  </a:cubicBezTo>
                  <a:cubicBezTo>
                    <a:pt x="1318243" y="523299"/>
                    <a:pt x="1321806" y="506824"/>
                    <a:pt x="1327368" y="492452"/>
                  </a:cubicBezTo>
                  <a:moveTo>
                    <a:pt x="1410290" y="821191"/>
                  </a:moveTo>
                  <a:cubicBezTo>
                    <a:pt x="1367553" y="811329"/>
                    <a:pt x="1328284" y="803439"/>
                    <a:pt x="1284108" y="811329"/>
                  </a:cubicBezTo>
                  <a:cubicBezTo>
                    <a:pt x="1228889" y="821191"/>
                    <a:pt x="1111137" y="867214"/>
                    <a:pt x="1058539" y="906663"/>
                  </a:cubicBezTo>
                  <a:cubicBezTo>
                    <a:pt x="1042102" y="913238"/>
                    <a:pt x="1035527" y="906663"/>
                    <a:pt x="999366" y="863927"/>
                  </a:cubicBezTo>
                  <a:cubicBezTo>
                    <a:pt x="967588" y="827765"/>
                    <a:pt x="892854" y="726514"/>
                    <a:pt x="848146" y="610798"/>
                  </a:cubicBezTo>
                  <a:cubicBezTo>
                    <a:pt x="792260" y="466153"/>
                    <a:pt x="664052" y="429991"/>
                    <a:pt x="644328" y="433279"/>
                  </a:cubicBezTo>
                  <a:cubicBezTo>
                    <a:pt x="624603" y="436566"/>
                    <a:pt x="598304" y="472727"/>
                    <a:pt x="604879" y="485877"/>
                  </a:cubicBezTo>
                  <a:cubicBezTo>
                    <a:pt x="611454" y="499027"/>
                    <a:pt x="650903" y="551625"/>
                    <a:pt x="667340" y="581211"/>
                  </a:cubicBezTo>
                  <a:cubicBezTo>
                    <a:pt x="683776" y="610798"/>
                    <a:pt x="723225" y="643672"/>
                    <a:pt x="749524" y="660109"/>
                  </a:cubicBezTo>
                  <a:cubicBezTo>
                    <a:pt x="775823" y="676546"/>
                    <a:pt x="775823" y="686408"/>
                    <a:pt x="792260" y="748868"/>
                  </a:cubicBezTo>
                  <a:cubicBezTo>
                    <a:pt x="808697" y="811329"/>
                    <a:pt x="874445" y="985560"/>
                    <a:pt x="930331" y="1034871"/>
                  </a:cubicBezTo>
                  <a:cubicBezTo>
                    <a:pt x="986216" y="1084182"/>
                    <a:pt x="1009228" y="1067745"/>
                    <a:pt x="1055251" y="1051308"/>
                  </a:cubicBezTo>
                  <a:cubicBezTo>
                    <a:pt x="1101275" y="1034871"/>
                    <a:pt x="1239345" y="992135"/>
                    <a:pt x="1272219" y="1008572"/>
                  </a:cubicBezTo>
                  <a:cubicBezTo>
                    <a:pt x="1286068" y="1015496"/>
                    <a:pt x="1287081" y="1023587"/>
                    <a:pt x="1284108" y="1041446"/>
                  </a:cubicBezTo>
                  <a:moveTo>
                    <a:pt x="1410290" y="821191"/>
                  </a:moveTo>
                  <a:cubicBezTo>
                    <a:pt x="1435351" y="821191"/>
                    <a:pt x="1455931" y="825817"/>
                    <a:pt x="1472750" y="833566"/>
                  </a:cubicBezTo>
                  <a:moveTo>
                    <a:pt x="1107850" y="1511542"/>
                  </a:moveTo>
                  <a:cubicBezTo>
                    <a:pt x="1123191" y="1506063"/>
                    <a:pt x="1157161" y="1491161"/>
                    <a:pt x="1170310" y="1475381"/>
                  </a:cubicBezTo>
                  <a:cubicBezTo>
                    <a:pt x="1186747" y="1422783"/>
                    <a:pt x="1249207" y="1403059"/>
                    <a:pt x="1249207" y="1363610"/>
                  </a:cubicBezTo>
                  <a:cubicBezTo>
                    <a:pt x="1249207" y="1291287"/>
                    <a:pt x="1272219" y="1245264"/>
                    <a:pt x="1272219" y="1192666"/>
                  </a:cubicBezTo>
                  <a:cubicBezTo>
                    <a:pt x="1268414" y="1108953"/>
                    <a:pt x="1280024" y="1065981"/>
                    <a:pt x="1284108" y="1041446"/>
                  </a:cubicBezTo>
                  <a:moveTo>
                    <a:pt x="1107850" y="1511542"/>
                  </a:moveTo>
                  <a:cubicBezTo>
                    <a:pt x="1073880" y="1494009"/>
                    <a:pt x="982929" y="1458944"/>
                    <a:pt x="956630" y="1439220"/>
                  </a:cubicBezTo>
                  <a:cubicBezTo>
                    <a:pt x="930331" y="1419496"/>
                    <a:pt x="894169" y="1357035"/>
                    <a:pt x="818559" y="1327449"/>
                  </a:cubicBezTo>
                  <a:cubicBezTo>
                    <a:pt x="773928" y="1305133"/>
                    <a:pt x="689274" y="1269351"/>
                    <a:pt x="631178" y="1263269"/>
                  </a:cubicBezTo>
                  <a:moveTo>
                    <a:pt x="1107850" y="1511542"/>
                  </a:moveTo>
                  <a:cubicBezTo>
                    <a:pt x="1104562" y="1558661"/>
                    <a:pt x="1153216" y="1667365"/>
                    <a:pt x="1374128" y="1725223"/>
                  </a:cubicBezTo>
                  <a:cubicBezTo>
                    <a:pt x="1561509" y="1781108"/>
                    <a:pt x="1633832" y="1771246"/>
                    <a:pt x="1630545" y="1728510"/>
                  </a:cubicBezTo>
                  <a:cubicBezTo>
                    <a:pt x="1627915" y="1694321"/>
                    <a:pt x="1627257" y="1648517"/>
                    <a:pt x="1627257" y="1629888"/>
                  </a:cubicBezTo>
                  <a:moveTo>
                    <a:pt x="210392" y="1689061"/>
                  </a:moveTo>
                  <a:cubicBezTo>
                    <a:pt x="249841" y="1636463"/>
                    <a:pt x="344518" y="1516802"/>
                    <a:pt x="407636" y="1458944"/>
                  </a:cubicBezTo>
                  <a:cubicBezTo>
                    <a:pt x="486533" y="1386622"/>
                    <a:pt x="529269" y="1297862"/>
                    <a:pt x="585155" y="1268276"/>
                  </a:cubicBezTo>
                  <a:cubicBezTo>
                    <a:pt x="596142" y="1262459"/>
                    <a:pt x="612250" y="1261288"/>
                    <a:pt x="631178" y="1263269"/>
                  </a:cubicBezTo>
                  <a:moveTo>
                    <a:pt x="210392" y="1689061"/>
                  </a:moveTo>
                  <a:cubicBezTo>
                    <a:pt x="190668" y="1690157"/>
                    <a:pt x="145960" y="1694979"/>
                    <a:pt x="124920" y="1705498"/>
                  </a:cubicBezTo>
                  <a:cubicBezTo>
                    <a:pt x="95334" y="1705498"/>
                    <a:pt x="72322" y="1672625"/>
                    <a:pt x="39448" y="1689061"/>
                  </a:cubicBezTo>
                  <a:cubicBezTo>
                    <a:pt x="6574" y="1705498"/>
                    <a:pt x="0" y="1764671"/>
                    <a:pt x="19724" y="1787683"/>
                  </a:cubicBezTo>
                  <a:cubicBezTo>
                    <a:pt x="39448" y="1810695"/>
                    <a:pt x="118346" y="1856718"/>
                    <a:pt x="138070" y="1906029"/>
                  </a:cubicBezTo>
                  <a:cubicBezTo>
                    <a:pt x="157794" y="1955340"/>
                    <a:pt x="223542" y="1935616"/>
                    <a:pt x="233404" y="1906029"/>
                  </a:cubicBezTo>
                  <a:cubicBezTo>
                    <a:pt x="241294" y="1882360"/>
                    <a:pt x="232308" y="1845760"/>
                    <a:pt x="226829" y="1830419"/>
                  </a:cubicBezTo>
                  <a:moveTo>
                    <a:pt x="226829" y="1830419"/>
                  </a:moveTo>
                  <a:cubicBezTo>
                    <a:pt x="204914" y="1831515"/>
                    <a:pt x="157137" y="1823187"/>
                    <a:pt x="141357" y="1781108"/>
                  </a:cubicBezTo>
                  <a:cubicBezTo>
                    <a:pt x="125578" y="1739030"/>
                    <a:pt x="180806" y="1702211"/>
                    <a:pt x="210392" y="1689061"/>
                  </a:cubicBezTo>
                  <a:moveTo>
                    <a:pt x="226829" y="1830419"/>
                  </a:moveTo>
                  <a:cubicBezTo>
                    <a:pt x="250937" y="1799737"/>
                    <a:pt x="319534" y="1728510"/>
                    <a:pt x="401061" y="1689061"/>
                  </a:cubicBezTo>
                  <a:cubicBezTo>
                    <a:pt x="482588" y="1649613"/>
                    <a:pt x="542419" y="1589344"/>
                    <a:pt x="562143" y="1564141"/>
                  </a:cubicBezTo>
                  <a:moveTo>
                    <a:pt x="562143" y="1564141"/>
                  </a:moveTo>
                  <a:cubicBezTo>
                    <a:pt x="574197" y="1572907"/>
                    <a:pt x="608824" y="1591755"/>
                    <a:pt x="650903" y="1597015"/>
                  </a:cubicBezTo>
                  <a:cubicBezTo>
                    <a:pt x="703501" y="1603589"/>
                    <a:pt x="917181" y="1725223"/>
                    <a:pt x="966492" y="1764671"/>
                  </a:cubicBezTo>
                  <a:cubicBezTo>
                    <a:pt x="1015803" y="1804120"/>
                    <a:pt x="1074976" y="1876443"/>
                    <a:pt x="1157161" y="1876443"/>
                  </a:cubicBezTo>
                  <a:cubicBezTo>
                    <a:pt x="1239345" y="1876443"/>
                    <a:pt x="1331392" y="1899454"/>
                    <a:pt x="1380703" y="1929041"/>
                  </a:cubicBezTo>
                  <a:cubicBezTo>
                    <a:pt x="1420152" y="1952710"/>
                    <a:pt x="1486996" y="1956435"/>
                    <a:pt x="1515486" y="1955340"/>
                  </a:cubicBezTo>
                  <a:moveTo>
                    <a:pt x="631178" y="1263269"/>
                  </a:moveTo>
                  <a:cubicBezTo>
                    <a:pt x="588442" y="1329590"/>
                    <a:pt x="514805" y="1482613"/>
                    <a:pt x="562143" y="1564141"/>
                  </a:cubicBezTo>
                  <a:moveTo>
                    <a:pt x="1515486" y="1955340"/>
                  </a:moveTo>
                  <a:cubicBezTo>
                    <a:pt x="1485899" y="2000267"/>
                    <a:pt x="1414234" y="2099985"/>
                    <a:pt x="1364266" y="2139434"/>
                  </a:cubicBezTo>
                  <a:moveTo>
                    <a:pt x="1811351" y="1629888"/>
                  </a:moveTo>
                  <a:cubicBezTo>
                    <a:pt x="1870524" y="1634440"/>
                    <a:pt x="1880386" y="1823844"/>
                    <a:pt x="1775190" y="1886305"/>
                  </a:cubicBezTo>
                  <a:cubicBezTo>
                    <a:pt x="1691033" y="1936273"/>
                    <a:pt x="1566988" y="1953148"/>
                    <a:pt x="1515486" y="1955340"/>
                  </a:cubicBezTo>
                  <a:moveTo>
                    <a:pt x="1364266" y="2139434"/>
                  </a:moveTo>
                  <a:cubicBezTo>
                    <a:pt x="1353308" y="2140529"/>
                    <a:pt x="1329420" y="2149296"/>
                    <a:pt x="1321530" y="2175595"/>
                  </a:cubicBezTo>
                  <a:cubicBezTo>
                    <a:pt x="1311668" y="2208469"/>
                    <a:pt x="1311668" y="2277504"/>
                    <a:pt x="1337967" y="2280792"/>
                  </a:cubicBezTo>
                  <a:cubicBezTo>
                    <a:pt x="1364266" y="2284079"/>
                    <a:pt x="1439876" y="2280792"/>
                    <a:pt x="1502336" y="2303803"/>
                  </a:cubicBezTo>
                  <a:cubicBezTo>
                    <a:pt x="1564797" y="2326815"/>
                    <a:pt x="1646982" y="2300516"/>
                    <a:pt x="1646982" y="2274217"/>
                  </a:cubicBezTo>
                  <a:cubicBezTo>
                    <a:pt x="1646982" y="2247918"/>
                    <a:pt x="1623970" y="2215044"/>
                    <a:pt x="1574659" y="2208469"/>
                  </a:cubicBezTo>
                  <a:cubicBezTo>
                    <a:pt x="1535210" y="2203209"/>
                    <a:pt x="1503432" y="2184361"/>
                    <a:pt x="1492474" y="2175595"/>
                  </a:cubicBezTo>
                  <a:moveTo>
                    <a:pt x="1492474" y="2175595"/>
                  </a:moveTo>
                  <a:cubicBezTo>
                    <a:pt x="1384648" y="2249233"/>
                    <a:pt x="1362075" y="2182170"/>
                    <a:pt x="1364266" y="2139434"/>
                  </a:cubicBezTo>
                  <a:moveTo>
                    <a:pt x="1492474" y="2175595"/>
                  </a:moveTo>
                  <a:cubicBezTo>
                    <a:pt x="1557126" y="2110943"/>
                    <a:pt x="1700237" y="1971119"/>
                    <a:pt x="1755465" y="1929041"/>
                  </a:cubicBezTo>
                  <a:cubicBezTo>
                    <a:pt x="1824501" y="1876443"/>
                    <a:pt x="1890248" y="1790971"/>
                    <a:pt x="1886961" y="1728510"/>
                  </a:cubicBezTo>
                  <a:cubicBezTo>
                    <a:pt x="1883674" y="1666050"/>
                    <a:pt x="1854087" y="1633176"/>
                    <a:pt x="1811351" y="1629888"/>
                  </a:cubicBezTo>
                  <a:moveTo>
                    <a:pt x="1811351" y="1629888"/>
                  </a:moveTo>
                  <a:cubicBezTo>
                    <a:pt x="1777162" y="1627259"/>
                    <a:pt x="1674377" y="1628792"/>
                    <a:pt x="1627257" y="1629888"/>
                  </a:cubicBezTo>
                  <a:moveTo>
                    <a:pt x="1627257" y="1629888"/>
                  </a:moveTo>
                  <a:cubicBezTo>
                    <a:pt x="1628353" y="1579482"/>
                    <a:pt x="1643694" y="1448425"/>
                    <a:pt x="1696292" y="1327449"/>
                  </a:cubicBezTo>
                  <a:cubicBezTo>
                    <a:pt x="1748891" y="1206473"/>
                    <a:pt x="1744507" y="1119247"/>
                    <a:pt x="1735741" y="1090757"/>
                  </a:cubicBezTo>
                  <a:moveTo>
                    <a:pt x="1735741" y="1090757"/>
                  </a:moveTo>
                  <a:cubicBezTo>
                    <a:pt x="1748891" y="1085277"/>
                    <a:pt x="1772560" y="1053280"/>
                    <a:pt x="1762040" y="969123"/>
                  </a:cubicBezTo>
                  <a:cubicBezTo>
                    <a:pt x="1748891" y="863927"/>
                    <a:pt x="1739028" y="811329"/>
                    <a:pt x="1729166" y="755443"/>
                  </a:cubicBezTo>
                  <a:cubicBezTo>
                    <a:pt x="1721277" y="710734"/>
                    <a:pt x="1695196" y="688599"/>
                    <a:pt x="1683143" y="683120"/>
                  </a:cubicBezTo>
                  <a:moveTo>
                    <a:pt x="1735741" y="1090757"/>
                  </a:moveTo>
                  <a:cubicBezTo>
                    <a:pt x="1689718" y="1077607"/>
                    <a:pt x="1637119" y="1172941"/>
                    <a:pt x="1614108" y="1176229"/>
                  </a:cubicBezTo>
                  <a:cubicBezTo>
                    <a:pt x="1591096" y="1179516"/>
                    <a:pt x="1607533" y="1126918"/>
                    <a:pt x="1574659" y="1028296"/>
                  </a:cubicBezTo>
                  <a:cubicBezTo>
                    <a:pt x="1548360" y="949399"/>
                    <a:pt x="1574659" y="888034"/>
                    <a:pt x="1591096" y="867214"/>
                  </a:cubicBezTo>
                  <a:moveTo>
                    <a:pt x="1683143" y="683120"/>
                  </a:moveTo>
                  <a:cubicBezTo>
                    <a:pt x="1683143" y="677641"/>
                    <a:pt x="1681170" y="664053"/>
                    <a:pt x="1673281" y="653534"/>
                  </a:cubicBezTo>
                  <a:moveTo>
                    <a:pt x="1683143" y="683120"/>
                  </a:moveTo>
                  <a:cubicBezTo>
                    <a:pt x="1635804" y="675231"/>
                    <a:pt x="1628353" y="710515"/>
                    <a:pt x="1630545" y="729144"/>
                  </a:cubicBezTo>
                  <a:moveTo>
                    <a:pt x="1673281" y="653534"/>
                  </a:moveTo>
                  <a:cubicBezTo>
                    <a:pt x="1627257" y="633809"/>
                    <a:pt x="1591096" y="683120"/>
                    <a:pt x="1591096" y="699557"/>
                  </a:cubicBezTo>
                  <a:cubicBezTo>
                    <a:pt x="1591096" y="712707"/>
                    <a:pt x="1617395" y="724760"/>
                    <a:pt x="1630545" y="729144"/>
                  </a:cubicBezTo>
                  <a:moveTo>
                    <a:pt x="1284108" y="1041446"/>
                  </a:moveTo>
                  <a:cubicBezTo>
                    <a:pt x="1285625" y="1080894"/>
                    <a:pt x="1318900" y="1148615"/>
                    <a:pt x="1439876" y="1103906"/>
                  </a:cubicBezTo>
                  <a:cubicBezTo>
                    <a:pt x="1534553" y="1061828"/>
                    <a:pt x="1547264" y="996518"/>
                    <a:pt x="1541785" y="969123"/>
                  </a:cubicBezTo>
                  <a:cubicBezTo>
                    <a:pt x="1545219" y="930492"/>
                    <a:pt x="1533588" y="861597"/>
                    <a:pt x="1472750" y="833566"/>
                  </a:cubicBezTo>
                  <a:moveTo>
                    <a:pt x="1472750" y="833566"/>
                  </a:moveTo>
                  <a:cubicBezTo>
                    <a:pt x="1489569" y="841315"/>
                    <a:pt x="1535210" y="860639"/>
                    <a:pt x="1551647" y="863927"/>
                  </a:cubicBezTo>
                  <a:cubicBezTo>
                    <a:pt x="1568084" y="867214"/>
                    <a:pt x="1591096" y="867214"/>
                    <a:pt x="1591096" y="867214"/>
                  </a:cubicBezTo>
                  <a:moveTo>
                    <a:pt x="1591096" y="867214"/>
                  </a:moveTo>
                  <a:cubicBezTo>
                    <a:pt x="1603418" y="854011"/>
                    <a:pt x="1624789" y="818753"/>
                    <a:pt x="1629998" y="768592"/>
                  </a:cubicBezTo>
                  <a:moveTo>
                    <a:pt x="1630545" y="729144"/>
                  </a:moveTo>
                  <a:cubicBezTo>
                    <a:pt x="1631580" y="743117"/>
                    <a:pt x="1631274" y="756302"/>
                    <a:pt x="1629998" y="768592"/>
                  </a:cubicBezTo>
                  <a:moveTo>
                    <a:pt x="1327368" y="492452"/>
                  </a:moveTo>
                  <a:cubicBezTo>
                    <a:pt x="1331997" y="513271"/>
                    <a:pt x="1342569" y="560172"/>
                    <a:pt x="1347829" y="581211"/>
                  </a:cubicBezTo>
                  <a:cubicBezTo>
                    <a:pt x="1347829" y="604223"/>
                    <a:pt x="1337967" y="660109"/>
                    <a:pt x="1354404" y="663396"/>
                  </a:cubicBezTo>
                  <a:cubicBezTo>
                    <a:pt x="1364266" y="666683"/>
                    <a:pt x="1367553" y="640384"/>
                    <a:pt x="1380703" y="643672"/>
                  </a:cubicBezTo>
                  <a:cubicBezTo>
                    <a:pt x="1388595" y="645645"/>
                    <a:pt x="1395304" y="649986"/>
                    <a:pt x="1399406" y="658828"/>
                  </a:cubicBezTo>
                  <a:moveTo>
                    <a:pt x="1367553" y="712707"/>
                  </a:moveTo>
                  <a:cubicBezTo>
                    <a:pt x="1380703" y="735719"/>
                    <a:pt x="1403715" y="709419"/>
                    <a:pt x="1403715" y="683120"/>
                  </a:cubicBezTo>
                  <a:cubicBezTo>
                    <a:pt x="1403715" y="672605"/>
                    <a:pt x="1402138" y="664718"/>
                    <a:pt x="1399406" y="658828"/>
                  </a:cubicBezTo>
                  <a:moveTo>
                    <a:pt x="1399406" y="658828"/>
                  </a:moveTo>
                  <a:cubicBezTo>
                    <a:pt x="1418375" y="670213"/>
                    <a:pt x="1464860" y="709419"/>
                    <a:pt x="1499049" y="775167"/>
                  </a:cubicBezTo>
                  <a:cubicBezTo>
                    <a:pt x="1522061" y="814616"/>
                    <a:pt x="1556593" y="827765"/>
                    <a:pt x="1591096" y="811329"/>
                  </a:cubicBezTo>
                  <a:cubicBezTo>
                    <a:pt x="1606875" y="800809"/>
                    <a:pt x="1623605" y="778455"/>
                    <a:pt x="1629998" y="768592"/>
                  </a:cubicBezTo>
                </a:path>
              </a:pathLst>
            </a:custGeom>
            <a:solidFill>
              <a:schemeClr val="bg1"/>
            </a:solidFill>
            <a:ln w="9861">
              <a:solidFill>
                <a:srgbClr val="974347"/>
              </a:solidFill>
            </a:ln>
          </p:spPr>
          <p:txBody>
            <a:bodyPr rtlCol="0" anchor="ctr"/>
            <a:lstStyle/>
            <a:p>
              <a:pPr algn="ctr"/>
              <a:endParaRPr/>
            </a:p>
          </p:txBody>
        </p:sp>
      </p:grpSp>
      <p:sp>
        <p:nvSpPr>
          <p:cNvPr id="10" name="Rounded Rectangle 9">
            <a:extLst>
              <a:ext uri="{FF2B5EF4-FFF2-40B4-BE49-F238E27FC236}">
                <a16:creationId xmlns:a16="http://schemas.microsoft.com/office/drawing/2014/main" id="{A207314B-43E5-0648-64A4-9307A6BBF845}"/>
              </a:ext>
            </a:extLst>
          </p:cNvPr>
          <p:cNvSpPr/>
          <p:nvPr/>
        </p:nvSpPr>
        <p:spPr>
          <a:xfrm>
            <a:off x="5358045" y="2023262"/>
            <a:ext cx="450904" cy="349962"/>
          </a:xfrm>
          <a:custGeom>
            <a:avLst/>
            <a:gdLst/>
            <a:ahLst/>
            <a:cxnLst/>
            <a:rect l="0" t="0" r="0" b="0"/>
            <a:pathLst>
              <a:path w="352598" h="349962">
                <a:moveTo>
                  <a:pt x="247698" y="20565"/>
                </a:moveTo>
                <a:cubicBezTo>
                  <a:pt x="169951" y="0"/>
                  <a:pt x="130029" y="68055"/>
                  <a:pt x="65017" y="137741"/>
                </a:cubicBezTo>
                <a:cubicBezTo>
                  <a:pt x="0" y="207434"/>
                  <a:pt x="86129" y="308830"/>
                  <a:pt x="163876" y="329396"/>
                </a:cubicBezTo>
                <a:cubicBezTo>
                  <a:pt x="241623" y="349962"/>
                  <a:pt x="352598" y="261702"/>
                  <a:pt x="268375" y="191536"/>
                </a:cubicBezTo>
                <a:cubicBezTo>
                  <a:pt x="184152" y="121376"/>
                  <a:pt x="325444" y="41131"/>
                  <a:pt x="247698" y="20565"/>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11" name="Rounded Rectangle 10">
            <a:extLst>
              <a:ext uri="{FF2B5EF4-FFF2-40B4-BE49-F238E27FC236}">
                <a16:creationId xmlns:a16="http://schemas.microsoft.com/office/drawing/2014/main" id="{68916B49-6A17-C68F-0A3F-AD68BC726F40}"/>
              </a:ext>
            </a:extLst>
          </p:cNvPr>
          <p:cNvSpPr/>
          <p:nvPr/>
        </p:nvSpPr>
        <p:spPr>
          <a:xfrm>
            <a:off x="5358043" y="2023263"/>
            <a:ext cx="450902" cy="349961"/>
          </a:xfrm>
          <a:custGeom>
            <a:avLst/>
            <a:gdLst/>
            <a:ahLst/>
            <a:cxnLst/>
            <a:rect l="0" t="0" r="0" b="0"/>
            <a:pathLst>
              <a:path w="352597" h="349961">
                <a:moveTo>
                  <a:pt x="247698" y="20565"/>
                </a:moveTo>
                <a:cubicBezTo>
                  <a:pt x="169952" y="0"/>
                  <a:pt x="130033" y="68053"/>
                  <a:pt x="65016" y="137742"/>
                </a:cubicBezTo>
                <a:cubicBezTo>
                  <a:pt x="0" y="207432"/>
                  <a:pt x="86131" y="308829"/>
                  <a:pt x="163877" y="329395"/>
                </a:cubicBezTo>
                <a:cubicBezTo>
                  <a:pt x="241623" y="349961"/>
                  <a:pt x="352597" y="261698"/>
                  <a:pt x="268374" y="191536"/>
                </a:cubicBezTo>
                <a:cubicBezTo>
                  <a:pt x="184151" y="121373"/>
                  <a:pt x="325444" y="41131"/>
                  <a:pt x="247698" y="20565"/>
                </a:cubicBezTo>
                <a:close/>
              </a:path>
            </a:pathLst>
          </a:custGeom>
          <a:noFill/>
          <a:ln w="9861">
            <a:solidFill>
              <a:srgbClr val="484848"/>
            </a:solidFill>
          </a:ln>
        </p:spPr>
        <p:txBody>
          <a:bodyPr rtlCol="0" anchor="ctr"/>
          <a:lstStyle/>
          <a:p>
            <a:pPr algn="ctr"/>
            <a:endParaRPr/>
          </a:p>
        </p:txBody>
      </p:sp>
      <p:sp>
        <p:nvSpPr>
          <p:cNvPr id="12" name="Rounded Rectangle 11">
            <a:extLst>
              <a:ext uri="{FF2B5EF4-FFF2-40B4-BE49-F238E27FC236}">
                <a16:creationId xmlns:a16="http://schemas.microsoft.com/office/drawing/2014/main" id="{6F2DB9BC-34C1-FC6B-58C7-147992125321}"/>
              </a:ext>
            </a:extLst>
          </p:cNvPr>
          <p:cNvSpPr/>
          <p:nvPr/>
        </p:nvSpPr>
        <p:spPr>
          <a:xfrm>
            <a:off x="6638561" y="2614709"/>
            <a:ext cx="473084" cy="223542"/>
          </a:xfrm>
          <a:custGeom>
            <a:avLst/>
            <a:gdLst/>
            <a:ahLst/>
            <a:cxnLst/>
            <a:rect l="0" t="0" r="0" b="0"/>
            <a:pathLst>
              <a:path w="369943" h="223542">
                <a:moveTo>
                  <a:pt x="103224" y="36167"/>
                </a:moveTo>
                <a:cubicBezTo>
                  <a:pt x="67062" y="19730"/>
                  <a:pt x="0" y="38133"/>
                  <a:pt x="7889" y="85472"/>
                </a:cubicBezTo>
                <a:cubicBezTo>
                  <a:pt x="13373" y="118346"/>
                  <a:pt x="30901" y="144645"/>
                  <a:pt x="86787" y="167656"/>
                </a:cubicBezTo>
                <a:cubicBezTo>
                  <a:pt x="142672" y="190668"/>
                  <a:pt x="175362" y="223542"/>
                  <a:pt x="205133" y="223542"/>
                </a:cubicBezTo>
                <a:cubicBezTo>
                  <a:pt x="251156" y="223542"/>
                  <a:pt x="338239" y="203818"/>
                  <a:pt x="353065" y="108483"/>
                </a:cubicBezTo>
                <a:cubicBezTo>
                  <a:pt x="369943" y="0"/>
                  <a:pt x="247869" y="65747"/>
                  <a:pt x="178833" y="62460"/>
                </a:cubicBezTo>
                <a:cubicBezTo>
                  <a:pt x="159109" y="61520"/>
                  <a:pt x="113086" y="39455"/>
                  <a:pt x="103224" y="36167"/>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13" name="Rounded Rectangle 12">
            <a:extLst>
              <a:ext uri="{FF2B5EF4-FFF2-40B4-BE49-F238E27FC236}">
                <a16:creationId xmlns:a16="http://schemas.microsoft.com/office/drawing/2014/main" id="{8B7BDB5F-2683-F2AE-5B2C-F878ADB76956}"/>
              </a:ext>
            </a:extLst>
          </p:cNvPr>
          <p:cNvSpPr/>
          <p:nvPr/>
        </p:nvSpPr>
        <p:spPr>
          <a:xfrm>
            <a:off x="6638562" y="2614709"/>
            <a:ext cx="473082" cy="223544"/>
          </a:xfrm>
          <a:custGeom>
            <a:avLst/>
            <a:gdLst/>
            <a:ahLst/>
            <a:cxnLst/>
            <a:rect l="0" t="0" r="0" b="0"/>
            <a:pathLst>
              <a:path w="369941" h="223544">
                <a:moveTo>
                  <a:pt x="103224" y="36165"/>
                </a:moveTo>
                <a:cubicBezTo>
                  <a:pt x="67062" y="19729"/>
                  <a:pt x="0" y="38136"/>
                  <a:pt x="7889" y="85474"/>
                </a:cubicBezTo>
                <a:cubicBezTo>
                  <a:pt x="13369" y="118348"/>
                  <a:pt x="30901" y="144647"/>
                  <a:pt x="86787" y="167658"/>
                </a:cubicBezTo>
                <a:cubicBezTo>
                  <a:pt x="142672" y="190670"/>
                  <a:pt x="175364" y="223544"/>
                  <a:pt x="205133" y="223544"/>
                </a:cubicBezTo>
                <a:cubicBezTo>
                  <a:pt x="251156" y="223544"/>
                  <a:pt x="338236" y="203818"/>
                  <a:pt x="353065" y="108485"/>
                </a:cubicBezTo>
                <a:cubicBezTo>
                  <a:pt x="369941" y="0"/>
                  <a:pt x="247869" y="65749"/>
                  <a:pt x="178833" y="62462"/>
                </a:cubicBezTo>
                <a:cubicBezTo>
                  <a:pt x="159109" y="61522"/>
                  <a:pt x="113086" y="39451"/>
                  <a:pt x="103224" y="36165"/>
                </a:cubicBezTo>
                <a:close/>
              </a:path>
            </a:pathLst>
          </a:custGeom>
          <a:noFill/>
          <a:ln w="9861">
            <a:solidFill>
              <a:srgbClr val="484848"/>
            </a:solidFill>
          </a:ln>
        </p:spPr>
        <p:txBody>
          <a:bodyPr rtlCol="0" anchor="ctr"/>
          <a:lstStyle/>
          <a:p>
            <a:pPr algn="ctr"/>
            <a:endParaRPr/>
          </a:p>
        </p:txBody>
      </p:sp>
      <p:sp>
        <p:nvSpPr>
          <p:cNvPr id="14" name="Rounded Rectangle 13">
            <a:extLst>
              <a:ext uri="{FF2B5EF4-FFF2-40B4-BE49-F238E27FC236}">
                <a16:creationId xmlns:a16="http://schemas.microsoft.com/office/drawing/2014/main" id="{A68C2AF7-F861-F8F6-F35A-92E1502B7FAA}"/>
              </a:ext>
            </a:extLst>
          </p:cNvPr>
          <p:cNvSpPr/>
          <p:nvPr/>
        </p:nvSpPr>
        <p:spPr>
          <a:xfrm>
            <a:off x="5184868" y="3111789"/>
            <a:ext cx="415574" cy="328331"/>
          </a:xfrm>
          <a:custGeom>
            <a:avLst/>
            <a:gdLst/>
            <a:ahLst/>
            <a:cxnLst/>
            <a:rect l="0" t="0" r="0" b="0"/>
            <a:pathLst>
              <a:path w="324971" h="328331">
                <a:moveTo>
                  <a:pt x="0" y="133283"/>
                </a:moveTo>
                <a:cubicBezTo>
                  <a:pt x="0" y="224850"/>
                  <a:pt x="97569" y="146288"/>
                  <a:pt x="146301" y="237310"/>
                </a:cubicBezTo>
                <a:cubicBezTo>
                  <a:pt x="195034" y="328331"/>
                  <a:pt x="324971" y="240558"/>
                  <a:pt x="256751" y="165789"/>
                </a:cubicBezTo>
                <a:cubicBezTo>
                  <a:pt x="188525" y="91021"/>
                  <a:pt x="248572" y="0"/>
                  <a:pt x="146301" y="0"/>
                </a:cubicBezTo>
                <a:cubicBezTo>
                  <a:pt x="44031" y="0"/>
                  <a:pt x="0" y="41716"/>
                  <a:pt x="0" y="133283"/>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15" name="Rounded Rectangle 14">
            <a:extLst>
              <a:ext uri="{FF2B5EF4-FFF2-40B4-BE49-F238E27FC236}">
                <a16:creationId xmlns:a16="http://schemas.microsoft.com/office/drawing/2014/main" id="{22995616-68E6-5F3F-545E-2AE79B60421A}"/>
              </a:ext>
            </a:extLst>
          </p:cNvPr>
          <p:cNvSpPr/>
          <p:nvPr/>
        </p:nvSpPr>
        <p:spPr>
          <a:xfrm>
            <a:off x="5184868" y="3111789"/>
            <a:ext cx="415578" cy="328332"/>
          </a:xfrm>
          <a:custGeom>
            <a:avLst/>
            <a:gdLst/>
            <a:ahLst/>
            <a:cxnLst/>
            <a:rect l="0" t="0" r="0" b="0"/>
            <a:pathLst>
              <a:path w="324974" h="328332">
                <a:moveTo>
                  <a:pt x="0" y="133283"/>
                </a:moveTo>
                <a:cubicBezTo>
                  <a:pt x="0" y="224848"/>
                  <a:pt x="97573" y="146286"/>
                  <a:pt x="146303" y="237310"/>
                </a:cubicBezTo>
                <a:cubicBezTo>
                  <a:pt x="195034" y="328332"/>
                  <a:pt x="324974" y="240560"/>
                  <a:pt x="256751" y="165791"/>
                </a:cubicBezTo>
                <a:cubicBezTo>
                  <a:pt x="188528" y="91023"/>
                  <a:pt x="248573" y="0"/>
                  <a:pt x="146303" y="0"/>
                </a:cubicBezTo>
                <a:cubicBezTo>
                  <a:pt x="44032" y="0"/>
                  <a:pt x="0" y="41719"/>
                  <a:pt x="0" y="133283"/>
                </a:cubicBezTo>
                <a:close/>
              </a:path>
            </a:pathLst>
          </a:custGeom>
          <a:noFill/>
          <a:ln w="9861">
            <a:solidFill>
              <a:srgbClr val="484848"/>
            </a:solidFill>
          </a:ln>
        </p:spPr>
        <p:txBody>
          <a:bodyPr rtlCol="0" anchor="ctr"/>
          <a:lstStyle/>
          <a:p>
            <a:pPr algn="ctr"/>
            <a:endParaRPr/>
          </a:p>
        </p:txBody>
      </p:sp>
      <p:sp>
        <p:nvSpPr>
          <p:cNvPr id="16" name="Rounded Rectangle 15">
            <a:extLst>
              <a:ext uri="{FF2B5EF4-FFF2-40B4-BE49-F238E27FC236}">
                <a16:creationId xmlns:a16="http://schemas.microsoft.com/office/drawing/2014/main" id="{E32734E8-857E-8206-BC73-18C15D3748EA}"/>
              </a:ext>
            </a:extLst>
          </p:cNvPr>
          <p:cNvSpPr/>
          <p:nvPr/>
        </p:nvSpPr>
        <p:spPr>
          <a:xfrm>
            <a:off x="6424883" y="3663670"/>
            <a:ext cx="349069" cy="279053"/>
          </a:xfrm>
          <a:custGeom>
            <a:avLst/>
            <a:gdLst/>
            <a:ahLst/>
            <a:cxnLst/>
            <a:rect l="0" t="0" r="0" b="0"/>
            <a:pathLst>
              <a:path w="272965" h="279053">
                <a:moveTo>
                  <a:pt x="212503" y="265647"/>
                </a:moveTo>
                <a:cubicBezTo>
                  <a:pt x="233312" y="266587"/>
                  <a:pt x="254884" y="263635"/>
                  <a:pt x="271794" y="271952"/>
                </a:cubicBezTo>
                <a:cubicBezTo>
                  <a:pt x="253661" y="279053"/>
                  <a:pt x="232523" y="278573"/>
                  <a:pt x="212503" y="265647"/>
                </a:cubicBezTo>
                <a:moveTo>
                  <a:pt x="133303" y="17896"/>
                </a:moveTo>
                <a:cubicBezTo>
                  <a:pt x="200142" y="0"/>
                  <a:pt x="207263" y="40283"/>
                  <a:pt x="229768" y="85702"/>
                </a:cubicBezTo>
                <a:cubicBezTo>
                  <a:pt x="219683" y="86077"/>
                  <a:pt x="208887" y="87181"/>
                  <a:pt x="197355" y="89160"/>
                </a:cubicBezTo>
                <a:cubicBezTo>
                  <a:pt x="184205" y="97050"/>
                  <a:pt x="231327" y="142856"/>
                  <a:pt x="256528" y="164770"/>
                </a:cubicBezTo>
                <a:cubicBezTo>
                  <a:pt x="264200" y="172443"/>
                  <a:pt x="272965" y="192384"/>
                  <a:pt x="246665" y="210793"/>
                </a:cubicBezTo>
                <a:cubicBezTo>
                  <a:pt x="220366" y="229203"/>
                  <a:pt x="187492" y="214081"/>
                  <a:pt x="177630" y="220656"/>
                </a:cubicBezTo>
                <a:cubicBezTo>
                  <a:pt x="173810" y="222562"/>
                  <a:pt x="169464" y="225613"/>
                  <a:pt x="166525" y="229446"/>
                </a:cubicBezTo>
                <a:cubicBezTo>
                  <a:pt x="104289" y="199386"/>
                  <a:pt x="45089" y="265818"/>
                  <a:pt x="24188" y="187867"/>
                </a:cubicBezTo>
                <a:cubicBezTo>
                  <a:pt x="0" y="97648"/>
                  <a:pt x="32413" y="44912"/>
                  <a:pt x="133303" y="17896"/>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17" name="Rounded Rectangle 16">
            <a:extLst>
              <a:ext uri="{FF2B5EF4-FFF2-40B4-BE49-F238E27FC236}">
                <a16:creationId xmlns:a16="http://schemas.microsoft.com/office/drawing/2014/main" id="{C5FB4901-271A-75D4-8AA8-F799C571733C}"/>
              </a:ext>
            </a:extLst>
          </p:cNvPr>
          <p:cNvSpPr/>
          <p:nvPr/>
        </p:nvSpPr>
        <p:spPr>
          <a:xfrm>
            <a:off x="6424885" y="3663667"/>
            <a:ext cx="349064" cy="279055"/>
          </a:xfrm>
          <a:custGeom>
            <a:avLst/>
            <a:gdLst/>
            <a:ahLst/>
            <a:cxnLst/>
            <a:rect l="0" t="0" r="0" b="0"/>
            <a:pathLst>
              <a:path w="272961" h="279055">
                <a:moveTo>
                  <a:pt x="212499" y="265648"/>
                </a:moveTo>
                <a:cubicBezTo>
                  <a:pt x="233313" y="266591"/>
                  <a:pt x="254886" y="263636"/>
                  <a:pt x="271794" y="271953"/>
                </a:cubicBezTo>
                <a:cubicBezTo>
                  <a:pt x="253663" y="279055"/>
                  <a:pt x="232520" y="278577"/>
                  <a:pt x="212499" y="265648"/>
                </a:cubicBezTo>
                <a:close/>
                <a:moveTo>
                  <a:pt x="133300" y="17899"/>
                </a:moveTo>
                <a:cubicBezTo>
                  <a:pt x="200143" y="0"/>
                  <a:pt x="207259" y="40287"/>
                  <a:pt x="229764" y="85702"/>
                </a:cubicBezTo>
                <a:cubicBezTo>
                  <a:pt x="219683" y="86076"/>
                  <a:pt x="208887" y="87185"/>
                  <a:pt x="197352" y="89163"/>
                </a:cubicBezTo>
                <a:cubicBezTo>
                  <a:pt x="184202" y="97053"/>
                  <a:pt x="231322" y="142857"/>
                  <a:pt x="256525" y="164773"/>
                </a:cubicBezTo>
                <a:cubicBezTo>
                  <a:pt x="264196" y="172443"/>
                  <a:pt x="272961" y="192387"/>
                  <a:pt x="246663" y="210796"/>
                </a:cubicBezTo>
                <a:cubicBezTo>
                  <a:pt x="220365" y="229205"/>
                  <a:pt x="187489" y="214084"/>
                  <a:pt x="177628" y="220658"/>
                </a:cubicBezTo>
                <a:cubicBezTo>
                  <a:pt x="173812" y="222566"/>
                  <a:pt x="169462" y="225616"/>
                  <a:pt x="166527" y="229448"/>
                </a:cubicBezTo>
                <a:cubicBezTo>
                  <a:pt x="104290" y="199392"/>
                  <a:pt x="45087" y="265820"/>
                  <a:pt x="24187" y="187868"/>
                </a:cubicBezTo>
                <a:cubicBezTo>
                  <a:pt x="0" y="97653"/>
                  <a:pt x="32414" y="44916"/>
                  <a:pt x="133300" y="17899"/>
                </a:cubicBezTo>
                <a:close/>
              </a:path>
            </a:pathLst>
          </a:custGeom>
          <a:noFill/>
          <a:ln w="9861">
            <a:solidFill>
              <a:srgbClr val="484848"/>
            </a:solidFill>
          </a:ln>
        </p:spPr>
        <p:txBody>
          <a:bodyPr rtlCol="0" anchor="ctr"/>
          <a:lstStyle/>
          <a:p>
            <a:pPr algn="ctr"/>
            <a:endParaRPr/>
          </a:p>
        </p:txBody>
      </p:sp>
      <p:sp>
        <p:nvSpPr>
          <p:cNvPr id="18" name="Rounded Rectangle 17">
            <a:extLst>
              <a:ext uri="{FF2B5EF4-FFF2-40B4-BE49-F238E27FC236}">
                <a16:creationId xmlns:a16="http://schemas.microsoft.com/office/drawing/2014/main" id="{95C0FE16-2705-AFF2-F75B-DEAA5A4EC9FB}"/>
              </a:ext>
            </a:extLst>
          </p:cNvPr>
          <p:cNvSpPr/>
          <p:nvPr/>
        </p:nvSpPr>
        <p:spPr>
          <a:xfrm>
            <a:off x="5117058" y="4208482"/>
            <a:ext cx="356383" cy="234239"/>
          </a:xfrm>
          <a:custGeom>
            <a:avLst/>
            <a:gdLst/>
            <a:ahLst/>
            <a:cxnLst/>
            <a:rect l="0" t="0" r="0" b="0"/>
            <a:pathLst>
              <a:path w="278685" h="234239">
                <a:moveTo>
                  <a:pt x="133375" y="191779"/>
                </a:moveTo>
                <a:cubicBezTo>
                  <a:pt x="196079" y="175283"/>
                  <a:pt x="244792" y="234239"/>
                  <a:pt x="261735" y="160069"/>
                </a:cubicBezTo>
                <a:cubicBezTo>
                  <a:pt x="278685" y="85899"/>
                  <a:pt x="163573" y="0"/>
                  <a:pt x="100863" y="16502"/>
                </a:cubicBezTo>
                <a:cubicBezTo>
                  <a:pt x="38160" y="33005"/>
                  <a:pt x="31650" y="76832"/>
                  <a:pt x="15825" y="134105"/>
                </a:cubicBezTo>
                <a:cubicBezTo>
                  <a:pt x="0" y="191385"/>
                  <a:pt x="70665" y="208282"/>
                  <a:pt x="133375" y="191779"/>
                </a:cubicBezTo>
              </a:path>
            </a:pathLst>
          </a:custGeom>
          <a:gradFill rotWithShape="1">
            <a:gsLst>
              <a:gs pos="0">
                <a:srgbClr val="BA131A"/>
              </a:gs>
              <a:gs pos="100000">
                <a:srgbClr val="E2575D"/>
              </a:gs>
            </a:gsLst>
            <a:lin ang="2700000" scaled="1"/>
          </a:gradFill>
          <a:ln>
            <a:noFill/>
          </a:ln>
        </p:spPr>
        <p:txBody>
          <a:bodyPr rtlCol="0" anchor="ctr"/>
          <a:lstStyle/>
          <a:p>
            <a:pPr algn="ctr"/>
            <a:endParaRPr/>
          </a:p>
        </p:txBody>
      </p:sp>
      <p:sp>
        <p:nvSpPr>
          <p:cNvPr id="19" name="Rounded Rectangle 18">
            <a:extLst>
              <a:ext uri="{FF2B5EF4-FFF2-40B4-BE49-F238E27FC236}">
                <a16:creationId xmlns:a16="http://schemas.microsoft.com/office/drawing/2014/main" id="{31543190-C2D9-D5D7-1E78-5A58E849454B}"/>
              </a:ext>
            </a:extLst>
          </p:cNvPr>
          <p:cNvSpPr/>
          <p:nvPr/>
        </p:nvSpPr>
        <p:spPr>
          <a:xfrm>
            <a:off x="5117062" y="4208485"/>
            <a:ext cx="356376" cy="234237"/>
          </a:xfrm>
          <a:custGeom>
            <a:avLst/>
            <a:gdLst/>
            <a:ahLst/>
            <a:cxnLst/>
            <a:rect l="0" t="0" r="0" b="0"/>
            <a:pathLst>
              <a:path w="278679" h="234237">
                <a:moveTo>
                  <a:pt x="133370" y="191779"/>
                </a:moveTo>
                <a:cubicBezTo>
                  <a:pt x="196078" y="175278"/>
                  <a:pt x="244786" y="234237"/>
                  <a:pt x="261733" y="160067"/>
                </a:cubicBezTo>
                <a:cubicBezTo>
                  <a:pt x="278679" y="85897"/>
                  <a:pt x="163571" y="0"/>
                  <a:pt x="100864" y="16500"/>
                </a:cubicBezTo>
                <a:cubicBezTo>
                  <a:pt x="38156" y="33000"/>
                  <a:pt x="31649" y="76826"/>
                  <a:pt x="15824" y="134103"/>
                </a:cubicBezTo>
                <a:cubicBezTo>
                  <a:pt x="0" y="191381"/>
                  <a:pt x="70663" y="208279"/>
                  <a:pt x="133370" y="191779"/>
                </a:cubicBezTo>
                <a:close/>
              </a:path>
            </a:pathLst>
          </a:custGeom>
          <a:noFill/>
          <a:ln w="9861">
            <a:solidFill>
              <a:srgbClr val="484848"/>
            </a:solidFill>
          </a:ln>
        </p:spPr>
        <p:txBody>
          <a:bodyPr rtlCol="0" anchor="ctr"/>
          <a:lstStyle/>
          <a:p>
            <a:pPr algn="ctr"/>
            <a:endParaRPr/>
          </a:p>
        </p:txBody>
      </p:sp>
      <p:sp>
        <p:nvSpPr>
          <p:cNvPr id="21" name="TextBox 20">
            <a:extLst>
              <a:ext uri="{FF2B5EF4-FFF2-40B4-BE49-F238E27FC236}">
                <a16:creationId xmlns:a16="http://schemas.microsoft.com/office/drawing/2014/main" id="{928DF326-6ECD-C0B9-81E0-AE77B7EF1FF1}"/>
              </a:ext>
            </a:extLst>
          </p:cNvPr>
          <p:cNvSpPr txBox="1"/>
          <p:nvPr/>
        </p:nvSpPr>
        <p:spPr>
          <a:xfrm>
            <a:off x="1917713" y="1906943"/>
            <a:ext cx="2291818" cy="307777"/>
          </a:xfrm>
          <a:prstGeom prst="rect">
            <a:avLst/>
          </a:prstGeom>
          <a:noFill/>
          <a:ln>
            <a:noFill/>
          </a:ln>
        </p:spPr>
        <p:txBody>
          <a:bodyPr wrap="square" lIns="0" tIns="0" rIns="0" bIns="0" anchor="t">
            <a:spAutoFit/>
          </a:bodyPr>
          <a:lstStyle/>
          <a:p>
            <a:pPr algn="r"/>
            <a:r>
              <a:rPr sz="2000" b="0" dirty="0" err="1">
                <a:solidFill>
                  <a:srgbClr val="BA131A"/>
                </a:solidFill>
              </a:rPr>
              <a:t>Facteur</a:t>
            </a:r>
            <a:r>
              <a:rPr sz="2000" b="0" dirty="0">
                <a:solidFill>
                  <a:srgbClr val="BA131A"/>
                </a:solidFill>
              </a:rPr>
              <a:t> </a:t>
            </a:r>
            <a:r>
              <a:rPr sz="2000" b="0" dirty="0" err="1">
                <a:solidFill>
                  <a:srgbClr val="BA131A"/>
                </a:solidFill>
              </a:rPr>
              <a:t>humain</a:t>
            </a:r>
            <a:endParaRPr sz="2000" b="0" dirty="0">
              <a:solidFill>
                <a:srgbClr val="BA131A"/>
              </a:solidFill>
            </a:endParaRPr>
          </a:p>
        </p:txBody>
      </p:sp>
      <p:sp>
        <p:nvSpPr>
          <p:cNvPr id="22" name="TextBox 21">
            <a:extLst>
              <a:ext uri="{FF2B5EF4-FFF2-40B4-BE49-F238E27FC236}">
                <a16:creationId xmlns:a16="http://schemas.microsoft.com/office/drawing/2014/main" id="{08F01B0D-B302-FCBC-3303-E925B631AA34}"/>
              </a:ext>
            </a:extLst>
          </p:cNvPr>
          <p:cNvSpPr txBox="1"/>
          <p:nvPr/>
        </p:nvSpPr>
        <p:spPr>
          <a:xfrm>
            <a:off x="7976274" y="2576463"/>
            <a:ext cx="1855183" cy="307777"/>
          </a:xfrm>
          <a:prstGeom prst="rect">
            <a:avLst/>
          </a:prstGeom>
          <a:noFill/>
          <a:ln>
            <a:noFill/>
          </a:ln>
        </p:spPr>
        <p:txBody>
          <a:bodyPr wrap="square" lIns="0" tIns="0" rIns="0" bIns="0" anchor="t">
            <a:spAutoFit/>
          </a:bodyPr>
          <a:lstStyle/>
          <a:p>
            <a:pPr algn="l"/>
            <a:r>
              <a:rPr sz="2000" b="0">
                <a:solidFill>
                  <a:srgbClr val="223843"/>
                </a:solidFill>
              </a:rPr>
              <a:t>Maintenance</a:t>
            </a:r>
          </a:p>
        </p:txBody>
      </p:sp>
      <p:sp>
        <p:nvSpPr>
          <p:cNvPr id="23" name="TextBox 22">
            <a:extLst>
              <a:ext uri="{FF2B5EF4-FFF2-40B4-BE49-F238E27FC236}">
                <a16:creationId xmlns:a16="http://schemas.microsoft.com/office/drawing/2014/main" id="{6E979C6D-22E0-1168-AC00-ECA400F0FF7B}"/>
              </a:ext>
            </a:extLst>
          </p:cNvPr>
          <p:cNvSpPr txBox="1"/>
          <p:nvPr/>
        </p:nvSpPr>
        <p:spPr>
          <a:xfrm>
            <a:off x="609600" y="2180104"/>
            <a:ext cx="3599974" cy="553998"/>
          </a:xfrm>
          <a:prstGeom prst="rect">
            <a:avLst/>
          </a:prstGeom>
          <a:noFill/>
          <a:ln>
            <a:noFill/>
          </a:ln>
        </p:spPr>
        <p:txBody>
          <a:bodyPr wrap="square" lIns="0" tIns="0" rIns="0" bIns="0" anchor="t">
            <a:spAutoFit/>
          </a:bodyPr>
          <a:lstStyle/>
          <a:p>
            <a:pPr algn="r"/>
            <a:r>
              <a:rPr b="0" dirty="0" err="1">
                <a:solidFill>
                  <a:srgbClr val="484848"/>
                </a:solidFill>
              </a:rPr>
              <a:t>Résistance</a:t>
            </a:r>
            <a:r>
              <a:rPr b="0" dirty="0">
                <a:solidFill>
                  <a:srgbClr val="484848"/>
                </a:solidFill>
              </a:rPr>
              <a:t> au changement</a:t>
            </a:r>
            <a:r>
              <a:rPr lang="fr-FR" b="0" dirty="0">
                <a:solidFill>
                  <a:srgbClr val="484848"/>
                </a:solidFill>
              </a:rPr>
              <a:t> </a:t>
            </a:r>
            <a:r>
              <a:rPr b="0" dirty="0">
                <a:solidFill>
                  <a:srgbClr val="484848"/>
                </a:solidFill>
              </a:rPr>
              <a:t>et </a:t>
            </a:r>
            <a:r>
              <a:rPr b="0" dirty="0" err="1">
                <a:solidFill>
                  <a:srgbClr val="484848"/>
                </a:solidFill>
              </a:rPr>
              <a:t>besoin</a:t>
            </a:r>
            <a:r>
              <a:rPr b="0" dirty="0">
                <a:solidFill>
                  <a:srgbClr val="484848"/>
                </a:solidFill>
              </a:rPr>
              <a:t> de formation</a:t>
            </a:r>
          </a:p>
        </p:txBody>
      </p:sp>
      <p:sp>
        <p:nvSpPr>
          <p:cNvPr id="24" name="TextBox 23">
            <a:extLst>
              <a:ext uri="{FF2B5EF4-FFF2-40B4-BE49-F238E27FC236}">
                <a16:creationId xmlns:a16="http://schemas.microsoft.com/office/drawing/2014/main" id="{B3CF16B1-E2A7-702A-8CE8-891ECE7FA0D4}"/>
              </a:ext>
            </a:extLst>
          </p:cNvPr>
          <p:cNvSpPr txBox="1"/>
          <p:nvPr/>
        </p:nvSpPr>
        <p:spPr>
          <a:xfrm>
            <a:off x="7976275" y="2839685"/>
            <a:ext cx="3480774" cy="553998"/>
          </a:xfrm>
          <a:prstGeom prst="rect">
            <a:avLst/>
          </a:prstGeom>
          <a:noFill/>
          <a:ln>
            <a:noFill/>
          </a:ln>
        </p:spPr>
        <p:txBody>
          <a:bodyPr wrap="square" lIns="0" tIns="0" rIns="0" bIns="0" anchor="t">
            <a:spAutoFit/>
          </a:bodyPr>
          <a:lstStyle/>
          <a:p>
            <a:pPr algn="l"/>
            <a:r>
              <a:rPr b="0" dirty="0">
                <a:solidFill>
                  <a:srgbClr val="484848"/>
                </a:solidFill>
              </a:rPr>
              <a:t>Les </a:t>
            </a:r>
            <a:r>
              <a:rPr b="0" dirty="0" err="1">
                <a:solidFill>
                  <a:srgbClr val="484848"/>
                </a:solidFill>
              </a:rPr>
              <a:t>modèles</a:t>
            </a:r>
            <a:r>
              <a:rPr b="0" dirty="0">
                <a:solidFill>
                  <a:srgbClr val="484848"/>
                </a:solidFill>
              </a:rPr>
              <a:t> </a:t>
            </a:r>
            <a:r>
              <a:rPr b="0" dirty="0" err="1">
                <a:solidFill>
                  <a:srgbClr val="484848"/>
                </a:solidFill>
              </a:rPr>
              <a:t>changent</a:t>
            </a:r>
            <a:r>
              <a:rPr b="0" dirty="0">
                <a:solidFill>
                  <a:srgbClr val="484848"/>
                </a:solidFill>
              </a:rPr>
              <a:t>, les</a:t>
            </a:r>
            <a:r>
              <a:rPr lang="fr-FR" b="0" dirty="0">
                <a:solidFill>
                  <a:srgbClr val="484848"/>
                </a:solidFill>
              </a:rPr>
              <a:t> </a:t>
            </a:r>
            <a:r>
              <a:rPr b="0" dirty="0" err="1">
                <a:solidFill>
                  <a:srgbClr val="484848"/>
                </a:solidFill>
              </a:rPr>
              <a:t>connecteurs</a:t>
            </a:r>
            <a:r>
              <a:rPr b="0" dirty="0">
                <a:solidFill>
                  <a:srgbClr val="484848"/>
                </a:solidFill>
              </a:rPr>
              <a:t> se </a:t>
            </a:r>
            <a:r>
              <a:rPr b="0" dirty="0" err="1">
                <a:solidFill>
                  <a:srgbClr val="484848"/>
                </a:solidFill>
              </a:rPr>
              <a:t>cassent</a:t>
            </a:r>
            <a:endParaRPr b="0" dirty="0">
              <a:solidFill>
                <a:srgbClr val="484848"/>
              </a:solidFill>
            </a:endParaRPr>
          </a:p>
        </p:txBody>
      </p:sp>
      <p:sp>
        <p:nvSpPr>
          <p:cNvPr id="25" name="TextBox 24">
            <a:extLst>
              <a:ext uri="{FF2B5EF4-FFF2-40B4-BE49-F238E27FC236}">
                <a16:creationId xmlns:a16="http://schemas.microsoft.com/office/drawing/2014/main" id="{E920CD40-33B5-7993-CE64-CCDCCF55DF0B}"/>
              </a:ext>
            </a:extLst>
          </p:cNvPr>
          <p:cNvSpPr txBox="1"/>
          <p:nvPr/>
        </p:nvSpPr>
        <p:spPr>
          <a:xfrm>
            <a:off x="1704521" y="3031146"/>
            <a:ext cx="2505010" cy="307777"/>
          </a:xfrm>
          <a:prstGeom prst="rect">
            <a:avLst/>
          </a:prstGeom>
          <a:noFill/>
          <a:ln>
            <a:noFill/>
          </a:ln>
        </p:spPr>
        <p:txBody>
          <a:bodyPr wrap="square" lIns="0" tIns="0" rIns="0" bIns="0" anchor="t">
            <a:spAutoFit/>
          </a:bodyPr>
          <a:lstStyle/>
          <a:p>
            <a:pPr algn="r"/>
            <a:r>
              <a:rPr sz="2000" b="0" err="1">
                <a:solidFill>
                  <a:srgbClr val="CD5358"/>
                </a:solidFill>
              </a:rPr>
              <a:t>Sécurité</a:t>
            </a:r>
            <a:r>
              <a:rPr sz="2000" b="0">
                <a:solidFill>
                  <a:srgbClr val="CD5358"/>
                </a:solidFill>
              </a:rPr>
              <a:t> et RGPD</a:t>
            </a:r>
          </a:p>
        </p:txBody>
      </p:sp>
      <p:sp>
        <p:nvSpPr>
          <p:cNvPr id="26" name="TextBox 25">
            <a:extLst>
              <a:ext uri="{FF2B5EF4-FFF2-40B4-BE49-F238E27FC236}">
                <a16:creationId xmlns:a16="http://schemas.microsoft.com/office/drawing/2014/main" id="{42DA400C-A777-2E88-AD54-A9530F97A35D}"/>
              </a:ext>
            </a:extLst>
          </p:cNvPr>
          <p:cNvSpPr txBox="1"/>
          <p:nvPr/>
        </p:nvSpPr>
        <p:spPr>
          <a:xfrm>
            <a:off x="7976275" y="3654823"/>
            <a:ext cx="3480773" cy="307777"/>
          </a:xfrm>
          <a:prstGeom prst="rect">
            <a:avLst/>
          </a:prstGeom>
          <a:noFill/>
          <a:ln>
            <a:noFill/>
          </a:ln>
        </p:spPr>
        <p:txBody>
          <a:bodyPr wrap="square" lIns="0" tIns="0" rIns="0" bIns="0" anchor="t">
            <a:spAutoFit/>
          </a:bodyPr>
          <a:lstStyle/>
          <a:p>
            <a:pPr algn="l"/>
            <a:r>
              <a:rPr sz="2000" b="0" err="1">
                <a:solidFill>
                  <a:srgbClr val="CD5358"/>
                </a:solidFill>
              </a:rPr>
              <a:t>Ingénierie</a:t>
            </a:r>
            <a:r>
              <a:rPr sz="2000" b="0">
                <a:solidFill>
                  <a:srgbClr val="CD5358"/>
                </a:solidFill>
              </a:rPr>
              <a:t> des</a:t>
            </a:r>
            <a:r>
              <a:rPr lang="fr-FR" sz="2000" b="0">
                <a:solidFill>
                  <a:srgbClr val="CD5358"/>
                </a:solidFill>
              </a:rPr>
              <a:t> </a:t>
            </a:r>
            <a:r>
              <a:rPr sz="2000" b="0">
                <a:solidFill>
                  <a:srgbClr val="CD5358"/>
                </a:solidFill>
              </a:rPr>
              <a:t>prompts</a:t>
            </a:r>
          </a:p>
        </p:txBody>
      </p:sp>
      <p:sp>
        <p:nvSpPr>
          <p:cNvPr id="27" name="TextBox 26">
            <a:extLst>
              <a:ext uri="{FF2B5EF4-FFF2-40B4-BE49-F238E27FC236}">
                <a16:creationId xmlns:a16="http://schemas.microsoft.com/office/drawing/2014/main" id="{9C26A125-3A78-9C58-F0EA-F64B8F513D51}"/>
              </a:ext>
            </a:extLst>
          </p:cNvPr>
          <p:cNvSpPr txBox="1"/>
          <p:nvPr/>
        </p:nvSpPr>
        <p:spPr>
          <a:xfrm>
            <a:off x="695941" y="3304306"/>
            <a:ext cx="3513574" cy="276999"/>
          </a:xfrm>
          <a:prstGeom prst="rect">
            <a:avLst/>
          </a:prstGeom>
          <a:noFill/>
          <a:ln>
            <a:noFill/>
          </a:ln>
        </p:spPr>
        <p:txBody>
          <a:bodyPr wrap="square" lIns="0" tIns="0" rIns="0" bIns="0" anchor="t">
            <a:spAutoFit/>
          </a:bodyPr>
          <a:lstStyle/>
          <a:p>
            <a:pPr algn="r"/>
            <a:r>
              <a:rPr b="0" dirty="0" err="1">
                <a:solidFill>
                  <a:srgbClr val="484848"/>
                </a:solidFill>
              </a:rPr>
              <a:t>Risques</a:t>
            </a:r>
            <a:r>
              <a:rPr b="0" dirty="0">
                <a:solidFill>
                  <a:srgbClr val="484848"/>
                </a:solidFill>
              </a:rPr>
              <a:t> de </a:t>
            </a:r>
            <a:r>
              <a:rPr b="0" dirty="0" err="1">
                <a:solidFill>
                  <a:srgbClr val="484848"/>
                </a:solidFill>
              </a:rPr>
              <a:t>fuite</a:t>
            </a:r>
            <a:r>
              <a:rPr b="0" dirty="0">
                <a:solidFill>
                  <a:srgbClr val="484848"/>
                </a:solidFill>
              </a:rPr>
              <a:t> de</a:t>
            </a:r>
            <a:r>
              <a:rPr lang="fr-FR" b="0" dirty="0">
                <a:solidFill>
                  <a:srgbClr val="484848"/>
                </a:solidFill>
              </a:rPr>
              <a:t> </a:t>
            </a:r>
            <a:r>
              <a:rPr b="0" dirty="0">
                <a:solidFill>
                  <a:srgbClr val="484848"/>
                </a:solidFill>
              </a:rPr>
              <a:t>données</a:t>
            </a:r>
          </a:p>
        </p:txBody>
      </p:sp>
      <p:sp>
        <p:nvSpPr>
          <p:cNvPr id="28" name="TextBox 27">
            <a:extLst>
              <a:ext uri="{FF2B5EF4-FFF2-40B4-BE49-F238E27FC236}">
                <a16:creationId xmlns:a16="http://schemas.microsoft.com/office/drawing/2014/main" id="{DE669C42-D5DB-973E-0C9F-1C1D53D37633}"/>
              </a:ext>
            </a:extLst>
          </p:cNvPr>
          <p:cNvSpPr txBox="1"/>
          <p:nvPr/>
        </p:nvSpPr>
        <p:spPr>
          <a:xfrm>
            <a:off x="7976275" y="3932529"/>
            <a:ext cx="3519724" cy="830997"/>
          </a:xfrm>
          <a:prstGeom prst="rect">
            <a:avLst/>
          </a:prstGeom>
          <a:noFill/>
          <a:ln>
            <a:noFill/>
          </a:ln>
        </p:spPr>
        <p:txBody>
          <a:bodyPr wrap="none" lIns="0" tIns="0" rIns="0" bIns="0" anchor="t">
            <a:spAutoFit/>
          </a:bodyPr>
          <a:lstStyle/>
          <a:p>
            <a:pPr algn="l"/>
            <a:r>
              <a:rPr b="0" dirty="0" err="1">
                <a:solidFill>
                  <a:srgbClr val="484848"/>
                </a:solidFill>
              </a:rPr>
              <a:t>Contextes</a:t>
            </a:r>
            <a:r>
              <a:rPr b="0" dirty="0">
                <a:solidFill>
                  <a:srgbClr val="484848"/>
                </a:solidFill>
              </a:rPr>
              <a:t> complexes
</a:t>
            </a:r>
            <a:r>
              <a:rPr b="0" dirty="0" err="1">
                <a:solidFill>
                  <a:srgbClr val="484848"/>
                </a:solidFill>
              </a:rPr>
              <a:t>nécessaires</a:t>
            </a:r>
            <a:r>
              <a:rPr b="0" dirty="0">
                <a:solidFill>
                  <a:srgbClr val="484848"/>
                </a:solidFill>
              </a:rPr>
              <a:t> pour </a:t>
            </a:r>
            <a:r>
              <a:rPr b="0" dirty="0" err="1">
                <a:solidFill>
                  <a:srgbClr val="484848"/>
                </a:solidFill>
              </a:rPr>
              <a:t>éviter</a:t>
            </a:r>
            <a:r>
              <a:rPr b="0" dirty="0">
                <a:solidFill>
                  <a:srgbClr val="484848"/>
                </a:solidFill>
              </a:rPr>
              <a:t> les
hallucinations</a:t>
            </a:r>
          </a:p>
        </p:txBody>
      </p:sp>
      <p:sp>
        <p:nvSpPr>
          <p:cNvPr id="29" name="TextBox 28">
            <a:extLst>
              <a:ext uri="{FF2B5EF4-FFF2-40B4-BE49-F238E27FC236}">
                <a16:creationId xmlns:a16="http://schemas.microsoft.com/office/drawing/2014/main" id="{8A765508-3C92-3897-27A4-4C5EEE6F34B9}"/>
              </a:ext>
            </a:extLst>
          </p:cNvPr>
          <p:cNvSpPr txBox="1"/>
          <p:nvPr/>
        </p:nvSpPr>
        <p:spPr>
          <a:xfrm>
            <a:off x="1788619" y="4222620"/>
            <a:ext cx="2420963" cy="307777"/>
          </a:xfrm>
          <a:prstGeom prst="rect">
            <a:avLst/>
          </a:prstGeom>
          <a:noFill/>
          <a:ln>
            <a:noFill/>
          </a:ln>
        </p:spPr>
        <p:txBody>
          <a:bodyPr wrap="square" lIns="0" tIns="0" rIns="0" bIns="0" anchor="t">
            <a:spAutoFit/>
          </a:bodyPr>
          <a:lstStyle/>
          <a:p>
            <a:pPr algn="r"/>
            <a:r>
              <a:rPr sz="2000" b="0">
                <a:solidFill>
                  <a:srgbClr val="595959"/>
                </a:solidFill>
              </a:rPr>
              <a:t>Silos de données</a:t>
            </a:r>
          </a:p>
        </p:txBody>
      </p:sp>
      <p:sp>
        <p:nvSpPr>
          <p:cNvPr id="30" name="TextBox 29">
            <a:extLst>
              <a:ext uri="{FF2B5EF4-FFF2-40B4-BE49-F238E27FC236}">
                <a16:creationId xmlns:a16="http://schemas.microsoft.com/office/drawing/2014/main" id="{45589995-C159-EFBD-1BC8-C9F6B9B0C7D3}"/>
              </a:ext>
            </a:extLst>
          </p:cNvPr>
          <p:cNvSpPr txBox="1"/>
          <p:nvPr/>
        </p:nvSpPr>
        <p:spPr>
          <a:xfrm>
            <a:off x="709212" y="4495780"/>
            <a:ext cx="3500318" cy="276999"/>
          </a:xfrm>
          <a:prstGeom prst="rect">
            <a:avLst/>
          </a:prstGeom>
          <a:noFill/>
          <a:ln>
            <a:noFill/>
          </a:ln>
        </p:spPr>
        <p:txBody>
          <a:bodyPr wrap="none" lIns="0" tIns="0" rIns="0" bIns="0" anchor="t">
            <a:spAutoFit/>
          </a:bodyPr>
          <a:lstStyle/>
          <a:p>
            <a:pPr algn="r"/>
            <a:r>
              <a:rPr b="0" dirty="0">
                <a:solidFill>
                  <a:srgbClr val="484848"/>
                </a:solidFill>
              </a:rPr>
              <a:t>L'IA </a:t>
            </a:r>
            <a:r>
              <a:rPr b="0" dirty="0" err="1">
                <a:solidFill>
                  <a:srgbClr val="484848"/>
                </a:solidFill>
              </a:rPr>
              <a:t>nécessite</a:t>
            </a:r>
            <a:r>
              <a:rPr b="0" dirty="0">
                <a:solidFill>
                  <a:srgbClr val="484848"/>
                </a:solidFill>
              </a:rPr>
              <a:t> des données</a:t>
            </a:r>
            <a:r>
              <a:rPr lang="fr-FR" b="0" dirty="0">
                <a:solidFill>
                  <a:srgbClr val="484848"/>
                </a:solidFill>
              </a:rPr>
              <a:t> </a:t>
            </a:r>
            <a:r>
              <a:rPr b="0" dirty="0" err="1">
                <a:solidFill>
                  <a:srgbClr val="484848"/>
                </a:solidFill>
              </a:rPr>
              <a:t>propres</a:t>
            </a:r>
            <a:endParaRPr b="0" dirty="0">
              <a:solidFill>
                <a:srgbClr val="484848"/>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fontScale="90000"/>
          </a:bodyPr>
          <a:lstStyle/>
          <a:p>
            <a:r>
              <a:t>L’IA propulse la croissance de Captivea</a:t>
            </a:r>
          </a:p>
        </p:txBody>
      </p:sp>
      <p:sp>
        <p:nvSpPr>
          <p:cNvPr id="3" name="Text Placeholder 2"/>
          <p:cNvSpPr>
            <a:spLocks noGrp="1"/>
          </p:cNvSpPr>
          <p:nvPr>
            <p:ph type="body" sz="quarter" idx="13"/>
          </p:nvPr>
        </p:nvSpPr>
        <p:spPr/>
        <p:txBody>
          <a:bodyPr/>
          <a:lstStyle/>
          <a:p>
            <a:r>
              <a:t>IA</a:t>
            </a:r>
          </a:p>
        </p:txBody>
      </p:sp>
      <p:grpSp>
        <p:nvGrpSpPr>
          <p:cNvPr id="9001" name="TransplantBody"/>
          <p:cNvGrpSpPr/>
          <p:nvPr/>
        </p:nvGrpSpPr>
        <p:grpSpPr>
          <a:xfrm>
            <a:off x="1125270" y="1944019"/>
            <a:ext cx="9938412" cy="4204402"/>
            <a:chOff x="1082419" y="1864261"/>
            <a:chExt cx="9938412" cy="4204402"/>
          </a:xfrm>
        </p:grpSpPr>
        <p:sp>
          <p:nvSpPr>
            <p:cNvPr id="10" name="Rounded Rectangle 1">
              <a:extLst>
                <a:ext uri="{FF2B5EF4-FFF2-40B4-BE49-F238E27FC236}">
                  <a16:creationId xmlns:a16="http://schemas.microsoft.com/office/drawing/2014/main" id="{61D6B74C-1D72-A2AB-BBEC-FD5AA989EFFD}"/>
                </a:ext>
              </a:extLst>
            </p:cNvPr>
            <p:cNvSpPr/>
            <p:nvPr/>
          </p:nvSpPr>
          <p:spPr>
            <a:xfrm>
              <a:off x="3958427" y="4253307"/>
              <a:ext cx="7024312" cy="834189"/>
            </a:xfrm>
            <a:custGeom>
              <a:avLst/>
              <a:gdLst/>
              <a:ahLst/>
              <a:cxnLst/>
              <a:rect l="0" t="0" r="0" b="0"/>
              <a:pathLst>
                <a:path w="2599464" h="834189">
                  <a:moveTo>
                    <a:pt x="1105987" y="271798"/>
                  </a:moveTo>
                  <a:cubicBezTo>
                    <a:pt x="1158437" y="219348"/>
                    <a:pt x="1206976" y="163353"/>
                    <a:pt x="1251284" y="104273"/>
                  </a:cubicBezTo>
                  <a:lnTo>
                    <a:pt x="2181057" y="104273"/>
                  </a:lnTo>
                  <a:lnTo>
                    <a:pt x="2181057" y="0"/>
                  </a:lnTo>
                  <a:lnTo>
                    <a:pt x="2599464" y="417094"/>
                  </a:lnTo>
                  <a:lnTo>
                    <a:pt x="2181057" y="834189"/>
                  </a:lnTo>
                  <a:lnTo>
                    <a:pt x="2181057" y="729915"/>
                  </a:lnTo>
                  <a:lnTo>
                    <a:pt x="0" y="729915"/>
                  </a:lnTo>
                  <a:cubicBezTo>
                    <a:pt x="205401" y="729915"/>
                    <a:pt x="408787" y="689457"/>
                    <a:pt x="598557" y="610852"/>
                  </a:cubicBezTo>
                  <a:cubicBezTo>
                    <a:pt x="788326" y="532256"/>
                    <a:pt x="960751" y="417042"/>
                    <a:pt x="1105987" y="271798"/>
                  </a:cubicBezTo>
                </a:path>
              </a:pathLst>
            </a:custGeom>
            <a:gradFill rotWithShape="1">
              <a:gsLst>
                <a:gs pos="0">
                  <a:srgbClr val="BA131A"/>
                </a:gs>
                <a:gs pos="100000">
                  <a:srgbClr val="E2575D"/>
                </a:gs>
              </a:gsLst>
              <a:lin ang="2700000" scaled="1"/>
            </a:gradFill>
            <a:ln>
              <a:noFill/>
            </a:ln>
          </p:spPr>
          <p:txBody>
            <a:bodyPr rtlCol="0" anchor="ctr"/>
            <a:lstStyle/>
            <a:p>
              <a:pPr algn="ctr"/>
              <a:endParaRPr sz="2000"/>
            </a:p>
          </p:txBody>
        </p:sp>
        <p:sp>
          <p:nvSpPr>
            <p:cNvPr id="24" name="Rounded Rectangle 2">
              <a:extLst>
                <a:ext uri="{FF2B5EF4-FFF2-40B4-BE49-F238E27FC236}">
                  <a16:creationId xmlns:a16="http://schemas.microsoft.com/office/drawing/2014/main" id="{BEC42E33-E6C0-A136-4B6A-24A414AAC86D}"/>
                </a:ext>
              </a:extLst>
            </p:cNvPr>
            <p:cNvSpPr/>
            <p:nvPr/>
          </p:nvSpPr>
          <p:spPr>
            <a:xfrm>
              <a:off x="3850205" y="4253307"/>
              <a:ext cx="7170626" cy="834189"/>
            </a:xfrm>
            <a:custGeom>
              <a:avLst/>
              <a:gdLst/>
              <a:ahLst/>
              <a:cxnLst/>
              <a:rect l="0" t="0" r="0" b="0"/>
              <a:pathLst>
                <a:path w="2599465" h="834189">
                  <a:moveTo>
                    <a:pt x="1251284" y="104273"/>
                  </a:moveTo>
                  <a:lnTo>
                    <a:pt x="2181057" y="104273"/>
                  </a:lnTo>
                  <a:lnTo>
                    <a:pt x="2181057" y="0"/>
                  </a:lnTo>
                  <a:lnTo>
                    <a:pt x="2599465" y="417094"/>
                  </a:lnTo>
                  <a:lnTo>
                    <a:pt x="2181057" y="834189"/>
                  </a:lnTo>
                  <a:lnTo>
                    <a:pt x="2181057" y="729915"/>
                  </a:lnTo>
                  <a:lnTo>
                    <a:pt x="0" y="729915"/>
                  </a:lnTo>
                </a:path>
              </a:pathLst>
            </a:custGeom>
            <a:noFill/>
            <a:ln w="13033">
              <a:solidFill>
                <a:srgbClr val="484848"/>
              </a:solidFill>
            </a:ln>
          </p:spPr>
          <p:txBody>
            <a:bodyPr rtlCol="0" anchor="ctr"/>
            <a:lstStyle/>
            <a:p>
              <a:pPr algn="ctr"/>
              <a:endParaRPr sz="2000"/>
            </a:p>
          </p:txBody>
        </p:sp>
        <p:sp>
          <p:nvSpPr>
            <p:cNvPr id="4" name="Rounded Rectangle 3">
              <a:extLst>
                <a:ext uri="{FF2B5EF4-FFF2-40B4-BE49-F238E27FC236}">
                  <a16:creationId xmlns:a16="http://schemas.microsoft.com/office/drawing/2014/main" id="{ED3935B9-703E-592D-FBB5-B7386117DA89}"/>
                </a:ext>
              </a:extLst>
            </p:cNvPr>
            <p:cNvSpPr/>
            <p:nvPr/>
          </p:nvSpPr>
          <p:spPr>
            <a:xfrm>
              <a:off x="4527809" y="1864951"/>
              <a:ext cx="1564105" cy="2502568"/>
            </a:xfrm>
            <a:custGeom>
              <a:avLst/>
              <a:gdLst/>
              <a:ahLst/>
              <a:cxnLst/>
              <a:rect l="0" t="0" r="0" b="0"/>
              <a:pathLst>
                <a:path w="1564105" h="2502568">
                  <a:moveTo>
                    <a:pt x="458117" y="458117"/>
                  </a:moveTo>
                  <a:cubicBezTo>
                    <a:pt x="164787" y="751439"/>
                    <a:pt x="0" y="1149278"/>
                    <a:pt x="0" y="1564105"/>
                  </a:cubicBezTo>
                  <a:cubicBezTo>
                    <a:pt x="0" y="1769507"/>
                    <a:pt x="40458" y="1972892"/>
                    <a:pt x="119063" y="2162662"/>
                  </a:cubicBezTo>
                  <a:cubicBezTo>
                    <a:pt x="169279" y="2283897"/>
                    <a:pt x="234433" y="2398051"/>
                    <a:pt x="312821" y="2502568"/>
                  </a:cubicBezTo>
                  <a:lnTo>
                    <a:pt x="1553756" y="2502568"/>
                  </a:lnTo>
                  <a:cubicBezTo>
                    <a:pt x="1434032" y="2501247"/>
                    <a:pt x="1315629" y="2477030"/>
                    <a:pt x="1204951" y="2431184"/>
                  </a:cubicBezTo>
                  <a:cubicBezTo>
                    <a:pt x="1091085" y="2384017"/>
                    <a:pt x="987619" y="2314884"/>
                    <a:pt x="900472" y="2227737"/>
                  </a:cubicBezTo>
                  <a:cubicBezTo>
                    <a:pt x="813326" y="2140591"/>
                    <a:pt x="744192" y="2037125"/>
                    <a:pt x="697026" y="1923258"/>
                  </a:cubicBezTo>
                  <a:cubicBezTo>
                    <a:pt x="649859" y="1809391"/>
                    <a:pt x="625581" y="1687356"/>
                    <a:pt x="625581" y="1564105"/>
                  </a:cubicBezTo>
                  <a:cubicBezTo>
                    <a:pt x="625337" y="1315125"/>
                    <a:pt x="724241" y="1076347"/>
                    <a:pt x="900298" y="900298"/>
                  </a:cubicBezTo>
                  <a:cubicBezTo>
                    <a:pt x="1076347" y="724241"/>
                    <a:pt x="1315125" y="625337"/>
                    <a:pt x="1564105" y="625337"/>
                  </a:cubicBezTo>
                  <a:lnTo>
                    <a:pt x="1564105" y="0"/>
                  </a:lnTo>
                  <a:cubicBezTo>
                    <a:pt x="1149278" y="0"/>
                    <a:pt x="751439" y="164787"/>
                    <a:pt x="458117" y="458117"/>
                  </a:cubicBezTo>
                </a:path>
              </a:pathLst>
            </a:custGeom>
            <a:gradFill rotWithShape="1">
              <a:gsLst>
                <a:gs pos="0">
                  <a:srgbClr val="BA131A"/>
                </a:gs>
                <a:gs pos="100000">
                  <a:srgbClr val="E2575D"/>
                </a:gs>
              </a:gsLst>
              <a:lin ang="2700000" scaled="1"/>
            </a:gradFill>
            <a:ln>
              <a:noFill/>
            </a:ln>
          </p:spPr>
          <p:txBody>
            <a:bodyPr rtlCol="0" anchor="ctr"/>
            <a:lstStyle/>
            <a:p>
              <a:pPr algn="ctr"/>
              <a:endParaRPr sz="2000"/>
            </a:p>
          </p:txBody>
        </p:sp>
        <p:sp>
          <p:nvSpPr>
            <p:cNvPr id="5" name="Rounded Rectangle 4">
              <a:extLst>
                <a:ext uri="{FF2B5EF4-FFF2-40B4-BE49-F238E27FC236}">
                  <a16:creationId xmlns:a16="http://schemas.microsoft.com/office/drawing/2014/main" id="{036B906B-726E-C1DB-0CE3-DB81409A08F3}"/>
                </a:ext>
              </a:extLst>
            </p:cNvPr>
            <p:cNvSpPr/>
            <p:nvPr/>
          </p:nvSpPr>
          <p:spPr>
            <a:xfrm>
              <a:off x="4527809" y="1864951"/>
              <a:ext cx="1564105" cy="2502568"/>
            </a:xfrm>
            <a:custGeom>
              <a:avLst/>
              <a:gdLst/>
              <a:ahLst/>
              <a:cxnLst/>
              <a:rect l="0" t="0" r="0" b="0"/>
              <a:pathLst>
                <a:path w="1564105" h="2502568">
                  <a:moveTo>
                    <a:pt x="312821" y="2502568"/>
                  </a:moveTo>
                  <a:cubicBezTo>
                    <a:pt x="234435" y="2398054"/>
                    <a:pt x="169277" y="2283897"/>
                    <a:pt x="119060" y="2162662"/>
                  </a:cubicBezTo>
                  <a:cubicBezTo>
                    <a:pt x="40456" y="1972896"/>
                    <a:pt x="0" y="1769506"/>
                    <a:pt x="0" y="1564105"/>
                  </a:cubicBezTo>
                  <a:cubicBezTo>
                    <a:pt x="0" y="1149278"/>
                    <a:pt x="164788" y="751442"/>
                    <a:pt x="458116" y="458116"/>
                  </a:cubicBezTo>
                  <a:cubicBezTo>
                    <a:pt x="751442" y="164788"/>
                    <a:pt x="1149278" y="0"/>
                    <a:pt x="1564105" y="0"/>
                  </a:cubicBezTo>
                  <a:moveTo>
                    <a:pt x="1553760" y="2502568"/>
                  </a:moveTo>
                  <a:cubicBezTo>
                    <a:pt x="1434032" y="2501248"/>
                    <a:pt x="1315628" y="2477030"/>
                    <a:pt x="1204949" y="2431185"/>
                  </a:cubicBezTo>
                  <a:cubicBezTo>
                    <a:pt x="1091082" y="2384019"/>
                    <a:pt x="987621" y="2314888"/>
                    <a:pt x="900471" y="2227739"/>
                  </a:cubicBezTo>
                  <a:cubicBezTo>
                    <a:pt x="813321" y="2140589"/>
                    <a:pt x="744190" y="2037128"/>
                    <a:pt x="697025" y="1923261"/>
                  </a:cubicBezTo>
                  <a:cubicBezTo>
                    <a:pt x="649860" y="1809395"/>
                    <a:pt x="625584" y="1687353"/>
                    <a:pt x="625584" y="1564105"/>
                  </a:cubicBezTo>
                  <a:lnTo>
                    <a:pt x="625336" y="1564105"/>
                  </a:lnTo>
                  <a:cubicBezTo>
                    <a:pt x="625336" y="1315128"/>
                    <a:pt x="724242" y="1076348"/>
                    <a:pt x="900295" y="900295"/>
                  </a:cubicBezTo>
                  <a:cubicBezTo>
                    <a:pt x="1076348" y="724242"/>
                    <a:pt x="1315128" y="625336"/>
                    <a:pt x="1564105" y="625336"/>
                  </a:cubicBezTo>
                </a:path>
              </a:pathLst>
            </a:custGeom>
            <a:noFill/>
            <a:ln w="13033">
              <a:solidFill>
                <a:srgbClr val="484848"/>
              </a:solidFill>
            </a:ln>
          </p:spPr>
          <p:txBody>
            <a:bodyPr rtlCol="0" anchor="ctr"/>
            <a:lstStyle/>
            <a:p>
              <a:pPr algn="ctr"/>
              <a:endParaRPr sz="2000"/>
            </a:p>
          </p:txBody>
        </p:sp>
        <p:sp>
          <p:nvSpPr>
            <p:cNvPr id="6" name="Rounded Rectangle 5">
              <a:extLst>
                <a:ext uri="{FF2B5EF4-FFF2-40B4-BE49-F238E27FC236}">
                  <a16:creationId xmlns:a16="http://schemas.microsoft.com/office/drawing/2014/main" id="{98AFFC34-ED9A-1904-ECEF-5E8779B8ECE9}"/>
                </a:ext>
              </a:extLst>
            </p:cNvPr>
            <p:cNvSpPr/>
            <p:nvPr/>
          </p:nvSpPr>
          <p:spPr>
            <a:xfrm>
              <a:off x="6090967" y="1864265"/>
              <a:ext cx="1569475" cy="3129470"/>
            </a:xfrm>
            <a:custGeom>
              <a:avLst/>
              <a:gdLst/>
              <a:ahLst/>
              <a:cxnLst/>
              <a:rect l="0" t="0" r="0" b="0"/>
              <a:pathLst>
                <a:path w="1569475" h="3129470">
                  <a:moveTo>
                    <a:pt x="0" y="695"/>
                  </a:moveTo>
                  <a:cubicBezTo>
                    <a:pt x="205810" y="0"/>
                    <a:pt x="409734" y="39919"/>
                    <a:pt x="600086" y="118185"/>
                  </a:cubicBezTo>
                  <a:cubicBezTo>
                    <a:pt x="790437" y="196451"/>
                    <a:pt x="963471" y="311508"/>
                    <a:pt x="1109263" y="456770"/>
                  </a:cubicBezTo>
                  <a:cubicBezTo>
                    <a:pt x="1255064" y="602032"/>
                    <a:pt x="1370755" y="774640"/>
                    <a:pt x="1449725" y="964705"/>
                  </a:cubicBezTo>
                  <a:cubicBezTo>
                    <a:pt x="1528686" y="1154761"/>
                    <a:pt x="1569362" y="1358538"/>
                    <a:pt x="1569414" y="1564348"/>
                  </a:cubicBezTo>
                  <a:cubicBezTo>
                    <a:pt x="1569475" y="1770167"/>
                    <a:pt x="1528912" y="1973961"/>
                    <a:pt x="1450055" y="2164069"/>
                  </a:cubicBezTo>
                  <a:cubicBezTo>
                    <a:pt x="1371207" y="2354178"/>
                    <a:pt x="1255602" y="2526846"/>
                    <a:pt x="1109889" y="2672195"/>
                  </a:cubicBezTo>
                  <a:cubicBezTo>
                    <a:pt x="964175" y="2817535"/>
                    <a:pt x="791202" y="2932697"/>
                    <a:pt x="600894" y="3011067"/>
                  </a:cubicBezTo>
                  <a:cubicBezTo>
                    <a:pt x="410595" y="3089429"/>
                    <a:pt x="206687" y="3129470"/>
                    <a:pt x="877" y="3128888"/>
                  </a:cubicBezTo>
                  <a:lnTo>
                    <a:pt x="2650" y="2503559"/>
                  </a:lnTo>
                  <a:cubicBezTo>
                    <a:pt x="126179" y="2503906"/>
                    <a:pt x="248562" y="2479871"/>
                    <a:pt x="362776" y="2432835"/>
                  </a:cubicBezTo>
                  <a:cubicBezTo>
                    <a:pt x="476999" y="2385799"/>
                    <a:pt x="580813" y="2316683"/>
                    <a:pt x="668272" y="2229449"/>
                  </a:cubicBezTo>
                  <a:cubicBezTo>
                    <a:pt x="755732" y="2142215"/>
                    <a:pt x="825108" y="2038576"/>
                    <a:pt x="872440" y="1924475"/>
                  </a:cubicBezTo>
                  <a:cubicBezTo>
                    <a:pt x="919772" y="1810373"/>
                    <a:pt x="944111" y="1688051"/>
                    <a:pt x="944076" y="1564531"/>
                  </a:cubicBezTo>
                  <a:cubicBezTo>
                    <a:pt x="944050" y="1441001"/>
                    <a:pt x="919633" y="1318697"/>
                    <a:pt x="872240" y="1204621"/>
                  </a:cubicBezTo>
                  <a:cubicBezTo>
                    <a:pt x="824848" y="1090546"/>
                    <a:pt x="755410" y="986950"/>
                    <a:pt x="667899" y="899760"/>
                  </a:cubicBezTo>
                  <a:cubicBezTo>
                    <a:pt x="580396" y="812578"/>
                    <a:pt x="476539" y="743514"/>
                    <a:pt x="362290" y="696548"/>
                  </a:cubicBezTo>
                  <a:cubicBezTo>
                    <a:pt x="248041" y="649572"/>
                    <a:pt x="125649" y="625607"/>
                    <a:pt x="2120" y="626024"/>
                  </a:cubicBezTo>
                  <a:lnTo>
                    <a:pt x="0" y="695"/>
                  </a:lnTo>
                </a:path>
              </a:pathLst>
            </a:custGeom>
            <a:gradFill rotWithShape="1">
              <a:gsLst>
                <a:gs pos="0">
                  <a:srgbClr val="BA131A"/>
                </a:gs>
                <a:gs pos="100000">
                  <a:srgbClr val="E2575D"/>
                </a:gs>
              </a:gsLst>
              <a:lin ang="2700000" scaled="1"/>
            </a:gradFill>
            <a:ln>
              <a:noFill/>
            </a:ln>
          </p:spPr>
          <p:txBody>
            <a:bodyPr rtlCol="0" anchor="ctr"/>
            <a:lstStyle/>
            <a:p>
              <a:pPr algn="ctr"/>
              <a:endParaRPr sz="2000"/>
            </a:p>
          </p:txBody>
        </p:sp>
        <p:sp>
          <p:nvSpPr>
            <p:cNvPr id="7" name="Rounded Rectangle 6">
              <a:extLst>
                <a:ext uri="{FF2B5EF4-FFF2-40B4-BE49-F238E27FC236}">
                  <a16:creationId xmlns:a16="http://schemas.microsoft.com/office/drawing/2014/main" id="{9165FF9C-D357-6444-45C1-BB42E29256B6}"/>
                </a:ext>
              </a:extLst>
            </p:cNvPr>
            <p:cNvSpPr/>
            <p:nvPr/>
          </p:nvSpPr>
          <p:spPr>
            <a:xfrm>
              <a:off x="6090967" y="1864261"/>
              <a:ext cx="1569474" cy="3129477"/>
            </a:xfrm>
            <a:custGeom>
              <a:avLst/>
              <a:gdLst/>
              <a:ahLst/>
              <a:cxnLst/>
              <a:rect l="0" t="0" r="0" b="0"/>
              <a:pathLst>
                <a:path w="1569474" h="3129477">
                  <a:moveTo>
                    <a:pt x="878" y="3128894"/>
                  </a:moveTo>
                  <a:cubicBezTo>
                    <a:pt x="206689" y="3129477"/>
                    <a:pt x="410591" y="3089437"/>
                    <a:pt x="600897" y="3011066"/>
                  </a:cubicBezTo>
                  <a:cubicBezTo>
                    <a:pt x="791203" y="2932697"/>
                    <a:pt x="964171" y="2817540"/>
                    <a:pt x="1109888" y="2672195"/>
                  </a:cubicBezTo>
                  <a:cubicBezTo>
                    <a:pt x="1255604" y="2526851"/>
                    <a:pt x="1371203" y="2354177"/>
                    <a:pt x="1450058" y="2164071"/>
                  </a:cubicBezTo>
                  <a:cubicBezTo>
                    <a:pt x="1528913" y="1973966"/>
                    <a:pt x="1569474" y="1770166"/>
                    <a:pt x="1569417" y="1564355"/>
                  </a:cubicBezTo>
                  <a:cubicBezTo>
                    <a:pt x="1569358" y="1358544"/>
                    <a:pt x="1528683" y="1154768"/>
                    <a:pt x="1449721" y="964707"/>
                  </a:cubicBezTo>
                  <a:cubicBezTo>
                    <a:pt x="1370759" y="774645"/>
                    <a:pt x="1255064" y="602037"/>
                    <a:pt x="1109266" y="456774"/>
                  </a:cubicBezTo>
                  <a:cubicBezTo>
                    <a:pt x="963467" y="311511"/>
                    <a:pt x="790435" y="196451"/>
                    <a:pt x="600084" y="118189"/>
                  </a:cubicBezTo>
                  <a:cubicBezTo>
                    <a:pt x="409734" y="39926"/>
                    <a:pt x="205810" y="0"/>
                    <a:pt x="0" y="698"/>
                  </a:cubicBezTo>
                  <a:lnTo>
                    <a:pt x="2123" y="626032"/>
                  </a:lnTo>
                  <a:cubicBezTo>
                    <a:pt x="125649" y="625612"/>
                    <a:pt x="248044" y="649575"/>
                    <a:pt x="362291" y="696549"/>
                  </a:cubicBezTo>
                  <a:cubicBezTo>
                    <a:pt x="476539" y="743521"/>
                    <a:pt x="580392" y="812580"/>
                    <a:pt x="667899" y="899766"/>
                  </a:cubicBezTo>
                  <a:cubicBezTo>
                    <a:pt x="755407" y="986952"/>
                    <a:pt x="824847" y="1090551"/>
                    <a:pt x="872239" y="1204625"/>
                  </a:cubicBezTo>
                  <a:cubicBezTo>
                    <a:pt x="919632" y="1318698"/>
                    <a:pt x="944046" y="1441004"/>
                    <a:pt x="944080" y="1564531"/>
                  </a:cubicBezTo>
                  <a:cubicBezTo>
                    <a:pt x="944114" y="1688057"/>
                    <a:pt x="919770" y="1810377"/>
                    <a:pt x="872442" y="1924478"/>
                  </a:cubicBezTo>
                  <a:cubicBezTo>
                    <a:pt x="825113" y="2038578"/>
                    <a:pt x="755731" y="2142216"/>
                    <a:pt x="668273" y="2229452"/>
                  </a:cubicBezTo>
                  <a:cubicBezTo>
                    <a:pt x="580814" y="2316686"/>
                    <a:pt x="477000" y="2385803"/>
                    <a:pt x="362779" y="2432840"/>
                  </a:cubicBezTo>
                  <a:cubicBezTo>
                    <a:pt x="248558" y="2479877"/>
                    <a:pt x="126177" y="2503910"/>
                    <a:pt x="2651" y="2503559"/>
                  </a:cubicBezTo>
                </a:path>
              </a:pathLst>
            </a:custGeom>
            <a:noFill/>
            <a:ln w="13033">
              <a:solidFill>
                <a:srgbClr val="484848"/>
              </a:solidFill>
            </a:ln>
          </p:spPr>
          <p:txBody>
            <a:bodyPr rtlCol="0" anchor="ctr"/>
            <a:lstStyle/>
            <a:p>
              <a:pPr algn="ctr"/>
              <a:endParaRPr sz="2000"/>
            </a:p>
          </p:txBody>
        </p:sp>
        <p:sp>
          <p:nvSpPr>
            <p:cNvPr id="8" name="Rounded Rectangle 7">
              <a:extLst>
                <a:ext uri="{FF2B5EF4-FFF2-40B4-BE49-F238E27FC236}">
                  <a16:creationId xmlns:a16="http://schemas.microsoft.com/office/drawing/2014/main" id="{0A20A447-1401-D4A1-0020-17DD3DF67D3D}"/>
                </a:ext>
              </a:extLst>
            </p:cNvPr>
            <p:cNvSpPr/>
            <p:nvPr/>
          </p:nvSpPr>
          <p:spPr>
            <a:xfrm>
              <a:off x="1082419" y="4370460"/>
              <a:ext cx="5008548" cy="625642"/>
            </a:xfrm>
            <a:custGeom>
              <a:avLst/>
              <a:gdLst/>
              <a:ahLst/>
              <a:cxnLst/>
              <a:rect l="0" t="0" r="0" b="0"/>
              <a:pathLst>
                <a:path w="2198436" h="625642">
                  <a:moveTo>
                    <a:pt x="0" y="0"/>
                  </a:moveTo>
                  <a:lnTo>
                    <a:pt x="2198436" y="0"/>
                  </a:lnTo>
                  <a:lnTo>
                    <a:pt x="2198436" y="625642"/>
                  </a:lnTo>
                  <a:lnTo>
                    <a:pt x="0" y="625642"/>
                  </a:lnTo>
                  <a:lnTo>
                    <a:pt x="0" y="0"/>
                  </a:lnTo>
                </a:path>
              </a:pathLst>
            </a:custGeom>
            <a:gradFill rotWithShape="1">
              <a:gsLst>
                <a:gs pos="0">
                  <a:srgbClr val="BA131A"/>
                </a:gs>
                <a:gs pos="100000">
                  <a:srgbClr val="E2575D"/>
                </a:gs>
              </a:gsLst>
              <a:lin ang="2700000" scaled="1"/>
            </a:gradFill>
            <a:ln>
              <a:noFill/>
            </a:ln>
          </p:spPr>
          <p:txBody>
            <a:bodyPr rtlCol="0" anchor="ctr"/>
            <a:lstStyle/>
            <a:p>
              <a:pPr algn="ctr"/>
              <a:endParaRPr sz="2000"/>
            </a:p>
          </p:txBody>
        </p:sp>
        <p:sp>
          <p:nvSpPr>
            <p:cNvPr id="9" name="Rounded Rectangle 8">
              <a:extLst>
                <a:ext uri="{FF2B5EF4-FFF2-40B4-BE49-F238E27FC236}">
                  <a16:creationId xmlns:a16="http://schemas.microsoft.com/office/drawing/2014/main" id="{8AAA5C49-92BA-B01E-8371-8042B31BA587}"/>
                </a:ext>
              </a:extLst>
            </p:cNvPr>
            <p:cNvSpPr/>
            <p:nvPr/>
          </p:nvSpPr>
          <p:spPr>
            <a:xfrm>
              <a:off x="1083366" y="4367519"/>
              <a:ext cx="5008548" cy="625642"/>
            </a:xfrm>
            <a:custGeom>
              <a:avLst/>
              <a:gdLst/>
              <a:ahLst/>
              <a:cxnLst/>
              <a:rect l="0" t="0" r="0" b="0"/>
              <a:pathLst>
                <a:path w="2198436" h="625642">
                  <a:moveTo>
                    <a:pt x="0" y="0"/>
                  </a:moveTo>
                  <a:lnTo>
                    <a:pt x="2198436" y="0"/>
                  </a:lnTo>
                  <a:lnTo>
                    <a:pt x="2198436" y="625642"/>
                  </a:lnTo>
                  <a:lnTo>
                    <a:pt x="0" y="625642"/>
                  </a:lnTo>
                  <a:close/>
                </a:path>
              </a:pathLst>
            </a:custGeom>
            <a:noFill/>
            <a:ln w="13033">
              <a:solidFill>
                <a:srgbClr val="484848"/>
              </a:solidFill>
            </a:ln>
          </p:spPr>
          <p:txBody>
            <a:bodyPr rtlCol="0" anchor="ctr"/>
            <a:lstStyle/>
            <a:p>
              <a:pPr algn="ctr"/>
              <a:endParaRPr sz="2000"/>
            </a:p>
          </p:txBody>
        </p:sp>
        <p:sp>
          <p:nvSpPr>
            <p:cNvPr id="11" name="TextBox 10">
              <a:extLst>
                <a:ext uri="{FF2B5EF4-FFF2-40B4-BE49-F238E27FC236}">
                  <a16:creationId xmlns:a16="http://schemas.microsoft.com/office/drawing/2014/main" id="{00ABC32E-8011-7741-E4A1-8C3ED2D8CDAF}"/>
                </a:ext>
              </a:extLst>
            </p:cNvPr>
            <p:cNvSpPr txBox="1"/>
            <p:nvPr/>
          </p:nvSpPr>
          <p:spPr>
            <a:xfrm>
              <a:off x="2306476" y="2696715"/>
              <a:ext cx="1710405" cy="615553"/>
            </a:xfrm>
            <a:prstGeom prst="rect">
              <a:avLst/>
            </a:prstGeom>
            <a:noFill/>
            <a:ln>
              <a:noFill/>
            </a:ln>
          </p:spPr>
          <p:txBody>
            <a:bodyPr wrap="square" lIns="0" tIns="0" rIns="0" bIns="0" anchor="t">
              <a:spAutoFit/>
            </a:bodyPr>
            <a:lstStyle/>
            <a:p>
              <a:pPr algn="ctr"/>
              <a:r>
                <a:rPr sz="2000" b="0">
                  <a:solidFill>
                    <a:srgbClr val="BA131A"/>
                  </a:solidFill>
                </a:rPr>
                <a:t>Excellence
</a:t>
              </a:r>
              <a:r>
                <a:rPr sz="2000" b="0" err="1">
                  <a:solidFill>
                    <a:srgbClr val="BA131A"/>
                  </a:solidFill>
                </a:rPr>
                <a:t>Opérationnelle</a:t>
              </a:r>
              <a:endParaRPr sz="2000" b="0">
                <a:solidFill>
                  <a:srgbClr val="BA131A"/>
                </a:solidFill>
              </a:endParaRPr>
            </a:p>
          </p:txBody>
        </p:sp>
        <p:sp>
          <p:nvSpPr>
            <p:cNvPr id="12" name="TextBox 11">
              <a:extLst>
                <a:ext uri="{FF2B5EF4-FFF2-40B4-BE49-F238E27FC236}">
                  <a16:creationId xmlns:a16="http://schemas.microsoft.com/office/drawing/2014/main" id="{A6A26679-757A-0AE8-7375-6AA196F74AD1}"/>
                </a:ext>
              </a:extLst>
            </p:cNvPr>
            <p:cNvSpPr txBox="1"/>
            <p:nvPr/>
          </p:nvSpPr>
          <p:spPr>
            <a:xfrm>
              <a:off x="8171370" y="2696715"/>
              <a:ext cx="1730345" cy="615553"/>
            </a:xfrm>
            <a:prstGeom prst="rect">
              <a:avLst/>
            </a:prstGeom>
            <a:noFill/>
            <a:ln>
              <a:noFill/>
            </a:ln>
          </p:spPr>
          <p:txBody>
            <a:bodyPr wrap="none" lIns="0" tIns="0" rIns="0" bIns="0" anchor="t">
              <a:spAutoFit/>
            </a:bodyPr>
            <a:lstStyle/>
            <a:p>
              <a:pPr algn="ctr"/>
              <a:r>
                <a:rPr sz="2000" b="0">
                  <a:solidFill>
                    <a:srgbClr val="223843"/>
                  </a:solidFill>
                </a:rPr>
                <a:t>Transformation
Sales</a:t>
              </a:r>
            </a:p>
          </p:txBody>
        </p:sp>
        <p:sp>
          <p:nvSpPr>
            <p:cNvPr id="13" name="TextBox 12">
              <a:extLst>
                <a:ext uri="{FF2B5EF4-FFF2-40B4-BE49-F238E27FC236}">
                  <a16:creationId xmlns:a16="http://schemas.microsoft.com/office/drawing/2014/main" id="{D68CF419-F36F-9A7C-B720-9CB474C04F5F}"/>
                </a:ext>
              </a:extLst>
            </p:cNvPr>
            <p:cNvSpPr txBox="1"/>
            <p:nvPr/>
          </p:nvSpPr>
          <p:spPr>
            <a:xfrm>
              <a:off x="5560527" y="3342162"/>
              <a:ext cx="1062791" cy="307777"/>
            </a:xfrm>
            <a:prstGeom prst="rect">
              <a:avLst/>
            </a:prstGeom>
            <a:noFill/>
            <a:ln>
              <a:noFill/>
            </a:ln>
          </p:spPr>
          <p:txBody>
            <a:bodyPr wrap="none" lIns="0" tIns="0" rIns="0" bIns="0" anchor="t">
              <a:spAutoFit/>
            </a:bodyPr>
            <a:lstStyle/>
            <a:p>
              <a:pPr algn="ctr"/>
              <a:r>
                <a:rPr sz="2000" b="0">
                  <a:solidFill>
                    <a:srgbClr val="000000"/>
                  </a:solidFill>
                </a:rPr>
                <a:t>Agents IA</a:t>
              </a:r>
            </a:p>
          </p:txBody>
        </p:sp>
        <p:sp>
          <p:nvSpPr>
            <p:cNvPr id="14" name="TextBox 13">
              <a:extLst>
                <a:ext uri="{FF2B5EF4-FFF2-40B4-BE49-F238E27FC236}">
                  <a16:creationId xmlns:a16="http://schemas.microsoft.com/office/drawing/2014/main" id="{E9E865D3-623E-AA8F-7246-1E32043CA22E}"/>
                </a:ext>
              </a:extLst>
            </p:cNvPr>
            <p:cNvSpPr txBox="1"/>
            <p:nvPr/>
          </p:nvSpPr>
          <p:spPr>
            <a:xfrm>
              <a:off x="2027583" y="3416022"/>
              <a:ext cx="2274282" cy="553998"/>
            </a:xfrm>
            <a:prstGeom prst="rect">
              <a:avLst/>
            </a:prstGeom>
            <a:noFill/>
            <a:ln>
              <a:noFill/>
            </a:ln>
          </p:spPr>
          <p:txBody>
            <a:bodyPr wrap="square" lIns="0" tIns="0" rIns="0" bIns="0" anchor="t">
              <a:spAutoFit/>
            </a:bodyPr>
            <a:lstStyle/>
            <a:p>
              <a:pPr algn="ctr"/>
              <a:r>
                <a:rPr b="0" err="1">
                  <a:solidFill>
                    <a:srgbClr val="000000"/>
                  </a:solidFill>
                </a:rPr>
                <a:t>Préparation</a:t>
              </a:r>
              <a:r>
                <a:rPr b="0">
                  <a:solidFill>
                    <a:srgbClr val="000000"/>
                  </a:solidFill>
                </a:rPr>
                <a:t> des
</a:t>
              </a:r>
              <a:r>
                <a:rPr b="0" err="1">
                  <a:solidFill>
                    <a:srgbClr val="000000"/>
                  </a:solidFill>
                </a:rPr>
                <a:t>démos</a:t>
              </a:r>
              <a:r>
                <a:rPr b="0">
                  <a:solidFill>
                    <a:srgbClr val="000000"/>
                  </a:solidFill>
                </a:rPr>
                <a:t> </a:t>
              </a:r>
              <a:r>
                <a:rPr b="0" err="1">
                  <a:solidFill>
                    <a:srgbClr val="000000"/>
                  </a:solidFill>
                </a:rPr>
                <a:t>assistée</a:t>
              </a:r>
              <a:r>
                <a:rPr b="0">
                  <a:solidFill>
                    <a:srgbClr val="000000"/>
                  </a:solidFill>
                </a:rPr>
                <a:t> par</a:t>
              </a:r>
              <a:r>
                <a:rPr lang="fr-FR" b="0">
                  <a:solidFill>
                    <a:srgbClr val="000000"/>
                  </a:solidFill>
                </a:rPr>
                <a:t> </a:t>
              </a:r>
              <a:r>
                <a:rPr b="0">
                  <a:solidFill>
                    <a:srgbClr val="000000"/>
                  </a:solidFill>
                </a:rPr>
                <a:t>IA</a:t>
              </a:r>
            </a:p>
          </p:txBody>
        </p:sp>
        <p:sp>
          <p:nvSpPr>
            <p:cNvPr id="15" name="TextBox 14">
              <a:extLst>
                <a:ext uri="{FF2B5EF4-FFF2-40B4-BE49-F238E27FC236}">
                  <a16:creationId xmlns:a16="http://schemas.microsoft.com/office/drawing/2014/main" id="{060FC5F3-D7A7-0924-4047-5F59124738DA}"/>
                </a:ext>
              </a:extLst>
            </p:cNvPr>
            <p:cNvSpPr txBox="1"/>
            <p:nvPr/>
          </p:nvSpPr>
          <p:spPr>
            <a:xfrm>
              <a:off x="7855876" y="3428999"/>
              <a:ext cx="2483211" cy="553998"/>
            </a:xfrm>
            <a:prstGeom prst="rect">
              <a:avLst/>
            </a:prstGeom>
            <a:noFill/>
            <a:ln>
              <a:noFill/>
            </a:ln>
          </p:spPr>
          <p:txBody>
            <a:bodyPr wrap="square" lIns="0" tIns="0" rIns="0" bIns="0" anchor="t">
              <a:spAutoFit/>
            </a:bodyPr>
            <a:lstStyle/>
            <a:p>
              <a:pPr algn="ctr"/>
              <a:r>
                <a:rPr b="0">
                  <a:solidFill>
                    <a:srgbClr val="000000"/>
                  </a:solidFill>
                </a:rPr>
                <a:t>Scraping intelligent,
copywriting</a:t>
              </a:r>
              <a:r>
                <a:rPr lang="fr-FR" b="0">
                  <a:solidFill>
                    <a:srgbClr val="000000"/>
                  </a:solidFill>
                </a:rPr>
                <a:t> </a:t>
              </a:r>
              <a:r>
                <a:rPr b="0" err="1">
                  <a:solidFill>
                    <a:srgbClr val="000000"/>
                  </a:solidFill>
                </a:rPr>
                <a:t>automatisé</a:t>
              </a:r>
              <a:endParaRPr b="0">
                <a:solidFill>
                  <a:srgbClr val="000000"/>
                </a:solidFill>
              </a:endParaRPr>
            </a:p>
          </p:txBody>
        </p:sp>
        <p:sp>
          <p:nvSpPr>
            <p:cNvPr id="16" name="TextBox 15">
              <a:extLst>
                <a:ext uri="{FF2B5EF4-FFF2-40B4-BE49-F238E27FC236}">
                  <a16:creationId xmlns:a16="http://schemas.microsoft.com/office/drawing/2014/main" id="{1AACC93B-30EC-9461-668C-A1FA94106EA2}"/>
                </a:ext>
              </a:extLst>
            </p:cNvPr>
            <p:cNvSpPr txBox="1"/>
            <p:nvPr/>
          </p:nvSpPr>
          <p:spPr>
            <a:xfrm>
              <a:off x="2695912" y="5027526"/>
              <a:ext cx="1939634" cy="307777"/>
            </a:xfrm>
            <a:prstGeom prst="rect">
              <a:avLst/>
            </a:prstGeom>
            <a:noFill/>
            <a:ln>
              <a:noFill/>
            </a:ln>
          </p:spPr>
          <p:txBody>
            <a:bodyPr wrap="none" lIns="0" tIns="0" rIns="0" bIns="0" anchor="t">
              <a:spAutoFit/>
            </a:bodyPr>
            <a:lstStyle/>
            <a:p>
              <a:pPr algn="ctr"/>
              <a:r>
                <a:rPr sz="2000" b="0" err="1">
                  <a:solidFill>
                    <a:srgbClr val="000000"/>
                  </a:solidFill>
                </a:rPr>
                <a:t>Croissance</a:t>
              </a:r>
              <a:r>
                <a:rPr lang="fr-FR" sz="2000">
                  <a:solidFill>
                    <a:srgbClr val="000000"/>
                  </a:solidFill>
                </a:rPr>
                <a:t> </a:t>
              </a:r>
              <a:r>
                <a:rPr sz="2000" b="0">
                  <a:solidFill>
                    <a:srgbClr val="000000"/>
                  </a:solidFill>
                </a:rPr>
                <a:t>Lente</a:t>
              </a:r>
            </a:p>
          </p:txBody>
        </p:sp>
        <p:sp>
          <p:nvSpPr>
            <p:cNvPr id="17" name="TextBox 16">
              <a:extLst>
                <a:ext uri="{FF2B5EF4-FFF2-40B4-BE49-F238E27FC236}">
                  <a16:creationId xmlns:a16="http://schemas.microsoft.com/office/drawing/2014/main" id="{9B774135-7FAC-8E51-6E96-BB7412A5B13C}"/>
                </a:ext>
              </a:extLst>
            </p:cNvPr>
            <p:cNvSpPr txBox="1"/>
            <p:nvPr/>
          </p:nvSpPr>
          <p:spPr>
            <a:xfrm>
              <a:off x="7078322" y="5027526"/>
              <a:ext cx="2486504" cy="307777"/>
            </a:xfrm>
            <a:prstGeom prst="rect">
              <a:avLst/>
            </a:prstGeom>
            <a:noFill/>
            <a:ln>
              <a:noFill/>
            </a:ln>
          </p:spPr>
          <p:txBody>
            <a:bodyPr wrap="square" lIns="0" tIns="0" rIns="0" bIns="0" anchor="t">
              <a:spAutoFit/>
            </a:bodyPr>
            <a:lstStyle/>
            <a:p>
              <a:pPr algn="ctr"/>
              <a:r>
                <a:rPr sz="2000" b="0" err="1">
                  <a:solidFill>
                    <a:srgbClr val="000000"/>
                  </a:solidFill>
                </a:rPr>
                <a:t>Croissance</a:t>
              </a:r>
              <a:r>
                <a:rPr lang="fr-FR" sz="2000">
                  <a:solidFill>
                    <a:srgbClr val="000000"/>
                  </a:solidFill>
                </a:rPr>
                <a:t> </a:t>
              </a:r>
              <a:r>
                <a:rPr sz="2000" b="0" err="1">
                  <a:solidFill>
                    <a:srgbClr val="000000"/>
                  </a:solidFill>
                </a:rPr>
                <a:t>Rapide</a:t>
              </a:r>
              <a:endParaRPr sz="2000" b="0">
                <a:solidFill>
                  <a:srgbClr val="000000"/>
                </a:solidFill>
              </a:endParaRPr>
            </a:p>
          </p:txBody>
        </p:sp>
        <p:sp>
          <p:nvSpPr>
            <p:cNvPr id="18" name="TextBox 17">
              <a:extLst>
                <a:ext uri="{FF2B5EF4-FFF2-40B4-BE49-F238E27FC236}">
                  <a16:creationId xmlns:a16="http://schemas.microsoft.com/office/drawing/2014/main" id="{4E49DF3F-ECBB-70F0-E9B7-FD63791DE9EE}"/>
                </a:ext>
              </a:extLst>
            </p:cNvPr>
            <p:cNvSpPr txBox="1"/>
            <p:nvPr/>
          </p:nvSpPr>
          <p:spPr>
            <a:xfrm>
              <a:off x="2431722" y="5514665"/>
              <a:ext cx="2608765" cy="553998"/>
            </a:xfrm>
            <a:prstGeom prst="rect">
              <a:avLst/>
            </a:prstGeom>
            <a:noFill/>
            <a:ln>
              <a:noFill/>
            </a:ln>
          </p:spPr>
          <p:txBody>
            <a:bodyPr wrap="square" lIns="0" tIns="0" rIns="0" bIns="0" anchor="t">
              <a:spAutoFit/>
            </a:bodyPr>
            <a:lstStyle/>
            <a:p>
              <a:pPr algn="ctr"/>
              <a:r>
                <a:rPr b="0">
                  <a:solidFill>
                    <a:srgbClr val="000000"/>
                  </a:solidFill>
                </a:rPr>
                <a:t>Prospection</a:t>
              </a:r>
              <a:r>
                <a:rPr lang="fr-FR" b="0">
                  <a:solidFill>
                    <a:srgbClr val="000000"/>
                  </a:solidFill>
                </a:rPr>
                <a:t> </a:t>
              </a:r>
              <a:r>
                <a:rPr b="0" err="1">
                  <a:solidFill>
                    <a:srgbClr val="000000"/>
                  </a:solidFill>
                </a:rPr>
                <a:t>manuelle</a:t>
              </a:r>
              <a:r>
                <a:rPr b="0">
                  <a:solidFill>
                    <a:srgbClr val="000000"/>
                  </a:solidFill>
                </a:rPr>
                <a:t>, </a:t>
              </a:r>
              <a:endParaRPr lang="fr-FR" b="0">
                <a:solidFill>
                  <a:srgbClr val="000000"/>
                </a:solidFill>
              </a:endParaRPr>
            </a:p>
            <a:p>
              <a:pPr algn="ctr"/>
              <a:r>
                <a:rPr b="0" err="1">
                  <a:solidFill>
                    <a:srgbClr val="000000"/>
                  </a:solidFill>
                </a:rPr>
                <a:t>taux</a:t>
              </a:r>
              <a:r>
                <a:rPr b="0">
                  <a:solidFill>
                    <a:srgbClr val="000000"/>
                  </a:solidFill>
                </a:rPr>
                <a:t> de</a:t>
              </a:r>
              <a:r>
                <a:rPr lang="fr-FR" b="0">
                  <a:solidFill>
                    <a:srgbClr val="000000"/>
                  </a:solidFill>
                </a:rPr>
                <a:t> </a:t>
              </a:r>
              <a:r>
                <a:rPr b="0">
                  <a:solidFill>
                    <a:srgbClr val="000000"/>
                  </a:solidFill>
                </a:rPr>
                <a:t>no-show </a:t>
              </a:r>
              <a:r>
                <a:rPr b="0" err="1">
                  <a:solidFill>
                    <a:srgbClr val="000000"/>
                  </a:solidFill>
                </a:rPr>
                <a:t>élevé</a:t>
              </a:r>
              <a:endParaRPr b="0">
                <a:solidFill>
                  <a:srgbClr val="000000"/>
                </a:solidFill>
              </a:endParaRPr>
            </a:p>
          </p:txBody>
        </p:sp>
        <p:sp>
          <p:nvSpPr>
            <p:cNvPr id="19" name="TextBox 18">
              <a:extLst>
                <a:ext uri="{FF2B5EF4-FFF2-40B4-BE49-F238E27FC236}">
                  <a16:creationId xmlns:a16="http://schemas.microsoft.com/office/drawing/2014/main" id="{3707546E-E6F8-1208-320F-2462C90EEADC}"/>
                </a:ext>
              </a:extLst>
            </p:cNvPr>
            <p:cNvSpPr txBox="1"/>
            <p:nvPr/>
          </p:nvSpPr>
          <p:spPr>
            <a:xfrm>
              <a:off x="7097002" y="5514665"/>
              <a:ext cx="2608765" cy="553998"/>
            </a:xfrm>
            <a:prstGeom prst="rect">
              <a:avLst/>
            </a:prstGeom>
            <a:noFill/>
            <a:ln>
              <a:noFill/>
            </a:ln>
          </p:spPr>
          <p:txBody>
            <a:bodyPr wrap="square" lIns="0" tIns="0" rIns="0" bIns="0" anchor="t">
              <a:spAutoFit/>
            </a:bodyPr>
            <a:lstStyle/>
            <a:p>
              <a:pPr algn="ctr"/>
              <a:r>
                <a:rPr b="0">
                  <a:solidFill>
                    <a:srgbClr val="000000"/>
                  </a:solidFill>
                </a:rPr>
                <a:t>Leads </a:t>
              </a:r>
              <a:r>
                <a:rPr b="0" err="1">
                  <a:solidFill>
                    <a:srgbClr val="000000"/>
                  </a:solidFill>
                </a:rPr>
                <a:t>qualifiés</a:t>
              </a:r>
              <a:r>
                <a:rPr b="0">
                  <a:solidFill>
                    <a:srgbClr val="000000"/>
                  </a:solidFill>
                </a:rPr>
                <a:t>,</a:t>
              </a:r>
              <a:r>
                <a:rPr lang="fr-FR" b="0">
                  <a:solidFill>
                    <a:srgbClr val="000000"/>
                  </a:solidFill>
                </a:rPr>
                <a:t> </a:t>
              </a:r>
              <a:endParaRPr lang="fr-FR">
                <a:solidFill>
                  <a:srgbClr val="000000"/>
                </a:solidFill>
              </a:endParaRPr>
            </a:p>
            <a:p>
              <a:pPr algn="ctr"/>
              <a:r>
                <a:rPr b="0">
                  <a:solidFill>
                    <a:srgbClr val="000000"/>
                  </a:solidFill>
                </a:rPr>
                <a:t>relation client</a:t>
              </a:r>
              <a:r>
                <a:rPr lang="fr-FR" b="0">
                  <a:solidFill>
                    <a:srgbClr val="000000"/>
                  </a:solidFill>
                </a:rPr>
                <a:t> </a:t>
              </a:r>
              <a:r>
                <a:rPr b="0" err="1">
                  <a:solidFill>
                    <a:srgbClr val="000000"/>
                  </a:solidFill>
                </a:rPr>
                <a:t>améliorée</a:t>
              </a:r>
              <a:endParaRPr b="0">
                <a:solidFill>
                  <a:srgbClr val="000000"/>
                </a:solidFill>
              </a:endParaRPr>
            </a:p>
          </p:txBody>
        </p:sp>
        <p:sp>
          <p:nvSpPr>
            <p:cNvPr id="20" name="Rounded Rectangle 19">
              <a:extLst>
                <a:ext uri="{FF2B5EF4-FFF2-40B4-BE49-F238E27FC236}">
                  <a16:creationId xmlns:a16="http://schemas.microsoft.com/office/drawing/2014/main" id="{A824D0A1-0538-69D7-9E99-E6ADB5AAC929}"/>
                </a:ext>
              </a:extLst>
            </p:cNvPr>
            <p:cNvSpPr/>
            <p:nvPr/>
          </p:nvSpPr>
          <p:spPr>
            <a:xfrm>
              <a:off x="4640772" y="3138059"/>
              <a:ext cx="399715" cy="373442"/>
            </a:xfrm>
            <a:custGeom>
              <a:avLst/>
              <a:gdLst/>
              <a:ahLst/>
              <a:cxnLst/>
              <a:rect l="0" t="0" r="0" b="0"/>
              <a:pathLst>
                <a:path w="399715" h="373442">
                  <a:moveTo>
                    <a:pt x="0" y="373442"/>
                  </a:moveTo>
                  <a:lnTo>
                    <a:pt x="399715" y="373442"/>
                  </a:lnTo>
                  <a:moveTo>
                    <a:pt x="149024" y="320489"/>
                  </a:moveTo>
                  <a:lnTo>
                    <a:pt x="54535" y="160359"/>
                  </a:lnTo>
                  <a:moveTo>
                    <a:pt x="127995" y="133822"/>
                  </a:moveTo>
                  <a:lnTo>
                    <a:pt x="228446" y="256917"/>
                  </a:lnTo>
                  <a:moveTo>
                    <a:pt x="6882" y="95449"/>
                  </a:moveTo>
                  <a:cubicBezTo>
                    <a:pt x="6878" y="132250"/>
                    <a:pt x="36711" y="162086"/>
                    <a:pt x="73512" y="162086"/>
                  </a:cubicBezTo>
                  <a:cubicBezTo>
                    <a:pt x="110314" y="162086"/>
                    <a:pt x="140147" y="132250"/>
                    <a:pt x="140143" y="95449"/>
                  </a:cubicBezTo>
                  <a:cubicBezTo>
                    <a:pt x="140147" y="58647"/>
                    <a:pt x="110314" y="28812"/>
                    <a:pt x="73512" y="28812"/>
                  </a:cubicBezTo>
                  <a:cubicBezTo>
                    <a:pt x="36711" y="28812"/>
                    <a:pt x="6878" y="58647"/>
                    <a:pt x="6882" y="95449"/>
                  </a:cubicBezTo>
                  <a:moveTo>
                    <a:pt x="220973" y="119414"/>
                  </a:moveTo>
                  <a:lnTo>
                    <a:pt x="135642" y="119414"/>
                  </a:lnTo>
                  <a:moveTo>
                    <a:pt x="131993" y="63524"/>
                  </a:moveTo>
                  <a:lnTo>
                    <a:pt x="215759" y="63524"/>
                  </a:lnTo>
                  <a:moveTo>
                    <a:pt x="209416" y="85943"/>
                  </a:moveTo>
                  <a:cubicBezTo>
                    <a:pt x="209410" y="109789"/>
                    <a:pt x="228739" y="129123"/>
                    <a:pt x="252585" y="129123"/>
                  </a:cubicBezTo>
                  <a:cubicBezTo>
                    <a:pt x="276431" y="129123"/>
                    <a:pt x="295761" y="109789"/>
                    <a:pt x="295754" y="85943"/>
                  </a:cubicBezTo>
                  <a:cubicBezTo>
                    <a:pt x="295761" y="62096"/>
                    <a:pt x="276431" y="42762"/>
                    <a:pt x="252585" y="42762"/>
                  </a:cubicBezTo>
                  <a:cubicBezTo>
                    <a:pt x="228739" y="42762"/>
                    <a:pt x="209410" y="62096"/>
                    <a:pt x="209416" y="85943"/>
                  </a:cubicBezTo>
                  <a:moveTo>
                    <a:pt x="281921" y="373442"/>
                  </a:moveTo>
                  <a:lnTo>
                    <a:pt x="135173" y="373442"/>
                  </a:lnTo>
                  <a:lnTo>
                    <a:pt x="164526" y="261261"/>
                  </a:lnTo>
                  <a:lnTo>
                    <a:pt x="252568" y="261261"/>
                  </a:lnTo>
                  <a:close/>
                  <a:moveTo>
                    <a:pt x="188648" y="320489"/>
                  </a:moveTo>
                  <a:cubicBezTo>
                    <a:pt x="188645" y="331480"/>
                    <a:pt x="197555" y="340392"/>
                    <a:pt x="208547" y="340392"/>
                  </a:cubicBezTo>
                  <a:cubicBezTo>
                    <a:pt x="219539" y="340392"/>
                    <a:pt x="228448" y="331480"/>
                    <a:pt x="228446" y="320489"/>
                  </a:cubicBezTo>
                  <a:cubicBezTo>
                    <a:pt x="228448" y="309497"/>
                    <a:pt x="219539" y="300585"/>
                    <a:pt x="208547" y="300585"/>
                  </a:cubicBezTo>
                  <a:cubicBezTo>
                    <a:pt x="197555" y="300585"/>
                    <a:pt x="188645" y="309497"/>
                    <a:pt x="188648" y="320489"/>
                  </a:cubicBezTo>
                  <a:moveTo>
                    <a:pt x="53683" y="95449"/>
                  </a:moveTo>
                  <a:cubicBezTo>
                    <a:pt x="53683" y="84497"/>
                    <a:pt x="62561" y="75619"/>
                    <a:pt x="73512" y="75619"/>
                  </a:cubicBezTo>
                  <a:cubicBezTo>
                    <a:pt x="84464" y="75619"/>
                    <a:pt x="93342" y="84497"/>
                    <a:pt x="93342" y="95449"/>
                  </a:cubicBezTo>
                  <a:cubicBezTo>
                    <a:pt x="93342" y="106400"/>
                    <a:pt x="84464" y="115278"/>
                    <a:pt x="73512" y="115278"/>
                  </a:cubicBezTo>
                  <a:cubicBezTo>
                    <a:pt x="62561" y="115278"/>
                    <a:pt x="53683" y="106400"/>
                    <a:pt x="53683" y="95449"/>
                  </a:cubicBezTo>
                  <a:moveTo>
                    <a:pt x="243896" y="85943"/>
                  </a:moveTo>
                  <a:cubicBezTo>
                    <a:pt x="243896" y="81143"/>
                    <a:pt x="247786" y="77253"/>
                    <a:pt x="252585" y="77253"/>
                  </a:cubicBezTo>
                  <a:cubicBezTo>
                    <a:pt x="257384" y="77253"/>
                    <a:pt x="261275" y="81143"/>
                    <a:pt x="261275" y="85943"/>
                  </a:cubicBezTo>
                  <a:cubicBezTo>
                    <a:pt x="261275" y="90742"/>
                    <a:pt x="257384" y="94632"/>
                    <a:pt x="252585" y="94632"/>
                  </a:cubicBezTo>
                  <a:cubicBezTo>
                    <a:pt x="247786" y="94632"/>
                    <a:pt x="243896" y="90742"/>
                    <a:pt x="243896" y="85943"/>
                  </a:cubicBezTo>
                  <a:moveTo>
                    <a:pt x="261970" y="42200"/>
                  </a:moveTo>
                  <a:lnTo>
                    <a:pt x="289220" y="8154"/>
                  </a:lnTo>
                  <a:cubicBezTo>
                    <a:pt x="293334" y="3001"/>
                    <a:pt x="299570" y="1"/>
                    <a:pt x="306164" y="4"/>
                  </a:cubicBezTo>
                  <a:lnTo>
                    <a:pt x="358301" y="4"/>
                  </a:lnTo>
                  <a:cubicBezTo>
                    <a:pt x="364059" y="0"/>
                    <a:pt x="369581" y="2288"/>
                    <a:pt x="373647" y="6364"/>
                  </a:cubicBezTo>
                  <a:lnTo>
                    <a:pt x="391026" y="23743"/>
                  </a:lnTo>
                  <a:cubicBezTo>
                    <a:pt x="399502" y="32224"/>
                    <a:pt x="399500" y="45970"/>
                    <a:pt x="391022" y="54448"/>
                  </a:cubicBezTo>
                  <a:cubicBezTo>
                    <a:pt x="382544" y="62926"/>
                    <a:pt x="368798" y="62928"/>
                    <a:pt x="360317" y="54452"/>
                  </a:cubicBezTo>
                  <a:lnTo>
                    <a:pt x="349316" y="43451"/>
                  </a:lnTo>
                  <a:lnTo>
                    <a:pt x="316609" y="43451"/>
                  </a:lnTo>
                  <a:lnTo>
                    <a:pt x="297840" y="66895"/>
                  </a:lnTo>
                  <a:cubicBezTo>
                    <a:pt x="296362" y="68716"/>
                    <a:pt x="294601" y="70288"/>
                    <a:pt x="292626" y="71553"/>
                  </a:cubicBezTo>
                  <a:moveTo>
                    <a:pt x="292400" y="100089"/>
                  </a:moveTo>
                  <a:lnTo>
                    <a:pt x="316609" y="130346"/>
                  </a:lnTo>
                  <a:lnTo>
                    <a:pt x="349316" y="130346"/>
                  </a:lnTo>
                  <a:lnTo>
                    <a:pt x="360335" y="119327"/>
                  </a:lnTo>
                  <a:cubicBezTo>
                    <a:pt x="368815" y="110852"/>
                    <a:pt x="382559" y="110856"/>
                    <a:pt x="391034" y="119336"/>
                  </a:cubicBezTo>
                  <a:cubicBezTo>
                    <a:pt x="399510" y="127816"/>
                    <a:pt x="399506" y="141561"/>
                    <a:pt x="391026" y="150036"/>
                  </a:cubicBezTo>
                  <a:lnTo>
                    <a:pt x="373647" y="167415"/>
                  </a:lnTo>
                  <a:cubicBezTo>
                    <a:pt x="369578" y="171500"/>
                    <a:pt x="364049" y="173795"/>
                    <a:pt x="358284" y="173793"/>
                  </a:cubicBezTo>
                  <a:lnTo>
                    <a:pt x="306147" y="173793"/>
                  </a:lnTo>
                  <a:cubicBezTo>
                    <a:pt x="299555" y="173788"/>
                    <a:pt x="293321" y="170790"/>
                    <a:pt x="289203" y="165642"/>
                  </a:cubicBezTo>
                  <a:lnTo>
                    <a:pt x="259015" y="127930"/>
                  </a:lnTo>
                </a:path>
              </a:pathLst>
            </a:custGeom>
            <a:solidFill>
              <a:srgbClr val="000000"/>
            </a:solidFill>
            <a:ln w="13033">
              <a:solidFill>
                <a:srgbClr val="484848"/>
              </a:solidFill>
            </a:ln>
          </p:spPr>
          <p:txBody>
            <a:bodyPr rtlCol="0" anchor="ctr"/>
            <a:lstStyle/>
            <a:p>
              <a:pPr algn="ctr"/>
              <a:endParaRPr sz="2000">
                <a:solidFill>
                  <a:srgbClr val="000000"/>
                </a:solidFill>
              </a:endParaRPr>
            </a:p>
          </p:txBody>
        </p:sp>
        <p:sp>
          <p:nvSpPr>
            <p:cNvPr id="21" name="Rounded Rectangle 20">
              <a:extLst>
                <a:ext uri="{FF2B5EF4-FFF2-40B4-BE49-F238E27FC236}">
                  <a16:creationId xmlns:a16="http://schemas.microsoft.com/office/drawing/2014/main" id="{8C3E95E5-D8E8-B078-A513-47D5258B15A6}"/>
                </a:ext>
              </a:extLst>
            </p:cNvPr>
            <p:cNvSpPr/>
            <p:nvPr/>
          </p:nvSpPr>
          <p:spPr>
            <a:xfrm>
              <a:off x="7152899" y="3134421"/>
              <a:ext cx="400002" cy="379383"/>
            </a:xfrm>
            <a:custGeom>
              <a:avLst/>
              <a:gdLst/>
              <a:ahLst/>
              <a:cxnLst/>
              <a:rect l="0" t="0" r="0" b="0"/>
              <a:pathLst>
                <a:path w="400002" h="379383">
                  <a:moveTo>
                    <a:pt x="33715" y="157515"/>
                  </a:moveTo>
                  <a:cubicBezTo>
                    <a:pt x="33018" y="151748"/>
                    <a:pt x="32670" y="145945"/>
                    <a:pt x="32672" y="140136"/>
                  </a:cubicBezTo>
                  <a:cubicBezTo>
                    <a:pt x="32599" y="77479"/>
                    <a:pt x="77061" y="23611"/>
                    <a:pt x="138596" y="11805"/>
                  </a:cubicBezTo>
                  <a:cubicBezTo>
                    <a:pt x="200131" y="0"/>
                    <a:pt x="261372" y="33588"/>
                    <a:pt x="284493" y="91823"/>
                  </a:cubicBezTo>
                  <a:moveTo>
                    <a:pt x="255470" y="232418"/>
                  </a:moveTo>
                  <a:lnTo>
                    <a:pt x="293182" y="270131"/>
                  </a:lnTo>
                  <a:moveTo>
                    <a:pt x="390157" y="332695"/>
                  </a:moveTo>
                  <a:cubicBezTo>
                    <a:pt x="397131" y="339194"/>
                    <a:pt x="400002" y="348981"/>
                    <a:pt x="397643" y="358217"/>
                  </a:cubicBezTo>
                  <a:cubicBezTo>
                    <a:pt x="395284" y="367454"/>
                    <a:pt x="388072" y="374666"/>
                    <a:pt x="378836" y="377025"/>
                  </a:cubicBezTo>
                  <a:cubicBezTo>
                    <a:pt x="369600" y="379383"/>
                    <a:pt x="359812" y="376513"/>
                    <a:pt x="353314" y="369538"/>
                  </a:cubicBezTo>
                  <a:lnTo>
                    <a:pt x="285883" y="301934"/>
                  </a:lnTo>
                  <a:cubicBezTo>
                    <a:pt x="282593" y="298671"/>
                    <a:pt x="280743" y="294229"/>
                    <a:pt x="280743" y="289595"/>
                  </a:cubicBezTo>
                  <a:cubicBezTo>
                    <a:pt x="280743" y="284961"/>
                    <a:pt x="282593" y="280519"/>
                    <a:pt x="285883" y="277256"/>
                  </a:cubicBezTo>
                  <a:lnTo>
                    <a:pt x="298222" y="264917"/>
                  </a:lnTo>
                  <a:cubicBezTo>
                    <a:pt x="301485" y="261627"/>
                    <a:pt x="305927" y="259776"/>
                    <a:pt x="310561" y="259776"/>
                  </a:cubicBezTo>
                  <a:cubicBezTo>
                    <a:pt x="315195" y="259776"/>
                    <a:pt x="319637" y="261627"/>
                    <a:pt x="322900" y="264917"/>
                  </a:cubicBezTo>
                  <a:close/>
                  <a:moveTo>
                    <a:pt x="303436" y="3538"/>
                  </a:moveTo>
                  <a:lnTo>
                    <a:pt x="372952" y="3538"/>
                  </a:lnTo>
                  <a:lnTo>
                    <a:pt x="372952" y="73053"/>
                  </a:lnTo>
                  <a:moveTo>
                    <a:pt x="293530" y="147957"/>
                  </a:moveTo>
                  <a:cubicBezTo>
                    <a:pt x="290013" y="207054"/>
                    <a:pt x="247160" y="256382"/>
                    <a:pt x="189135" y="268125"/>
                  </a:cubicBezTo>
                  <a:cubicBezTo>
                    <a:pt x="131110" y="279869"/>
                    <a:pt x="72448" y="251087"/>
                    <a:pt x="46227" y="198008"/>
                  </a:cubicBezTo>
                  <a:moveTo>
                    <a:pt x="372778" y="3538"/>
                  </a:moveTo>
                  <a:lnTo>
                    <a:pt x="218105" y="158384"/>
                  </a:lnTo>
                  <a:cubicBezTo>
                    <a:pt x="211327" y="165122"/>
                    <a:pt x="200379" y="165122"/>
                    <a:pt x="193601" y="158384"/>
                  </a:cubicBezTo>
                  <a:lnTo>
                    <a:pt x="152065" y="116675"/>
                  </a:lnTo>
                  <a:cubicBezTo>
                    <a:pt x="145287" y="109936"/>
                    <a:pt x="134339" y="109936"/>
                    <a:pt x="127561" y="116675"/>
                  </a:cubicBezTo>
                  <a:lnTo>
                    <a:pt x="0" y="244236"/>
                  </a:lnTo>
                </a:path>
              </a:pathLst>
            </a:custGeom>
            <a:solidFill>
              <a:srgbClr val="000000"/>
            </a:solidFill>
            <a:ln w="13033">
              <a:solidFill>
                <a:srgbClr val="484848"/>
              </a:solidFill>
            </a:ln>
          </p:spPr>
          <p:txBody>
            <a:bodyPr rtlCol="0" anchor="ctr"/>
            <a:lstStyle/>
            <a:p>
              <a:pPr algn="ctr"/>
              <a:endParaRPr sz="2000"/>
            </a:p>
          </p:txBody>
        </p:sp>
        <p:sp>
          <p:nvSpPr>
            <p:cNvPr id="22" name="Rounded Rectangle 21">
              <a:extLst>
                <a:ext uri="{FF2B5EF4-FFF2-40B4-BE49-F238E27FC236}">
                  <a16:creationId xmlns:a16="http://schemas.microsoft.com/office/drawing/2014/main" id="{1CA6BB2E-E205-1907-915F-AA80E1374E75}"/>
                </a:ext>
              </a:extLst>
            </p:cNvPr>
            <p:cNvSpPr/>
            <p:nvPr/>
          </p:nvSpPr>
          <p:spPr>
            <a:xfrm>
              <a:off x="3446145" y="4449850"/>
              <a:ext cx="404060" cy="404060"/>
            </a:xfrm>
            <a:custGeom>
              <a:avLst/>
              <a:gdLst/>
              <a:ahLst/>
              <a:cxnLst/>
              <a:rect l="0" t="0" r="0" b="0"/>
              <a:pathLst>
                <a:path w="404060" h="404060">
                  <a:moveTo>
                    <a:pt x="193775" y="322379"/>
                  </a:moveTo>
                  <a:lnTo>
                    <a:pt x="259815" y="322379"/>
                  </a:lnTo>
                  <a:cubicBezTo>
                    <a:pt x="278932" y="322379"/>
                    <a:pt x="296311" y="315427"/>
                    <a:pt x="310214" y="303262"/>
                  </a:cubicBezTo>
                  <a:cubicBezTo>
                    <a:pt x="324117" y="289359"/>
                    <a:pt x="331068" y="271980"/>
                    <a:pt x="331068" y="252863"/>
                  </a:cubicBezTo>
                  <a:lnTo>
                    <a:pt x="331068" y="164231"/>
                  </a:lnTo>
                  <a:moveTo>
                    <a:pt x="226795" y="383205"/>
                  </a:moveTo>
                  <a:cubicBezTo>
                    <a:pt x="205940" y="397108"/>
                    <a:pt x="179872" y="404060"/>
                    <a:pt x="152065" y="404060"/>
                  </a:cubicBezTo>
                  <a:cubicBezTo>
                    <a:pt x="75598" y="404060"/>
                    <a:pt x="13034" y="341496"/>
                    <a:pt x="13034" y="265028"/>
                  </a:cubicBezTo>
                  <a:cubicBezTo>
                    <a:pt x="13034" y="188561"/>
                    <a:pt x="75598" y="125997"/>
                    <a:pt x="152065" y="125997"/>
                  </a:cubicBezTo>
                  <a:cubicBezTo>
                    <a:pt x="218105" y="125997"/>
                    <a:pt x="273718" y="172920"/>
                    <a:pt x="287621" y="233746"/>
                  </a:cubicBezTo>
                  <a:moveTo>
                    <a:pt x="152065" y="334544"/>
                  </a:moveTo>
                  <a:cubicBezTo>
                    <a:pt x="190457" y="334544"/>
                    <a:pt x="221581" y="303422"/>
                    <a:pt x="221581" y="265028"/>
                  </a:cubicBezTo>
                  <a:cubicBezTo>
                    <a:pt x="221581" y="226637"/>
                    <a:pt x="190457" y="195513"/>
                    <a:pt x="152065" y="195513"/>
                  </a:cubicBezTo>
                  <a:cubicBezTo>
                    <a:pt x="113673" y="195513"/>
                    <a:pt x="82550" y="226637"/>
                    <a:pt x="82550" y="265028"/>
                  </a:cubicBezTo>
                  <a:cubicBezTo>
                    <a:pt x="82550" y="303422"/>
                    <a:pt x="113673" y="334544"/>
                    <a:pt x="152065" y="334544"/>
                  </a:cubicBezTo>
                  <a:close/>
                  <a:moveTo>
                    <a:pt x="152065" y="268504"/>
                  </a:moveTo>
                  <a:cubicBezTo>
                    <a:pt x="150146" y="268504"/>
                    <a:pt x="148589" y="266949"/>
                    <a:pt x="148589" y="265028"/>
                  </a:cubicBezTo>
                  <a:cubicBezTo>
                    <a:pt x="148589" y="263108"/>
                    <a:pt x="150146" y="261553"/>
                    <a:pt x="152065" y="261553"/>
                  </a:cubicBezTo>
                  <a:moveTo>
                    <a:pt x="152064" y="261553"/>
                  </a:moveTo>
                  <a:cubicBezTo>
                    <a:pt x="153984" y="261553"/>
                    <a:pt x="155540" y="263108"/>
                    <a:pt x="155540" y="265028"/>
                  </a:cubicBezTo>
                  <a:cubicBezTo>
                    <a:pt x="155540" y="266949"/>
                    <a:pt x="153984" y="268504"/>
                    <a:pt x="152064" y="268504"/>
                  </a:cubicBezTo>
                  <a:moveTo>
                    <a:pt x="331068" y="159017"/>
                  </a:moveTo>
                  <a:cubicBezTo>
                    <a:pt x="371381" y="159017"/>
                    <a:pt x="404060" y="126337"/>
                    <a:pt x="404060" y="86025"/>
                  </a:cubicBezTo>
                  <a:cubicBezTo>
                    <a:pt x="404060" y="45713"/>
                    <a:pt x="371381" y="13034"/>
                    <a:pt x="331068" y="13034"/>
                  </a:cubicBezTo>
                  <a:cubicBezTo>
                    <a:pt x="290756" y="13034"/>
                    <a:pt x="258077" y="45713"/>
                    <a:pt x="258077" y="86025"/>
                  </a:cubicBezTo>
                  <a:cubicBezTo>
                    <a:pt x="258077" y="126337"/>
                    <a:pt x="290756" y="159017"/>
                    <a:pt x="331068" y="159017"/>
                  </a:cubicBezTo>
                  <a:close/>
                  <a:moveTo>
                    <a:pt x="0" y="0"/>
                  </a:moveTo>
                  <a:moveTo>
                    <a:pt x="350184" y="66909"/>
                  </a:moveTo>
                  <a:lnTo>
                    <a:pt x="331067" y="86026"/>
                  </a:lnTo>
                </a:path>
              </a:pathLst>
            </a:custGeom>
            <a:solidFill>
              <a:srgbClr val="000000"/>
            </a:solidFill>
            <a:ln w="13033">
              <a:solidFill>
                <a:srgbClr val="484848"/>
              </a:solidFill>
            </a:ln>
          </p:spPr>
          <p:txBody>
            <a:bodyPr rtlCol="0" anchor="ctr"/>
            <a:lstStyle/>
            <a:p>
              <a:pPr algn="ctr"/>
              <a:endParaRPr sz="2000"/>
            </a:p>
          </p:txBody>
        </p:sp>
        <p:sp>
          <p:nvSpPr>
            <p:cNvPr id="23" name="Rounded Rectangle 22">
              <a:extLst>
                <a:ext uri="{FF2B5EF4-FFF2-40B4-BE49-F238E27FC236}">
                  <a16:creationId xmlns:a16="http://schemas.microsoft.com/office/drawing/2014/main" id="{B811D523-09F6-34B2-7C2C-517FC99FC7FC}"/>
                </a:ext>
              </a:extLst>
            </p:cNvPr>
            <p:cNvSpPr/>
            <p:nvPr/>
          </p:nvSpPr>
          <p:spPr>
            <a:xfrm>
              <a:off x="8064501" y="4471020"/>
              <a:ext cx="382336" cy="388871"/>
            </a:xfrm>
            <a:custGeom>
              <a:avLst/>
              <a:gdLst/>
              <a:ahLst/>
              <a:cxnLst/>
              <a:rect l="0" t="0" r="0" b="0"/>
              <a:pathLst>
                <a:path w="382336" h="388871">
                  <a:moveTo>
                    <a:pt x="0" y="300916"/>
                  </a:moveTo>
                  <a:lnTo>
                    <a:pt x="191168" y="353053"/>
                  </a:lnTo>
                  <a:moveTo>
                    <a:pt x="191168" y="353053"/>
                  </a:moveTo>
                  <a:lnTo>
                    <a:pt x="382336" y="300916"/>
                  </a:lnTo>
                  <a:moveTo>
                    <a:pt x="0" y="300916"/>
                  </a:moveTo>
                  <a:lnTo>
                    <a:pt x="95462" y="275908"/>
                  </a:lnTo>
                  <a:moveTo>
                    <a:pt x="0" y="380181"/>
                  </a:moveTo>
                  <a:lnTo>
                    <a:pt x="0" y="303088"/>
                  </a:lnTo>
                  <a:moveTo>
                    <a:pt x="382336" y="303088"/>
                  </a:moveTo>
                  <a:lnTo>
                    <a:pt x="382336" y="380181"/>
                  </a:lnTo>
                  <a:moveTo>
                    <a:pt x="191168" y="388871"/>
                  </a:moveTo>
                  <a:lnTo>
                    <a:pt x="191168" y="353053"/>
                  </a:lnTo>
                  <a:moveTo>
                    <a:pt x="251994" y="91239"/>
                  </a:moveTo>
                  <a:cubicBezTo>
                    <a:pt x="251994" y="124832"/>
                    <a:pt x="241862" y="212892"/>
                    <a:pt x="191168" y="212892"/>
                  </a:cubicBezTo>
                  <a:cubicBezTo>
                    <a:pt x="140474" y="212892"/>
                    <a:pt x="130342" y="124919"/>
                    <a:pt x="130342" y="91239"/>
                  </a:cubicBezTo>
                  <a:cubicBezTo>
                    <a:pt x="130342" y="30413"/>
                    <a:pt x="191168" y="0"/>
                    <a:pt x="191168" y="0"/>
                  </a:cubicBezTo>
                  <a:cubicBezTo>
                    <a:pt x="191168" y="0"/>
                    <a:pt x="251994" y="30413"/>
                    <a:pt x="251994" y="91239"/>
                  </a:cubicBezTo>
                  <a:close/>
                  <a:moveTo>
                    <a:pt x="167307" y="89067"/>
                  </a:moveTo>
                  <a:cubicBezTo>
                    <a:pt x="167304" y="102247"/>
                    <a:pt x="177988" y="112933"/>
                    <a:pt x="191168" y="112933"/>
                  </a:cubicBezTo>
                  <a:cubicBezTo>
                    <a:pt x="204348" y="112933"/>
                    <a:pt x="215032" y="102247"/>
                    <a:pt x="215029" y="89067"/>
                  </a:cubicBezTo>
                  <a:cubicBezTo>
                    <a:pt x="215032" y="75886"/>
                    <a:pt x="204348" y="65200"/>
                    <a:pt x="191168" y="65200"/>
                  </a:cubicBezTo>
                  <a:cubicBezTo>
                    <a:pt x="177988" y="65200"/>
                    <a:pt x="167304" y="75886"/>
                    <a:pt x="167307" y="89067"/>
                  </a:cubicBezTo>
                  <a:moveTo>
                    <a:pt x="150901" y="197233"/>
                  </a:moveTo>
                  <a:lnTo>
                    <a:pt x="136859" y="204272"/>
                  </a:lnTo>
                  <a:cubicBezTo>
                    <a:pt x="128919" y="208486"/>
                    <a:pt x="121646" y="213850"/>
                    <a:pt x="115274" y="220191"/>
                  </a:cubicBezTo>
                  <a:cubicBezTo>
                    <a:pt x="112156" y="223535"/>
                    <a:pt x="107335" y="224682"/>
                    <a:pt x="103045" y="223099"/>
                  </a:cubicBezTo>
                  <a:cubicBezTo>
                    <a:pt x="98755" y="221515"/>
                    <a:pt x="95834" y="217512"/>
                    <a:pt x="95636" y="212944"/>
                  </a:cubicBezTo>
                  <a:cubicBezTo>
                    <a:pt x="92576" y="186195"/>
                    <a:pt x="107536" y="160635"/>
                    <a:pt x="132358" y="150206"/>
                  </a:cubicBezTo>
                  <a:moveTo>
                    <a:pt x="231435" y="197233"/>
                  </a:moveTo>
                  <a:lnTo>
                    <a:pt x="245477" y="204272"/>
                  </a:lnTo>
                  <a:cubicBezTo>
                    <a:pt x="253417" y="208486"/>
                    <a:pt x="260690" y="213850"/>
                    <a:pt x="267062" y="220191"/>
                  </a:cubicBezTo>
                  <a:cubicBezTo>
                    <a:pt x="270180" y="223535"/>
                    <a:pt x="275001" y="224682"/>
                    <a:pt x="279291" y="223099"/>
                  </a:cubicBezTo>
                  <a:cubicBezTo>
                    <a:pt x="283581" y="221515"/>
                    <a:pt x="286502" y="217512"/>
                    <a:pt x="286700" y="212944"/>
                  </a:cubicBezTo>
                  <a:cubicBezTo>
                    <a:pt x="289760" y="186195"/>
                    <a:pt x="274800" y="160635"/>
                    <a:pt x="249978" y="150206"/>
                  </a:cubicBezTo>
                  <a:moveTo>
                    <a:pt x="382336" y="300916"/>
                  </a:moveTo>
                  <a:lnTo>
                    <a:pt x="286874" y="275908"/>
                  </a:lnTo>
                  <a:moveTo>
                    <a:pt x="215498" y="264073"/>
                  </a:moveTo>
                  <a:cubicBezTo>
                    <a:pt x="215498" y="277507"/>
                    <a:pt x="204602" y="310005"/>
                    <a:pt x="191168" y="310005"/>
                  </a:cubicBezTo>
                  <a:cubicBezTo>
                    <a:pt x="177734" y="310005"/>
                    <a:pt x="166837" y="277507"/>
                    <a:pt x="166837" y="264073"/>
                  </a:cubicBezTo>
                  <a:cubicBezTo>
                    <a:pt x="166837" y="250635"/>
                    <a:pt x="177731" y="239742"/>
                    <a:pt x="191168" y="239742"/>
                  </a:cubicBezTo>
                  <a:cubicBezTo>
                    <a:pt x="204605" y="239742"/>
                    <a:pt x="215498" y="250635"/>
                    <a:pt x="215498" y="264073"/>
                  </a:cubicBezTo>
                  <a:close/>
                </a:path>
              </a:pathLst>
            </a:custGeom>
            <a:solidFill>
              <a:srgbClr val="000000"/>
            </a:solidFill>
            <a:ln w="13033">
              <a:solidFill>
                <a:srgbClr val="484848"/>
              </a:solidFill>
            </a:ln>
          </p:spPr>
          <p:txBody>
            <a:bodyPr rtlCol="0" anchor="ctr"/>
            <a:lstStyle/>
            <a:p>
              <a:pPr algn="ctr"/>
              <a:endParaRPr sz="20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Le triple A de l'Humain Augmenté</a:t>
            </a:r>
          </a:p>
        </p:txBody>
      </p:sp>
      <p:sp>
        <p:nvSpPr>
          <p:cNvPr id="19" name="Espace réservé du texte 18">
            <a:extLst>
              <a:ext uri="{FF2B5EF4-FFF2-40B4-BE49-F238E27FC236}">
                <a16:creationId xmlns:a16="http://schemas.microsoft.com/office/drawing/2014/main" id="{7A985CEC-12B8-8C7F-54F4-A4697ABCBD8B}"/>
              </a:ext>
            </a:extLst>
          </p:cNvPr>
          <p:cNvSpPr>
            <a:spLocks noGrp="1"/>
          </p:cNvSpPr>
          <p:nvPr>
            <p:ph type="body" sz="quarter" idx="14"/>
          </p:nvPr>
        </p:nvSpPr>
        <p:spPr/>
        <p:txBody>
          <a:bodyPr/>
          <a:lstStyle/>
          <a:p>
            <a:r>
              <a:rPr lang="fr-FR" dirty="0"/>
              <a:t>1</a:t>
            </a:r>
            <a:endParaRPr lang="en-US" dirty="0"/>
          </a:p>
        </p:txBody>
      </p:sp>
      <p:sp>
        <p:nvSpPr>
          <p:cNvPr id="20" name="Espace réservé du texte 19">
            <a:extLst>
              <a:ext uri="{FF2B5EF4-FFF2-40B4-BE49-F238E27FC236}">
                <a16:creationId xmlns:a16="http://schemas.microsoft.com/office/drawing/2014/main" id="{34AFD9A9-7899-B9C7-B738-20E5E670A54E}"/>
              </a:ext>
            </a:extLst>
          </p:cNvPr>
          <p:cNvSpPr>
            <a:spLocks noGrp="1"/>
          </p:cNvSpPr>
          <p:nvPr>
            <p:ph type="body" sz="quarter" idx="15"/>
          </p:nvPr>
        </p:nvSpPr>
        <p:spPr/>
        <p:txBody>
          <a:bodyPr/>
          <a:lstStyle/>
          <a:p>
            <a:r>
              <a:rPr lang="en-US"/>
              <a:t>Adoption</a:t>
            </a:r>
            <a:endParaRPr lang="en-US" dirty="0"/>
          </a:p>
        </p:txBody>
      </p:sp>
      <p:sp>
        <p:nvSpPr>
          <p:cNvPr id="21" name="Espace réservé du texte 20">
            <a:extLst>
              <a:ext uri="{FF2B5EF4-FFF2-40B4-BE49-F238E27FC236}">
                <a16:creationId xmlns:a16="http://schemas.microsoft.com/office/drawing/2014/main" id="{7962F0D5-DF07-25C4-920A-4040C32F754D}"/>
              </a:ext>
            </a:extLst>
          </p:cNvPr>
          <p:cNvSpPr>
            <a:spLocks noGrp="1"/>
          </p:cNvSpPr>
          <p:nvPr>
            <p:ph type="body" sz="quarter" idx="16"/>
          </p:nvPr>
        </p:nvSpPr>
        <p:spPr/>
        <p:txBody>
          <a:bodyPr/>
          <a:lstStyle/>
          <a:p>
            <a:r>
              <a:rPr lang="fr-FR" dirty="0"/>
              <a:t>On installe l'environnement et on forme vos équipes. L'IA entre dans les usages, sans accroc.</a:t>
            </a:r>
          </a:p>
          <a:p>
            <a:endParaRPr lang="en-US" dirty="0"/>
          </a:p>
        </p:txBody>
      </p:sp>
      <p:sp>
        <p:nvSpPr>
          <p:cNvPr id="22" name="Espace réservé du texte 21">
            <a:extLst>
              <a:ext uri="{FF2B5EF4-FFF2-40B4-BE49-F238E27FC236}">
                <a16:creationId xmlns:a16="http://schemas.microsoft.com/office/drawing/2014/main" id="{FE9C37B3-888C-9D8B-E0F7-77A60ED2DB5C}"/>
              </a:ext>
            </a:extLst>
          </p:cNvPr>
          <p:cNvSpPr>
            <a:spLocks noGrp="1"/>
          </p:cNvSpPr>
          <p:nvPr>
            <p:ph type="body" sz="quarter" idx="17"/>
          </p:nvPr>
        </p:nvSpPr>
        <p:spPr/>
        <p:txBody>
          <a:bodyPr/>
          <a:lstStyle/>
          <a:p>
            <a:r>
              <a:rPr lang="fr-FR" dirty="0"/>
              <a:t>3</a:t>
            </a:r>
            <a:endParaRPr lang="en-US" dirty="0"/>
          </a:p>
        </p:txBody>
      </p:sp>
      <p:sp>
        <p:nvSpPr>
          <p:cNvPr id="23" name="Espace réservé du texte 22">
            <a:extLst>
              <a:ext uri="{FF2B5EF4-FFF2-40B4-BE49-F238E27FC236}">
                <a16:creationId xmlns:a16="http://schemas.microsoft.com/office/drawing/2014/main" id="{034F80FA-F4A2-29E5-63C8-FEA2E1B1C96B}"/>
              </a:ext>
            </a:extLst>
          </p:cNvPr>
          <p:cNvSpPr>
            <a:spLocks noGrp="1"/>
          </p:cNvSpPr>
          <p:nvPr>
            <p:ph type="body" sz="quarter" idx="18"/>
          </p:nvPr>
        </p:nvSpPr>
        <p:spPr/>
        <p:txBody>
          <a:bodyPr/>
          <a:lstStyle/>
          <a:p>
            <a:r>
              <a:rPr lang="en-US"/>
              <a:t>Accélération</a:t>
            </a:r>
          </a:p>
        </p:txBody>
      </p:sp>
      <p:sp>
        <p:nvSpPr>
          <p:cNvPr id="24" name="Espace réservé du texte 23">
            <a:extLst>
              <a:ext uri="{FF2B5EF4-FFF2-40B4-BE49-F238E27FC236}">
                <a16:creationId xmlns:a16="http://schemas.microsoft.com/office/drawing/2014/main" id="{53DFC52C-3331-52C8-22EC-735FFB5DE55C}"/>
              </a:ext>
            </a:extLst>
          </p:cNvPr>
          <p:cNvSpPr>
            <a:spLocks noGrp="1"/>
          </p:cNvSpPr>
          <p:nvPr>
            <p:ph type="body" sz="quarter" idx="19"/>
          </p:nvPr>
        </p:nvSpPr>
        <p:spPr/>
        <p:txBody>
          <a:bodyPr/>
          <a:lstStyle/>
          <a:p>
            <a:r>
              <a:rPr lang="fr-FR" dirty="0"/>
              <a:t>On entretient, on mesure le ROI et on fait monter vos agents en puissance.</a:t>
            </a:r>
          </a:p>
          <a:p>
            <a:endParaRPr lang="en-US" dirty="0"/>
          </a:p>
        </p:txBody>
      </p:sp>
      <p:sp>
        <p:nvSpPr>
          <p:cNvPr id="25" name="Espace réservé du texte 24">
            <a:extLst>
              <a:ext uri="{FF2B5EF4-FFF2-40B4-BE49-F238E27FC236}">
                <a16:creationId xmlns:a16="http://schemas.microsoft.com/office/drawing/2014/main" id="{1C08E212-2CE2-4DA0-9763-B2CB965E1662}"/>
              </a:ext>
            </a:extLst>
          </p:cNvPr>
          <p:cNvSpPr>
            <a:spLocks noGrp="1"/>
          </p:cNvSpPr>
          <p:nvPr>
            <p:ph type="body" sz="quarter" idx="20"/>
          </p:nvPr>
        </p:nvSpPr>
        <p:spPr/>
        <p:txBody>
          <a:bodyPr/>
          <a:lstStyle/>
          <a:p>
            <a:r>
              <a:rPr lang="fr-FR" dirty="0"/>
              <a:t>2</a:t>
            </a:r>
            <a:endParaRPr lang="en-US" dirty="0"/>
          </a:p>
        </p:txBody>
      </p:sp>
      <p:sp>
        <p:nvSpPr>
          <p:cNvPr id="26" name="Espace réservé du texte 25">
            <a:extLst>
              <a:ext uri="{FF2B5EF4-FFF2-40B4-BE49-F238E27FC236}">
                <a16:creationId xmlns:a16="http://schemas.microsoft.com/office/drawing/2014/main" id="{EB2F05B7-CBCC-8C29-D420-8A39933499AB}"/>
              </a:ext>
            </a:extLst>
          </p:cNvPr>
          <p:cNvSpPr>
            <a:spLocks noGrp="1"/>
          </p:cNvSpPr>
          <p:nvPr>
            <p:ph type="body" sz="quarter" idx="21"/>
          </p:nvPr>
        </p:nvSpPr>
        <p:spPr/>
        <p:txBody>
          <a:bodyPr/>
          <a:lstStyle/>
          <a:p>
            <a:r>
              <a:rPr lang="en-US"/>
              <a:t>Automatisation</a:t>
            </a:r>
            <a:endParaRPr lang="en-US" dirty="0"/>
          </a:p>
        </p:txBody>
      </p:sp>
      <p:sp>
        <p:nvSpPr>
          <p:cNvPr id="27" name="Espace réservé du texte 26">
            <a:extLst>
              <a:ext uri="{FF2B5EF4-FFF2-40B4-BE49-F238E27FC236}">
                <a16:creationId xmlns:a16="http://schemas.microsoft.com/office/drawing/2014/main" id="{8065D5ED-0908-D31A-31DD-2BFDA7DA7A26}"/>
              </a:ext>
            </a:extLst>
          </p:cNvPr>
          <p:cNvSpPr>
            <a:spLocks noGrp="1"/>
          </p:cNvSpPr>
          <p:nvPr>
            <p:ph type="body" sz="quarter" idx="22"/>
          </p:nvPr>
        </p:nvSpPr>
        <p:spPr/>
        <p:txBody>
          <a:bodyPr/>
          <a:lstStyle/>
          <a:p>
            <a:r>
              <a:rPr lang="fr-FR" dirty="0"/>
              <a:t>On déploie les agents qui retirent les tâches répétitives, là où ça pèse le plus.</a:t>
            </a:r>
          </a:p>
          <a:p>
            <a:endParaRPr lang="en-US" dirty="0"/>
          </a:p>
        </p:txBody>
      </p:sp>
      <p:sp>
        <p:nvSpPr>
          <p:cNvPr id="3" name="Text Placeholder 2"/>
          <p:cNvSpPr>
            <a:spLocks noGrp="1"/>
          </p:cNvSpPr>
          <p:nvPr>
            <p:ph type="body" sz="quarter" idx="13"/>
          </p:nvPr>
        </p:nvSpPr>
        <p:spPr/>
        <p:txBody>
          <a:bodyPr/>
          <a:lstStyle/>
          <a:p>
            <a:r>
              <a:t>IA</a:t>
            </a:r>
          </a:p>
        </p:txBody>
      </p:sp>
      <p:sp>
        <p:nvSpPr>
          <p:cNvPr id="28" name="Espace réservé du texte 27">
            <a:extLst>
              <a:ext uri="{FF2B5EF4-FFF2-40B4-BE49-F238E27FC236}">
                <a16:creationId xmlns:a16="http://schemas.microsoft.com/office/drawing/2014/main" id="{46358935-1DAC-4DAA-81E1-FC3EB659FCCB}"/>
              </a:ext>
            </a:extLst>
          </p:cNvPr>
          <p:cNvSpPr>
            <a:spLocks noGrp="1"/>
          </p:cNvSpPr>
          <p:nvPr>
            <p:ph type="body" sz="quarter" idx="23"/>
          </p:nvPr>
        </p:nvSpPr>
        <p:spPr/>
        <p:txBody>
          <a:bodyPr/>
          <a:lstStyle/>
          <a:p>
            <a:r>
              <a:rPr lang="fr-FR" dirty="0"/>
              <a:t>On part toujours d'un besoin concret. On allège la charge, on ne remplace personne.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r>
              <a:rPr lang="fr-FR" dirty="0"/>
              <a:t>6 AGENTS IA ENTRAINE</a:t>
            </a:r>
            <a:endParaRPr dirty="0"/>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03</a:t>
            </a:r>
            <a:endParaRPr lang="en-US"/>
          </a:p>
          <a:p>
            <a:pPr/>
            <a:r>
              <a:t>Chacun prend une charge précise. Vous gardez la main.</a:t>
            </a:r>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IA</a:t>
            </a:r>
            <a:endParaRPr 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rPr dirty="0"/>
              <a:t>Six </a:t>
            </a:r>
            <a:r>
              <a:rPr dirty="0" err="1"/>
              <a:t>collègues</a:t>
            </a:r>
            <a:r>
              <a:rPr dirty="0"/>
              <a:t> </a:t>
            </a:r>
            <a:r>
              <a:rPr dirty="0" err="1"/>
              <a:t>virtuels</a:t>
            </a:r>
            <a:r>
              <a:rPr dirty="0"/>
              <a:t>, un par métier</a:t>
            </a:r>
          </a:p>
        </p:txBody>
      </p:sp>
      <p:sp>
        <p:nvSpPr>
          <p:cNvPr id="32" name="Espace réservé du texte 31">
            <a:extLst>
              <a:ext uri="{FF2B5EF4-FFF2-40B4-BE49-F238E27FC236}">
                <a16:creationId xmlns:a16="http://schemas.microsoft.com/office/drawing/2014/main" id="{290DF5FB-F21F-A680-3EFB-81ABB03FA2C9}"/>
              </a:ext>
            </a:extLst>
          </p:cNvPr>
          <p:cNvSpPr>
            <a:spLocks noGrp="1"/>
          </p:cNvSpPr>
          <p:nvPr>
            <p:ph type="body" sz="quarter" idx="14"/>
          </p:nvPr>
        </p:nvSpPr>
        <p:spPr/>
        <p:txBody>
          <a:bodyPr/>
          <a:lstStyle/>
          <a:p>
            <a:r>
              <a:rPr lang="fr-FR" dirty="0"/>
              <a:t>1</a:t>
            </a:r>
            <a:endParaRPr lang="en-US" dirty="0"/>
          </a:p>
        </p:txBody>
      </p:sp>
      <p:sp>
        <p:nvSpPr>
          <p:cNvPr id="33" name="Espace réservé du texte 32">
            <a:extLst>
              <a:ext uri="{FF2B5EF4-FFF2-40B4-BE49-F238E27FC236}">
                <a16:creationId xmlns:a16="http://schemas.microsoft.com/office/drawing/2014/main" id="{F8A96C0D-F588-30FF-68BB-41CEA3B17570}"/>
              </a:ext>
            </a:extLst>
          </p:cNvPr>
          <p:cNvSpPr>
            <a:spLocks noGrp="1"/>
          </p:cNvSpPr>
          <p:nvPr>
            <p:ph type="body" sz="quarter" idx="15"/>
          </p:nvPr>
        </p:nvSpPr>
        <p:spPr/>
        <p:txBody>
          <a:bodyPr/>
          <a:lstStyle/>
          <a:p>
            <a:r>
              <a:rPr lang="en-US" dirty="0"/>
              <a:t>Léo</a:t>
            </a:r>
          </a:p>
          <a:p>
            <a:r>
              <a:rPr lang="en-US" sz="1400" dirty="0">
                <a:solidFill>
                  <a:schemeClr val="accent1"/>
                </a:solidFill>
              </a:rPr>
              <a:t>Marketing</a:t>
            </a:r>
            <a:endParaRPr lang="en-US" dirty="0">
              <a:solidFill>
                <a:schemeClr val="accent1"/>
              </a:solidFill>
            </a:endParaRPr>
          </a:p>
        </p:txBody>
      </p:sp>
      <p:sp>
        <p:nvSpPr>
          <p:cNvPr id="34" name="Espace réservé du texte 33">
            <a:extLst>
              <a:ext uri="{FF2B5EF4-FFF2-40B4-BE49-F238E27FC236}">
                <a16:creationId xmlns:a16="http://schemas.microsoft.com/office/drawing/2014/main" id="{BFF0BA78-CF69-C6C9-76D1-65817CB94A4A}"/>
              </a:ext>
            </a:extLst>
          </p:cNvPr>
          <p:cNvSpPr>
            <a:spLocks noGrp="1"/>
          </p:cNvSpPr>
          <p:nvPr>
            <p:ph type="body" sz="quarter" idx="16"/>
          </p:nvPr>
        </p:nvSpPr>
        <p:spPr/>
        <p:txBody>
          <a:bodyPr/>
          <a:lstStyle/>
          <a:p>
            <a:r>
              <a:rPr lang="fr-FR"/>
              <a:t>Rédige vos campagnes et vos publications.</a:t>
            </a:r>
            <a:endParaRPr lang="fr-FR" dirty="0"/>
          </a:p>
        </p:txBody>
      </p:sp>
      <p:sp>
        <p:nvSpPr>
          <p:cNvPr id="3" name="Text Placeholder 2"/>
          <p:cNvSpPr>
            <a:spLocks noGrp="1"/>
          </p:cNvSpPr>
          <p:nvPr>
            <p:ph type="body" sz="quarter" idx="13"/>
          </p:nvPr>
        </p:nvSpPr>
        <p:spPr/>
        <p:txBody>
          <a:bodyPr/>
          <a:lstStyle/>
          <a:p>
            <a:r>
              <a:rPr lang="fr-FR" dirty="0"/>
              <a:t>6 AGENTS </a:t>
            </a:r>
            <a:r>
              <a:rPr dirty="0"/>
              <a:t>IA</a:t>
            </a:r>
          </a:p>
        </p:txBody>
      </p:sp>
      <p:sp>
        <p:nvSpPr>
          <p:cNvPr id="35" name="Espace réservé du texte 34">
            <a:extLst>
              <a:ext uri="{FF2B5EF4-FFF2-40B4-BE49-F238E27FC236}">
                <a16:creationId xmlns:a16="http://schemas.microsoft.com/office/drawing/2014/main" id="{7653BC29-3428-464F-4BEA-C7CF48B60C33}"/>
              </a:ext>
            </a:extLst>
          </p:cNvPr>
          <p:cNvSpPr>
            <a:spLocks noGrp="1"/>
          </p:cNvSpPr>
          <p:nvPr>
            <p:ph type="body" sz="quarter" idx="17"/>
          </p:nvPr>
        </p:nvSpPr>
        <p:spPr/>
        <p:txBody>
          <a:bodyPr/>
          <a:lstStyle/>
          <a:p>
            <a:r>
              <a:rPr lang="fr-FR" dirty="0"/>
              <a:t>3</a:t>
            </a:r>
            <a:endParaRPr lang="en-US" dirty="0"/>
          </a:p>
        </p:txBody>
      </p:sp>
      <p:sp>
        <p:nvSpPr>
          <p:cNvPr id="36" name="Espace réservé du texte 35">
            <a:extLst>
              <a:ext uri="{FF2B5EF4-FFF2-40B4-BE49-F238E27FC236}">
                <a16:creationId xmlns:a16="http://schemas.microsoft.com/office/drawing/2014/main" id="{324F1D0E-AAF1-59F3-1448-1ED8BA622FFB}"/>
              </a:ext>
            </a:extLst>
          </p:cNvPr>
          <p:cNvSpPr>
            <a:spLocks noGrp="1"/>
          </p:cNvSpPr>
          <p:nvPr>
            <p:ph type="body" sz="quarter" idx="18"/>
          </p:nvPr>
        </p:nvSpPr>
        <p:spPr/>
        <p:txBody>
          <a:bodyPr/>
          <a:lstStyle/>
          <a:p>
            <a:r>
              <a:rPr lang="en-US" dirty="0">
                <a:solidFill>
                  <a:srgbClr val="212529"/>
                </a:solidFill>
              </a:rPr>
              <a:t>Luna</a:t>
            </a:r>
            <a:endParaRPr lang="en-US" dirty="0"/>
          </a:p>
          <a:p>
            <a:r>
              <a:rPr lang="en-US" sz="1400" dirty="0">
                <a:solidFill>
                  <a:schemeClr val="accent1"/>
                </a:solidFill>
              </a:rPr>
              <a:t>Vente </a:t>
            </a:r>
            <a:r>
              <a:rPr lang="en-US" sz="1400" dirty="0" err="1">
                <a:solidFill>
                  <a:schemeClr val="accent1"/>
                </a:solidFill>
              </a:rPr>
              <a:t>en</a:t>
            </a:r>
            <a:r>
              <a:rPr lang="en-US" sz="1400" dirty="0">
                <a:solidFill>
                  <a:schemeClr val="accent1"/>
                </a:solidFill>
              </a:rPr>
              <a:t> </a:t>
            </a:r>
            <a:r>
              <a:rPr lang="en-US" sz="1400" dirty="0" err="1">
                <a:solidFill>
                  <a:schemeClr val="accent1"/>
                </a:solidFill>
              </a:rPr>
              <a:t>ligne</a:t>
            </a:r>
            <a:endParaRPr lang="en-US" sz="1400" dirty="0">
              <a:solidFill>
                <a:schemeClr val="accent1"/>
              </a:solidFill>
            </a:endParaRPr>
          </a:p>
        </p:txBody>
      </p:sp>
      <p:sp>
        <p:nvSpPr>
          <p:cNvPr id="37" name="Espace réservé du texte 36">
            <a:extLst>
              <a:ext uri="{FF2B5EF4-FFF2-40B4-BE49-F238E27FC236}">
                <a16:creationId xmlns:a16="http://schemas.microsoft.com/office/drawing/2014/main" id="{ADF28908-F5E8-DD24-301F-A4E4279771B0}"/>
              </a:ext>
            </a:extLst>
          </p:cNvPr>
          <p:cNvSpPr>
            <a:spLocks noGrp="1"/>
          </p:cNvSpPr>
          <p:nvPr>
            <p:ph type="body" sz="quarter" idx="19"/>
          </p:nvPr>
        </p:nvSpPr>
        <p:spPr/>
        <p:txBody>
          <a:bodyPr/>
          <a:lstStyle/>
          <a:p>
            <a:r>
              <a:rPr lang="fr-FR"/>
              <a:t>Conseille et vend sur votre site, jour et nuit.</a:t>
            </a:r>
          </a:p>
        </p:txBody>
      </p:sp>
      <p:sp>
        <p:nvSpPr>
          <p:cNvPr id="38" name="Espace réservé du texte 37">
            <a:extLst>
              <a:ext uri="{FF2B5EF4-FFF2-40B4-BE49-F238E27FC236}">
                <a16:creationId xmlns:a16="http://schemas.microsoft.com/office/drawing/2014/main" id="{0B265D56-986F-F74A-A359-A391B1D9E353}"/>
              </a:ext>
            </a:extLst>
          </p:cNvPr>
          <p:cNvSpPr>
            <a:spLocks noGrp="1"/>
          </p:cNvSpPr>
          <p:nvPr>
            <p:ph type="body" sz="quarter" idx="20"/>
          </p:nvPr>
        </p:nvSpPr>
        <p:spPr/>
        <p:txBody>
          <a:bodyPr/>
          <a:lstStyle/>
          <a:p>
            <a:r>
              <a:rPr lang="fr-FR" dirty="0"/>
              <a:t>2</a:t>
            </a:r>
            <a:endParaRPr lang="en-US" dirty="0"/>
          </a:p>
        </p:txBody>
      </p:sp>
      <p:sp>
        <p:nvSpPr>
          <p:cNvPr id="39" name="Espace réservé du texte 38">
            <a:extLst>
              <a:ext uri="{FF2B5EF4-FFF2-40B4-BE49-F238E27FC236}">
                <a16:creationId xmlns:a16="http://schemas.microsoft.com/office/drawing/2014/main" id="{0A82AC54-BAFE-A880-603A-794C19A77E52}"/>
              </a:ext>
            </a:extLst>
          </p:cNvPr>
          <p:cNvSpPr>
            <a:spLocks noGrp="1"/>
          </p:cNvSpPr>
          <p:nvPr>
            <p:ph type="body" sz="quarter" idx="21"/>
          </p:nvPr>
        </p:nvSpPr>
        <p:spPr/>
        <p:txBody>
          <a:bodyPr/>
          <a:lstStyle/>
          <a:p>
            <a:pPr>
              <a:spcBef>
                <a:spcPts val="0"/>
              </a:spcBef>
            </a:pPr>
            <a:r>
              <a:rPr lang="en-US" dirty="0">
                <a:solidFill>
                  <a:srgbClr val="212529"/>
                </a:solidFill>
              </a:rPr>
              <a:t>Jade</a:t>
            </a:r>
          </a:p>
          <a:p>
            <a:r>
              <a:rPr lang="en-US" sz="1400" dirty="0">
                <a:solidFill>
                  <a:schemeClr val="accent1"/>
                </a:solidFill>
              </a:rPr>
              <a:t>Vente</a:t>
            </a:r>
            <a:endParaRPr lang="en-US" dirty="0">
              <a:solidFill>
                <a:schemeClr val="accent1"/>
              </a:solidFill>
            </a:endParaRPr>
          </a:p>
        </p:txBody>
      </p:sp>
      <p:sp>
        <p:nvSpPr>
          <p:cNvPr id="40" name="Espace réservé du texte 39">
            <a:extLst>
              <a:ext uri="{FF2B5EF4-FFF2-40B4-BE49-F238E27FC236}">
                <a16:creationId xmlns:a16="http://schemas.microsoft.com/office/drawing/2014/main" id="{D3EC06D8-4085-62FD-556B-536C732527BD}"/>
              </a:ext>
            </a:extLst>
          </p:cNvPr>
          <p:cNvSpPr>
            <a:spLocks noGrp="1"/>
          </p:cNvSpPr>
          <p:nvPr>
            <p:ph type="body" sz="quarter" idx="22"/>
          </p:nvPr>
        </p:nvSpPr>
        <p:spPr/>
        <p:txBody>
          <a:bodyPr/>
          <a:lstStyle/>
          <a:p>
            <a:r>
              <a:rPr lang="fr-FR"/>
              <a:t>Entraîne vos commerciaux, prépare vos rendez-vous.</a:t>
            </a:r>
          </a:p>
        </p:txBody>
      </p:sp>
      <p:sp>
        <p:nvSpPr>
          <p:cNvPr id="41" name="Espace réservé du texte 40">
            <a:extLst>
              <a:ext uri="{FF2B5EF4-FFF2-40B4-BE49-F238E27FC236}">
                <a16:creationId xmlns:a16="http://schemas.microsoft.com/office/drawing/2014/main" id="{CAF3C6CF-635A-6A36-5E6B-7E91E8885C58}"/>
              </a:ext>
            </a:extLst>
          </p:cNvPr>
          <p:cNvSpPr>
            <a:spLocks noGrp="1"/>
          </p:cNvSpPr>
          <p:nvPr>
            <p:ph type="body" sz="quarter" idx="23"/>
          </p:nvPr>
        </p:nvSpPr>
        <p:spPr/>
        <p:txBody>
          <a:bodyPr/>
          <a:lstStyle/>
          <a:p>
            <a:r>
              <a:rPr lang="fr-FR" dirty="0"/>
              <a:t>4</a:t>
            </a:r>
            <a:endParaRPr lang="en-US" dirty="0"/>
          </a:p>
        </p:txBody>
      </p:sp>
      <p:sp>
        <p:nvSpPr>
          <p:cNvPr id="42" name="Espace réservé du texte 41">
            <a:extLst>
              <a:ext uri="{FF2B5EF4-FFF2-40B4-BE49-F238E27FC236}">
                <a16:creationId xmlns:a16="http://schemas.microsoft.com/office/drawing/2014/main" id="{65896B81-0316-D310-F478-4B3C0FA366BB}"/>
              </a:ext>
            </a:extLst>
          </p:cNvPr>
          <p:cNvSpPr>
            <a:spLocks noGrp="1"/>
          </p:cNvSpPr>
          <p:nvPr>
            <p:ph type="body" sz="quarter" idx="24"/>
          </p:nvPr>
        </p:nvSpPr>
        <p:spPr/>
        <p:txBody>
          <a:bodyPr/>
          <a:lstStyle/>
          <a:p>
            <a:r>
              <a:rPr lang="en-US" dirty="0"/>
              <a:t>Arthur</a:t>
            </a:r>
          </a:p>
          <a:p>
            <a:r>
              <a:rPr lang="en-US" sz="1400" dirty="0">
                <a:solidFill>
                  <a:schemeClr val="accent1"/>
                </a:solidFill>
              </a:rPr>
              <a:t>Gestion de </a:t>
            </a:r>
            <a:r>
              <a:rPr lang="en-US" sz="1400" dirty="0" err="1">
                <a:solidFill>
                  <a:schemeClr val="accent1"/>
                </a:solidFill>
              </a:rPr>
              <a:t>projet</a:t>
            </a:r>
            <a:endParaRPr lang="en-US" sz="1400" dirty="0">
              <a:solidFill>
                <a:schemeClr val="accent1"/>
              </a:solidFill>
            </a:endParaRPr>
          </a:p>
        </p:txBody>
      </p:sp>
      <p:sp>
        <p:nvSpPr>
          <p:cNvPr id="43" name="Espace réservé du texte 42">
            <a:extLst>
              <a:ext uri="{FF2B5EF4-FFF2-40B4-BE49-F238E27FC236}">
                <a16:creationId xmlns:a16="http://schemas.microsoft.com/office/drawing/2014/main" id="{7E390106-AB3E-7902-9889-DC1C7E684DFF}"/>
              </a:ext>
            </a:extLst>
          </p:cNvPr>
          <p:cNvSpPr>
            <a:spLocks noGrp="1"/>
          </p:cNvSpPr>
          <p:nvPr>
            <p:ph type="body" sz="quarter" idx="25"/>
          </p:nvPr>
        </p:nvSpPr>
        <p:spPr/>
        <p:txBody>
          <a:bodyPr/>
          <a:lstStyle/>
          <a:p>
            <a:r>
              <a:rPr lang="fr-FR"/>
              <a:t>Sécurise et fait avancer vos projets.</a:t>
            </a:r>
          </a:p>
        </p:txBody>
      </p:sp>
      <p:sp>
        <p:nvSpPr>
          <p:cNvPr id="44" name="Espace réservé du texte 43">
            <a:extLst>
              <a:ext uri="{FF2B5EF4-FFF2-40B4-BE49-F238E27FC236}">
                <a16:creationId xmlns:a16="http://schemas.microsoft.com/office/drawing/2014/main" id="{DD05CF3A-2C31-A5B5-FE66-DEEE72DEAD9D}"/>
              </a:ext>
            </a:extLst>
          </p:cNvPr>
          <p:cNvSpPr>
            <a:spLocks noGrp="1"/>
          </p:cNvSpPr>
          <p:nvPr>
            <p:ph type="body" sz="quarter" idx="26"/>
          </p:nvPr>
        </p:nvSpPr>
        <p:spPr/>
        <p:txBody>
          <a:bodyPr/>
          <a:lstStyle/>
          <a:p>
            <a:r>
              <a:rPr lang="fr-FR" dirty="0"/>
              <a:t>6</a:t>
            </a:r>
            <a:endParaRPr lang="en-US" dirty="0"/>
          </a:p>
        </p:txBody>
      </p:sp>
      <p:sp>
        <p:nvSpPr>
          <p:cNvPr id="45" name="Espace réservé du texte 44">
            <a:extLst>
              <a:ext uri="{FF2B5EF4-FFF2-40B4-BE49-F238E27FC236}">
                <a16:creationId xmlns:a16="http://schemas.microsoft.com/office/drawing/2014/main" id="{2CE8C566-8FAB-787C-450E-A8CF82339F0C}"/>
              </a:ext>
            </a:extLst>
          </p:cNvPr>
          <p:cNvSpPr>
            <a:spLocks noGrp="1"/>
          </p:cNvSpPr>
          <p:nvPr>
            <p:ph type="body" sz="quarter" idx="27"/>
          </p:nvPr>
        </p:nvSpPr>
        <p:spPr/>
        <p:txBody>
          <a:bodyPr/>
          <a:lstStyle/>
          <a:p>
            <a:r>
              <a:rPr lang="fr-FR" dirty="0" err="1"/>
              <a:t>Captivea</a:t>
            </a:r>
            <a:r>
              <a:rPr lang="fr-FR" dirty="0"/>
              <a:t> </a:t>
            </a:r>
            <a:r>
              <a:rPr lang="fr-FR" dirty="0" err="1"/>
              <a:t>Connect</a:t>
            </a:r>
            <a:endParaRPr lang="fr-FR" dirty="0"/>
          </a:p>
          <a:p>
            <a:r>
              <a:rPr lang="fr-FR" sz="1400" dirty="0">
                <a:solidFill>
                  <a:schemeClr val="accent1"/>
                </a:solidFill>
              </a:rPr>
              <a:t>Inclus de base</a:t>
            </a:r>
          </a:p>
        </p:txBody>
      </p:sp>
      <p:sp>
        <p:nvSpPr>
          <p:cNvPr id="46" name="Espace réservé du texte 45">
            <a:extLst>
              <a:ext uri="{FF2B5EF4-FFF2-40B4-BE49-F238E27FC236}">
                <a16:creationId xmlns:a16="http://schemas.microsoft.com/office/drawing/2014/main" id="{4F7F7B7A-81C8-CBD5-CBDA-0F9FC22B7633}"/>
              </a:ext>
            </a:extLst>
          </p:cNvPr>
          <p:cNvSpPr>
            <a:spLocks noGrp="1"/>
          </p:cNvSpPr>
          <p:nvPr>
            <p:ph type="body" sz="quarter" idx="28"/>
          </p:nvPr>
        </p:nvSpPr>
        <p:spPr/>
        <p:txBody>
          <a:bodyPr/>
          <a:lstStyle/>
          <a:p>
            <a:r>
              <a:rPr lang="fr-FR"/>
              <a:t>Votre lien direct avec l'équipe Captivea.</a:t>
            </a:r>
            <a:endParaRPr lang="fr-FR" dirty="0"/>
          </a:p>
        </p:txBody>
      </p:sp>
      <p:sp>
        <p:nvSpPr>
          <p:cNvPr id="47" name="Espace réservé du texte 46">
            <a:extLst>
              <a:ext uri="{FF2B5EF4-FFF2-40B4-BE49-F238E27FC236}">
                <a16:creationId xmlns:a16="http://schemas.microsoft.com/office/drawing/2014/main" id="{25C805CE-BAA5-CE0E-46B0-383BDCBBC36D}"/>
              </a:ext>
            </a:extLst>
          </p:cNvPr>
          <p:cNvSpPr>
            <a:spLocks noGrp="1"/>
          </p:cNvSpPr>
          <p:nvPr>
            <p:ph type="body" sz="quarter" idx="29"/>
          </p:nvPr>
        </p:nvSpPr>
        <p:spPr/>
        <p:txBody>
          <a:bodyPr/>
          <a:lstStyle/>
          <a:p>
            <a:r>
              <a:rPr lang="fr-FR" dirty="0"/>
              <a:t>5</a:t>
            </a:r>
            <a:endParaRPr lang="en-US" dirty="0"/>
          </a:p>
        </p:txBody>
      </p:sp>
      <p:sp>
        <p:nvSpPr>
          <p:cNvPr id="48" name="Espace réservé du texte 47">
            <a:extLst>
              <a:ext uri="{FF2B5EF4-FFF2-40B4-BE49-F238E27FC236}">
                <a16:creationId xmlns:a16="http://schemas.microsoft.com/office/drawing/2014/main" id="{A3C9469A-6F4E-722C-DBAD-90107CFF1C8B}"/>
              </a:ext>
            </a:extLst>
          </p:cNvPr>
          <p:cNvSpPr>
            <a:spLocks noGrp="1"/>
          </p:cNvSpPr>
          <p:nvPr>
            <p:ph type="body" sz="quarter" idx="30"/>
          </p:nvPr>
        </p:nvSpPr>
        <p:spPr/>
        <p:txBody>
          <a:bodyPr/>
          <a:lstStyle/>
          <a:p>
            <a:r>
              <a:rPr lang="en-US" dirty="0"/>
              <a:t>Lou</a:t>
            </a:r>
          </a:p>
          <a:p>
            <a:r>
              <a:rPr lang="en-US" sz="1400" dirty="0" err="1">
                <a:solidFill>
                  <a:schemeClr val="accent1"/>
                </a:solidFill>
              </a:rPr>
              <a:t>Juridique</a:t>
            </a:r>
            <a:endParaRPr lang="en-US" dirty="0">
              <a:solidFill>
                <a:schemeClr val="accent1"/>
              </a:solidFill>
            </a:endParaRPr>
          </a:p>
        </p:txBody>
      </p:sp>
      <p:sp>
        <p:nvSpPr>
          <p:cNvPr id="49" name="Espace réservé du texte 48">
            <a:extLst>
              <a:ext uri="{FF2B5EF4-FFF2-40B4-BE49-F238E27FC236}">
                <a16:creationId xmlns:a16="http://schemas.microsoft.com/office/drawing/2014/main" id="{5310FD94-CB93-64BC-81C7-93A070FFFFA5}"/>
              </a:ext>
            </a:extLst>
          </p:cNvPr>
          <p:cNvSpPr>
            <a:spLocks noGrp="1"/>
          </p:cNvSpPr>
          <p:nvPr>
            <p:ph type="body" sz="quarter" idx="31"/>
          </p:nvPr>
        </p:nvSpPr>
        <p:spPr/>
        <p:txBody>
          <a:bodyPr/>
          <a:lstStyle/>
          <a:p>
            <a:r>
              <a:rPr lang="fr-FR"/>
              <a:t>Vérifie vos contrats, surveille les échéances.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Rounded Rectangle 6">
            <a:extLst>
              <a:ext uri="{FF2B5EF4-FFF2-40B4-BE49-F238E27FC236}">
                <a16:creationId xmlns:a16="http://schemas.microsoft.com/office/drawing/2014/main" id="{B3D18B87-D35D-305F-6C56-97E1E77B80BE}"/>
              </a:ext>
            </a:extLst>
          </p:cNvPr>
          <p:cNvSpPr/>
          <p:nvPr/>
        </p:nvSpPr>
        <p:spPr>
          <a:xfrm>
            <a:off x="6314400" y="2367814"/>
            <a:ext cx="5181600" cy="3809148"/>
          </a:xfrm>
          <a:prstGeom prst="roundRect">
            <a:avLst>
              <a:gd name="adj" fmla="val 5000"/>
            </a:avLst>
          </a:prstGeom>
          <a:gradFill>
            <a:gsLst>
              <a:gs pos="0">
                <a:schemeClr val="accent1"/>
              </a:gs>
              <a:gs pos="100000">
                <a:schemeClr val="accent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re 21">
            <a:extLst>
              <a:ext uri="{FF2B5EF4-FFF2-40B4-BE49-F238E27FC236}">
                <a16:creationId xmlns:a16="http://schemas.microsoft.com/office/drawing/2014/main" id="{67437FDE-B1CA-7DD1-52C9-1D6D41752A75}"/>
              </a:ext>
            </a:extLst>
          </p:cNvPr>
          <p:cNvSpPr>
            <a:spLocks noGrp="1"/>
          </p:cNvSpPr>
          <p:nvPr>
            <p:ph type="title"/>
          </p:nvPr>
        </p:nvSpPr>
        <p:spPr/>
        <p:txBody>
          <a:bodyPr/>
          <a:lstStyle/>
          <a:p>
            <a:r>
              <a:rPr lang="en-US" dirty="0"/>
              <a:t>Léo, </a:t>
            </a:r>
            <a:r>
              <a:rPr lang="en-US" dirty="0" err="1"/>
              <a:t>votre</a:t>
            </a:r>
            <a:r>
              <a:rPr lang="en-US" dirty="0"/>
              <a:t> </a:t>
            </a:r>
            <a:r>
              <a:rPr lang="en-US" dirty="0" err="1"/>
              <a:t>marketeur</a:t>
            </a:r>
            <a:r>
              <a:rPr lang="en-US" dirty="0"/>
              <a:t> </a:t>
            </a:r>
            <a:r>
              <a:rPr lang="en-US" dirty="0" err="1"/>
              <a:t>préféré</a:t>
            </a:r>
            <a:endParaRPr lang="en-US" dirty="0"/>
          </a:p>
        </p:txBody>
      </p:sp>
      <p:sp>
        <p:nvSpPr>
          <p:cNvPr id="25" name="Espace réservé du texte 24">
            <a:extLst>
              <a:ext uri="{FF2B5EF4-FFF2-40B4-BE49-F238E27FC236}">
                <a16:creationId xmlns:a16="http://schemas.microsoft.com/office/drawing/2014/main" id="{339DBCCE-905A-1F69-A14B-C76DED48EE26}"/>
              </a:ext>
            </a:extLst>
          </p:cNvPr>
          <p:cNvSpPr>
            <a:spLocks noGrp="1"/>
          </p:cNvSpPr>
          <p:nvPr>
            <p:ph sz="half" idx="1"/>
          </p:nvPr>
        </p:nvSpPr>
        <p:spPr/>
        <p:txBody>
          <a:bodyPr anchor="ctr">
            <a:normAutofit/>
          </a:bodyPr>
          <a:lstStyle/>
          <a:p>
            <a:pPr marL="0" indent="0">
              <a:buNone/>
            </a:pPr>
            <a:r>
              <a:rPr lang="fr-FR" sz="2000" dirty="0"/>
              <a:t>Produire du contenu de prospection et LinkedIn en continu, sans y laisser vos soirées.</a:t>
            </a:r>
          </a:p>
          <a:p>
            <a:pPr marL="285750" indent="-285750"/>
            <a:r>
              <a:rPr lang="fr-FR" sz="2000" dirty="0"/>
              <a:t>Rédige vos emails de prospection ciblés par secteur, poste et offre, prêts à partir.</a:t>
            </a:r>
          </a:p>
          <a:p>
            <a:pPr marL="285750" indent="-285750"/>
            <a:r>
              <a:rPr lang="fr-FR" sz="2000" dirty="0"/>
              <a:t>Génère vos publications LinkedIn avec le visuel, à votre ton et votre marché.</a:t>
            </a:r>
          </a:p>
          <a:p>
            <a:pPr marL="285750" indent="-285750"/>
            <a:r>
              <a:rPr lang="fr-FR" sz="2000" dirty="0"/>
              <a:t>Planifie et publie, ou vous laisse valider avant l'envoi.</a:t>
            </a:r>
            <a:endParaRPr lang="en-US" sz="2000" dirty="0"/>
          </a:p>
        </p:txBody>
      </p:sp>
      <p:sp>
        <p:nvSpPr>
          <p:cNvPr id="24" name="Espace réservé du texte 23">
            <a:extLst>
              <a:ext uri="{FF2B5EF4-FFF2-40B4-BE49-F238E27FC236}">
                <a16:creationId xmlns:a16="http://schemas.microsoft.com/office/drawing/2014/main" id="{47F50C74-1951-D803-4DF1-44FA677311B9}"/>
              </a:ext>
            </a:extLst>
          </p:cNvPr>
          <p:cNvSpPr>
            <a:spLocks noGrp="1"/>
          </p:cNvSpPr>
          <p:nvPr>
            <p:ph type="body" sz="quarter" idx="13"/>
          </p:nvPr>
        </p:nvSpPr>
        <p:spPr/>
        <p:txBody>
          <a:bodyPr/>
          <a:lstStyle/>
          <a:p>
            <a:r>
              <a:rPr lang="fr-FR" dirty="0"/>
              <a:t>6 AGENTS IA</a:t>
            </a:r>
          </a:p>
        </p:txBody>
      </p:sp>
      <p:sp>
        <p:nvSpPr>
          <p:cNvPr id="37" name="Oval 7">
            <a:extLst>
              <a:ext uri="{FF2B5EF4-FFF2-40B4-BE49-F238E27FC236}">
                <a16:creationId xmlns:a16="http://schemas.microsoft.com/office/drawing/2014/main" id="{CEB50A46-CCB1-B8B8-BE87-0B48C067FE0B}"/>
              </a:ext>
            </a:extLst>
          </p:cNvPr>
          <p:cNvSpPr/>
          <p:nvPr/>
        </p:nvSpPr>
        <p:spPr>
          <a:xfrm>
            <a:off x="8356560" y="2929839"/>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9" name="TextBox 8">
            <a:extLst>
              <a:ext uri="{FF2B5EF4-FFF2-40B4-BE49-F238E27FC236}">
                <a16:creationId xmlns:a16="http://schemas.microsoft.com/office/drawing/2014/main" id="{75A9DF01-E56B-2275-2F71-A34394DECB59}"/>
              </a:ext>
            </a:extLst>
          </p:cNvPr>
          <p:cNvSpPr txBox="1"/>
          <p:nvPr/>
        </p:nvSpPr>
        <p:spPr>
          <a:xfrm>
            <a:off x="8356560" y="3247646"/>
            <a:ext cx="1097280" cy="461665"/>
          </a:xfrm>
          <a:prstGeom prst="rect">
            <a:avLst/>
          </a:prstGeom>
          <a:noFill/>
        </p:spPr>
        <p:txBody>
          <a:bodyPr wrap="square" lIns="0" tIns="0" rIns="0" bIns="0" anchor="ctr">
            <a:spAutoFit/>
          </a:bodyPr>
          <a:lstStyle/>
          <a:p>
            <a:pPr algn="ctr">
              <a:spcBef>
                <a:spcPts val="0"/>
              </a:spcBef>
              <a:spcAft>
                <a:spcPts val="0"/>
              </a:spcAft>
            </a:pPr>
            <a:r>
              <a:rPr sz="3000" b="1" i="0" dirty="0">
                <a:solidFill>
                  <a:srgbClr val="CD5358"/>
                </a:solidFill>
              </a:rPr>
              <a:t>L</a:t>
            </a:r>
          </a:p>
        </p:txBody>
      </p:sp>
      <p:sp>
        <p:nvSpPr>
          <p:cNvPr id="41" name="TextBox 9">
            <a:extLst>
              <a:ext uri="{FF2B5EF4-FFF2-40B4-BE49-F238E27FC236}">
                <a16:creationId xmlns:a16="http://schemas.microsoft.com/office/drawing/2014/main" id="{E1E37AA9-9875-C3F0-2694-A4CFB42BB4B3}"/>
              </a:ext>
            </a:extLst>
          </p:cNvPr>
          <p:cNvSpPr txBox="1"/>
          <p:nvPr/>
        </p:nvSpPr>
        <p:spPr>
          <a:xfrm>
            <a:off x="6503425" y="4241290"/>
            <a:ext cx="4803550" cy="282065"/>
          </a:xfrm>
          <a:prstGeom prst="rect">
            <a:avLst/>
          </a:prstGeom>
          <a:noFill/>
        </p:spPr>
        <p:txBody>
          <a:bodyPr wrap="square" lIns="0" tIns="0" rIns="0" bIns="0" anchor="ctr">
            <a:spAutoFit/>
          </a:bodyPr>
          <a:lstStyle/>
          <a:p>
            <a:pPr algn="ctr">
              <a:lnSpc>
                <a:spcPct val="105000"/>
              </a:lnSpc>
              <a:spcBef>
                <a:spcPts val="0"/>
              </a:spcBef>
              <a:spcAft>
                <a:spcPts val="0"/>
              </a:spcAft>
            </a:pPr>
            <a:r>
              <a:rPr sz="1800" b="1" i="0" dirty="0">
                <a:solidFill>
                  <a:srgbClr val="FFFFFF"/>
                </a:solidFill>
              </a:rPr>
              <a:t>Du </a:t>
            </a:r>
            <a:r>
              <a:rPr sz="1800" b="1" i="0" dirty="0" err="1">
                <a:solidFill>
                  <a:srgbClr val="FFFFFF"/>
                </a:solidFill>
              </a:rPr>
              <a:t>contenu</a:t>
            </a:r>
            <a:r>
              <a:rPr sz="1800" b="1" i="0" dirty="0">
                <a:solidFill>
                  <a:srgbClr val="FFFFFF"/>
                </a:solidFill>
              </a:rPr>
              <a:t> prêt </a:t>
            </a:r>
            <a:r>
              <a:rPr sz="1800" b="1" i="0" dirty="0" err="1">
                <a:solidFill>
                  <a:srgbClr val="FFFFFF"/>
                </a:solidFill>
              </a:rPr>
              <a:t>en</a:t>
            </a:r>
            <a:r>
              <a:rPr sz="1800" b="1" i="0" dirty="0">
                <a:solidFill>
                  <a:srgbClr val="FFFFFF"/>
                </a:solidFill>
              </a:rPr>
              <a:t> </a:t>
            </a:r>
            <a:r>
              <a:rPr sz="1800" b="1" i="0" dirty="0" err="1">
                <a:solidFill>
                  <a:srgbClr val="FFFFFF"/>
                </a:solidFill>
              </a:rPr>
              <a:t>quelques</a:t>
            </a:r>
            <a:r>
              <a:rPr sz="1800" b="1" i="0" dirty="0">
                <a:solidFill>
                  <a:srgbClr val="FFFFFF"/>
                </a:solidFill>
              </a:rPr>
              <a:t> minutes.</a:t>
            </a:r>
          </a:p>
        </p:txBody>
      </p:sp>
      <p:sp>
        <p:nvSpPr>
          <p:cNvPr id="43" name="TextBox 10">
            <a:extLst>
              <a:ext uri="{FF2B5EF4-FFF2-40B4-BE49-F238E27FC236}">
                <a16:creationId xmlns:a16="http://schemas.microsoft.com/office/drawing/2014/main" id="{602F6D15-270A-718F-784D-D737FF35AEC7}"/>
              </a:ext>
            </a:extLst>
          </p:cNvPr>
          <p:cNvSpPr txBox="1"/>
          <p:nvPr/>
        </p:nvSpPr>
        <p:spPr>
          <a:xfrm>
            <a:off x="6503425" y="4737525"/>
            <a:ext cx="4803550" cy="459421"/>
          </a:xfrm>
          <a:prstGeom prst="rect">
            <a:avLst/>
          </a:prstGeom>
          <a:noFill/>
        </p:spPr>
        <p:txBody>
          <a:bodyPr wrap="square" lIns="0" tIns="0" rIns="0" bIns="0" anchor="t">
            <a:spAutoFit/>
          </a:bodyPr>
          <a:lstStyle/>
          <a:p>
            <a:pPr algn="ctr">
              <a:lnSpc>
                <a:spcPct val="118000"/>
              </a:lnSpc>
              <a:spcBef>
                <a:spcPts val="0"/>
              </a:spcBef>
              <a:spcAft>
                <a:spcPts val="0"/>
              </a:spcAft>
            </a:pPr>
            <a:r>
              <a:rPr sz="1300" b="0" i="0" dirty="0">
                <a:solidFill>
                  <a:srgbClr val="FFFFFF"/>
                </a:solidFill>
              </a:rPr>
              <a:t>Vos équipes marketing et </a:t>
            </a:r>
            <a:r>
              <a:rPr sz="1300" b="0" i="0" dirty="0" err="1">
                <a:solidFill>
                  <a:srgbClr val="FFFFFF"/>
                </a:solidFill>
              </a:rPr>
              <a:t>vos</a:t>
            </a:r>
            <a:r>
              <a:rPr sz="1300" b="0" i="0" dirty="0">
                <a:solidFill>
                  <a:srgbClr val="FFFFFF"/>
                </a:solidFill>
              </a:rPr>
              <a:t> </a:t>
            </a:r>
            <a:r>
              <a:rPr sz="1300" b="0" i="0" dirty="0" err="1">
                <a:solidFill>
                  <a:srgbClr val="FFFFFF"/>
                </a:solidFill>
              </a:rPr>
              <a:t>commerciaux</a:t>
            </a:r>
            <a:r>
              <a:rPr sz="1300" b="0" i="0" dirty="0">
                <a:solidFill>
                  <a:srgbClr val="FFFFFF"/>
                </a:solidFill>
              </a:rPr>
              <a:t> se </a:t>
            </a:r>
            <a:r>
              <a:rPr sz="1300" b="0" i="0" dirty="0" err="1">
                <a:solidFill>
                  <a:srgbClr val="FFFFFF"/>
                </a:solidFill>
              </a:rPr>
              <a:t>concentrent</a:t>
            </a:r>
            <a:r>
              <a:rPr sz="1300" b="0" i="0" dirty="0">
                <a:solidFill>
                  <a:srgbClr val="FFFFFF"/>
                </a:solidFill>
              </a:rPr>
              <a:t> sur </a:t>
            </a:r>
            <a:r>
              <a:rPr sz="1300" b="0" i="0" dirty="0" err="1">
                <a:solidFill>
                  <a:srgbClr val="FFFFFF"/>
                </a:solidFill>
              </a:rPr>
              <a:t>l'essentiel</a:t>
            </a:r>
            <a:r>
              <a:rPr sz="1300" b="0" i="0" dirty="0">
                <a:solidFill>
                  <a:srgbClr val="FFFFFF"/>
                </a:solidFill>
              </a:rPr>
              <a:t>, pas sur la </a:t>
            </a:r>
            <a:r>
              <a:rPr sz="1300" b="0" i="0" dirty="0" err="1">
                <a:solidFill>
                  <a:srgbClr val="FFFFFF"/>
                </a:solidFill>
              </a:rPr>
              <a:t>rédaction</a:t>
            </a:r>
            <a:r>
              <a:rPr sz="1300" b="0" i="0" dirty="0">
                <a:solidFill>
                  <a:srgbClr val="FFFFFF"/>
                </a:solidFill>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Rounded Rectangle 6">
            <a:extLst>
              <a:ext uri="{FF2B5EF4-FFF2-40B4-BE49-F238E27FC236}">
                <a16:creationId xmlns:a16="http://schemas.microsoft.com/office/drawing/2014/main" id="{B3D18B87-D35D-305F-6C56-97E1E77B80BE}"/>
              </a:ext>
            </a:extLst>
          </p:cNvPr>
          <p:cNvSpPr/>
          <p:nvPr/>
        </p:nvSpPr>
        <p:spPr>
          <a:xfrm>
            <a:off x="6314400" y="2367814"/>
            <a:ext cx="5181600" cy="3809148"/>
          </a:xfrm>
          <a:prstGeom prst="roundRect">
            <a:avLst>
              <a:gd name="adj" fmla="val 5000"/>
            </a:avLst>
          </a:prstGeom>
          <a:gradFill>
            <a:gsLst>
              <a:gs pos="0">
                <a:schemeClr val="accent1"/>
              </a:gs>
              <a:gs pos="100000">
                <a:schemeClr val="accent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re 21">
            <a:extLst>
              <a:ext uri="{FF2B5EF4-FFF2-40B4-BE49-F238E27FC236}">
                <a16:creationId xmlns:a16="http://schemas.microsoft.com/office/drawing/2014/main" id="{67437FDE-B1CA-7DD1-52C9-1D6D41752A75}"/>
              </a:ext>
            </a:extLst>
          </p:cNvPr>
          <p:cNvSpPr>
            <a:spLocks noGrp="1"/>
          </p:cNvSpPr>
          <p:nvPr>
            <p:ph type="title"/>
          </p:nvPr>
        </p:nvSpPr>
        <p:spPr/>
        <p:txBody>
          <a:bodyPr/>
          <a:lstStyle/>
          <a:p>
            <a:r>
              <a:rPr lang="fr-FR" dirty="0"/>
              <a:t>Jade, votre commerciale augmentée</a:t>
            </a:r>
          </a:p>
        </p:txBody>
      </p:sp>
      <p:sp>
        <p:nvSpPr>
          <p:cNvPr id="25" name="Espace réservé du texte 24">
            <a:extLst>
              <a:ext uri="{FF2B5EF4-FFF2-40B4-BE49-F238E27FC236}">
                <a16:creationId xmlns:a16="http://schemas.microsoft.com/office/drawing/2014/main" id="{339DBCCE-905A-1F69-A14B-C76DED48EE26}"/>
              </a:ext>
            </a:extLst>
          </p:cNvPr>
          <p:cNvSpPr>
            <a:spLocks noGrp="1"/>
          </p:cNvSpPr>
          <p:nvPr>
            <p:ph sz="half" idx="1"/>
          </p:nvPr>
        </p:nvSpPr>
        <p:spPr/>
        <p:txBody>
          <a:bodyPr anchor="ctr">
            <a:normAutofit/>
          </a:bodyPr>
          <a:lstStyle/>
          <a:p>
            <a:pPr marL="0" indent="0">
              <a:buNone/>
            </a:pPr>
            <a:r>
              <a:rPr lang="fr-FR" sz="2000" dirty="0"/>
              <a:t>Des commerciaux pas assez entraînés, et des rendez-vous préparés à la va-vite.</a:t>
            </a:r>
          </a:p>
          <a:p>
            <a:pPr marL="285750" indent="-285750"/>
            <a:r>
              <a:rPr lang="fr-FR" sz="2000" dirty="0"/>
              <a:t>Entraîne vos commerciaux en simulation d'appel : Jade joue le client, sans risque.</a:t>
            </a:r>
          </a:p>
          <a:p>
            <a:pPr marL="285750" indent="-285750"/>
            <a:r>
              <a:rPr lang="fr-FR" sz="2000" dirty="0"/>
              <a:t>Coache en direct pendant l'appel : objections, qualification, débrief immédiat.</a:t>
            </a:r>
          </a:p>
          <a:p>
            <a:pPr marL="285750" indent="-285750"/>
            <a:r>
              <a:rPr lang="fr-FR" sz="2000" dirty="0"/>
              <a:t>Prépare chaque rendez-vous à partir de la fiche, du stade du contact et des échanges.</a:t>
            </a:r>
          </a:p>
        </p:txBody>
      </p:sp>
      <p:sp>
        <p:nvSpPr>
          <p:cNvPr id="24" name="Espace réservé du texte 23">
            <a:extLst>
              <a:ext uri="{FF2B5EF4-FFF2-40B4-BE49-F238E27FC236}">
                <a16:creationId xmlns:a16="http://schemas.microsoft.com/office/drawing/2014/main" id="{47F50C74-1951-D803-4DF1-44FA677311B9}"/>
              </a:ext>
            </a:extLst>
          </p:cNvPr>
          <p:cNvSpPr>
            <a:spLocks noGrp="1"/>
          </p:cNvSpPr>
          <p:nvPr>
            <p:ph type="body" sz="quarter" idx="13"/>
          </p:nvPr>
        </p:nvSpPr>
        <p:spPr/>
        <p:txBody>
          <a:bodyPr/>
          <a:lstStyle/>
          <a:p>
            <a:r>
              <a:rPr lang="fr-FR" dirty="0"/>
              <a:t>6 AGENTS IA</a:t>
            </a:r>
          </a:p>
        </p:txBody>
      </p:sp>
      <p:sp>
        <p:nvSpPr>
          <p:cNvPr id="37" name="Oval 7">
            <a:extLst>
              <a:ext uri="{FF2B5EF4-FFF2-40B4-BE49-F238E27FC236}">
                <a16:creationId xmlns:a16="http://schemas.microsoft.com/office/drawing/2014/main" id="{CEB50A46-CCB1-B8B8-BE87-0B48C067FE0B}"/>
              </a:ext>
            </a:extLst>
          </p:cNvPr>
          <p:cNvSpPr/>
          <p:nvPr/>
        </p:nvSpPr>
        <p:spPr>
          <a:xfrm>
            <a:off x="8356560" y="2929839"/>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9" name="TextBox 8">
            <a:extLst>
              <a:ext uri="{FF2B5EF4-FFF2-40B4-BE49-F238E27FC236}">
                <a16:creationId xmlns:a16="http://schemas.microsoft.com/office/drawing/2014/main" id="{75A9DF01-E56B-2275-2F71-A34394DECB59}"/>
              </a:ext>
            </a:extLst>
          </p:cNvPr>
          <p:cNvSpPr txBox="1"/>
          <p:nvPr/>
        </p:nvSpPr>
        <p:spPr>
          <a:xfrm>
            <a:off x="8356560" y="3247646"/>
            <a:ext cx="1097280" cy="461665"/>
          </a:xfrm>
          <a:prstGeom prst="rect">
            <a:avLst/>
          </a:prstGeom>
          <a:noFill/>
        </p:spPr>
        <p:txBody>
          <a:bodyPr wrap="square" lIns="0" tIns="0" rIns="0" bIns="0" anchor="ctr">
            <a:spAutoFit/>
          </a:bodyPr>
          <a:lstStyle/>
          <a:p>
            <a:pPr algn="ctr">
              <a:spcBef>
                <a:spcPts val="0"/>
              </a:spcBef>
              <a:spcAft>
                <a:spcPts val="0"/>
              </a:spcAft>
            </a:pPr>
            <a:r>
              <a:rPr sz="3000" b="1" i="0" dirty="0">
                <a:solidFill>
                  <a:srgbClr val="CD5358"/>
                </a:solidFill>
              </a:rPr>
              <a:t>J</a:t>
            </a:r>
          </a:p>
        </p:txBody>
      </p:sp>
      <p:sp>
        <p:nvSpPr>
          <p:cNvPr id="41" name="TextBox 9">
            <a:extLst>
              <a:ext uri="{FF2B5EF4-FFF2-40B4-BE49-F238E27FC236}">
                <a16:creationId xmlns:a16="http://schemas.microsoft.com/office/drawing/2014/main" id="{E1E37AA9-9875-C3F0-2694-A4CFB42BB4B3}"/>
              </a:ext>
            </a:extLst>
          </p:cNvPr>
          <p:cNvSpPr txBox="1"/>
          <p:nvPr/>
        </p:nvSpPr>
        <p:spPr>
          <a:xfrm>
            <a:off x="6503425" y="4241290"/>
            <a:ext cx="4803550" cy="282065"/>
          </a:xfrm>
          <a:prstGeom prst="rect">
            <a:avLst/>
          </a:prstGeom>
          <a:noFill/>
        </p:spPr>
        <p:txBody>
          <a:bodyPr wrap="square" lIns="0" tIns="0" rIns="0" bIns="0" anchor="ctr">
            <a:spAutoFit/>
          </a:bodyPr>
          <a:lstStyle/>
          <a:p>
            <a:pPr algn="ctr">
              <a:lnSpc>
                <a:spcPct val="105000"/>
              </a:lnSpc>
              <a:spcBef>
                <a:spcPts val="0"/>
              </a:spcBef>
              <a:spcAft>
                <a:spcPts val="0"/>
              </a:spcAft>
            </a:pPr>
            <a:r>
              <a:rPr sz="1800" b="1" i="0" dirty="0">
                <a:solidFill>
                  <a:srgbClr val="FFFFFF"/>
                </a:solidFill>
              </a:rPr>
              <a:t>Des commerciaux prêts à chaque appel.</a:t>
            </a:r>
          </a:p>
        </p:txBody>
      </p:sp>
      <p:sp>
        <p:nvSpPr>
          <p:cNvPr id="43" name="TextBox 10">
            <a:extLst>
              <a:ext uri="{FF2B5EF4-FFF2-40B4-BE49-F238E27FC236}">
                <a16:creationId xmlns:a16="http://schemas.microsoft.com/office/drawing/2014/main" id="{602F6D15-270A-718F-784D-D737FF35AEC7}"/>
              </a:ext>
            </a:extLst>
          </p:cNvPr>
          <p:cNvSpPr txBox="1"/>
          <p:nvPr/>
        </p:nvSpPr>
        <p:spPr>
          <a:xfrm>
            <a:off x="6503425" y="4737525"/>
            <a:ext cx="4803550" cy="459421"/>
          </a:xfrm>
          <a:prstGeom prst="rect">
            <a:avLst/>
          </a:prstGeom>
          <a:noFill/>
        </p:spPr>
        <p:txBody>
          <a:bodyPr wrap="square" lIns="0" tIns="0" rIns="0" bIns="0" anchor="t">
            <a:spAutoFit/>
          </a:bodyPr>
          <a:lstStyle/>
          <a:p>
            <a:pPr algn="ctr">
              <a:lnSpc>
                <a:spcPct val="118000"/>
              </a:lnSpc>
              <a:spcBef>
                <a:spcPts val="0"/>
              </a:spcBef>
              <a:spcAft>
                <a:spcPts val="0"/>
              </a:spcAft>
            </a:pPr>
            <a:r>
              <a:rPr sz="1300" b="0" i="0" dirty="0">
                <a:solidFill>
                  <a:srgbClr val="FFFFFF"/>
                </a:solidFill>
              </a:rPr>
              <a:t>L'entraînement et la préparation, en continu.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Rounded Rectangle 6">
            <a:extLst>
              <a:ext uri="{FF2B5EF4-FFF2-40B4-BE49-F238E27FC236}">
                <a16:creationId xmlns:a16="http://schemas.microsoft.com/office/drawing/2014/main" id="{B3D18B87-D35D-305F-6C56-97E1E77B80BE}"/>
              </a:ext>
            </a:extLst>
          </p:cNvPr>
          <p:cNvSpPr/>
          <p:nvPr/>
        </p:nvSpPr>
        <p:spPr>
          <a:xfrm>
            <a:off x="6314400" y="2367814"/>
            <a:ext cx="5181600" cy="3809148"/>
          </a:xfrm>
          <a:prstGeom prst="roundRect">
            <a:avLst>
              <a:gd name="adj" fmla="val 5000"/>
            </a:avLst>
          </a:prstGeom>
          <a:gradFill>
            <a:gsLst>
              <a:gs pos="0">
                <a:schemeClr val="accent1"/>
              </a:gs>
              <a:gs pos="100000">
                <a:schemeClr val="accent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re 21">
            <a:extLst>
              <a:ext uri="{FF2B5EF4-FFF2-40B4-BE49-F238E27FC236}">
                <a16:creationId xmlns:a16="http://schemas.microsoft.com/office/drawing/2014/main" id="{67437FDE-B1CA-7DD1-52C9-1D6D41752A75}"/>
              </a:ext>
            </a:extLst>
          </p:cNvPr>
          <p:cNvSpPr>
            <a:spLocks noGrp="1"/>
          </p:cNvSpPr>
          <p:nvPr>
            <p:ph type="title"/>
          </p:nvPr>
        </p:nvSpPr>
        <p:spPr/>
        <p:txBody>
          <a:bodyPr/>
          <a:lstStyle/>
          <a:p>
            <a:r>
              <a:rPr lang="fr-FR" dirty="0"/>
              <a:t>Luna, votre conseiller 24h/24, 7j/7</a:t>
            </a:r>
          </a:p>
        </p:txBody>
      </p:sp>
      <p:sp>
        <p:nvSpPr>
          <p:cNvPr id="25" name="Espace réservé du texte 24">
            <a:extLst>
              <a:ext uri="{FF2B5EF4-FFF2-40B4-BE49-F238E27FC236}">
                <a16:creationId xmlns:a16="http://schemas.microsoft.com/office/drawing/2014/main" id="{339DBCCE-905A-1F69-A14B-C76DED48EE26}"/>
              </a:ext>
            </a:extLst>
          </p:cNvPr>
          <p:cNvSpPr>
            <a:spLocks noGrp="1"/>
          </p:cNvSpPr>
          <p:nvPr>
            <p:ph sz="half" idx="1"/>
          </p:nvPr>
        </p:nvSpPr>
        <p:spPr/>
        <p:txBody>
          <a:bodyPr anchor="ctr">
            <a:normAutofit/>
          </a:bodyPr>
          <a:lstStyle/>
          <a:p>
            <a:pPr marL="0" indent="0">
              <a:buNone/>
            </a:pPr>
            <a:r>
              <a:rPr lang="fr-FR" sz="2000" dirty="0"/>
              <a:t>Des visiteurs qui quittent votre site faute de réponse immédiate.</a:t>
            </a:r>
          </a:p>
          <a:p>
            <a:pPr marL="285750" indent="-285750"/>
            <a:r>
              <a:rPr lang="fr-FR" sz="2000" dirty="0"/>
              <a:t>Trouve, détaille et compare vos produits pour guider l'acheteur.</a:t>
            </a:r>
          </a:p>
          <a:p>
            <a:pPr marL="285750" indent="-285750"/>
            <a:r>
              <a:rPr lang="fr-FR" sz="2000" dirty="0"/>
              <a:t>Retrouve une commande après vérification de l'adresse e-mail du client.</a:t>
            </a:r>
          </a:p>
          <a:p>
            <a:pPr marL="285750" indent="-285750"/>
            <a:r>
              <a:rPr lang="fr-FR" sz="2000" dirty="0"/>
              <a:t>Crée une demande d'assistance quand elle n'a pas la réponse.</a:t>
            </a:r>
          </a:p>
        </p:txBody>
      </p:sp>
      <p:sp>
        <p:nvSpPr>
          <p:cNvPr id="24" name="Espace réservé du texte 23">
            <a:extLst>
              <a:ext uri="{FF2B5EF4-FFF2-40B4-BE49-F238E27FC236}">
                <a16:creationId xmlns:a16="http://schemas.microsoft.com/office/drawing/2014/main" id="{47F50C74-1951-D803-4DF1-44FA677311B9}"/>
              </a:ext>
            </a:extLst>
          </p:cNvPr>
          <p:cNvSpPr>
            <a:spLocks noGrp="1"/>
          </p:cNvSpPr>
          <p:nvPr>
            <p:ph type="body" sz="quarter" idx="13"/>
          </p:nvPr>
        </p:nvSpPr>
        <p:spPr/>
        <p:txBody>
          <a:bodyPr/>
          <a:lstStyle/>
          <a:p>
            <a:r>
              <a:rPr lang="fr-FR" dirty="0"/>
              <a:t>6 AGENTS IA</a:t>
            </a:r>
          </a:p>
        </p:txBody>
      </p:sp>
      <p:sp>
        <p:nvSpPr>
          <p:cNvPr id="37" name="Oval 7">
            <a:extLst>
              <a:ext uri="{FF2B5EF4-FFF2-40B4-BE49-F238E27FC236}">
                <a16:creationId xmlns:a16="http://schemas.microsoft.com/office/drawing/2014/main" id="{CEB50A46-CCB1-B8B8-BE87-0B48C067FE0B}"/>
              </a:ext>
            </a:extLst>
          </p:cNvPr>
          <p:cNvSpPr/>
          <p:nvPr/>
        </p:nvSpPr>
        <p:spPr>
          <a:xfrm>
            <a:off x="8356560" y="2929839"/>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9" name="TextBox 8">
            <a:extLst>
              <a:ext uri="{FF2B5EF4-FFF2-40B4-BE49-F238E27FC236}">
                <a16:creationId xmlns:a16="http://schemas.microsoft.com/office/drawing/2014/main" id="{75A9DF01-E56B-2275-2F71-A34394DECB59}"/>
              </a:ext>
            </a:extLst>
          </p:cNvPr>
          <p:cNvSpPr txBox="1"/>
          <p:nvPr/>
        </p:nvSpPr>
        <p:spPr>
          <a:xfrm>
            <a:off x="8356560" y="3247646"/>
            <a:ext cx="1097280" cy="461665"/>
          </a:xfrm>
          <a:prstGeom prst="rect">
            <a:avLst/>
          </a:prstGeom>
          <a:noFill/>
        </p:spPr>
        <p:txBody>
          <a:bodyPr wrap="square" lIns="0" tIns="0" rIns="0" bIns="0" anchor="ctr">
            <a:spAutoFit/>
          </a:bodyPr>
          <a:lstStyle/>
          <a:p>
            <a:pPr algn="ctr">
              <a:spcBef>
                <a:spcPts val="0"/>
              </a:spcBef>
              <a:spcAft>
                <a:spcPts val="0"/>
              </a:spcAft>
            </a:pPr>
            <a:r>
              <a:rPr sz="3000" b="1" i="0" dirty="0">
                <a:solidFill>
                  <a:srgbClr val="CD5358"/>
                </a:solidFill>
              </a:rPr>
              <a:t>L</a:t>
            </a:r>
          </a:p>
        </p:txBody>
      </p:sp>
      <p:sp>
        <p:nvSpPr>
          <p:cNvPr id="41" name="TextBox 9">
            <a:extLst>
              <a:ext uri="{FF2B5EF4-FFF2-40B4-BE49-F238E27FC236}">
                <a16:creationId xmlns:a16="http://schemas.microsoft.com/office/drawing/2014/main" id="{E1E37AA9-9875-C3F0-2694-A4CFB42BB4B3}"/>
              </a:ext>
            </a:extLst>
          </p:cNvPr>
          <p:cNvSpPr txBox="1"/>
          <p:nvPr/>
        </p:nvSpPr>
        <p:spPr>
          <a:xfrm>
            <a:off x="6503425" y="4241290"/>
            <a:ext cx="4803550" cy="282065"/>
          </a:xfrm>
          <a:prstGeom prst="rect">
            <a:avLst/>
          </a:prstGeom>
          <a:noFill/>
        </p:spPr>
        <p:txBody>
          <a:bodyPr wrap="square" lIns="0" tIns="0" rIns="0" bIns="0" anchor="ctr">
            <a:spAutoFit/>
          </a:bodyPr>
          <a:lstStyle/>
          <a:p>
            <a:pPr algn="ctr">
              <a:lnSpc>
                <a:spcPct val="105000"/>
              </a:lnSpc>
              <a:spcBef>
                <a:spcPts val="0"/>
              </a:spcBef>
              <a:spcAft>
                <a:spcPts val="0"/>
              </a:spcAft>
            </a:pPr>
            <a:r>
              <a:rPr sz="1800" b="1" i="0" dirty="0">
                <a:solidFill>
                  <a:srgbClr val="FFFFFF"/>
                </a:solidFill>
              </a:rPr>
              <a:t>Toujours disponible pour vos clients.</a:t>
            </a:r>
          </a:p>
        </p:txBody>
      </p:sp>
      <p:sp>
        <p:nvSpPr>
          <p:cNvPr id="43" name="TextBox 10">
            <a:extLst>
              <a:ext uri="{FF2B5EF4-FFF2-40B4-BE49-F238E27FC236}">
                <a16:creationId xmlns:a16="http://schemas.microsoft.com/office/drawing/2014/main" id="{602F6D15-270A-718F-784D-D737FF35AEC7}"/>
              </a:ext>
            </a:extLst>
          </p:cNvPr>
          <p:cNvSpPr txBox="1"/>
          <p:nvPr/>
        </p:nvSpPr>
        <p:spPr>
          <a:xfrm>
            <a:off x="6503425" y="4737525"/>
            <a:ext cx="4803550" cy="459421"/>
          </a:xfrm>
          <a:prstGeom prst="rect">
            <a:avLst/>
          </a:prstGeom>
          <a:noFill/>
        </p:spPr>
        <p:txBody>
          <a:bodyPr wrap="square" lIns="0" tIns="0" rIns="0" bIns="0" anchor="t">
            <a:spAutoFit/>
          </a:bodyPr>
          <a:lstStyle/>
          <a:p>
            <a:pPr algn="ctr">
              <a:lnSpc>
                <a:spcPct val="118000"/>
              </a:lnSpc>
              <a:spcBef>
                <a:spcPts val="0"/>
              </a:spcBef>
              <a:spcAft>
                <a:spcPts val="0"/>
              </a:spcAft>
            </a:pPr>
            <a:r>
              <a:rPr sz="1300" b="0" i="0" dirty="0">
                <a:solidFill>
                  <a:srgbClr val="FFFFFF"/>
                </a:solidFill>
              </a:rPr>
              <a:t>Sur votre site, jour et nuit, sans jamais faire attendre.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Rounded Rectangle 6">
            <a:extLst>
              <a:ext uri="{FF2B5EF4-FFF2-40B4-BE49-F238E27FC236}">
                <a16:creationId xmlns:a16="http://schemas.microsoft.com/office/drawing/2014/main" id="{B3D18B87-D35D-305F-6C56-97E1E77B80BE}"/>
              </a:ext>
            </a:extLst>
          </p:cNvPr>
          <p:cNvSpPr/>
          <p:nvPr/>
        </p:nvSpPr>
        <p:spPr>
          <a:xfrm>
            <a:off x="6314400" y="2367814"/>
            <a:ext cx="5181600" cy="3809148"/>
          </a:xfrm>
          <a:prstGeom prst="roundRect">
            <a:avLst>
              <a:gd name="adj" fmla="val 5000"/>
            </a:avLst>
          </a:prstGeom>
          <a:gradFill>
            <a:gsLst>
              <a:gs pos="0">
                <a:schemeClr val="accent1"/>
              </a:gs>
              <a:gs pos="100000">
                <a:schemeClr val="accent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re 21">
            <a:extLst>
              <a:ext uri="{FF2B5EF4-FFF2-40B4-BE49-F238E27FC236}">
                <a16:creationId xmlns:a16="http://schemas.microsoft.com/office/drawing/2014/main" id="{67437FDE-B1CA-7DD1-52C9-1D6D41752A75}"/>
              </a:ext>
            </a:extLst>
          </p:cNvPr>
          <p:cNvSpPr>
            <a:spLocks noGrp="1"/>
          </p:cNvSpPr>
          <p:nvPr>
            <p:ph type="title"/>
          </p:nvPr>
        </p:nvSpPr>
        <p:spPr/>
        <p:txBody>
          <a:bodyPr/>
          <a:lstStyle/>
          <a:p>
            <a:r>
              <a:rPr lang="fr-FR" dirty="0"/>
              <a:t>Arthur, votre chef de projet augmenté</a:t>
            </a:r>
          </a:p>
        </p:txBody>
      </p:sp>
      <p:sp>
        <p:nvSpPr>
          <p:cNvPr id="25" name="Espace réservé du texte 24">
            <a:extLst>
              <a:ext uri="{FF2B5EF4-FFF2-40B4-BE49-F238E27FC236}">
                <a16:creationId xmlns:a16="http://schemas.microsoft.com/office/drawing/2014/main" id="{339DBCCE-905A-1F69-A14B-C76DED48EE26}"/>
              </a:ext>
            </a:extLst>
          </p:cNvPr>
          <p:cNvSpPr>
            <a:spLocks noGrp="1"/>
          </p:cNvSpPr>
          <p:nvPr>
            <p:ph sz="half" idx="1"/>
          </p:nvPr>
        </p:nvSpPr>
        <p:spPr/>
        <p:txBody>
          <a:bodyPr anchor="ctr">
            <a:normAutofit/>
          </a:bodyPr>
          <a:lstStyle/>
          <a:p>
            <a:pPr marL="0" indent="0">
              <a:buNone/>
            </a:pPr>
            <a:r>
              <a:rPr lang="fr-FR" sz="2000" dirty="0"/>
              <a:t>Des projets qui dérapent : étapes oubliées, écarts repérés trop tard.</a:t>
            </a:r>
          </a:p>
          <a:p>
            <a:pPr marL="285750" indent="-285750"/>
            <a:r>
              <a:rPr lang="fr-FR" sz="2000" dirty="0"/>
              <a:t>Répond à vos équipes sur vos méthodes et vos procédures, en citant ses sources.</a:t>
            </a:r>
          </a:p>
          <a:p>
            <a:pPr marL="285750" indent="-285750"/>
            <a:r>
              <a:rPr lang="fr-FR" sz="2000" dirty="0"/>
              <a:t>Audite un projet en un clic : conformité, note, écarts et recommandations.</a:t>
            </a:r>
          </a:p>
          <a:p>
            <a:pPr marL="285750" indent="-285750"/>
            <a:r>
              <a:rPr lang="fr-FR" sz="2000" dirty="0"/>
              <a:t>Vérifie chaque étape : ce qui est attendu face à ce qui est livré, avec les risques.</a:t>
            </a:r>
          </a:p>
        </p:txBody>
      </p:sp>
      <p:sp>
        <p:nvSpPr>
          <p:cNvPr id="24" name="Espace réservé du texte 23">
            <a:extLst>
              <a:ext uri="{FF2B5EF4-FFF2-40B4-BE49-F238E27FC236}">
                <a16:creationId xmlns:a16="http://schemas.microsoft.com/office/drawing/2014/main" id="{47F50C74-1951-D803-4DF1-44FA677311B9}"/>
              </a:ext>
            </a:extLst>
          </p:cNvPr>
          <p:cNvSpPr>
            <a:spLocks noGrp="1"/>
          </p:cNvSpPr>
          <p:nvPr>
            <p:ph type="body" sz="quarter" idx="13"/>
          </p:nvPr>
        </p:nvSpPr>
        <p:spPr/>
        <p:txBody>
          <a:bodyPr/>
          <a:lstStyle/>
          <a:p>
            <a:r>
              <a:rPr lang="fr-FR" dirty="0"/>
              <a:t>6 AGENTS IA</a:t>
            </a:r>
          </a:p>
        </p:txBody>
      </p:sp>
      <p:sp>
        <p:nvSpPr>
          <p:cNvPr id="37" name="Oval 7">
            <a:extLst>
              <a:ext uri="{FF2B5EF4-FFF2-40B4-BE49-F238E27FC236}">
                <a16:creationId xmlns:a16="http://schemas.microsoft.com/office/drawing/2014/main" id="{CEB50A46-CCB1-B8B8-BE87-0B48C067FE0B}"/>
              </a:ext>
            </a:extLst>
          </p:cNvPr>
          <p:cNvSpPr/>
          <p:nvPr/>
        </p:nvSpPr>
        <p:spPr>
          <a:xfrm>
            <a:off x="8356560" y="2929839"/>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9" name="TextBox 8">
            <a:extLst>
              <a:ext uri="{FF2B5EF4-FFF2-40B4-BE49-F238E27FC236}">
                <a16:creationId xmlns:a16="http://schemas.microsoft.com/office/drawing/2014/main" id="{75A9DF01-E56B-2275-2F71-A34394DECB59}"/>
              </a:ext>
            </a:extLst>
          </p:cNvPr>
          <p:cNvSpPr txBox="1"/>
          <p:nvPr/>
        </p:nvSpPr>
        <p:spPr>
          <a:xfrm>
            <a:off x="8356560" y="3247646"/>
            <a:ext cx="1097280" cy="461665"/>
          </a:xfrm>
          <a:prstGeom prst="rect">
            <a:avLst/>
          </a:prstGeom>
          <a:noFill/>
        </p:spPr>
        <p:txBody>
          <a:bodyPr wrap="square" lIns="0" tIns="0" rIns="0" bIns="0" anchor="ctr">
            <a:spAutoFit/>
          </a:bodyPr>
          <a:lstStyle/>
          <a:p>
            <a:pPr algn="ctr">
              <a:spcBef>
                <a:spcPts val="0"/>
              </a:spcBef>
              <a:spcAft>
                <a:spcPts val="0"/>
              </a:spcAft>
            </a:pPr>
            <a:r>
              <a:rPr sz="3000" b="1" i="0" dirty="0">
                <a:solidFill>
                  <a:srgbClr val="CD5358"/>
                </a:solidFill>
              </a:rPr>
              <a:t>A</a:t>
            </a:r>
          </a:p>
        </p:txBody>
      </p:sp>
      <p:sp>
        <p:nvSpPr>
          <p:cNvPr id="41" name="TextBox 9">
            <a:extLst>
              <a:ext uri="{FF2B5EF4-FFF2-40B4-BE49-F238E27FC236}">
                <a16:creationId xmlns:a16="http://schemas.microsoft.com/office/drawing/2014/main" id="{E1E37AA9-9875-C3F0-2694-A4CFB42BB4B3}"/>
              </a:ext>
            </a:extLst>
          </p:cNvPr>
          <p:cNvSpPr txBox="1"/>
          <p:nvPr/>
        </p:nvSpPr>
        <p:spPr>
          <a:xfrm>
            <a:off x="6503425" y="4241290"/>
            <a:ext cx="4803550" cy="282065"/>
          </a:xfrm>
          <a:prstGeom prst="rect">
            <a:avLst/>
          </a:prstGeom>
          <a:noFill/>
        </p:spPr>
        <p:txBody>
          <a:bodyPr wrap="square" lIns="0" tIns="0" rIns="0" bIns="0" anchor="ctr">
            <a:spAutoFit/>
          </a:bodyPr>
          <a:lstStyle/>
          <a:p>
            <a:pPr algn="ctr">
              <a:lnSpc>
                <a:spcPct val="105000"/>
              </a:lnSpc>
              <a:spcBef>
                <a:spcPts val="0"/>
              </a:spcBef>
              <a:spcAft>
                <a:spcPts val="0"/>
              </a:spcAft>
            </a:pPr>
            <a:r>
              <a:rPr sz="1800" b="1" i="0" dirty="0">
                <a:solidFill>
                  <a:srgbClr val="FFFFFF"/>
                </a:solidFill>
              </a:rPr>
              <a:t>Vos projets sous contrôle.</a:t>
            </a:r>
          </a:p>
        </p:txBody>
      </p:sp>
      <p:sp>
        <p:nvSpPr>
          <p:cNvPr id="43" name="TextBox 10">
            <a:extLst>
              <a:ext uri="{FF2B5EF4-FFF2-40B4-BE49-F238E27FC236}">
                <a16:creationId xmlns:a16="http://schemas.microsoft.com/office/drawing/2014/main" id="{602F6D15-270A-718F-784D-D737FF35AEC7}"/>
              </a:ext>
            </a:extLst>
          </p:cNvPr>
          <p:cNvSpPr txBox="1"/>
          <p:nvPr/>
        </p:nvSpPr>
        <p:spPr>
          <a:xfrm>
            <a:off x="6503425" y="4737525"/>
            <a:ext cx="4803550" cy="459421"/>
          </a:xfrm>
          <a:prstGeom prst="rect">
            <a:avLst/>
          </a:prstGeom>
          <a:noFill/>
        </p:spPr>
        <p:txBody>
          <a:bodyPr wrap="square" lIns="0" tIns="0" rIns="0" bIns="0" anchor="t">
            <a:spAutoFit/>
          </a:bodyPr>
          <a:lstStyle/>
          <a:p>
            <a:pPr algn="ctr">
              <a:lnSpc>
                <a:spcPct val="118000"/>
              </a:lnSpc>
              <a:spcBef>
                <a:spcPts val="0"/>
              </a:spcBef>
              <a:spcAft>
                <a:spcPts val="0"/>
              </a:spcAft>
            </a:pPr>
            <a:r>
              <a:rPr sz="1300" b="0" i="0" dirty="0">
                <a:solidFill>
                  <a:srgbClr val="FFFFFF"/>
                </a:solidFill>
              </a:rPr>
              <a:t>Quel que soit le projet, plus rien ne passe à la trappe.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Rounded Rectangle 6">
            <a:extLst>
              <a:ext uri="{FF2B5EF4-FFF2-40B4-BE49-F238E27FC236}">
                <a16:creationId xmlns:a16="http://schemas.microsoft.com/office/drawing/2014/main" id="{B3D18B87-D35D-305F-6C56-97E1E77B80BE}"/>
              </a:ext>
            </a:extLst>
          </p:cNvPr>
          <p:cNvSpPr/>
          <p:nvPr/>
        </p:nvSpPr>
        <p:spPr>
          <a:xfrm>
            <a:off x="6314400" y="2367814"/>
            <a:ext cx="5181600" cy="3809148"/>
          </a:xfrm>
          <a:prstGeom prst="roundRect">
            <a:avLst>
              <a:gd name="adj" fmla="val 5000"/>
            </a:avLst>
          </a:prstGeom>
          <a:gradFill>
            <a:gsLst>
              <a:gs pos="0">
                <a:schemeClr val="accent1"/>
              </a:gs>
              <a:gs pos="100000">
                <a:schemeClr val="accent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re 21">
            <a:extLst>
              <a:ext uri="{FF2B5EF4-FFF2-40B4-BE49-F238E27FC236}">
                <a16:creationId xmlns:a16="http://schemas.microsoft.com/office/drawing/2014/main" id="{67437FDE-B1CA-7DD1-52C9-1D6D41752A75}"/>
              </a:ext>
            </a:extLst>
          </p:cNvPr>
          <p:cNvSpPr>
            <a:spLocks noGrp="1"/>
          </p:cNvSpPr>
          <p:nvPr>
            <p:ph type="title"/>
          </p:nvPr>
        </p:nvSpPr>
        <p:spPr/>
        <p:txBody>
          <a:bodyPr/>
          <a:lstStyle/>
          <a:p>
            <a:r>
              <a:rPr lang="fr-FR" dirty="0"/>
              <a:t>Lou, votre vigie juridique</a:t>
            </a:r>
          </a:p>
        </p:txBody>
      </p:sp>
      <p:sp>
        <p:nvSpPr>
          <p:cNvPr id="25" name="Espace réservé du texte 24">
            <a:extLst>
              <a:ext uri="{FF2B5EF4-FFF2-40B4-BE49-F238E27FC236}">
                <a16:creationId xmlns:a16="http://schemas.microsoft.com/office/drawing/2014/main" id="{339DBCCE-905A-1F69-A14B-C76DED48EE26}"/>
              </a:ext>
            </a:extLst>
          </p:cNvPr>
          <p:cNvSpPr>
            <a:spLocks noGrp="1"/>
          </p:cNvSpPr>
          <p:nvPr>
            <p:ph sz="half" idx="1"/>
          </p:nvPr>
        </p:nvSpPr>
        <p:spPr/>
        <p:txBody>
          <a:bodyPr anchor="ctr">
            <a:normAutofit/>
          </a:bodyPr>
          <a:lstStyle/>
          <a:p>
            <a:pPr marL="0" indent="0">
              <a:buNone/>
            </a:pPr>
            <a:r>
              <a:rPr lang="fr-FR" sz="2000" dirty="0"/>
              <a:t>Des contrats qui s'empilent, des échéances et des points de conformité qui passent à travers.</a:t>
            </a:r>
          </a:p>
          <a:p>
            <a:pPr marL="285750" indent="-285750"/>
            <a:r>
              <a:rPr lang="fr-FR" sz="2000" dirty="0"/>
              <a:t>Analyse vos documents : conforme, non conforme ou à vérifier.</a:t>
            </a:r>
          </a:p>
          <a:p>
            <a:pPr marL="285750" indent="-285750"/>
            <a:r>
              <a:rPr lang="fr-FR" sz="2000" dirty="0"/>
              <a:t>Propose les corrections et ouvre la tâche au bon responsable.</a:t>
            </a:r>
          </a:p>
          <a:p>
            <a:pPr marL="285750" indent="-285750"/>
            <a:r>
              <a:rPr lang="fr-FR" sz="2000" dirty="0"/>
              <a:t>Alerte sur les dates d'expiration et prépare les signatures.</a:t>
            </a:r>
          </a:p>
        </p:txBody>
      </p:sp>
      <p:sp>
        <p:nvSpPr>
          <p:cNvPr id="24" name="Espace réservé du texte 23">
            <a:extLst>
              <a:ext uri="{FF2B5EF4-FFF2-40B4-BE49-F238E27FC236}">
                <a16:creationId xmlns:a16="http://schemas.microsoft.com/office/drawing/2014/main" id="{47F50C74-1951-D803-4DF1-44FA677311B9}"/>
              </a:ext>
            </a:extLst>
          </p:cNvPr>
          <p:cNvSpPr>
            <a:spLocks noGrp="1"/>
          </p:cNvSpPr>
          <p:nvPr>
            <p:ph type="body" sz="quarter" idx="13"/>
          </p:nvPr>
        </p:nvSpPr>
        <p:spPr/>
        <p:txBody>
          <a:bodyPr/>
          <a:lstStyle/>
          <a:p>
            <a:r>
              <a:rPr lang="fr-FR" dirty="0"/>
              <a:t>6 AGENTS IA</a:t>
            </a:r>
          </a:p>
        </p:txBody>
      </p:sp>
      <p:sp>
        <p:nvSpPr>
          <p:cNvPr id="37" name="Oval 7">
            <a:extLst>
              <a:ext uri="{FF2B5EF4-FFF2-40B4-BE49-F238E27FC236}">
                <a16:creationId xmlns:a16="http://schemas.microsoft.com/office/drawing/2014/main" id="{CEB50A46-CCB1-B8B8-BE87-0B48C067FE0B}"/>
              </a:ext>
            </a:extLst>
          </p:cNvPr>
          <p:cNvSpPr/>
          <p:nvPr/>
        </p:nvSpPr>
        <p:spPr>
          <a:xfrm>
            <a:off x="8356560" y="2929839"/>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9" name="TextBox 8">
            <a:extLst>
              <a:ext uri="{FF2B5EF4-FFF2-40B4-BE49-F238E27FC236}">
                <a16:creationId xmlns:a16="http://schemas.microsoft.com/office/drawing/2014/main" id="{75A9DF01-E56B-2275-2F71-A34394DECB59}"/>
              </a:ext>
            </a:extLst>
          </p:cNvPr>
          <p:cNvSpPr txBox="1"/>
          <p:nvPr/>
        </p:nvSpPr>
        <p:spPr>
          <a:xfrm>
            <a:off x="8356560" y="3247646"/>
            <a:ext cx="1097280" cy="461665"/>
          </a:xfrm>
          <a:prstGeom prst="rect">
            <a:avLst/>
          </a:prstGeom>
          <a:noFill/>
        </p:spPr>
        <p:txBody>
          <a:bodyPr wrap="square" lIns="0" tIns="0" rIns="0" bIns="0" anchor="ctr">
            <a:spAutoFit/>
          </a:bodyPr>
          <a:lstStyle/>
          <a:p>
            <a:pPr algn="ctr">
              <a:spcBef>
                <a:spcPts val="0"/>
              </a:spcBef>
              <a:spcAft>
                <a:spcPts val="0"/>
              </a:spcAft>
            </a:pPr>
            <a:r>
              <a:rPr sz="3000" b="1" i="0" dirty="0">
                <a:solidFill>
                  <a:srgbClr val="CD5358"/>
                </a:solidFill>
              </a:rPr>
              <a:t>L</a:t>
            </a:r>
          </a:p>
        </p:txBody>
      </p:sp>
      <p:sp>
        <p:nvSpPr>
          <p:cNvPr id="41" name="TextBox 9">
            <a:extLst>
              <a:ext uri="{FF2B5EF4-FFF2-40B4-BE49-F238E27FC236}">
                <a16:creationId xmlns:a16="http://schemas.microsoft.com/office/drawing/2014/main" id="{E1E37AA9-9875-C3F0-2694-A4CFB42BB4B3}"/>
              </a:ext>
            </a:extLst>
          </p:cNvPr>
          <p:cNvSpPr txBox="1"/>
          <p:nvPr/>
        </p:nvSpPr>
        <p:spPr>
          <a:xfrm>
            <a:off x="6503425" y="4241290"/>
            <a:ext cx="4803550" cy="282065"/>
          </a:xfrm>
          <a:prstGeom prst="rect">
            <a:avLst/>
          </a:prstGeom>
          <a:noFill/>
        </p:spPr>
        <p:txBody>
          <a:bodyPr wrap="square" lIns="0" tIns="0" rIns="0" bIns="0" anchor="ctr">
            <a:spAutoFit/>
          </a:bodyPr>
          <a:lstStyle/>
          <a:p>
            <a:pPr algn="ctr">
              <a:lnSpc>
                <a:spcPct val="105000"/>
              </a:lnSpc>
              <a:spcBef>
                <a:spcPts val="0"/>
              </a:spcBef>
              <a:spcAft>
                <a:spcPts val="0"/>
              </a:spcAft>
            </a:pPr>
            <a:r>
              <a:rPr sz="1800" b="1" i="0" dirty="0">
                <a:solidFill>
                  <a:srgbClr val="FFFFFF"/>
                </a:solidFill>
              </a:rPr>
              <a:t>Vos contrats sous contrôle, RGPD inclus.</a:t>
            </a:r>
          </a:p>
        </p:txBody>
      </p:sp>
      <p:sp>
        <p:nvSpPr>
          <p:cNvPr id="43" name="TextBox 10">
            <a:extLst>
              <a:ext uri="{FF2B5EF4-FFF2-40B4-BE49-F238E27FC236}">
                <a16:creationId xmlns:a16="http://schemas.microsoft.com/office/drawing/2014/main" id="{602F6D15-270A-718F-784D-D737FF35AEC7}"/>
              </a:ext>
            </a:extLst>
          </p:cNvPr>
          <p:cNvSpPr txBox="1"/>
          <p:nvPr/>
        </p:nvSpPr>
        <p:spPr>
          <a:xfrm>
            <a:off x="6503425" y="4737525"/>
            <a:ext cx="4803550" cy="459421"/>
          </a:xfrm>
          <a:prstGeom prst="rect">
            <a:avLst/>
          </a:prstGeom>
          <a:noFill/>
        </p:spPr>
        <p:txBody>
          <a:bodyPr wrap="square" lIns="0" tIns="0" rIns="0" bIns="0" anchor="t">
            <a:spAutoFit/>
          </a:bodyPr>
          <a:lstStyle/>
          <a:p>
            <a:pPr algn="ctr">
              <a:lnSpc>
                <a:spcPct val="118000"/>
              </a:lnSpc>
              <a:spcBef>
                <a:spcPts val="0"/>
              </a:spcBef>
              <a:spcAft>
                <a:spcPts val="0"/>
              </a:spcAft>
            </a:pPr>
            <a:r>
              <a:rPr sz="1300" b="0" i="0" dirty="0">
                <a:solidFill>
                  <a:srgbClr val="FFFFFF"/>
                </a:solidFill>
              </a:rPr>
              <a:t>Plus rien ne passe entre les mailles.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Rounded Rectangle 6">
            <a:extLst>
              <a:ext uri="{FF2B5EF4-FFF2-40B4-BE49-F238E27FC236}">
                <a16:creationId xmlns:a16="http://schemas.microsoft.com/office/drawing/2014/main" id="{B3D18B87-D35D-305F-6C56-97E1E77B80BE}"/>
              </a:ext>
            </a:extLst>
          </p:cNvPr>
          <p:cNvSpPr/>
          <p:nvPr/>
        </p:nvSpPr>
        <p:spPr>
          <a:xfrm>
            <a:off x="6314400" y="2367814"/>
            <a:ext cx="5181600" cy="3809148"/>
          </a:xfrm>
          <a:prstGeom prst="roundRect">
            <a:avLst>
              <a:gd name="adj" fmla="val 5000"/>
            </a:avLst>
          </a:prstGeom>
          <a:gradFill>
            <a:gsLst>
              <a:gs pos="0">
                <a:schemeClr val="accent1"/>
              </a:gs>
              <a:gs pos="100000">
                <a:schemeClr val="accent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re 21">
            <a:extLst>
              <a:ext uri="{FF2B5EF4-FFF2-40B4-BE49-F238E27FC236}">
                <a16:creationId xmlns:a16="http://schemas.microsoft.com/office/drawing/2014/main" id="{67437FDE-B1CA-7DD1-52C9-1D6D41752A75}"/>
              </a:ext>
            </a:extLst>
          </p:cNvPr>
          <p:cNvSpPr>
            <a:spLocks noGrp="1"/>
          </p:cNvSpPr>
          <p:nvPr>
            <p:ph type="title"/>
          </p:nvPr>
        </p:nvSpPr>
        <p:spPr/>
        <p:txBody>
          <a:bodyPr/>
          <a:lstStyle/>
          <a:p>
            <a:r>
              <a:rPr lang="fr-FR" dirty="0"/>
              <a:t>Captivea Connect, on reste à votre écoute</a:t>
            </a:r>
          </a:p>
        </p:txBody>
      </p:sp>
      <p:sp>
        <p:nvSpPr>
          <p:cNvPr id="25" name="Espace réservé du texte 24">
            <a:extLst>
              <a:ext uri="{FF2B5EF4-FFF2-40B4-BE49-F238E27FC236}">
                <a16:creationId xmlns:a16="http://schemas.microsoft.com/office/drawing/2014/main" id="{339DBCCE-905A-1F69-A14B-C76DED48EE26}"/>
              </a:ext>
            </a:extLst>
          </p:cNvPr>
          <p:cNvSpPr>
            <a:spLocks noGrp="1"/>
          </p:cNvSpPr>
          <p:nvPr>
            <p:ph sz="half" idx="1"/>
          </p:nvPr>
        </p:nvSpPr>
        <p:spPr/>
        <p:txBody>
          <a:bodyPr anchor="ctr">
            <a:normAutofit/>
          </a:bodyPr>
          <a:lstStyle/>
          <a:p>
            <a:pPr marL="0" indent="0">
              <a:buNone/>
            </a:pPr>
            <a:r>
              <a:rPr lang="fr-FR" sz="2000" dirty="0"/>
              <a:t>Inclus de base avec vos agents : votre lien direct avec nos équipes.</a:t>
            </a:r>
          </a:p>
          <a:p>
            <a:pPr marL="285750" indent="-285750"/>
            <a:r>
              <a:rPr lang="fr-FR" sz="2000" dirty="0"/>
              <a:t>Votre ligne directe avec nos équipes techniques.</a:t>
            </a:r>
          </a:p>
          <a:p>
            <a:pPr marL="285750" indent="-285750"/>
            <a:r>
              <a:rPr lang="fr-FR" sz="2000" dirty="0"/>
              <a:t>L'IA évolue et vos besoins aussi : on ajuste vos agents en continu.</a:t>
            </a:r>
          </a:p>
          <a:p>
            <a:pPr marL="285750" indent="-285750"/>
            <a:r>
              <a:rPr lang="fr-FR" sz="2000" dirty="0"/>
              <a:t>Inclus de base, pour vous accompagner dans la durée.</a:t>
            </a:r>
          </a:p>
        </p:txBody>
      </p:sp>
      <p:sp>
        <p:nvSpPr>
          <p:cNvPr id="24" name="Espace réservé du texte 23">
            <a:extLst>
              <a:ext uri="{FF2B5EF4-FFF2-40B4-BE49-F238E27FC236}">
                <a16:creationId xmlns:a16="http://schemas.microsoft.com/office/drawing/2014/main" id="{47F50C74-1951-D803-4DF1-44FA677311B9}"/>
              </a:ext>
            </a:extLst>
          </p:cNvPr>
          <p:cNvSpPr>
            <a:spLocks noGrp="1"/>
          </p:cNvSpPr>
          <p:nvPr>
            <p:ph type="body" sz="quarter" idx="13"/>
          </p:nvPr>
        </p:nvSpPr>
        <p:spPr/>
        <p:txBody>
          <a:bodyPr/>
          <a:lstStyle/>
          <a:p>
            <a:r>
              <a:rPr lang="fr-FR" dirty="0"/>
              <a:t>6 AGENTS IA</a:t>
            </a:r>
          </a:p>
        </p:txBody>
      </p:sp>
      <p:sp>
        <p:nvSpPr>
          <p:cNvPr id="37" name="Oval 7">
            <a:extLst>
              <a:ext uri="{FF2B5EF4-FFF2-40B4-BE49-F238E27FC236}">
                <a16:creationId xmlns:a16="http://schemas.microsoft.com/office/drawing/2014/main" id="{CEB50A46-CCB1-B8B8-BE87-0B48C067FE0B}"/>
              </a:ext>
            </a:extLst>
          </p:cNvPr>
          <p:cNvSpPr/>
          <p:nvPr/>
        </p:nvSpPr>
        <p:spPr>
          <a:xfrm>
            <a:off x="8356560" y="2929839"/>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9" name="TextBox 8">
            <a:extLst>
              <a:ext uri="{FF2B5EF4-FFF2-40B4-BE49-F238E27FC236}">
                <a16:creationId xmlns:a16="http://schemas.microsoft.com/office/drawing/2014/main" id="{75A9DF01-E56B-2275-2F71-A34394DECB59}"/>
              </a:ext>
            </a:extLst>
          </p:cNvPr>
          <p:cNvSpPr txBox="1"/>
          <p:nvPr/>
        </p:nvSpPr>
        <p:spPr>
          <a:xfrm>
            <a:off x="8356560" y="3247646"/>
            <a:ext cx="1097280" cy="461665"/>
          </a:xfrm>
          <a:prstGeom prst="rect">
            <a:avLst/>
          </a:prstGeom>
          <a:noFill/>
        </p:spPr>
        <p:txBody>
          <a:bodyPr wrap="square" lIns="0" tIns="0" rIns="0" bIns="0" anchor="ctr">
            <a:spAutoFit/>
          </a:bodyPr>
          <a:lstStyle/>
          <a:p>
            <a:pPr algn="ctr">
              <a:spcBef>
                <a:spcPts val="0"/>
              </a:spcBef>
              <a:spcAft>
                <a:spcPts val="0"/>
              </a:spcAft>
            </a:pPr>
            <a:r>
              <a:rPr sz="3000" b="1" i="0" dirty="0">
                <a:solidFill>
                  <a:srgbClr val="CD5358"/>
                </a:solidFill>
              </a:rPr>
              <a:t>C</a:t>
            </a:r>
          </a:p>
        </p:txBody>
      </p:sp>
      <p:sp>
        <p:nvSpPr>
          <p:cNvPr id="41" name="TextBox 9">
            <a:extLst>
              <a:ext uri="{FF2B5EF4-FFF2-40B4-BE49-F238E27FC236}">
                <a16:creationId xmlns:a16="http://schemas.microsoft.com/office/drawing/2014/main" id="{E1E37AA9-9875-C3F0-2694-A4CFB42BB4B3}"/>
              </a:ext>
            </a:extLst>
          </p:cNvPr>
          <p:cNvSpPr txBox="1"/>
          <p:nvPr/>
        </p:nvSpPr>
        <p:spPr>
          <a:xfrm>
            <a:off x="6503425" y="4241290"/>
            <a:ext cx="4803550" cy="282065"/>
          </a:xfrm>
          <a:prstGeom prst="rect">
            <a:avLst/>
          </a:prstGeom>
          <a:noFill/>
        </p:spPr>
        <p:txBody>
          <a:bodyPr wrap="square" lIns="0" tIns="0" rIns="0" bIns="0" anchor="ctr">
            <a:spAutoFit/>
          </a:bodyPr>
          <a:lstStyle/>
          <a:p>
            <a:pPr algn="ctr">
              <a:lnSpc>
                <a:spcPct val="105000"/>
              </a:lnSpc>
              <a:spcBef>
                <a:spcPts val="0"/>
              </a:spcBef>
              <a:spcAft>
                <a:spcPts val="0"/>
              </a:spcAft>
            </a:pPr>
            <a:r>
              <a:rPr sz="1800" b="1" i="0" dirty="0">
                <a:solidFill>
                  <a:srgbClr val="FFFFFF"/>
                </a:solidFill>
              </a:rPr>
              <a:t>On reste à vos côtés.</a:t>
            </a:r>
          </a:p>
        </p:txBody>
      </p:sp>
      <p:sp>
        <p:nvSpPr>
          <p:cNvPr id="43" name="TextBox 10">
            <a:extLst>
              <a:ext uri="{FF2B5EF4-FFF2-40B4-BE49-F238E27FC236}">
                <a16:creationId xmlns:a16="http://schemas.microsoft.com/office/drawing/2014/main" id="{602F6D15-270A-718F-784D-D737FF35AEC7}"/>
              </a:ext>
            </a:extLst>
          </p:cNvPr>
          <p:cNvSpPr txBox="1"/>
          <p:nvPr/>
        </p:nvSpPr>
        <p:spPr>
          <a:xfrm>
            <a:off x="6503425" y="4737525"/>
            <a:ext cx="4803550" cy="459421"/>
          </a:xfrm>
          <a:prstGeom prst="rect">
            <a:avLst/>
          </a:prstGeom>
          <a:noFill/>
        </p:spPr>
        <p:txBody>
          <a:bodyPr wrap="square" lIns="0" tIns="0" rIns="0" bIns="0" anchor="t">
            <a:spAutoFit/>
          </a:bodyPr>
          <a:lstStyle/>
          <a:p>
            <a:pPr algn="ctr">
              <a:lnSpc>
                <a:spcPct val="118000"/>
              </a:lnSpc>
              <a:spcBef>
                <a:spcPts val="0"/>
              </a:spcBef>
              <a:spcAft>
                <a:spcPts val="0"/>
              </a:spcAft>
            </a:pPr>
            <a:r>
              <a:rPr sz="1300" b="0" i="0" dirty="0">
                <a:solidFill>
                  <a:srgbClr val="FFFFFF"/>
                </a:solidFill>
              </a:rPr>
              <a:t>Vos agents progressent avec vous, en continu.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Titre 5">
            <a:extLst>
              <a:ext uri="{FF2B5EF4-FFF2-40B4-BE49-F238E27FC236}">
                <a16:creationId xmlns:a16="http://schemas.microsoft.com/office/drawing/2014/main" id="{428709F2-1D96-B721-AA7C-03A120EE10B4}"/>
              </a:ext>
            </a:extLst>
          </p:cNvPr>
          <p:cNvSpPr>
            <a:spLocks noGrp="1"/>
          </p:cNvSpPr>
          <p:nvPr>
            <p:ph type="title"/>
          </p:nvPr>
        </p:nvSpPr>
        <p:spPr/>
        <p:txBody>
          <a:bodyPr>
            <a:normAutofit fontScale="90000"/>
          </a:bodyPr>
          <a:lstStyle/>
          <a:p>
            <a:r>
              <a:rPr lang="fr-FR"/>
              <a:t>Quand le catalogue ne suffit pas : le sur-mesure</a:t>
            </a:r>
            <a:endParaRPr lang="fr-FR" dirty="0"/>
          </a:p>
        </p:txBody>
      </p:sp>
      <p:sp>
        <p:nvSpPr>
          <p:cNvPr id="8" name="Espace réservé du texte 7">
            <a:extLst>
              <a:ext uri="{FF2B5EF4-FFF2-40B4-BE49-F238E27FC236}">
                <a16:creationId xmlns:a16="http://schemas.microsoft.com/office/drawing/2014/main" id="{763436BF-4E18-9102-E757-66B0166B6768}"/>
              </a:ext>
            </a:extLst>
          </p:cNvPr>
          <p:cNvSpPr>
            <a:spLocks noGrp="1"/>
          </p:cNvSpPr>
          <p:nvPr>
            <p:ph type="body" sz="quarter" idx="14"/>
          </p:nvPr>
        </p:nvSpPr>
        <p:spPr/>
        <p:txBody>
          <a:bodyPr/>
          <a:lstStyle/>
          <a:p>
            <a:r>
              <a:rPr lang="fr-FR" dirty="0"/>
              <a:t>1</a:t>
            </a:r>
            <a:endParaRPr lang="en-US" dirty="0"/>
          </a:p>
        </p:txBody>
      </p:sp>
      <p:sp>
        <p:nvSpPr>
          <p:cNvPr id="9" name="Espace réservé du texte 8">
            <a:extLst>
              <a:ext uri="{FF2B5EF4-FFF2-40B4-BE49-F238E27FC236}">
                <a16:creationId xmlns:a16="http://schemas.microsoft.com/office/drawing/2014/main" id="{FA212D44-D5FC-5C53-F089-187F9C1D2EB2}"/>
              </a:ext>
            </a:extLst>
          </p:cNvPr>
          <p:cNvSpPr>
            <a:spLocks noGrp="1"/>
          </p:cNvSpPr>
          <p:nvPr>
            <p:ph type="body" sz="quarter" idx="15"/>
          </p:nvPr>
        </p:nvSpPr>
        <p:spPr/>
        <p:txBody>
          <a:bodyPr/>
          <a:lstStyle/>
          <a:p>
            <a:r>
              <a:rPr lang="en-US"/>
              <a:t>Cadrage payant</a:t>
            </a:r>
            <a:endParaRPr lang="en-US" dirty="0"/>
          </a:p>
        </p:txBody>
      </p:sp>
      <p:sp>
        <p:nvSpPr>
          <p:cNvPr id="10" name="Espace réservé du texte 9">
            <a:extLst>
              <a:ext uri="{FF2B5EF4-FFF2-40B4-BE49-F238E27FC236}">
                <a16:creationId xmlns:a16="http://schemas.microsoft.com/office/drawing/2014/main" id="{ED4693CE-76C9-4640-A2B3-E98706BA0918}"/>
              </a:ext>
            </a:extLst>
          </p:cNvPr>
          <p:cNvSpPr>
            <a:spLocks noGrp="1"/>
          </p:cNvSpPr>
          <p:nvPr>
            <p:ph type="body" sz="quarter" idx="16"/>
          </p:nvPr>
        </p:nvSpPr>
        <p:spPr/>
        <p:txBody>
          <a:bodyPr/>
          <a:lstStyle/>
          <a:p>
            <a:r>
              <a:rPr lang="fr-FR"/>
              <a:t>Une phase d'analyse obligatoire. C'est du conseil : on mesure le besoin et la faisabilité.</a:t>
            </a:r>
          </a:p>
        </p:txBody>
      </p:sp>
      <p:sp>
        <p:nvSpPr>
          <p:cNvPr id="11" name="Espace réservé du texte 10">
            <a:extLst>
              <a:ext uri="{FF2B5EF4-FFF2-40B4-BE49-F238E27FC236}">
                <a16:creationId xmlns:a16="http://schemas.microsoft.com/office/drawing/2014/main" id="{0813A5C9-EEDA-81D7-7733-FF1A76EA6C3E}"/>
              </a:ext>
            </a:extLst>
          </p:cNvPr>
          <p:cNvSpPr>
            <a:spLocks noGrp="1"/>
          </p:cNvSpPr>
          <p:nvPr>
            <p:ph type="body" sz="quarter" idx="17"/>
          </p:nvPr>
        </p:nvSpPr>
        <p:spPr/>
        <p:txBody>
          <a:bodyPr/>
          <a:lstStyle/>
          <a:p>
            <a:r>
              <a:rPr lang="fr-FR" dirty="0"/>
              <a:t>3</a:t>
            </a:r>
            <a:endParaRPr lang="en-US" dirty="0"/>
          </a:p>
        </p:txBody>
      </p:sp>
      <p:sp>
        <p:nvSpPr>
          <p:cNvPr id="12" name="Espace réservé du texte 11">
            <a:extLst>
              <a:ext uri="{FF2B5EF4-FFF2-40B4-BE49-F238E27FC236}">
                <a16:creationId xmlns:a16="http://schemas.microsoft.com/office/drawing/2014/main" id="{7822C38E-E7F5-AF4C-2BA5-C99770652D63}"/>
              </a:ext>
            </a:extLst>
          </p:cNvPr>
          <p:cNvSpPr>
            <a:spLocks noGrp="1"/>
          </p:cNvSpPr>
          <p:nvPr>
            <p:ph type="body" sz="quarter" idx="18"/>
          </p:nvPr>
        </p:nvSpPr>
        <p:spPr/>
        <p:txBody>
          <a:bodyPr/>
          <a:lstStyle/>
          <a:p>
            <a:r>
              <a:rPr lang="en-US"/>
              <a:t>Déploiement</a:t>
            </a:r>
          </a:p>
        </p:txBody>
      </p:sp>
      <p:sp>
        <p:nvSpPr>
          <p:cNvPr id="13" name="Espace réservé du texte 12">
            <a:extLst>
              <a:ext uri="{FF2B5EF4-FFF2-40B4-BE49-F238E27FC236}">
                <a16:creationId xmlns:a16="http://schemas.microsoft.com/office/drawing/2014/main" id="{8C980403-85EB-5B50-7D1B-3EAA869151C0}"/>
              </a:ext>
            </a:extLst>
          </p:cNvPr>
          <p:cNvSpPr>
            <a:spLocks noGrp="1"/>
          </p:cNvSpPr>
          <p:nvPr>
            <p:ph type="body" sz="quarter" idx="19"/>
          </p:nvPr>
        </p:nvSpPr>
        <p:spPr/>
        <p:txBody>
          <a:bodyPr/>
          <a:lstStyle/>
          <a:p>
            <a:r>
              <a:rPr lang="fr-FR"/>
              <a:t>On construit et on met en service, strictement dans le cadre défini ensemble.</a:t>
            </a:r>
          </a:p>
        </p:txBody>
      </p:sp>
      <p:sp>
        <p:nvSpPr>
          <p:cNvPr id="14" name="Espace réservé du texte 13">
            <a:extLst>
              <a:ext uri="{FF2B5EF4-FFF2-40B4-BE49-F238E27FC236}">
                <a16:creationId xmlns:a16="http://schemas.microsoft.com/office/drawing/2014/main" id="{0AA483E6-B9D9-63AC-520D-7EDFD9025422}"/>
              </a:ext>
            </a:extLst>
          </p:cNvPr>
          <p:cNvSpPr>
            <a:spLocks noGrp="1"/>
          </p:cNvSpPr>
          <p:nvPr>
            <p:ph type="body" sz="quarter" idx="20"/>
          </p:nvPr>
        </p:nvSpPr>
        <p:spPr/>
        <p:txBody>
          <a:bodyPr/>
          <a:lstStyle/>
          <a:p>
            <a:r>
              <a:rPr lang="fr-FR" dirty="0"/>
              <a:t>2</a:t>
            </a:r>
            <a:endParaRPr lang="en-US" dirty="0"/>
          </a:p>
        </p:txBody>
      </p:sp>
      <p:sp>
        <p:nvSpPr>
          <p:cNvPr id="15" name="Espace réservé du texte 14">
            <a:extLst>
              <a:ext uri="{FF2B5EF4-FFF2-40B4-BE49-F238E27FC236}">
                <a16:creationId xmlns:a16="http://schemas.microsoft.com/office/drawing/2014/main" id="{FC476067-0661-5127-6C56-ACE8281BFDFB}"/>
              </a:ext>
            </a:extLst>
          </p:cNvPr>
          <p:cNvSpPr>
            <a:spLocks noGrp="1"/>
          </p:cNvSpPr>
          <p:nvPr>
            <p:ph type="body" sz="quarter" idx="21"/>
          </p:nvPr>
        </p:nvSpPr>
        <p:spPr/>
        <p:txBody>
          <a:bodyPr/>
          <a:lstStyle/>
          <a:p>
            <a:r>
              <a:rPr lang="en-US"/>
              <a:t>Faisabilité validée</a:t>
            </a:r>
          </a:p>
        </p:txBody>
      </p:sp>
      <p:sp>
        <p:nvSpPr>
          <p:cNvPr id="16" name="Espace réservé du texte 15">
            <a:extLst>
              <a:ext uri="{FF2B5EF4-FFF2-40B4-BE49-F238E27FC236}">
                <a16:creationId xmlns:a16="http://schemas.microsoft.com/office/drawing/2014/main" id="{2086093E-2963-60F9-98A8-C295925CE702}"/>
              </a:ext>
            </a:extLst>
          </p:cNvPr>
          <p:cNvSpPr>
            <a:spLocks noGrp="1"/>
          </p:cNvSpPr>
          <p:nvPr>
            <p:ph type="body" sz="quarter" idx="22"/>
          </p:nvPr>
        </p:nvSpPr>
        <p:spPr/>
        <p:txBody>
          <a:bodyPr/>
          <a:lstStyle/>
          <a:p>
            <a:r>
              <a:rPr lang="fr-FR"/>
              <a:t>On verrouille le périmètre et le ROI attendu avant de lancer le développement.</a:t>
            </a:r>
          </a:p>
        </p:txBody>
      </p:sp>
      <p:sp>
        <p:nvSpPr>
          <p:cNvPr id="7" name="Espace réservé du texte 6">
            <a:extLst>
              <a:ext uri="{FF2B5EF4-FFF2-40B4-BE49-F238E27FC236}">
                <a16:creationId xmlns:a16="http://schemas.microsoft.com/office/drawing/2014/main" id="{E7BA368D-5BA2-2CE4-8598-5A46C9297A28}"/>
              </a:ext>
            </a:extLst>
          </p:cNvPr>
          <p:cNvSpPr>
            <a:spLocks noGrp="1"/>
          </p:cNvSpPr>
          <p:nvPr>
            <p:ph type="body" sz="quarter" idx="13"/>
          </p:nvPr>
        </p:nvSpPr>
        <p:spPr/>
        <p:txBody>
          <a:bodyPr/>
          <a:lstStyle/>
          <a:p>
            <a:pPr/>
            <a:r>
              <a:t>6 AGENTS IA</a:t>
            </a:r>
            <a:endParaRPr lang="en-US" dirty="0"/>
          </a:p>
        </p:txBody>
      </p:sp>
      <p:sp>
        <p:nvSpPr>
          <p:cNvPr id="17" name="Espace réservé du texte 16">
            <a:extLst>
              <a:ext uri="{FF2B5EF4-FFF2-40B4-BE49-F238E27FC236}">
                <a16:creationId xmlns:a16="http://schemas.microsoft.com/office/drawing/2014/main" id="{51F85CDE-64EA-C08C-535F-7D885A6F528C}"/>
              </a:ext>
            </a:extLst>
          </p:cNvPr>
          <p:cNvSpPr>
            <a:spLocks noGrp="1"/>
          </p:cNvSpPr>
          <p:nvPr>
            <p:ph type="body" sz="quarter" idx="23"/>
          </p:nvPr>
        </p:nvSpPr>
        <p:spPr/>
        <p:txBody>
          <a:bodyPr/>
          <a:lstStyle/>
          <a:p>
            <a:r>
              <a:rPr lang="fr-FR" dirty="0">
                <a:solidFill>
                  <a:srgbClr val="212529"/>
                </a:solidFill>
              </a:rPr>
              <a:t>Un besoin hors catalogue, ou pas encore sous Odoo ? On construit. Mais on cadre d'abord.</a:t>
            </a:r>
          </a:p>
          <a:p>
            <a:r>
              <a:rPr lang="fr-FR" sz="1200" i="1" dirty="0"/>
              <a:t>Exemples de projets   filtrage et gestion de boîtes mail · automatisations complexes avec n8n · qualification automatique de prospects · rapports automatisés · agent vocal · connexion de vos logiciels</a:t>
            </a:r>
            <a:endParaRPr lang="en-US"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Titre 13">
            <a:extLst>
              <a:ext uri="{FF2B5EF4-FFF2-40B4-BE49-F238E27FC236}">
                <a16:creationId xmlns:a16="http://schemas.microsoft.com/office/drawing/2014/main" id="{AA66E426-F50A-6AEB-496A-2D0DDD8A920A}"/>
              </a:ext>
            </a:extLst>
          </p:cNvPr>
          <p:cNvSpPr>
            <a:spLocks noGrp="1"/>
          </p:cNvSpPr>
          <p:nvPr>
            <p:ph type="title"/>
          </p:nvPr>
        </p:nvSpPr>
        <p:spPr/>
        <p:txBody>
          <a:bodyPr/>
          <a:lstStyle/>
          <a:p>
            <a:r>
              <a:rPr lang="en-US" dirty="0"/>
              <a:t>La formation IA </a:t>
            </a:r>
            <a:r>
              <a:rPr lang="en-US" dirty="0" err="1"/>
              <a:t>Captivea</a:t>
            </a:r>
            <a:r>
              <a:rPr lang="en-US" dirty="0"/>
              <a:t> Academy</a:t>
            </a:r>
          </a:p>
        </p:txBody>
      </p:sp>
      <p:sp>
        <p:nvSpPr>
          <p:cNvPr id="17" name="Espace réservé du texte 16">
            <a:extLst>
              <a:ext uri="{FF2B5EF4-FFF2-40B4-BE49-F238E27FC236}">
                <a16:creationId xmlns:a16="http://schemas.microsoft.com/office/drawing/2014/main" id="{A0F1CE2B-1CFA-E669-35A5-6EEDDB62DEA1}"/>
              </a:ext>
            </a:extLst>
          </p:cNvPr>
          <p:cNvSpPr>
            <a:spLocks noGrp="1"/>
          </p:cNvSpPr>
          <p:nvPr>
            <p:ph type="body" sz="quarter" idx="14"/>
          </p:nvPr>
        </p:nvSpPr>
        <p:spPr>
          <a:blipFill>
            <a:blip r:embed="rId2"/>
            <a:stretch>
              <a:fillRect/>
            </a:stretch>
          </a:blipFill>
        </p:spPr>
        <p:txBody>
          <a:bodyPr vert="horz" lIns="91440" tIns="45720" rIns="91440" bIns="45720" rtlCol="0" anchor="ctr">
            <a:normAutofit/>
          </a:bodyPr>
          <a:lstStyle/>
          <a:p>
            <a:r>
              <a:rPr lang="fr-FR" dirty="0"/>
              <a:t>1</a:t>
            </a:r>
          </a:p>
        </p:txBody>
      </p:sp>
      <p:sp>
        <p:nvSpPr>
          <p:cNvPr id="19" name="Espace réservé du texte 18">
            <a:extLst>
              <a:ext uri="{FF2B5EF4-FFF2-40B4-BE49-F238E27FC236}">
                <a16:creationId xmlns:a16="http://schemas.microsoft.com/office/drawing/2014/main" id="{FFA1F043-53B0-B4A3-DFC2-EF18BA60A39D}"/>
              </a:ext>
            </a:extLst>
          </p:cNvPr>
          <p:cNvSpPr>
            <a:spLocks noGrp="1"/>
          </p:cNvSpPr>
          <p:nvPr>
            <p:ph type="body" sz="quarter" idx="15"/>
          </p:nvPr>
        </p:nvSpPr>
        <p:spPr>
          <a:xfrm>
            <a:off x="1673148" y="3354782"/>
            <a:ext cx="4062851" cy="625475"/>
          </a:xfrm>
        </p:spPr>
        <p:txBody>
          <a:bodyPr/>
          <a:lstStyle/>
          <a:p>
            <a:r>
              <a:rPr lang="fr-FR" dirty="0"/>
              <a:t>Formation Adoption</a:t>
            </a:r>
          </a:p>
          <a:p>
            <a:r>
              <a:rPr lang="fr-FR" sz="1400" b="0" dirty="0">
                <a:solidFill>
                  <a:schemeClr val="tx2"/>
                </a:solidFill>
              </a:rPr>
              <a:t>L'Humain Augmenté · 1 jour (7 heures)</a:t>
            </a:r>
          </a:p>
        </p:txBody>
      </p:sp>
      <p:sp>
        <p:nvSpPr>
          <p:cNvPr id="16" name="Espace réservé du contenu 15">
            <a:extLst>
              <a:ext uri="{FF2B5EF4-FFF2-40B4-BE49-F238E27FC236}">
                <a16:creationId xmlns:a16="http://schemas.microsoft.com/office/drawing/2014/main" id="{92699C81-F222-DC43-092B-787954DD78D8}"/>
              </a:ext>
            </a:extLst>
          </p:cNvPr>
          <p:cNvSpPr>
            <a:spLocks noGrp="1"/>
          </p:cNvSpPr>
          <p:nvPr>
            <p:ph type="body" sz="quarter" idx="16"/>
          </p:nvPr>
        </p:nvSpPr>
        <p:spPr>
          <a:xfrm>
            <a:off x="875999" y="4247146"/>
            <a:ext cx="4885703" cy="1829071"/>
          </a:xfrm>
        </p:spPr>
        <p:txBody>
          <a:bodyPr>
            <a:normAutofit/>
          </a:bodyPr>
          <a:lstStyle/>
          <a:p>
            <a:pPr marL="0" indent="0">
              <a:buNone/>
            </a:pPr>
            <a:r>
              <a:rPr lang="fr-FR" sz="1800" b="1" dirty="0">
                <a:solidFill>
                  <a:schemeClr val="accent2"/>
                </a:solidFill>
              </a:rPr>
              <a:t>Pour : Dirigeants, managers et équipes opérationnelles.</a:t>
            </a:r>
          </a:p>
          <a:p>
            <a:pPr marL="285750" indent="-285750">
              <a:buFont typeface="Arial" panose="020B0604020202020204" pitchFamily="34" charset="0"/>
              <a:buChar char="•"/>
            </a:pPr>
            <a:r>
              <a:rPr lang="fr-FR" sz="1400" dirty="0"/>
              <a:t>Comprendre l'IA, la sécurité et le RGPD</a:t>
            </a:r>
          </a:p>
          <a:p>
            <a:pPr marL="285750" indent="-285750">
              <a:buFont typeface="Arial" panose="020B0604020202020204" pitchFamily="34" charset="0"/>
              <a:buChar char="•"/>
            </a:pPr>
            <a:r>
              <a:rPr lang="fr-FR" sz="1400" dirty="0"/>
              <a:t>Rédiger des consignes qui donnent de bons résultats</a:t>
            </a:r>
          </a:p>
          <a:p>
            <a:pPr marL="285750" indent="-285750">
              <a:buFont typeface="Arial" panose="020B0604020202020204" pitchFamily="34" charset="0"/>
              <a:buChar char="•"/>
            </a:pPr>
            <a:r>
              <a:rPr lang="fr-FR" sz="1400" dirty="0"/>
              <a:t>Des cas d'usage par métier et votre premier agent</a:t>
            </a:r>
          </a:p>
        </p:txBody>
      </p:sp>
      <p:sp>
        <p:nvSpPr>
          <p:cNvPr id="15" name="Espace réservé du texte 14">
            <a:extLst>
              <a:ext uri="{FF2B5EF4-FFF2-40B4-BE49-F238E27FC236}">
                <a16:creationId xmlns:a16="http://schemas.microsoft.com/office/drawing/2014/main" id="{8FB37351-8639-C85A-3B59-0E9A3CC7DD01}"/>
              </a:ext>
            </a:extLst>
          </p:cNvPr>
          <p:cNvSpPr>
            <a:spLocks noGrp="1"/>
          </p:cNvSpPr>
          <p:nvPr>
            <p:ph type="body" sz="quarter" idx="13"/>
          </p:nvPr>
        </p:nvSpPr>
        <p:spPr>
          <a:solidFill>
            <a:schemeClr val="accent3">
              <a:lumMod val="40000"/>
              <a:lumOff val="60000"/>
            </a:schemeClr>
          </a:solidFill>
          <a:ln>
            <a:noFill/>
          </a:ln>
        </p:spPr>
        <p:txBody>
          <a:bodyPr vert="horz" lIns="91440" tIns="45720" rIns="91440" bIns="45720" rtlCol="0" anchor="ctr">
            <a:noAutofit/>
          </a:bodyPr>
          <a:lstStyle/>
          <a:p>
            <a:r>
              <a:rPr lang="fr-FR" dirty="0"/>
              <a:t>FORMATION IA</a:t>
            </a:r>
          </a:p>
        </p:txBody>
      </p:sp>
      <p:sp>
        <p:nvSpPr>
          <p:cNvPr id="18" name="Espace réservé du contenu 17">
            <a:extLst>
              <a:ext uri="{FF2B5EF4-FFF2-40B4-BE49-F238E27FC236}">
                <a16:creationId xmlns:a16="http://schemas.microsoft.com/office/drawing/2014/main" id="{CF8F6188-2F2F-2C46-C74B-775C03E0DBE1}"/>
              </a:ext>
            </a:extLst>
          </p:cNvPr>
          <p:cNvSpPr>
            <a:spLocks noGrp="1"/>
          </p:cNvSpPr>
          <p:nvPr>
            <p:ph type="body" sz="quarter" idx="23"/>
          </p:nvPr>
        </p:nvSpPr>
        <p:spPr/>
        <p:txBody>
          <a:bodyPr>
            <a:normAutofit/>
          </a:bodyPr>
          <a:lstStyle/>
          <a:p>
            <a:pPr marL="0" indent="0">
              <a:buNone/>
            </a:pPr>
            <a:r>
              <a:rPr lang="fr-FR" sz="1800" dirty="0"/>
              <a:t>Sessions de 6 personnes maximum, en présentiel ou à distance. Attestation en fin de formation.  </a:t>
            </a:r>
          </a:p>
        </p:txBody>
      </p:sp>
      <p:sp>
        <p:nvSpPr>
          <p:cNvPr id="22" name="Espace réservé du texte 21">
            <a:extLst>
              <a:ext uri="{FF2B5EF4-FFF2-40B4-BE49-F238E27FC236}">
                <a16:creationId xmlns:a16="http://schemas.microsoft.com/office/drawing/2014/main" id="{89FD435C-8E99-04DF-9032-1BA01F9C462E}"/>
              </a:ext>
            </a:extLst>
          </p:cNvPr>
          <p:cNvSpPr>
            <a:spLocks noGrp="1"/>
          </p:cNvSpPr>
          <p:nvPr>
            <p:ph type="body" sz="quarter" idx="24"/>
          </p:nvPr>
        </p:nvSpPr>
        <p:spPr/>
        <p:txBody>
          <a:bodyPr/>
          <a:lstStyle/>
          <a:p>
            <a:r>
              <a:rPr lang="fr-FR" dirty="0"/>
              <a:t>2</a:t>
            </a:r>
            <a:endParaRPr lang="en-US" dirty="0"/>
          </a:p>
        </p:txBody>
      </p:sp>
      <p:sp>
        <p:nvSpPr>
          <p:cNvPr id="23" name="Espace réservé du texte 22">
            <a:extLst>
              <a:ext uri="{FF2B5EF4-FFF2-40B4-BE49-F238E27FC236}">
                <a16:creationId xmlns:a16="http://schemas.microsoft.com/office/drawing/2014/main" id="{7288B69B-0547-E19E-8D8F-88ED5C881CF0}"/>
              </a:ext>
            </a:extLst>
          </p:cNvPr>
          <p:cNvSpPr>
            <a:spLocks noGrp="1"/>
          </p:cNvSpPr>
          <p:nvPr>
            <p:ph type="body" sz="quarter" idx="25"/>
          </p:nvPr>
        </p:nvSpPr>
        <p:spPr>
          <a:xfrm>
            <a:off x="7364361" y="3354782"/>
            <a:ext cx="3977343" cy="625475"/>
          </a:xfrm>
        </p:spPr>
        <p:txBody>
          <a:bodyPr/>
          <a:lstStyle/>
          <a:p>
            <a:r>
              <a:rPr lang="fr-FR" dirty="0"/>
              <a:t>Formation Automatisation</a:t>
            </a:r>
          </a:p>
          <a:p>
            <a:r>
              <a:rPr lang="fr-FR" sz="1400" b="0" dirty="0">
                <a:solidFill>
                  <a:schemeClr val="tx2"/>
                </a:solidFill>
              </a:rPr>
              <a:t>n8n, architecte de vos processus · 1 jour (7 heures)</a:t>
            </a:r>
          </a:p>
        </p:txBody>
      </p:sp>
      <p:sp>
        <p:nvSpPr>
          <p:cNvPr id="24" name="Espace réservé du texte 23">
            <a:extLst>
              <a:ext uri="{FF2B5EF4-FFF2-40B4-BE49-F238E27FC236}">
                <a16:creationId xmlns:a16="http://schemas.microsoft.com/office/drawing/2014/main" id="{18BA0AD7-5F8C-207E-231D-89934F4C1D2A}"/>
              </a:ext>
            </a:extLst>
          </p:cNvPr>
          <p:cNvSpPr>
            <a:spLocks noGrp="1"/>
          </p:cNvSpPr>
          <p:nvPr>
            <p:ph type="body" sz="quarter" idx="26"/>
          </p:nvPr>
        </p:nvSpPr>
        <p:spPr>
          <a:xfrm>
            <a:off x="6456001" y="4247146"/>
            <a:ext cx="4885703" cy="1829072"/>
          </a:xfrm>
        </p:spPr>
        <p:txBody>
          <a:bodyPr/>
          <a:lstStyle/>
          <a:p>
            <a:r>
              <a:rPr lang="fr-FR" b="1" dirty="0">
                <a:solidFill>
                  <a:schemeClr val="accent2"/>
                </a:solidFill>
              </a:rPr>
              <a:t>Pour : Chefs de projet, opérationnels, informatique et utilisateurs avancés.</a:t>
            </a:r>
          </a:p>
          <a:p>
            <a:pPr marL="342900" indent="-342900">
              <a:buFont typeface="Arial" panose="020B0604020202020204" pitchFamily="34" charset="0"/>
              <a:buChar char="•"/>
            </a:pPr>
            <a:r>
              <a:rPr lang="fr-FR" sz="1400" dirty="0"/>
              <a:t>Construire des automatisations fiables (conditions, boucles, erreurs)</a:t>
            </a:r>
          </a:p>
          <a:p>
            <a:pPr marL="342900" indent="-342900">
              <a:buFont typeface="Arial" panose="020B0604020202020204" pitchFamily="34" charset="0"/>
              <a:buChar char="•"/>
            </a:pPr>
            <a:r>
              <a:rPr lang="fr-FR" sz="1400" dirty="0"/>
              <a:t>Relier vos outils entre eux (interfaces, déclencheurs)</a:t>
            </a:r>
          </a:p>
          <a:p>
            <a:pPr marL="342900" indent="-342900">
              <a:buFont typeface="Arial" panose="020B0604020202020204" pitchFamily="34" charset="0"/>
              <a:buChar char="•"/>
            </a:pPr>
            <a:r>
              <a:rPr lang="fr-FR" sz="1400" dirty="0"/>
              <a:t>Intégrer un moteur IA dans un processus</a:t>
            </a:r>
          </a:p>
          <a:p>
            <a:endParaRPr lang="en-US"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re 10">
            <a:extLst>
              <a:ext uri="{FF2B5EF4-FFF2-40B4-BE49-F238E27FC236}">
                <a16:creationId xmlns:a16="http://schemas.microsoft.com/office/drawing/2014/main" id="{507E7DB0-47E1-CF45-61FC-50A45E9C526D}"/>
              </a:ext>
            </a:extLst>
          </p:cNvPr>
          <p:cNvSpPr>
            <a:spLocks noGrp="1"/>
          </p:cNvSpPr>
          <p:nvPr>
            <p:ph type="title"/>
          </p:nvPr>
        </p:nvSpPr>
        <p:spPr/>
        <p:txBody>
          <a:bodyPr/>
          <a:lstStyle/>
          <a:p>
            <a:r>
              <a:rPr lang="fr-FR" dirty="0"/>
              <a:t>On reste à vos côtés</a:t>
            </a:r>
            <a:endParaRPr lang="en-US" dirty="0"/>
          </a:p>
        </p:txBody>
      </p:sp>
      <p:sp>
        <p:nvSpPr>
          <p:cNvPr id="13" name="Espace réservé du texte 12">
            <a:extLst>
              <a:ext uri="{FF2B5EF4-FFF2-40B4-BE49-F238E27FC236}">
                <a16:creationId xmlns:a16="http://schemas.microsoft.com/office/drawing/2014/main" id="{FDCA3DEA-B91D-1E3F-FECE-D96C24169AD5}"/>
              </a:ext>
            </a:extLst>
          </p:cNvPr>
          <p:cNvSpPr>
            <a:spLocks noGrp="1"/>
          </p:cNvSpPr>
          <p:nvPr>
            <p:ph type="body" sz="quarter" idx="14"/>
          </p:nvPr>
        </p:nvSpPr>
        <p:spPr/>
        <p:txBody>
          <a:bodyPr/>
          <a:lstStyle/>
          <a:p>
            <a:r>
              <a:rPr lang="fr-FR" dirty="0"/>
              <a:t>1</a:t>
            </a:r>
            <a:endParaRPr lang="en-US" dirty="0"/>
          </a:p>
        </p:txBody>
      </p:sp>
      <p:sp>
        <p:nvSpPr>
          <p:cNvPr id="14" name="Espace réservé du texte 13">
            <a:extLst>
              <a:ext uri="{FF2B5EF4-FFF2-40B4-BE49-F238E27FC236}">
                <a16:creationId xmlns:a16="http://schemas.microsoft.com/office/drawing/2014/main" id="{E5FA0E77-41E9-1B43-5D8C-22D87BC98578}"/>
              </a:ext>
            </a:extLst>
          </p:cNvPr>
          <p:cNvSpPr>
            <a:spLocks noGrp="1"/>
          </p:cNvSpPr>
          <p:nvPr>
            <p:ph type="body" sz="quarter" idx="15"/>
          </p:nvPr>
        </p:nvSpPr>
        <p:spPr/>
        <p:txBody>
          <a:bodyPr/>
          <a:lstStyle/>
          <a:p>
            <a:r>
              <a:rPr lang="en-US" dirty="0"/>
              <a:t>Maintenance</a:t>
            </a:r>
          </a:p>
        </p:txBody>
      </p:sp>
      <p:sp>
        <p:nvSpPr>
          <p:cNvPr id="22" name="Espace réservé du texte 21">
            <a:extLst>
              <a:ext uri="{FF2B5EF4-FFF2-40B4-BE49-F238E27FC236}">
                <a16:creationId xmlns:a16="http://schemas.microsoft.com/office/drawing/2014/main" id="{B0F07ADE-34D4-75A0-C583-7EF371DFF99F}"/>
              </a:ext>
            </a:extLst>
          </p:cNvPr>
          <p:cNvSpPr>
            <a:spLocks noGrp="1"/>
          </p:cNvSpPr>
          <p:nvPr>
            <p:ph type="body" sz="quarter" idx="16"/>
          </p:nvPr>
        </p:nvSpPr>
        <p:spPr/>
        <p:txBody>
          <a:bodyPr/>
          <a:lstStyle/>
          <a:p>
            <a:r>
              <a:rPr lang="fr-FR" dirty="0"/>
              <a:t>Mises à jour des consignes, adaptation aux nouveaux modèles, corrections.</a:t>
            </a:r>
          </a:p>
          <a:p>
            <a:r>
              <a:rPr lang="fr-FR" dirty="0"/>
              <a:t>3 heures de consultant incluses chaque mois.</a:t>
            </a:r>
          </a:p>
        </p:txBody>
      </p:sp>
      <p:sp>
        <p:nvSpPr>
          <p:cNvPr id="16" name="Espace réservé du texte 15">
            <a:extLst>
              <a:ext uri="{FF2B5EF4-FFF2-40B4-BE49-F238E27FC236}">
                <a16:creationId xmlns:a16="http://schemas.microsoft.com/office/drawing/2014/main" id="{0197644E-1A63-F3DF-139A-EA2A5FA0462A}"/>
              </a:ext>
            </a:extLst>
          </p:cNvPr>
          <p:cNvSpPr>
            <a:spLocks noGrp="1"/>
          </p:cNvSpPr>
          <p:nvPr>
            <p:ph type="body" sz="quarter" idx="17"/>
          </p:nvPr>
        </p:nvSpPr>
        <p:spPr/>
        <p:txBody>
          <a:bodyPr/>
          <a:lstStyle/>
          <a:p>
            <a:r>
              <a:rPr lang="fr-FR" dirty="0"/>
              <a:t>3</a:t>
            </a:r>
            <a:endParaRPr lang="en-US" dirty="0"/>
          </a:p>
        </p:txBody>
      </p:sp>
      <p:sp>
        <p:nvSpPr>
          <p:cNvPr id="17" name="Espace réservé du texte 16">
            <a:extLst>
              <a:ext uri="{FF2B5EF4-FFF2-40B4-BE49-F238E27FC236}">
                <a16:creationId xmlns:a16="http://schemas.microsoft.com/office/drawing/2014/main" id="{6A9F6BEC-51B5-FCD5-B754-07F4DA2855AC}"/>
              </a:ext>
            </a:extLst>
          </p:cNvPr>
          <p:cNvSpPr>
            <a:spLocks noGrp="1"/>
          </p:cNvSpPr>
          <p:nvPr>
            <p:ph type="body" sz="quarter" idx="18"/>
          </p:nvPr>
        </p:nvSpPr>
        <p:spPr/>
        <p:txBody>
          <a:bodyPr/>
          <a:lstStyle/>
          <a:p>
            <a:r>
              <a:rPr lang="en-US"/>
              <a:t>Vous décidez</a:t>
            </a:r>
          </a:p>
        </p:txBody>
      </p:sp>
      <p:sp>
        <p:nvSpPr>
          <p:cNvPr id="23" name="Espace réservé du texte 22">
            <a:extLst>
              <a:ext uri="{FF2B5EF4-FFF2-40B4-BE49-F238E27FC236}">
                <a16:creationId xmlns:a16="http://schemas.microsoft.com/office/drawing/2014/main" id="{BBD5529A-B61D-CEE1-F400-26CFDDD8447A}"/>
              </a:ext>
            </a:extLst>
          </p:cNvPr>
          <p:cNvSpPr>
            <a:spLocks noGrp="1"/>
          </p:cNvSpPr>
          <p:nvPr>
            <p:ph type="body" sz="quarter" idx="19"/>
          </p:nvPr>
        </p:nvSpPr>
        <p:spPr/>
        <p:txBody>
          <a:bodyPr/>
          <a:lstStyle/>
          <a:p>
            <a:r>
              <a:rPr lang="fr-FR"/>
              <a:t>On arrête un agent dès que vous le souhaitez. Sans justification.</a:t>
            </a:r>
          </a:p>
        </p:txBody>
      </p:sp>
      <p:sp>
        <p:nvSpPr>
          <p:cNvPr id="19" name="Espace réservé du texte 18">
            <a:extLst>
              <a:ext uri="{FF2B5EF4-FFF2-40B4-BE49-F238E27FC236}">
                <a16:creationId xmlns:a16="http://schemas.microsoft.com/office/drawing/2014/main" id="{76D46E3F-78C2-4039-EB12-8BC2EE5B4917}"/>
              </a:ext>
            </a:extLst>
          </p:cNvPr>
          <p:cNvSpPr>
            <a:spLocks noGrp="1"/>
          </p:cNvSpPr>
          <p:nvPr>
            <p:ph type="body" sz="quarter" idx="20"/>
          </p:nvPr>
        </p:nvSpPr>
        <p:spPr/>
        <p:txBody>
          <a:bodyPr/>
          <a:lstStyle/>
          <a:p>
            <a:r>
              <a:rPr lang="fr-FR" dirty="0"/>
              <a:t>2</a:t>
            </a:r>
            <a:endParaRPr lang="en-US" dirty="0"/>
          </a:p>
        </p:txBody>
      </p:sp>
      <p:sp>
        <p:nvSpPr>
          <p:cNvPr id="20" name="Espace réservé du texte 19">
            <a:extLst>
              <a:ext uri="{FF2B5EF4-FFF2-40B4-BE49-F238E27FC236}">
                <a16:creationId xmlns:a16="http://schemas.microsoft.com/office/drawing/2014/main" id="{75D2BDA7-F8A2-F2AD-80D8-53606F235D68}"/>
              </a:ext>
            </a:extLst>
          </p:cNvPr>
          <p:cNvSpPr>
            <a:spLocks noGrp="1"/>
          </p:cNvSpPr>
          <p:nvPr>
            <p:ph type="body" sz="quarter" idx="21"/>
          </p:nvPr>
        </p:nvSpPr>
        <p:spPr/>
        <p:txBody>
          <a:bodyPr/>
          <a:lstStyle/>
          <a:p>
            <a:r>
              <a:rPr lang="en-US" dirty="0"/>
              <a:t>Sans engagement</a:t>
            </a:r>
          </a:p>
        </p:txBody>
      </p:sp>
      <p:sp>
        <p:nvSpPr>
          <p:cNvPr id="24" name="Espace réservé du texte 23">
            <a:extLst>
              <a:ext uri="{FF2B5EF4-FFF2-40B4-BE49-F238E27FC236}">
                <a16:creationId xmlns:a16="http://schemas.microsoft.com/office/drawing/2014/main" id="{F5C7B427-52DE-9DC6-0A6E-2712C078BEC0}"/>
              </a:ext>
            </a:extLst>
          </p:cNvPr>
          <p:cNvSpPr>
            <a:spLocks noGrp="1"/>
          </p:cNvSpPr>
          <p:nvPr>
            <p:ph type="body" sz="quarter" idx="22"/>
          </p:nvPr>
        </p:nvSpPr>
        <p:spPr/>
        <p:txBody>
          <a:bodyPr/>
          <a:lstStyle/>
          <a:p>
            <a:r>
              <a:rPr lang="fr-FR"/>
              <a:t>Aucune durée imposée. Vous restez libre, mois après mois.</a:t>
            </a:r>
          </a:p>
        </p:txBody>
      </p:sp>
      <p:sp>
        <p:nvSpPr>
          <p:cNvPr id="12" name="Espace réservé du texte 11">
            <a:extLst>
              <a:ext uri="{FF2B5EF4-FFF2-40B4-BE49-F238E27FC236}">
                <a16:creationId xmlns:a16="http://schemas.microsoft.com/office/drawing/2014/main" id="{5641B7E2-9B9B-31B6-0A43-C51F9D6F2639}"/>
              </a:ext>
            </a:extLst>
          </p:cNvPr>
          <p:cNvSpPr>
            <a:spLocks noGrp="1"/>
          </p:cNvSpPr>
          <p:nvPr>
            <p:ph type="body" sz="quarter" idx="13"/>
          </p:nvPr>
        </p:nvSpPr>
        <p:spPr/>
        <p:txBody>
          <a:bodyPr/>
          <a:lstStyle/>
          <a:p>
            <a:r>
              <a:rPr lang="fr-FR" dirty="0"/>
              <a:t>SUPPORT &amp; ASSISTANCE</a:t>
            </a:r>
            <a:endParaRPr lang="en-US" dirty="0"/>
          </a:p>
        </p:txBody>
      </p:sp>
      <p:sp>
        <p:nvSpPr>
          <p:cNvPr id="25" name="Espace réservé du texte 24">
            <a:extLst>
              <a:ext uri="{FF2B5EF4-FFF2-40B4-BE49-F238E27FC236}">
                <a16:creationId xmlns:a16="http://schemas.microsoft.com/office/drawing/2014/main" id="{E72A77F9-F7CD-DCCE-66A8-338FB98DCE2A}"/>
              </a:ext>
            </a:extLst>
          </p:cNvPr>
          <p:cNvSpPr>
            <a:spLocks noGrp="1"/>
          </p:cNvSpPr>
          <p:nvPr>
            <p:ph type="body" sz="quarter" idx="23"/>
          </p:nvPr>
        </p:nvSpPr>
        <p:spPr/>
        <p:txBody>
          <a:bodyPr/>
          <a:lstStyle/>
          <a:p>
            <a:r>
              <a:rPr lang="fr-FR" dirty="0"/>
              <a:t>On vend une solution adoptée, maintenue et ROI-positive. Pas juste du code livré.</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Titre 13">
            <a:extLst>
              <a:ext uri="{FF2B5EF4-FFF2-40B4-BE49-F238E27FC236}">
                <a16:creationId xmlns:a16="http://schemas.microsoft.com/office/drawing/2014/main" id="{35DBB0C9-CF2F-D159-0451-77684E70E567}"/>
              </a:ext>
            </a:extLst>
          </p:cNvPr>
          <p:cNvSpPr>
            <a:spLocks noGrp="1"/>
          </p:cNvSpPr>
          <p:nvPr>
            <p:ph type="title"/>
          </p:nvPr>
        </p:nvSpPr>
        <p:spPr/>
        <p:txBody>
          <a:bodyPr>
            <a:normAutofit fontScale="90000"/>
          </a:bodyPr>
          <a:lstStyle/>
          <a:p>
            <a:r>
              <a:rPr lang="fr-FR"/>
              <a:t>Tarification claire, sans engagement de durée</a:t>
            </a:r>
          </a:p>
        </p:txBody>
      </p:sp>
      <p:sp>
        <p:nvSpPr>
          <p:cNvPr id="17" name="Espace réservé du texte 16">
            <a:extLst>
              <a:ext uri="{FF2B5EF4-FFF2-40B4-BE49-F238E27FC236}">
                <a16:creationId xmlns:a16="http://schemas.microsoft.com/office/drawing/2014/main" id="{62D24C4A-0810-BAF3-321A-332B8BB88793}"/>
              </a:ext>
            </a:extLst>
          </p:cNvPr>
          <p:cNvSpPr>
            <a:spLocks noGrp="1"/>
          </p:cNvSpPr>
          <p:nvPr>
            <p:ph type="body" sz="quarter" idx="14"/>
          </p:nvPr>
        </p:nvSpPr>
        <p:spPr/>
        <p:txBody>
          <a:bodyPr>
            <a:normAutofit/>
          </a:bodyPr>
          <a:lstStyle/>
          <a:p>
            <a:r>
              <a:rPr lang="fr-FR" dirty="0"/>
              <a:t>1</a:t>
            </a:r>
          </a:p>
        </p:txBody>
      </p:sp>
      <p:sp>
        <p:nvSpPr>
          <p:cNvPr id="19" name="Espace réservé du texte 18">
            <a:extLst>
              <a:ext uri="{FF2B5EF4-FFF2-40B4-BE49-F238E27FC236}">
                <a16:creationId xmlns:a16="http://schemas.microsoft.com/office/drawing/2014/main" id="{894EBF5C-16C2-3A5E-502B-DCA025793B1E}"/>
              </a:ext>
            </a:extLst>
          </p:cNvPr>
          <p:cNvSpPr>
            <a:spLocks noGrp="1"/>
          </p:cNvSpPr>
          <p:nvPr>
            <p:ph type="body" sz="quarter" idx="15"/>
          </p:nvPr>
        </p:nvSpPr>
        <p:spPr>
          <a:xfrm>
            <a:off x="875999" y="3980258"/>
            <a:ext cx="4885703" cy="625475"/>
          </a:xfrm>
        </p:spPr>
        <p:txBody>
          <a:bodyPr/>
          <a:lstStyle/>
          <a:p>
            <a:r>
              <a:rPr lang="fr-FR" dirty="0"/>
              <a:t>Setup et maintenance</a:t>
            </a:r>
            <a:endParaRPr lang="en-US" dirty="0"/>
          </a:p>
        </p:txBody>
      </p:sp>
      <p:sp>
        <p:nvSpPr>
          <p:cNvPr id="15" name="Espace réservé du texte 14">
            <a:extLst>
              <a:ext uri="{FF2B5EF4-FFF2-40B4-BE49-F238E27FC236}">
                <a16:creationId xmlns:a16="http://schemas.microsoft.com/office/drawing/2014/main" id="{6C4B9150-9F16-7B28-7BDD-BBD2EA2135DE}"/>
              </a:ext>
            </a:extLst>
          </p:cNvPr>
          <p:cNvSpPr>
            <a:spLocks noGrp="1"/>
          </p:cNvSpPr>
          <p:nvPr>
            <p:ph type="body" sz="quarter" idx="13"/>
          </p:nvPr>
        </p:nvSpPr>
        <p:spPr/>
        <p:txBody>
          <a:bodyPr/>
          <a:lstStyle/>
          <a:p>
            <a:pPr/>
            <a:r>
              <a:t>APPROCHE BUDGÉTAIRE</a:t>
            </a:r>
            <a:endParaRPr lang="en-US" dirty="0"/>
          </a:p>
        </p:txBody>
      </p:sp>
      <p:sp>
        <p:nvSpPr>
          <p:cNvPr id="20" name="Espace réservé du texte 19">
            <a:extLst>
              <a:ext uri="{FF2B5EF4-FFF2-40B4-BE49-F238E27FC236}">
                <a16:creationId xmlns:a16="http://schemas.microsoft.com/office/drawing/2014/main" id="{881B9067-E6F5-5004-D15F-BABFB2A25324}"/>
              </a:ext>
            </a:extLst>
          </p:cNvPr>
          <p:cNvSpPr>
            <a:spLocks noGrp="1"/>
          </p:cNvSpPr>
          <p:nvPr>
            <p:ph type="body" sz="quarter" idx="23"/>
          </p:nvPr>
        </p:nvSpPr>
        <p:spPr/>
        <p:txBody>
          <a:bodyPr/>
          <a:lstStyle/>
          <a:p>
            <a:r>
              <a:rPr lang="fr-FR" dirty="0"/>
              <a:t>Offre sans engagement de durée, licence du moteur IA à votre charge.</a:t>
            </a:r>
          </a:p>
        </p:txBody>
      </p:sp>
      <p:sp>
        <p:nvSpPr>
          <p:cNvPr id="31" name="Espace réservé du texte 30">
            <a:extLst>
              <a:ext uri="{FF2B5EF4-FFF2-40B4-BE49-F238E27FC236}">
                <a16:creationId xmlns:a16="http://schemas.microsoft.com/office/drawing/2014/main" id="{55D659AA-B1C1-2ECB-B794-37664898D123}"/>
              </a:ext>
            </a:extLst>
          </p:cNvPr>
          <p:cNvSpPr>
            <a:spLocks noGrp="1"/>
          </p:cNvSpPr>
          <p:nvPr>
            <p:ph type="body" sz="quarter" idx="24"/>
          </p:nvPr>
        </p:nvSpPr>
        <p:spPr/>
        <p:txBody>
          <a:bodyPr/>
          <a:lstStyle/>
          <a:p>
            <a:r>
              <a:rPr lang="fr-FR" dirty="0"/>
              <a:t>2</a:t>
            </a:r>
            <a:endParaRPr lang="en-US" dirty="0"/>
          </a:p>
        </p:txBody>
      </p:sp>
      <p:sp>
        <p:nvSpPr>
          <p:cNvPr id="32" name="Espace réservé du texte 31">
            <a:extLst>
              <a:ext uri="{FF2B5EF4-FFF2-40B4-BE49-F238E27FC236}">
                <a16:creationId xmlns:a16="http://schemas.microsoft.com/office/drawing/2014/main" id="{163B8A23-C10C-0085-4C3C-FA8F08325F92}"/>
              </a:ext>
            </a:extLst>
          </p:cNvPr>
          <p:cNvSpPr>
            <a:spLocks noGrp="1"/>
          </p:cNvSpPr>
          <p:nvPr>
            <p:ph type="body" sz="quarter" idx="25"/>
          </p:nvPr>
        </p:nvSpPr>
        <p:spPr>
          <a:xfrm>
            <a:off x="6456001" y="3980258"/>
            <a:ext cx="4885703" cy="625475"/>
          </a:xfrm>
        </p:spPr>
        <p:txBody>
          <a:bodyPr/>
          <a:lstStyle/>
          <a:p>
            <a:r>
              <a:rPr lang="fr-FR"/>
              <a:t>À la demande et formation</a:t>
            </a:r>
            <a:endParaRPr lang="fr-FR" dirty="0"/>
          </a:p>
        </p:txBody>
      </p:sp>
      <p:graphicFrame>
        <p:nvGraphicFramePr>
          <p:cNvPr id="26" name="Tableau 25">
            <a:extLst>
              <a:ext uri="{FF2B5EF4-FFF2-40B4-BE49-F238E27FC236}">
                <a16:creationId xmlns:a16="http://schemas.microsoft.com/office/drawing/2014/main" id="{78429239-36E8-E0E4-2757-E1F55D06F002}"/>
              </a:ext>
            </a:extLst>
          </p:cNvPr>
          <p:cNvGraphicFramePr>
            <a:graphicFrameLocks noGrp="1"/>
          </p:cNvGraphicFramePr>
          <p:nvPr>
            <p:extLst>
              <p:ext uri="{D42A27DB-BD31-4B8C-83A1-F6EECF244321}">
                <p14:modId xmlns:p14="http://schemas.microsoft.com/office/powerpoint/2010/main" val="565047498"/>
              </p:ext>
            </p:extLst>
          </p:nvPr>
        </p:nvGraphicFramePr>
        <p:xfrm>
          <a:off x="963562" y="4456390"/>
          <a:ext cx="4768644" cy="1650723"/>
        </p:xfrm>
        <a:graphic>
          <a:graphicData uri="http://schemas.openxmlformats.org/drawingml/2006/table">
            <a:tbl>
              <a:tblPr firstRow="1" bandRow="1">
                <a:tableStyleId>{2D5ABB26-0587-4C30-8999-92F81FD0307C}</a:tableStyleId>
              </a:tblPr>
              <a:tblGrid>
                <a:gridCol w="1910772">
                  <a:extLst>
                    <a:ext uri="{9D8B030D-6E8A-4147-A177-3AD203B41FA5}">
                      <a16:colId xmlns:a16="http://schemas.microsoft.com/office/drawing/2014/main" val="1036327269"/>
                    </a:ext>
                  </a:extLst>
                </a:gridCol>
                <a:gridCol w="2857872">
                  <a:extLst>
                    <a:ext uri="{9D8B030D-6E8A-4147-A177-3AD203B41FA5}">
                      <a16:colId xmlns:a16="http://schemas.microsoft.com/office/drawing/2014/main" val="551095948"/>
                    </a:ext>
                  </a:extLst>
                </a:gridCol>
              </a:tblGrid>
              <a:tr h="42745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Setup environnement</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400 €  ·  une seule fois</a:t>
                      </a:r>
                    </a:p>
                  </a:txBody>
                  <a:tcPr anchor="ctr"/>
                </a:tc>
                <a:extLst>
                  <a:ext uri="{0D108BD9-81ED-4DB2-BD59-A6C34878D82A}">
                    <a16:rowId xmlns:a16="http://schemas.microsoft.com/office/drawing/2014/main" val="1056575655"/>
                  </a:ext>
                </a:extLst>
              </a:tr>
              <a:tr h="496599">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Installation par agent</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800 €  ·  une seule fois</a:t>
                      </a:r>
                    </a:p>
                  </a:txBody>
                  <a:tcPr anchor="ctr"/>
                </a:tc>
                <a:extLst>
                  <a:ext uri="{0D108BD9-81ED-4DB2-BD59-A6C34878D82A}">
                    <a16:rowId xmlns:a16="http://schemas.microsoft.com/office/drawing/2014/main" val="17466850"/>
                  </a:ext>
                </a:extLst>
              </a:tr>
              <a:tr h="72667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Maintenance</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300 €   / mois et environnement</a:t>
                      </a:r>
                      <a:br>
                        <a:rPr lang="fr-FR" sz="1400" dirty="0"/>
                      </a:br>
                      <a:r>
                        <a:rPr lang="fr-FR" sz="1400" dirty="0"/>
                        <a:t>3 h de consultant incluses</a:t>
                      </a:r>
                    </a:p>
                  </a:txBody>
                  <a:tcPr anchor="ctr"/>
                </a:tc>
                <a:extLst>
                  <a:ext uri="{0D108BD9-81ED-4DB2-BD59-A6C34878D82A}">
                    <a16:rowId xmlns:a16="http://schemas.microsoft.com/office/drawing/2014/main" val="2877463342"/>
                  </a:ext>
                </a:extLst>
              </a:tr>
            </a:tbl>
          </a:graphicData>
        </a:graphic>
      </p:graphicFrame>
      <p:graphicFrame>
        <p:nvGraphicFramePr>
          <p:cNvPr id="28" name="Tableau 27">
            <a:extLst>
              <a:ext uri="{FF2B5EF4-FFF2-40B4-BE49-F238E27FC236}">
                <a16:creationId xmlns:a16="http://schemas.microsoft.com/office/drawing/2014/main" id="{876BC313-DB85-225D-22F3-5E7BBF0F36EE}"/>
              </a:ext>
            </a:extLst>
          </p:cNvPr>
          <p:cNvGraphicFramePr>
            <a:graphicFrameLocks noGrp="1"/>
          </p:cNvGraphicFramePr>
          <p:nvPr>
            <p:extLst>
              <p:ext uri="{D42A27DB-BD31-4B8C-83A1-F6EECF244321}">
                <p14:modId xmlns:p14="http://schemas.microsoft.com/office/powerpoint/2010/main" val="3463464411"/>
              </p:ext>
            </p:extLst>
          </p:nvPr>
        </p:nvGraphicFramePr>
        <p:xfrm>
          <a:off x="6456000" y="4434829"/>
          <a:ext cx="4856206" cy="1672284"/>
        </p:xfrm>
        <a:graphic>
          <a:graphicData uri="http://schemas.openxmlformats.org/drawingml/2006/table">
            <a:tbl>
              <a:tblPr firstRow="1" bandRow="1">
                <a:tableStyleId>{2D5ABB26-0587-4C30-8999-92F81FD0307C}</a:tableStyleId>
              </a:tblPr>
              <a:tblGrid>
                <a:gridCol w="2402865">
                  <a:extLst>
                    <a:ext uri="{9D8B030D-6E8A-4147-A177-3AD203B41FA5}">
                      <a16:colId xmlns:a16="http://schemas.microsoft.com/office/drawing/2014/main" val="1036327269"/>
                    </a:ext>
                  </a:extLst>
                </a:gridCol>
                <a:gridCol w="2453341">
                  <a:extLst>
                    <a:ext uri="{9D8B030D-6E8A-4147-A177-3AD203B41FA5}">
                      <a16:colId xmlns:a16="http://schemas.microsoft.com/office/drawing/2014/main" val="551095948"/>
                    </a:ext>
                  </a:extLst>
                </a:gridCol>
              </a:tblGrid>
              <a:tr h="427454">
                <a:tc>
                  <a:txBody>
                    <a:bodyPr/>
                    <a:lstStyle/>
                    <a:p>
                      <a:r>
                        <a:rPr lang="fr-FR" sz="1400" dirty="0"/>
                        <a:t>Consultant IA</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100 € /  heure</a:t>
                      </a:r>
                    </a:p>
                  </a:txBody>
                  <a:tcPr anchor="ctr"/>
                </a:tc>
                <a:extLst>
                  <a:ext uri="{0D108BD9-81ED-4DB2-BD59-A6C34878D82A}">
                    <a16:rowId xmlns:a16="http://schemas.microsoft.com/office/drawing/2014/main" val="1056575655"/>
                  </a:ext>
                </a:extLst>
              </a:tr>
              <a:tr h="496599">
                <a:tc>
                  <a:txBody>
                    <a:bodyPr/>
                    <a:lstStyle/>
                    <a:p>
                      <a:r>
                        <a:rPr lang="fr-FR" sz="1400" dirty="0"/>
                        <a:t>Carnet de temps</a:t>
                      </a:r>
                      <a:br>
                        <a:rPr lang="fr-FR" sz="1400" dirty="0"/>
                      </a:br>
                      <a:r>
                        <a:rPr lang="fr-FR" sz="1400" dirty="0"/>
                        <a:t>(évolutions hors périmètre)</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100 € /  heure</a:t>
                      </a:r>
                    </a:p>
                  </a:txBody>
                  <a:tcPr anchor="ctr"/>
                </a:tc>
                <a:extLst>
                  <a:ext uri="{0D108BD9-81ED-4DB2-BD59-A6C34878D82A}">
                    <a16:rowId xmlns:a16="http://schemas.microsoft.com/office/drawing/2014/main" val="17466850"/>
                  </a:ext>
                </a:extLst>
              </a:tr>
              <a:tr h="72667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Formation</a:t>
                      </a:r>
                    </a:p>
                    <a:p>
                      <a:pPr marL="0" marR="0" lvl="0" indent="0" defTabSz="914400" eaLnBrk="1" fontAlgn="auto" latinLnBrk="0" hangingPunct="1">
                        <a:lnSpc>
                          <a:spcPct val="100000"/>
                        </a:lnSpc>
                        <a:spcBef>
                          <a:spcPts val="0"/>
                        </a:spcBef>
                        <a:spcAft>
                          <a:spcPts val="0"/>
                        </a:spcAft>
                        <a:buClrTx/>
                        <a:buSzTx/>
                        <a:buFontTx/>
                        <a:buNone/>
                        <a:tabLst/>
                        <a:defRPr/>
                      </a:pPr>
                      <a:r>
                        <a:rPr lang="fr-FR" sz="1400" dirty="0"/>
                        <a:t>(6 personnes maximum)</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1500 € / jour</a:t>
                      </a:r>
                    </a:p>
                  </a:txBody>
                  <a:tcPr anchor="ctr"/>
                </a:tc>
                <a:extLst>
                  <a:ext uri="{0D108BD9-81ED-4DB2-BD59-A6C34878D82A}">
                    <a16:rowId xmlns:a16="http://schemas.microsoft.com/office/drawing/2014/main" val="2877463342"/>
                  </a:ext>
                </a:extLst>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sz="half" idx="2"/>
          </p:nvPr>
        </p:nvSpPr>
        <p:spPr>
          <a:xfrm>
            <a:off x="696000" y="2529528"/>
            <a:ext cx="5157787" cy="3577588"/>
          </a:xfrm>
          <a:prstGeom prst="roundRect">
            <a:avLst>
              <a:gd name="adj" fmla="val 963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vert="horz" lIns="90000" tIns="45720" rIns="91440" bIns="45720" rtlCol="0" anchor="ctr">
            <a:normAutofit/>
          </a:bodyPr>
          <a:lstStyle/>
          <a:p>
            <a:pPr marL="0" indent="0" fontAlgn="t">
              <a:buNone/>
            </a:pPr>
            <a:r>
              <a:rPr lang="fr-FR" sz="1600" dirty="0"/>
              <a:t> </a:t>
            </a:r>
            <a:endParaRPr sz="1600" dirty="0"/>
          </a:p>
        </p:txBody>
      </p:sp>
      <p:sp>
        <p:nvSpPr>
          <p:cNvPr id="5" name="Content Placeholder 4"/>
          <p:cNvSpPr>
            <a:spLocks noGrp="1"/>
          </p:cNvSpPr>
          <p:nvPr>
            <p:ph sz="quarter" idx="4"/>
          </p:nvPr>
        </p:nvSpPr>
        <p:spPr>
          <a:xfrm>
            <a:off x="6312812" y="2529526"/>
            <a:ext cx="5183188" cy="3577587"/>
          </a:xfrm>
          <a:prstGeom prst="roundRect">
            <a:avLst/>
          </a:prstGeom>
          <a:gradFill>
            <a:gsLst>
              <a:gs pos="0">
                <a:srgbClr val="BA131A"/>
              </a:gs>
              <a:gs pos="100000">
                <a:srgbClr val="E2575D"/>
              </a:gs>
            </a:gsLst>
            <a:lin ang="2700000" scaled="1"/>
          </a:gradFill>
        </p:spPr>
        <p:txBody>
          <a:bodyPr anchor="ctr" anchorCtr="0">
            <a:noAutofit/>
          </a:bodyPr>
          <a:lstStyle/>
          <a:p>
            <a:pPr marL="0" indent="0" algn="ctr">
              <a:buNone/>
            </a:pPr>
            <a:r>
              <a:rPr lang="fr-FR" sz="3200" b="1" dirty="0">
                <a:solidFill>
                  <a:schemeClr val="bg1"/>
                </a:solidFill>
                <a:latin typeface="+mj-lt"/>
              </a:rPr>
              <a:t>3 500 € HT</a:t>
            </a:r>
          </a:p>
          <a:p>
            <a:pPr marL="0" indent="0" algn="ctr">
              <a:buNone/>
            </a:pPr>
            <a:r>
              <a:rPr lang="fr-FR" sz="1800" dirty="0">
                <a:solidFill>
                  <a:schemeClr val="bg1"/>
                </a:solidFill>
                <a:latin typeface="+mj-lt"/>
              </a:rPr>
              <a:t>à la mise en place</a:t>
            </a:r>
          </a:p>
          <a:p>
            <a:pPr marL="0" indent="0" algn="ctr">
              <a:buNone/>
            </a:pPr>
            <a:endParaRPr lang="fr-FR" sz="1800" b="1" dirty="0">
              <a:solidFill>
                <a:schemeClr val="bg1"/>
              </a:solidFill>
              <a:latin typeface="+mj-lt"/>
            </a:endParaRPr>
          </a:p>
          <a:p>
            <a:pPr marL="0" indent="0" algn="ctr">
              <a:buNone/>
            </a:pPr>
            <a:r>
              <a:rPr lang="fr-FR" sz="3200" b="1" dirty="0">
                <a:solidFill>
                  <a:schemeClr val="bg1"/>
                </a:solidFill>
                <a:latin typeface="+mj-lt"/>
              </a:rPr>
              <a:t>puis 300 € HT / mois</a:t>
            </a:r>
          </a:p>
          <a:p>
            <a:pPr marL="0" indent="0" algn="ctr">
              <a:buNone/>
            </a:pPr>
            <a:r>
              <a:rPr lang="fr-FR" sz="1800" dirty="0">
                <a:solidFill>
                  <a:schemeClr val="bg1"/>
                </a:solidFill>
                <a:latin typeface="+mj-lt"/>
              </a:rPr>
              <a:t>maintenance, 3 heures de consultant incluses</a:t>
            </a:r>
          </a:p>
          <a:p>
            <a:pPr marL="0" indent="0" algn="ctr">
              <a:buNone/>
            </a:pPr>
            <a:endParaRPr lang="fr-FR" sz="1800" b="1" dirty="0">
              <a:solidFill>
                <a:schemeClr val="bg1"/>
              </a:solidFill>
              <a:latin typeface="+mj-lt"/>
            </a:endParaRPr>
          </a:p>
        </p:txBody>
      </p:sp>
      <p:sp>
        <p:nvSpPr>
          <p:cNvPr id="6" name="Title 5"/>
          <p:cNvSpPr>
            <a:spLocks noGrp="1"/>
          </p:cNvSpPr>
          <p:nvPr>
            <p:ph type="title"/>
          </p:nvPr>
        </p:nvSpPr>
        <p:spPr/>
        <p:txBody>
          <a:bodyPr>
            <a:normAutofit fontScale="90000"/>
          </a:bodyPr>
          <a:lstStyle/>
          <a:p>
            <a:r>
              <a:rPr lang="en-US" dirty="0"/>
              <a:t>Un budget type, </a:t>
            </a:r>
            <a:r>
              <a:rPr lang="en-US" dirty="0" err="1"/>
              <a:t>concret</a:t>
            </a:r>
            <a:br>
              <a:rPr lang="en-US" dirty="0"/>
            </a:br>
            <a:r>
              <a:rPr lang="fr-FR" sz="1600" b="0" i="1" dirty="0"/>
              <a:t>Exemple : 1 environnement, 2 agents, 1 session de formation.</a:t>
            </a:r>
            <a:endParaRPr b="0" i="1" dirty="0"/>
          </a:p>
        </p:txBody>
      </p:sp>
      <p:sp>
        <p:nvSpPr>
          <p:cNvPr id="7" name="Text Placeholder 6"/>
          <p:cNvSpPr>
            <a:spLocks noGrp="1"/>
          </p:cNvSpPr>
          <p:nvPr>
            <p:ph type="body" sz="quarter" idx="13"/>
          </p:nvPr>
        </p:nvSpPr>
        <p:spPr/>
        <p:txBody>
          <a:bodyPr/>
          <a:lstStyle/>
          <a:p>
            <a:r>
              <a:rPr dirty="0"/>
              <a:t>APPROCHE BUDGÉTAIRE</a:t>
            </a:r>
          </a:p>
        </p:txBody>
      </p:sp>
      <p:graphicFrame>
        <p:nvGraphicFramePr>
          <p:cNvPr id="10" name="Tableau 9">
            <a:extLst>
              <a:ext uri="{FF2B5EF4-FFF2-40B4-BE49-F238E27FC236}">
                <a16:creationId xmlns:a16="http://schemas.microsoft.com/office/drawing/2014/main" id="{E3030628-BF50-6A49-B5B5-D5CAC5C83E30}"/>
              </a:ext>
            </a:extLst>
          </p:cNvPr>
          <p:cNvGraphicFramePr>
            <a:graphicFrameLocks noGrp="1"/>
          </p:cNvGraphicFramePr>
          <p:nvPr>
            <p:extLst>
              <p:ext uri="{D42A27DB-BD31-4B8C-83A1-F6EECF244321}">
                <p14:modId xmlns:p14="http://schemas.microsoft.com/office/powerpoint/2010/main" val="3882126396"/>
              </p:ext>
            </p:extLst>
          </p:nvPr>
        </p:nvGraphicFramePr>
        <p:xfrm>
          <a:off x="979061" y="3167955"/>
          <a:ext cx="4591664" cy="2271252"/>
        </p:xfrm>
        <a:graphic>
          <a:graphicData uri="http://schemas.openxmlformats.org/drawingml/2006/table">
            <a:tbl>
              <a:tblPr firstRow="1" bandRow="1">
                <a:tableStyleId>{2D5ABB26-0587-4C30-8999-92F81FD0307C}</a:tableStyleId>
              </a:tblPr>
              <a:tblGrid>
                <a:gridCol w="1839857">
                  <a:extLst>
                    <a:ext uri="{9D8B030D-6E8A-4147-A177-3AD203B41FA5}">
                      <a16:colId xmlns:a16="http://schemas.microsoft.com/office/drawing/2014/main" val="1036327269"/>
                    </a:ext>
                  </a:extLst>
                </a:gridCol>
                <a:gridCol w="2751807">
                  <a:extLst>
                    <a:ext uri="{9D8B030D-6E8A-4147-A177-3AD203B41FA5}">
                      <a16:colId xmlns:a16="http://schemas.microsoft.com/office/drawing/2014/main" val="551095948"/>
                    </a:ext>
                  </a:extLst>
                </a:gridCol>
              </a:tblGrid>
              <a:tr h="613852">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Setup environnement</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400 €</a:t>
                      </a:r>
                    </a:p>
                  </a:txBody>
                  <a:tcPr anchor="ctr"/>
                </a:tc>
                <a:extLst>
                  <a:ext uri="{0D108BD9-81ED-4DB2-BD59-A6C34878D82A}">
                    <a16:rowId xmlns:a16="http://schemas.microsoft.com/office/drawing/2014/main" val="1056575655"/>
                  </a:ext>
                </a:extLst>
              </a:tr>
              <a:tr h="1043548">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2 agents</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2 X 800 €</a:t>
                      </a:r>
                      <a:br>
                        <a:rPr lang="fr-FR" sz="1400" dirty="0"/>
                      </a:br>
                      <a:r>
                        <a:rPr lang="fr-FR" sz="1400" dirty="0"/>
                        <a:t>1 600 €</a:t>
                      </a:r>
                    </a:p>
                  </a:txBody>
                  <a:tcPr anchor="ctr"/>
                </a:tc>
                <a:extLst>
                  <a:ext uri="{0D108BD9-81ED-4DB2-BD59-A6C34878D82A}">
                    <a16:rowId xmlns:a16="http://schemas.microsoft.com/office/drawing/2014/main" val="17466850"/>
                  </a:ext>
                </a:extLst>
              </a:tr>
              <a:tr h="613852">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400" dirty="0"/>
                        <a:t>Formation (1 session)</a:t>
                      </a:r>
                    </a:p>
                  </a:txBody>
                  <a:tcPr anchor="ct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fr-FR" sz="1400" dirty="0"/>
                        <a:t>1 500€</a:t>
                      </a:r>
                    </a:p>
                  </a:txBody>
                  <a:tcPr anchor="ctr"/>
                </a:tc>
                <a:extLst>
                  <a:ext uri="{0D108BD9-81ED-4DB2-BD59-A6C34878D82A}">
                    <a16:rowId xmlns:a16="http://schemas.microsoft.com/office/drawing/2014/main" val="2877463342"/>
                  </a:ext>
                </a:extLst>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Titre 7">
            <a:extLst>
              <a:ext uri="{FF2B5EF4-FFF2-40B4-BE49-F238E27FC236}">
                <a16:creationId xmlns:a16="http://schemas.microsoft.com/office/drawing/2014/main" id="{20247A5B-29BE-9300-5BD5-C7380C6E7CCB}"/>
              </a:ext>
            </a:extLst>
          </p:cNvPr>
          <p:cNvSpPr>
            <a:spLocks noGrp="1"/>
          </p:cNvSpPr>
          <p:nvPr>
            <p:ph type="title"/>
          </p:nvPr>
        </p:nvSpPr>
        <p:spPr/>
        <p:txBody>
          <a:bodyPr>
            <a:normAutofit/>
          </a:bodyPr>
          <a:lstStyle/>
          <a:p>
            <a:r>
              <a:rPr lang="fr-FR" dirty="0"/>
              <a:t>On démarre en 2 à 3 semaines</a:t>
            </a:r>
            <a:endParaRPr lang="en-US" dirty="0"/>
          </a:p>
        </p:txBody>
      </p:sp>
      <p:sp>
        <p:nvSpPr>
          <p:cNvPr id="10" name="Espace réservé du texte 9">
            <a:extLst>
              <a:ext uri="{FF2B5EF4-FFF2-40B4-BE49-F238E27FC236}">
                <a16:creationId xmlns:a16="http://schemas.microsoft.com/office/drawing/2014/main" id="{A8C72EBD-DC96-9310-78D3-3E1131B186BB}"/>
              </a:ext>
            </a:extLst>
          </p:cNvPr>
          <p:cNvSpPr>
            <a:spLocks noGrp="1"/>
          </p:cNvSpPr>
          <p:nvPr>
            <p:ph type="body" sz="quarter" idx="14"/>
          </p:nvPr>
        </p:nvSpPr>
        <p:spPr/>
        <p:txBody>
          <a:bodyPr/>
          <a:lstStyle/>
          <a:p>
            <a:r>
              <a:rPr lang="fr-FR" dirty="0"/>
              <a:t>1</a:t>
            </a:r>
            <a:endParaRPr lang="en-US" dirty="0"/>
          </a:p>
        </p:txBody>
      </p:sp>
      <p:sp>
        <p:nvSpPr>
          <p:cNvPr id="11" name="Espace réservé du texte 10">
            <a:extLst>
              <a:ext uri="{FF2B5EF4-FFF2-40B4-BE49-F238E27FC236}">
                <a16:creationId xmlns:a16="http://schemas.microsoft.com/office/drawing/2014/main" id="{01B3D38C-177A-C891-BF62-1FE97ACC26CB}"/>
              </a:ext>
            </a:extLst>
          </p:cNvPr>
          <p:cNvSpPr>
            <a:spLocks noGrp="1"/>
          </p:cNvSpPr>
          <p:nvPr>
            <p:ph type="body" sz="quarter" idx="15"/>
          </p:nvPr>
        </p:nvSpPr>
        <p:spPr/>
        <p:txBody>
          <a:bodyPr/>
          <a:lstStyle/>
          <a:p>
            <a:r>
              <a:rPr lang="en-US"/>
              <a:t>Choix des agents</a:t>
            </a:r>
            <a:endParaRPr lang="en-US" dirty="0"/>
          </a:p>
        </p:txBody>
      </p:sp>
      <p:sp>
        <p:nvSpPr>
          <p:cNvPr id="12" name="Espace réservé du texte 11">
            <a:extLst>
              <a:ext uri="{FF2B5EF4-FFF2-40B4-BE49-F238E27FC236}">
                <a16:creationId xmlns:a16="http://schemas.microsoft.com/office/drawing/2014/main" id="{4991FBFC-FEA7-E2B8-E05E-CC0DA6ACF9C2}"/>
              </a:ext>
            </a:extLst>
          </p:cNvPr>
          <p:cNvSpPr>
            <a:spLocks noGrp="1"/>
          </p:cNvSpPr>
          <p:nvPr>
            <p:ph type="body" sz="quarter" idx="16"/>
          </p:nvPr>
        </p:nvSpPr>
        <p:spPr/>
        <p:txBody>
          <a:bodyPr/>
          <a:lstStyle/>
          <a:p>
            <a:r>
              <a:rPr lang="fr-FR"/>
              <a:t>On sélectionne le ou les agents prioritaires.</a:t>
            </a:r>
          </a:p>
        </p:txBody>
      </p:sp>
      <p:sp>
        <p:nvSpPr>
          <p:cNvPr id="9" name="Espace réservé du texte 8">
            <a:extLst>
              <a:ext uri="{FF2B5EF4-FFF2-40B4-BE49-F238E27FC236}">
                <a16:creationId xmlns:a16="http://schemas.microsoft.com/office/drawing/2014/main" id="{1E0736CB-AAD2-581A-6CD2-F2FB6BE8369B}"/>
              </a:ext>
            </a:extLst>
          </p:cNvPr>
          <p:cNvSpPr>
            <a:spLocks noGrp="1"/>
          </p:cNvSpPr>
          <p:nvPr>
            <p:ph type="body" sz="quarter" idx="13"/>
          </p:nvPr>
        </p:nvSpPr>
        <p:spPr/>
        <p:txBody>
          <a:bodyPr/>
          <a:lstStyle/>
          <a:p>
            <a:r>
              <a:rPr lang="fr-FR" dirty="0"/>
              <a:t>PLANNING</a:t>
            </a:r>
            <a:endParaRPr lang="en-US" dirty="0"/>
          </a:p>
        </p:txBody>
      </p:sp>
      <p:sp>
        <p:nvSpPr>
          <p:cNvPr id="13" name="Espace réservé du texte 12">
            <a:extLst>
              <a:ext uri="{FF2B5EF4-FFF2-40B4-BE49-F238E27FC236}">
                <a16:creationId xmlns:a16="http://schemas.microsoft.com/office/drawing/2014/main" id="{A1A0CD40-D429-6B62-53C4-D6AB05A0F1F1}"/>
              </a:ext>
            </a:extLst>
          </p:cNvPr>
          <p:cNvSpPr>
            <a:spLocks noGrp="1"/>
          </p:cNvSpPr>
          <p:nvPr>
            <p:ph type="body" sz="quarter" idx="17"/>
          </p:nvPr>
        </p:nvSpPr>
        <p:spPr/>
        <p:txBody>
          <a:bodyPr/>
          <a:lstStyle/>
          <a:p>
            <a:r>
              <a:rPr lang="fr-FR" dirty="0"/>
              <a:t>4</a:t>
            </a:r>
            <a:endParaRPr lang="en-US" dirty="0"/>
          </a:p>
        </p:txBody>
      </p:sp>
      <p:sp>
        <p:nvSpPr>
          <p:cNvPr id="14" name="Espace réservé du texte 13">
            <a:extLst>
              <a:ext uri="{FF2B5EF4-FFF2-40B4-BE49-F238E27FC236}">
                <a16:creationId xmlns:a16="http://schemas.microsoft.com/office/drawing/2014/main" id="{74B8BD17-4FC8-444A-D1A4-E72B7FF2D8DA}"/>
              </a:ext>
            </a:extLst>
          </p:cNvPr>
          <p:cNvSpPr>
            <a:spLocks noGrp="1"/>
          </p:cNvSpPr>
          <p:nvPr>
            <p:ph type="body" sz="quarter" idx="18"/>
          </p:nvPr>
        </p:nvSpPr>
        <p:spPr/>
        <p:txBody>
          <a:bodyPr/>
          <a:lstStyle/>
          <a:p>
            <a:r>
              <a:rPr lang="en-US"/>
              <a:t>Formation</a:t>
            </a:r>
          </a:p>
        </p:txBody>
      </p:sp>
      <p:sp>
        <p:nvSpPr>
          <p:cNvPr id="15" name="Espace réservé du texte 14">
            <a:extLst>
              <a:ext uri="{FF2B5EF4-FFF2-40B4-BE49-F238E27FC236}">
                <a16:creationId xmlns:a16="http://schemas.microsoft.com/office/drawing/2014/main" id="{74316F03-BB82-7344-3208-F3AFCC234922}"/>
              </a:ext>
            </a:extLst>
          </p:cNvPr>
          <p:cNvSpPr>
            <a:spLocks noGrp="1"/>
          </p:cNvSpPr>
          <p:nvPr>
            <p:ph type="body" sz="quarter" idx="19"/>
          </p:nvPr>
        </p:nvSpPr>
        <p:spPr/>
        <p:txBody>
          <a:bodyPr/>
          <a:lstStyle/>
          <a:p>
            <a:r>
              <a:rPr lang="fr-FR"/>
              <a:t>On forme vos équipes pour une prise en main immédiate.</a:t>
            </a:r>
          </a:p>
        </p:txBody>
      </p:sp>
      <p:sp>
        <p:nvSpPr>
          <p:cNvPr id="16" name="Espace réservé du texte 15">
            <a:extLst>
              <a:ext uri="{FF2B5EF4-FFF2-40B4-BE49-F238E27FC236}">
                <a16:creationId xmlns:a16="http://schemas.microsoft.com/office/drawing/2014/main" id="{A707346D-A099-CAD4-17E6-2D131029F331}"/>
              </a:ext>
            </a:extLst>
          </p:cNvPr>
          <p:cNvSpPr>
            <a:spLocks noGrp="1"/>
          </p:cNvSpPr>
          <p:nvPr>
            <p:ph type="body" sz="quarter" idx="20"/>
          </p:nvPr>
        </p:nvSpPr>
        <p:spPr/>
        <p:txBody>
          <a:bodyPr/>
          <a:lstStyle/>
          <a:p>
            <a:r>
              <a:rPr lang="fr-FR" dirty="0"/>
              <a:t>2</a:t>
            </a:r>
            <a:endParaRPr lang="en-US" dirty="0"/>
          </a:p>
        </p:txBody>
      </p:sp>
      <p:sp>
        <p:nvSpPr>
          <p:cNvPr id="17" name="Espace réservé du texte 16">
            <a:extLst>
              <a:ext uri="{FF2B5EF4-FFF2-40B4-BE49-F238E27FC236}">
                <a16:creationId xmlns:a16="http://schemas.microsoft.com/office/drawing/2014/main" id="{3A329E6D-06A7-0DB0-DED4-9DF52B9E112F}"/>
              </a:ext>
            </a:extLst>
          </p:cNvPr>
          <p:cNvSpPr>
            <a:spLocks noGrp="1"/>
          </p:cNvSpPr>
          <p:nvPr>
            <p:ph type="body" sz="quarter" idx="21"/>
          </p:nvPr>
        </p:nvSpPr>
        <p:spPr/>
        <p:txBody>
          <a:bodyPr/>
          <a:lstStyle/>
          <a:p>
            <a:r>
              <a:rPr lang="en-US"/>
              <a:t>Interviews et documentation</a:t>
            </a:r>
            <a:endParaRPr lang="en-US" dirty="0"/>
          </a:p>
        </p:txBody>
      </p:sp>
      <p:sp>
        <p:nvSpPr>
          <p:cNvPr id="18" name="Espace réservé du texte 17">
            <a:extLst>
              <a:ext uri="{FF2B5EF4-FFF2-40B4-BE49-F238E27FC236}">
                <a16:creationId xmlns:a16="http://schemas.microsoft.com/office/drawing/2014/main" id="{9508C953-B736-8408-000D-DF5170CCA14B}"/>
              </a:ext>
            </a:extLst>
          </p:cNvPr>
          <p:cNvSpPr>
            <a:spLocks noGrp="1"/>
          </p:cNvSpPr>
          <p:nvPr>
            <p:ph type="body" sz="quarter" idx="22"/>
          </p:nvPr>
        </p:nvSpPr>
        <p:spPr/>
        <p:txBody>
          <a:bodyPr/>
          <a:lstStyle/>
          <a:p>
            <a:r>
              <a:rPr lang="fr-FR"/>
              <a:t>On interroge vos utilisateurs clés et on récupère votre documentation.</a:t>
            </a:r>
          </a:p>
        </p:txBody>
      </p:sp>
      <p:sp>
        <p:nvSpPr>
          <p:cNvPr id="19" name="Espace réservé du texte 18">
            <a:extLst>
              <a:ext uri="{FF2B5EF4-FFF2-40B4-BE49-F238E27FC236}">
                <a16:creationId xmlns:a16="http://schemas.microsoft.com/office/drawing/2014/main" id="{9093C33B-F7AD-B752-393A-F0083F3BC931}"/>
              </a:ext>
            </a:extLst>
          </p:cNvPr>
          <p:cNvSpPr>
            <a:spLocks noGrp="1"/>
          </p:cNvSpPr>
          <p:nvPr>
            <p:ph type="body" sz="quarter" idx="23"/>
          </p:nvPr>
        </p:nvSpPr>
        <p:spPr/>
        <p:txBody>
          <a:bodyPr/>
          <a:lstStyle/>
          <a:p>
            <a:r>
              <a:rPr lang="fr-FR" dirty="0"/>
              <a:t>3</a:t>
            </a:r>
            <a:endParaRPr lang="en-US" dirty="0"/>
          </a:p>
        </p:txBody>
      </p:sp>
      <p:sp>
        <p:nvSpPr>
          <p:cNvPr id="20" name="Espace réservé du texte 19">
            <a:extLst>
              <a:ext uri="{FF2B5EF4-FFF2-40B4-BE49-F238E27FC236}">
                <a16:creationId xmlns:a16="http://schemas.microsoft.com/office/drawing/2014/main" id="{9833036E-8F19-C255-3D5E-41696EF5A88D}"/>
              </a:ext>
            </a:extLst>
          </p:cNvPr>
          <p:cNvSpPr>
            <a:spLocks noGrp="1"/>
          </p:cNvSpPr>
          <p:nvPr>
            <p:ph type="body" sz="quarter" idx="24"/>
          </p:nvPr>
        </p:nvSpPr>
        <p:spPr/>
        <p:txBody>
          <a:bodyPr/>
          <a:lstStyle/>
          <a:p>
            <a:r>
              <a:rPr lang="en-US" dirty="0"/>
              <a:t>Mise </a:t>
            </a:r>
            <a:r>
              <a:rPr lang="en-US" dirty="0" err="1"/>
              <a:t>en</a:t>
            </a:r>
            <a:r>
              <a:rPr lang="en-US" dirty="0"/>
              <a:t> place</a:t>
            </a:r>
          </a:p>
        </p:txBody>
      </p:sp>
      <p:sp>
        <p:nvSpPr>
          <p:cNvPr id="21" name="Espace réservé du texte 20">
            <a:extLst>
              <a:ext uri="{FF2B5EF4-FFF2-40B4-BE49-F238E27FC236}">
                <a16:creationId xmlns:a16="http://schemas.microsoft.com/office/drawing/2014/main" id="{1AD144B6-6587-AB2D-807B-21FD2536DB92}"/>
              </a:ext>
            </a:extLst>
          </p:cNvPr>
          <p:cNvSpPr>
            <a:spLocks noGrp="1"/>
          </p:cNvSpPr>
          <p:nvPr>
            <p:ph type="body" sz="quarter" idx="25"/>
          </p:nvPr>
        </p:nvSpPr>
        <p:spPr/>
        <p:txBody>
          <a:bodyPr/>
          <a:lstStyle/>
          <a:p>
            <a:r>
              <a:rPr lang="fr-FR"/>
              <a:t>On installe et on personnalise vos agents.</a:t>
            </a:r>
          </a:p>
        </p:txBody>
      </p:sp>
    </p:spTree>
  </p:cSld>
  <p:clrMapOvr>
    <a:masterClrMapping/>
  </p:clrMapOvr>
</p:sld>
</file>

<file path=ppt/theme/theme1.xml><?xml version="1.0" encoding="utf-8"?>
<a:theme xmlns:a="http://schemas.openxmlformats.org/drawingml/2006/main" name="Thème Office">
  <a:themeElements>
    <a:clrScheme name="CAPTIVEA 2026">
      <a:dk1>
        <a:srgbClr val="212529"/>
      </a:dk1>
      <a:lt1>
        <a:sysClr val="window" lastClr="FFFFFF"/>
      </a:lt1>
      <a:dk2>
        <a:srgbClr val="223843"/>
      </a:dk2>
      <a:lt2>
        <a:srgbClr val="E7E6E6"/>
      </a:lt2>
      <a:accent1>
        <a:srgbClr val="BA131A"/>
      </a:accent1>
      <a:accent2>
        <a:srgbClr val="CD5358"/>
      </a:accent2>
      <a:accent3>
        <a:srgbClr val="E29C9F"/>
      </a:accent3>
      <a:accent4>
        <a:srgbClr val="223843"/>
      </a:accent4>
      <a:accent5>
        <a:srgbClr val="8F8F8F"/>
      </a:accent5>
      <a:accent6>
        <a:srgbClr val="714B67"/>
      </a:accent6>
      <a:hlink>
        <a:srgbClr val="CD5358"/>
      </a:hlink>
      <a:folHlink>
        <a:srgbClr val="E29C9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3175">
          <a:solidFill>
            <a:srgbClr val="EDE3E3"/>
          </a:solidFill>
          <a:prstDash val="solid"/>
        </a:ln>
        <a:effectLst>
          <a:outerShdw blurRad="114300" dist="38100" dir="5400000" algn="bl" rotWithShape="0">
            <a:srgbClr val="223843">
              <a:alpha val="13000"/>
            </a:srgbClr>
          </a:outerShdw>
        </a:effectLst>
      </a:spPr>
      <a:bodyP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template-captivea.potx" id="{89D7940D-79D7-40D0-A9EE-189177F50213}" vid="{991F65FC-DFF0-465E-A936-C96F5E87E56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F2B6AEE-C4D9-452E-9895-33DD00961ACE}">
  <we:reference id="f5f369e5-aa35-49d7-ad7b-638152ddb008" version="1.0.0.1" store="EXCatalog" storeType="EXCatalog"/>
  <we:alternateReferences>
    <we:reference id="WA200010001" version="1.0.0.1" store="fr-FR" storeType="OMEX"/>
  </we:alternateReferences>
  <we:properties>
    <we:property name="claude.fileId" value="&quot;05f5231d-b009-4f65-9fcf-5cda2b552fc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ée un document." ma:contentTypeScope="" ma:versionID="fdf1d13f81c3ec40a490395d714d6f0a">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1469234fc8cca1f70f174731ef774751"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alises d’image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1C3DB9-55CD-416E-A7DA-F5975CB785B5}">
  <ds:schemaRefs>
    <ds:schemaRef ds:uri="http://schemas.microsoft.com/office/2006/metadata/properties"/>
    <ds:schemaRef ds:uri="http://schemas.microsoft.com/office/infopath/2007/PartnerControls"/>
    <ds:schemaRef ds:uri="224913b6-04fa-4134-94cc-857def7f27c4"/>
    <ds:schemaRef ds:uri="1b4ce469-5547-4c0a-a384-c2eccd8050e9"/>
  </ds:schemaRefs>
</ds:datastoreItem>
</file>

<file path=customXml/itemProps2.xml><?xml version="1.0" encoding="utf-8"?>
<ds:datastoreItem xmlns:ds="http://schemas.openxmlformats.org/officeDocument/2006/customXml" ds:itemID="{8ABF5128-29FE-434A-9B0E-EA1551A1A2B2}">
  <ds:schemaRefs>
    <ds:schemaRef ds:uri="http://schemas.microsoft.com/sharepoint/v3/contenttype/forms"/>
  </ds:schemaRefs>
</ds:datastoreItem>
</file>

<file path=customXml/itemProps3.xml><?xml version="1.0" encoding="utf-8"?>
<ds:datastoreItem xmlns:ds="http://schemas.openxmlformats.org/officeDocument/2006/customXml" ds:itemID="{68D0805B-CB3A-46CA-A731-96BC2BF3FE94}"/>
</file>

<file path=docProps/app.xml><?xml version="1.0" encoding="utf-8"?>
<Properties xmlns="http://schemas.openxmlformats.org/officeDocument/2006/extended-properties" xmlns:vt="http://schemas.openxmlformats.org/officeDocument/2006/docPropsVTypes">
  <Template/>
  <TotalTime>0</TotalTime>
  <Words>183</Words>
  <Application>Microsoft Office PowerPoint</Application>
  <PresentationFormat>Grand écran</PresentationFormat>
  <Paragraphs>71</Paragraphs>
  <Slides>29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Aptos</vt:lpstr>
      <vt:lpstr>Aptos Display</vt:lpstr>
      <vt:lpstr>Arial</vt:lpstr>
      <vt:lpstr>Thème Office</vt:lpstr>
      <vt:lpstr>Main Title</vt:lpstr>
      <vt:lpstr>Section Title</vt:lpstr>
      <vt:lpstr>Summary</vt:lpstr>
      <vt:lpstr>Standard - 1 column</vt:lpstr>
      <vt:lpstr>Standard - 2 columns</vt:lpstr>
      <vt:lpstr>Standard - 2 columns with subititle</vt:lpstr>
      <vt:lpstr>Standard - Title only</vt:lpstr>
      <vt:lpstr>Présentation PowerPoint</vt:lpstr>
      <vt:lpstr>Présentation PowerPoint</vt:lpstr>
      <vt:lpstr>Standard - 1/3 2/3 columns</vt:lpstr>
      <vt:lpstr>Standard - 1/3 2/3 columns</vt:lpstr>
      <vt:lpstr>Boxed - 2 columns</vt:lpstr>
      <vt:lpstr>Boxed - 2 columns with subtitle</vt:lpstr>
      <vt:lpstr>Boxed - 3 columns</vt:lpstr>
      <vt:lpstr>Boxed - 3 columns with subtitle</vt:lpstr>
      <vt:lpstr>Boxed - 4 columns</vt:lpstr>
      <vt:lpstr>Boxed - 4 columns with subtitle</vt:lpstr>
      <vt:lpstr>Boxed - 3 columns X2</vt:lpstr>
      <vt:lpstr>1_Boxed - 2 columns X4</vt:lpstr>
      <vt:lpstr>Circles - 2 columns</vt:lpstr>
      <vt:lpstr>Circles - 3 columns</vt:lpstr>
      <vt:lpstr>Circles - 4 columns</vt:lpstr>
      <vt:lpstr>Circles - 2 columns X2</vt:lpstr>
      <vt:lpstr>Présentation PowerPoint</vt:lpstr>
      <vt:lpstr>1_Circles - 2 columns X2</vt:lpstr>
      <vt:lpstr>2_Circles - 2 columns X2</vt:lpstr>
      <vt:lpstr>3_Circles - 2 columns X2</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Francois Coudreau</dc:creator>
  <cp:lastModifiedBy>Francois Coudreau</cp:lastModifiedBy>
  <cp:revision>26</cp:revision>
  <dcterms:created xsi:type="dcterms:W3CDTF">2026-07-13T08:33:28Z</dcterms:created>
  <dcterms:modified xsi:type="dcterms:W3CDTF">2026-07-31T16:46:27Z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ies>
</file>