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2" r:id="rId5"/>
    <p:sldMasterId id="2147483677" r:id="rId6"/>
    <p:sldMasterId id="2147483699" r:id="rId7"/>
    <p:sldMasterId id="2147483704" r:id="rId8"/>
  </p:sldMasterIdLst>
  <p:notesMasterIdLst>
    <p:notesMasterId r:id="rId36"/>
  </p:notesMasterIdLst>
  <p:sldIdLst>
    <p:sldId id="256" r:id="rId9"/>
    <p:sldId id="259" r:id="rId10"/>
    <p:sldId id="260" r:id="rId11"/>
    <p:sldId id="261" r:id="rId12"/>
    <p:sldId id="680" r:id="rId13"/>
    <p:sldId id="686" r:id="rId14"/>
    <p:sldId id="262" r:id="rId15"/>
    <p:sldId id="657" r:id="rId16"/>
    <p:sldId id="687" r:id="rId23"/>
    <p:sldId id="688" r:id="rId24"/>
    <p:sldId id="689" r:id="rId25"/>
    <p:sldId id="690" r:id="rId26"/>
    <p:sldId id="691" r:id="rId27"/>
    <p:sldId id="692" r:id="rId28"/>
    <p:sldId id="693" r:id="rId29"/>
    <p:sldId id="694" r:id="rId30"/>
    <p:sldId id="695" r:id="rId31"/>
    <p:sldId id="696" r:id="rId32"/>
    <p:sldId id="697" r:id="rId33"/>
    <p:sldId id="698" r:id="rId34"/>
    <p:sldId id="699" r:id="rId35"/>
    <p:sldId id="7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2774" userDrawn="1">
          <p15:clr>
            <a:srgbClr val="A4A3A4"/>
          </p15:clr>
        </p15:guide>
        <p15:guide id="7" orient="horz" pos="2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7434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62228" autoAdjust="0"/>
  </p:normalViewPr>
  <p:slideViewPr>
    <p:cSldViewPr snapToGrid="0">
      <p:cViewPr varScale="1">
        <p:scale>
          <a:sx n="69" d="100"/>
          <a:sy n="69" d="100"/>
        </p:scale>
        <p:origin x="2364" y="60"/>
      </p:cViewPr>
      <p:guideLst>
        <p:guide pos="2774"/>
        <p:guide orient="horz" pos="272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22" Type="http://schemas.openxmlformats.org/officeDocument/2006/relationships/slide" Target="slides/slide22.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phael Moles" userId="302db11e-1eb4-4fa4-9981-0d793e08ab5b" providerId="ADAL" clId="{35CA9DBD-86F2-4BC7-8C09-A3DC06DA8D77}"/>
    <pc:docChg chg="undo custSel addSld delSld modSld sldOrd">
      <pc:chgData name="Raphael Moles" userId="302db11e-1eb4-4fa4-9981-0d793e08ab5b" providerId="ADAL" clId="{35CA9DBD-86F2-4BC7-8C09-A3DC06DA8D77}" dt="2026-02-09T14:14:36.899" v="6565"/>
      <pc:docMkLst>
        <pc:docMk/>
      </pc:docMkLst>
      <pc:sldChg chg="modSp mod">
        <pc:chgData name="Raphael Moles" userId="302db11e-1eb4-4fa4-9981-0d793e08ab5b" providerId="ADAL" clId="{35CA9DBD-86F2-4BC7-8C09-A3DC06DA8D77}" dt="2026-02-03T08:47:29.272" v="6534" actId="20577"/>
        <pc:sldMkLst>
          <pc:docMk/>
          <pc:sldMk cId="2456708296" sldId="256"/>
        </pc:sldMkLst>
        <pc:spChg chg="mod">
          <ac:chgData name="Raphael Moles" userId="302db11e-1eb4-4fa4-9981-0d793e08ab5b" providerId="ADAL" clId="{35CA9DBD-86F2-4BC7-8C09-A3DC06DA8D77}" dt="2026-02-03T08:47:29.272" v="6534" actId="20577"/>
          <ac:spMkLst>
            <pc:docMk/>
            <pc:sldMk cId="2456708296" sldId="256"/>
            <ac:spMk id="2" creationId="{C6E73B51-BBAF-F66B-8D9C-878DE27FEE45}"/>
          </ac:spMkLst>
        </pc:spChg>
      </pc:sldChg>
      <pc:sldChg chg="mod modShow">
        <pc:chgData name="Raphael Moles" userId="302db11e-1eb4-4fa4-9981-0d793e08ab5b" providerId="ADAL" clId="{35CA9DBD-86F2-4BC7-8C09-A3DC06DA8D77}" dt="2026-02-03T10:20:41.212" v="6535" actId="729"/>
        <pc:sldMkLst>
          <pc:docMk/>
          <pc:sldMk cId="1594689012" sldId="261"/>
        </pc:sldMkLst>
      </pc:sldChg>
      <pc:sldChg chg="addSp delSp modSp add mod ord modShow modNotesTx">
        <pc:chgData name="Raphael Moles" userId="302db11e-1eb4-4fa4-9981-0d793e08ab5b" providerId="ADAL" clId="{35CA9DBD-86F2-4BC7-8C09-A3DC06DA8D77}" dt="2026-02-03T10:53:41.737" v="6551" actId="729"/>
        <pc:sldMkLst>
          <pc:docMk/>
          <pc:sldMk cId="3990123807" sldId="669"/>
        </pc:sldMkLst>
      </pc:sldChg>
      <pc:sldChg chg="add">
        <pc:chgData name="Raphael Moles" userId="302db11e-1eb4-4fa4-9981-0d793e08ab5b" providerId="ADAL" clId="{35CA9DBD-86F2-4BC7-8C09-A3DC06DA8D77}" dt="2026-02-09T09:45:29.232" v="6553"/>
        <pc:sldMkLst>
          <pc:docMk/>
          <pc:sldMk cId="1626434849" sldId="679"/>
        </pc:sldMkLst>
      </pc:sldChg>
      <pc:sldChg chg="add">
        <pc:chgData name="Raphael Moles" userId="302db11e-1eb4-4fa4-9981-0d793e08ab5b" providerId="ADAL" clId="{35CA9DBD-86F2-4BC7-8C09-A3DC06DA8D77}" dt="2026-02-09T10:35:23.281" v="6554"/>
        <pc:sldMkLst>
          <pc:docMk/>
          <pc:sldMk cId="2347132977" sldId="680"/>
        </pc:sldMkLst>
      </pc:sldChg>
      <pc:sldChg chg="add">
        <pc:chgData name="Raphael Moles" userId="302db11e-1eb4-4fa4-9981-0d793e08ab5b" providerId="ADAL" clId="{35CA9DBD-86F2-4BC7-8C09-A3DC06DA8D77}" dt="2026-02-09T11:29:14.582" v="6556"/>
        <pc:sldMkLst>
          <pc:docMk/>
          <pc:sldMk cId="2208554728" sldId="681"/>
        </pc:sldMkLst>
      </pc:sldChg>
      <pc:sldChg chg="add">
        <pc:chgData name="Raphael Moles" userId="302db11e-1eb4-4fa4-9981-0d793e08ab5b" providerId="ADAL" clId="{35CA9DBD-86F2-4BC7-8C09-A3DC06DA8D77}" dt="2026-02-09T14:14:13.967" v="6563"/>
        <pc:sldMkLst>
          <pc:docMk/>
          <pc:sldMk cId="3692854014" sldId="682"/>
        </pc:sldMkLst>
      </pc:sldChg>
      <pc:sldChg chg="add">
        <pc:chgData name="Raphael Moles" userId="302db11e-1eb4-4fa4-9981-0d793e08ab5b" providerId="ADAL" clId="{35CA9DBD-86F2-4BC7-8C09-A3DC06DA8D77}" dt="2026-02-09T14:14:36.899" v="6565"/>
        <pc:sldMkLst>
          <pc:docMk/>
          <pc:sldMk cId="3067638087" sldId="684"/>
        </pc:sldMkLst>
      </pc:sldChg>
      <pc:sldChg chg="add">
        <pc:chgData name="Raphael Moles" userId="302db11e-1eb4-4fa4-9981-0d793e08ab5b" providerId="ADAL" clId="{35CA9DBD-86F2-4BC7-8C09-A3DC06DA8D77}" dt="2026-02-09T14:12:47.209" v="6560"/>
        <pc:sldMkLst>
          <pc:docMk/>
          <pc:sldMk cId="1056360858" sldId="686"/>
        </pc:sldMkLst>
      </pc:sldChg>
      <pc:sldChg chg="add">
        <pc:chgData name="Raphael Moles" userId="302db11e-1eb4-4fa4-9981-0d793e08ab5b" providerId="ADAL" clId="{35CA9DBD-86F2-4BC7-8C09-A3DC06DA8D77}" dt="2026-02-09T14:14:13.967" v="6563"/>
        <pc:sldMkLst>
          <pc:docMk/>
          <pc:sldMk cId="2826686151" sldId="688"/>
        </pc:sldMkLst>
      </pc:sldChg>
      <pc:sldChg chg="add">
        <pc:chgData name="Raphael Moles" userId="302db11e-1eb4-4fa4-9981-0d793e08ab5b" providerId="ADAL" clId="{35CA9DBD-86F2-4BC7-8C09-A3DC06DA8D77}" dt="2026-02-09T14:14:13.967" v="6563"/>
        <pc:sldMkLst>
          <pc:docMk/>
          <pc:sldMk cId="3350933943" sldId="689"/>
        </pc:sldMkLst>
      </pc:sldChg>
      <pc:sldChg chg="add">
        <pc:chgData name="Raphael Moles" userId="302db11e-1eb4-4fa4-9981-0d793e08ab5b" providerId="ADAL" clId="{35CA9DBD-86F2-4BC7-8C09-A3DC06DA8D77}" dt="2026-02-09T14:14:13.967" v="6563"/>
        <pc:sldMkLst>
          <pc:docMk/>
          <pc:sldMk cId="359569963" sldId="690"/>
        </pc:sldMkLst>
      </pc:sldChg>
      <pc:sldChg chg="add">
        <pc:chgData name="Raphael Moles" userId="302db11e-1eb4-4fa4-9981-0d793e08ab5b" providerId="ADAL" clId="{35CA9DBD-86F2-4BC7-8C09-A3DC06DA8D77}" dt="2026-02-09T14:14:13.967" v="6563"/>
        <pc:sldMkLst>
          <pc:docMk/>
          <pc:sldMk cId="2576001376" sldId="691"/>
        </pc:sldMkLst>
      </pc:sldChg>
    </pc:docChg>
  </pc:docChgLst>
  <pc:docChgLst>
    <pc:chgData name="Sebastien Riss" userId="87b3a13d-eaab-4de5-a479-788af50ad501" providerId="ADAL" clId="{4DF7D741-EE32-4E50-9450-39CB419578E6}"/>
    <pc:docChg chg="custSel modSld">
      <pc:chgData name="Sebastien Riss" userId="87b3a13d-eaab-4de5-a479-788af50ad501" providerId="ADAL" clId="{4DF7D741-EE32-4E50-9450-39CB419578E6}" dt="2026-03-02T15:47:34.031" v="10" actId="478"/>
      <pc:docMkLst>
        <pc:docMk/>
      </pc:docMkLst>
      <pc:sldChg chg="modSp mod modNotesTx">
        <pc:chgData name="Sebastien Riss" userId="87b3a13d-eaab-4de5-a479-788af50ad501" providerId="ADAL" clId="{4DF7D741-EE32-4E50-9450-39CB419578E6}" dt="2026-02-20T07:56:05.787" v="8" actId="20577"/>
        <pc:sldMkLst>
          <pc:docMk/>
          <pc:sldMk cId="485529609" sldId="260"/>
        </pc:sldMkLst>
        <pc:spChg chg="mod">
          <ac:chgData name="Sebastien Riss" userId="87b3a13d-eaab-4de5-a479-788af50ad501" providerId="ADAL" clId="{4DF7D741-EE32-4E50-9450-39CB419578E6}" dt="2026-02-20T07:55:56.412" v="0" actId="20577"/>
          <ac:spMkLst>
            <pc:docMk/>
            <pc:sldMk cId="485529609" sldId="260"/>
            <ac:spMk id="3" creationId="{4E76FCE8-0E40-DB1F-B455-DE4EB965E9AD}"/>
          </ac:spMkLst>
        </pc:spChg>
        <pc:spChg chg="mod">
          <ac:chgData name="Sebastien Riss" userId="87b3a13d-eaab-4de5-a479-788af50ad501" providerId="ADAL" clId="{4DF7D741-EE32-4E50-9450-39CB419578E6}" dt="2026-02-20T07:55:58.871" v="3" actId="20577"/>
          <ac:spMkLst>
            <pc:docMk/>
            <pc:sldMk cId="485529609" sldId="260"/>
            <ac:spMk id="19" creationId="{C7124484-BDCA-718C-26E1-9C959DD1E75E}"/>
          </ac:spMkLst>
        </pc:spChg>
        <pc:spChg chg="mod">
          <ac:chgData name="Sebastien Riss" userId="87b3a13d-eaab-4de5-a479-788af50ad501" providerId="ADAL" clId="{4DF7D741-EE32-4E50-9450-39CB419578E6}" dt="2026-02-20T07:56:00.322" v="4" actId="20577"/>
          <ac:spMkLst>
            <pc:docMk/>
            <pc:sldMk cId="485529609" sldId="260"/>
            <ac:spMk id="20" creationId="{EED270A3-F44F-29CA-C4D2-9DDA95E2929F}"/>
          </ac:spMkLst>
        </pc:spChg>
      </pc:sldChg>
      <pc:sldChg chg="delSp mod">
        <pc:chgData name="Sebastien Riss" userId="87b3a13d-eaab-4de5-a479-788af50ad501" providerId="ADAL" clId="{4DF7D741-EE32-4E50-9450-39CB419578E6}" dt="2026-03-02T15:47:34.031" v="10" actId="478"/>
        <pc:sldMkLst>
          <pc:docMk/>
          <pc:sldMk cId="1333969683" sldId="649"/>
        </pc:sldMkLst>
        <pc:spChg chg="del">
          <ac:chgData name="Sebastien Riss" userId="87b3a13d-eaab-4de5-a479-788af50ad501" providerId="ADAL" clId="{4DF7D741-EE32-4E50-9450-39CB419578E6}" dt="2026-03-02T15:47:34.031" v="10" actId="478"/>
          <ac:spMkLst>
            <pc:docMk/>
            <pc:sldMk cId="1333969683" sldId="649"/>
            <ac:spMk id="5" creationId="{B32483EB-D599-4031-7EDF-8213B9D32EE7}"/>
          </ac:spMkLst>
        </pc:spChg>
        <pc:picChg chg="del">
          <ac:chgData name="Sebastien Riss" userId="87b3a13d-eaab-4de5-a479-788af50ad501" providerId="ADAL" clId="{4DF7D741-EE32-4E50-9450-39CB419578E6}" dt="2026-03-02T15:47:30.107" v="9" actId="478"/>
          <ac:picMkLst>
            <pc:docMk/>
            <pc:sldMk cId="1333969683" sldId="649"/>
            <ac:picMk id="17" creationId="{6EB621EE-C5D6-B362-783F-9442361B79B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rebuchet MS" panose="020B0603020202020204" pitchFamily="34" charset="0"/>
              </a:defRPr>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rebuchet MS" panose="020B0603020202020204" pitchFamily="34" charset="0"/>
              </a:defRPr>
            </a:lvl1pPr>
          </a:lstStyle>
          <a:p>
            <a:fld id="{587B8CF8-7954-43EB-9C48-8768247D6AC7}" type="datetimeFigureOut">
              <a:rPr lang="en-US" smtClean="0"/>
              <a:pPr/>
              <a:t>3/2/2026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rebuchet MS" panose="020B0603020202020204" pitchFamily="34" charset="0"/>
              </a:defRPr>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rebuchet MS" panose="020B0603020202020204" pitchFamily="34" charset="0"/>
              </a:defRPr>
            </a:lvl1pPr>
          </a:lstStyle>
          <a:p>
            <a:fld id="{497E3E45-7047-42CC-A74F-EAAC0C8DB2CB}" type="slidenum">
              <a:rPr lang="en-US" smtClean="0"/>
              <a:pPr/>
              <a:t>‹#›</a:t>
            </a:fld>
            <a:endParaRPr lang="en-US"/>
          </a:p>
        </p:txBody>
      </p:sp>
    </p:spTree>
    <p:extLst>
      <p:ext uri="{BB962C8B-B14F-4D97-AF65-F5344CB8AC3E}">
        <p14:creationId xmlns:p14="http://schemas.microsoft.com/office/powerpoint/2010/main" val="3886116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rebuchet MS" panose="020B0603020202020204" pitchFamily="34" charset="0"/>
        <a:ea typeface="+mn-ea"/>
        <a:cs typeface="+mn-cs"/>
      </a:defRPr>
    </a:lvl1pPr>
    <a:lvl2pPr marL="457200" algn="l" defTabSz="914400" rtl="0" eaLnBrk="1" latinLnBrk="0" hangingPunct="1">
      <a:defRPr sz="1200" kern="1200">
        <a:solidFill>
          <a:schemeClr val="tx1"/>
        </a:solidFill>
        <a:latin typeface="Trebuchet MS" panose="020B0603020202020204" pitchFamily="34" charset="0"/>
        <a:ea typeface="+mn-ea"/>
        <a:cs typeface="+mn-cs"/>
      </a:defRPr>
    </a:lvl2pPr>
    <a:lvl3pPr marL="914400" algn="l" defTabSz="914400" rtl="0" eaLnBrk="1" latinLnBrk="0" hangingPunct="1">
      <a:defRPr sz="1200" kern="1200">
        <a:solidFill>
          <a:schemeClr val="tx1"/>
        </a:solidFill>
        <a:latin typeface="Trebuchet MS" panose="020B0603020202020204" pitchFamily="34" charset="0"/>
        <a:ea typeface="+mn-ea"/>
        <a:cs typeface="+mn-cs"/>
      </a:defRPr>
    </a:lvl3pPr>
    <a:lvl4pPr marL="1371600" algn="l" defTabSz="914400" rtl="0" eaLnBrk="1" latinLnBrk="0" hangingPunct="1">
      <a:defRPr sz="1200" kern="1200">
        <a:solidFill>
          <a:schemeClr val="tx1"/>
        </a:solidFill>
        <a:latin typeface="Trebuchet MS" panose="020B0603020202020204" pitchFamily="34" charset="0"/>
        <a:ea typeface="+mn-ea"/>
        <a:cs typeface="+mn-cs"/>
      </a:defRPr>
    </a:lvl4pPr>
    <a:lvl5pPr marL="1828800" algn="l" defTabSz="914400" rtl="0" eaLnBrk="1" latinLnBrk="0" hangingPunct="1">
      <a:defRPr sz="1200" kern="1200">
        <a:solidFill>
          <a:schemeClr val="tx1"/>
        </a:solidFill>
        <a:latin typeface="Trebuchet MS" panose="020B0603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mot rapide sur nous, pour situer. Captivea, c'est quatre expertises sous un même toit : l'ERP Odoo, le web, la business intelligence, et maintenant l'intelligence artificielle. Ce n'est pas une nouvelle société qui débarque sur l'IA : c'est la même équipe qui intègre vos outils métier depuis des années, et qui ajoute aujourd'hui une brique IA.</a:t>
            </a:r>
          </a:p>
        </p:txBody>
      </p:sp>
      <p:sp>
        <p:nvSpPr>
          <p:cNvPr id="4" name="Slide Number Placeholder 3"/>
          <p:cNvSpPr>
            <a:spLocks noGrp="1"/>
          </p:cNvSpPr>
          <p:nvPr>
            <p:ph type="sldNum" sz="quarter" idx="5"/>
          </p:nvPr>
        </p:nvSpPr>
        <p:spPr/>
        <p:txBody>
          <a:bodyPr/>
          <a:lstStyle/>
          <a:p>
            <a:fld id="{497E3E45-7047-42CC-A74F-EAAC0C8DB2CB}" type="slidenum">
              <a:rPr lang="en-US" smtClean="0"/>
              <a:pPr/>
              <a:t>2</a:t>
            </a:fld>
            <a:endParaRPr lang="en-US"/>
          </a:p>
        </p:txBody>
      </p:sp>
    </p:spTree>
    <p:extLst>
      <p:ext uri="{BB962C8B-B14F-4D97-AF65-F5344CB8AC3E}">
        <p14:creationId xmlns:p14="http://schemas.microsoft.com/office/powerpoint/2010/main" val="215582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t>Quelques chiffres, pour la confiance. Plus de 800 clients nous font confiance, plus de 200 collaborateurs, et plus de 18 ans d'intégration Odoo. Quand on vous parle d'IA, on le fait avec les pieds dans le métier, pas dans la théorie.</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3</a:t>
            </a:fld>
            <a:endParaRPr lang="en-US"/>
          </a:p>
        </p:txBody>
      </p:sp>
    </p:spTree>
    <p:extLst>
      <p:ext uri="{BB962C8B-B14F-4D97-AF65-F5344CB8AC3E}">
        <p14:creationId xmlns:p14="http://schemas.microsoft.com/office/powerpoint/2010/main" val="3274317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t>Voici quelques-unes de nos références. Des entreprises de toutes tailles, dans des secteurs très différents. Le point commun : on les accompagne dans la durée, on ne livre pas un projet pour disparaître ensuite.</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4</a:t>
            </a:fld>
            <a:endParaRPr lang="en-US"/>
          </a:p>
        </p:txBody>
      </p:sp>
    </p:spTree>
    <p:extLst>
      <p:ext uri="{BB962C8B-B14F-4D97-AF65-F5344CB8AC3E}">
        <p14:creationId xmlns:p14="http://schemas.microsoft.com/office/powerpoint/2010/main" val="1860806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t>Venons-en au cœur du sujet. L'IA n'est plus un gadget. 85% des entreprises intègrent déjà des agents pour leur support client, et plus d'un consommateur sur deux préfère une réponse immédiate plutôt que d'attendre un humain. Des groupes comme Leroy Merlin ont divisé par dix le temps de recherche d'information pour leurs équipes. Notre mission tient en une phrase : vous décharger de la charge mentale, pour que vos équipes se concentrent sur ce qui a vraiment de la valeur.</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5</a:t>
            </a:fld>
            <a:endParaRPr lang="en-US"/>
          </a:p>
        </p:txBody>
      </p:sp>
    </p:spTree>
    <p:extLst>
      <p:ext uri="{BB962C8B-B14F-4D97-AF65-F5344CB8AC3E}">
        <p14:creationId xmlns:p14="http://schemas.microsoft.com/office/powerpoint/2010/main" val="3061502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t>La première question qu'on nous pose, c'est : quel moteur d'IA choisir ? Notre réponse, c'est que le choix vous revient. Mistral, si la souveraineté des données et la sécurité priment, ce qui rassure vos équipes informatique. Claude, pour la rédaction et l'analyse de documents. Gemini, si vous vivez dans l'univers Google. ChatGPT, pour la polyvalence. On s'adapte à votre contexte, on ne vous enferme pas dans une seule technologie.</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6</a:t>
            </a:fld>
            <a:endParaRPr lang="en-US"/>
          </a:p>
        </p:txBody>
      </p:sp>
    </p:spTree>
    <p:extLst>
      <p:ext uri="{BB962C8B-B14F-4D97-AF65-F5344CB8AC3E}">
        <p14:creationId xmlns:p14="http://schemas.microsoft.com/office/powerpoint/2010/main" val="4059358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t>Soyons honnêtes deux minutes. Mettre de l'IA dans une entreprise, ce n'est pas magique. Il y a le facteur humain, la sécurité et le RGPD, le risque de fuite de données, les silos, et la maintenance dans le temps. C'est exactement là qu'on intervient. On ne vous vend pas un outil que vous devrez dompter tout seul : on cadre, on sécurise, et on accompagne.</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7</a:t>
            </a:fld>
            <a:endParaRPr lang="en-US"/>
          </a:p>
        </p:txBody>
      </p:sp>
    </p:spTree>
    <p:extLst>
      <p:ext uri="{BB962C8B-B14F-4D97-AF65-F5344CB8AC3E}">
        <p14:creationId xmlns:p14="http://schemas.microsoft.com/office/powerpoint/2010/main" val="3879284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t>Et concrètement, qu'est-ce que ça change ? D'un côté, la prospection à la main, les relances qui traînent, les rendez-vous manqués. De l'autre, des équipes équipées d'agents : la préparation est assistée, les leads sont mieux qualifiés, la relation client s'améliore. C'est le passage d'une croissance lente à une croissance rapide. Et ça, on l'applique d'abord chez nous, avant de vous le proposer.</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8</a:t>
            </a:fld>
            <a:endParaRPr lang="en-US"/>
          </a:p>
        </p:txBody>
      </p:sp>
    </p:spTree>
    <p:extLst>
      <p:ext uri="{BB962C8B-B14F-4D97-AF65-F5344CB8AC3E}">
        <p14:creationId xmlns:p14="http://schemas.microsoft.com/office/powerpoint/2010/main" val="1615085285"/>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nous recevoir. On se connaît déjà : vous avez vu nos agents en démonstration, et on a creusé vos enjeux ensemble. Aujourd'hui, on va droit au but. Je vais vous montrer ce qu'on vous propose concrètement, comment on le met en place, et combien ça coûte. L'objectif, c'est qu'à la fin vous ayez tout en main pour décider.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approche tient en trois temps, ce qu'on appelle le triple A. On ne part jamais de la technologie, mais toujours d'un besoin concret. D'abord l'Adoption : on installe l'environnement et on forme vos équipes, l'IA entre dans les usages. Ensuite l'Automatisation : on déploie les agents qui retirent les tâches répétitives. Enfin l'Accélération : on entretient, on mesure le ROI, et on fait monter vos agents en puissance. Et à aucun moment on ne remplace quelqu'un : on allège la charge.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ça, on a six collègues virtuels, un par métier. Léo pour le marketing, Jade pour la vente, Luna pour la vente en ligne, Arthur pour la gestion de projet, Lou pour le juridique, et Captivea Connect qui reste votre lien direct avec nous. Tous sont directement dans votre Odoo, à partir de la version 19, et tous sont personnalisés pour vous. On va les passer en revue. Retenez une chose : chacun prend une charge précise, et vous gardez la main.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Léo, votre marketeur préféré. Ce qu'il règle : produire du contenu de prospection et des publications LinkedIn en continu, ça épuise une équipe. Léo rédige vos emails de prospection ciblés par secteur, par poste, par offre, prêts à partir. Il génère vos publications LinkedIn avec le visuel, à votre ton. Il planifie et publie, ou vous laisse valider avant l'envoi. Résultat : du contenu prêt en quelques minutes, et vos équipes se concentrent sur l'essentiel, pas sur la rédaction.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Jade, c'est votre commerciale augmentée. Le constat, c'est des commerciaux pas assez entraînés, et des rendez-vous préparés à la dernière minute. Jade entraîne vos équipes en simulation d'appel, en jouant le client, sans aucun risque. Elle coache en direct pendant l'appel : objections, qualification, débrief immédiat. Et elle prépare chaque rendez-vous à partir de la fiche et des échanges. Vos commerciaux arrivent prêts à chaque appel, et ils montent en compétence en continu.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Luna, c'est votre conseiller disponible 24 heures sur 24, 7 jours sur 7. Combien de visiteurs quittent votre site faute de réponse immédiate ? Luna trouve, détaille et compare vos produits pour guider l'acheteur. Elle retrouve une commande, après avoir vérifié l'adresse e-mail du client. Et quand elle n'a pas la réponse, elle crée une demande d'assistance. Elle est sur votre site jour et nuit, sans jamais faire attendre.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Arthur, c'est votre chef de projet augmenté. Vous le savez : un projet qui dérape, c'est des étapes oubliées et des écarts repérés trop tard. Arthur répond à vos équipes sur vos méthodes et vos procédures, en citant toujours ses sources, sans jamais inventer. Il audite un projet en un clic : conformité, note, écarts, recommandations. Et il vérifie chaque étape, ce qui est attendu face à ce qui est livré. Quel que soit le type de projet, plus rien ne passe à la trappe.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Lou, c'est votre vigie juridique. Les contrats s'empilent, et les échéances comme les points de conformité passent à travers. Lou analyse vos documents et vous dit s'ils sont conformes, non conformes ou à vérifier. Il propose les corrections et ouvre la tâche au bon responsable. Il alerte sur les dates d'expiration et prépare les signatures. Vos contrats sont sous contrôle, le RGPD est sécurisé, et plus rien ne passe entre les mailles.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 le sixième, c'est Captivea Connect. Celui-là, il est inclus de base, j'insiste là-dessus. C'est votre ligne directe avec nos équipes techniques. L'IA évolue en permanence, et vos besoins aussi : Connect nous permet d'ajuster vos agents en continu. C'est notre engagement à rester à vos côtés dans la durée, pour que vos agents progressent avec vous.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 si votre besoin sort du catalogue, ou si vous n'êtes pas encore sous Odoo ? On construit du sur-mesure, mais on le cadre. On commence toujours par une phase d'analyse payante : c'est du conseil, on mesure le besoin et la faisabilité. On valide ensuite le périmètre et le ROI attendu, avant de lancer le développement. Puis on déploie, strictement dans le cadre défini ensemble. Filtrage de boîtes mail, automatisations complexes, qualification de prospects, rapports automatisés, agent vocal, connexion de vos logiciels : on sait faire. Mais toujours dans un périmètre clair, sans dérive.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ça, on vous le transmet. Notre centre de formation, Captivea Academy, est certifié Qualiopi, donc finançable par votre OPCO. Deux formations d'une journée, six personnes maximum. La première, Adoption, pour comprendre l'IA et l'utiliser au quotidien. La seconde, Automatisation, pour construire vos propres automatisations avec n8n. À la fin, vos équipes sont autonomes, pas dépendantes de nous.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fois en place, on ne disparaît pas. La maintenance couvre les mises à jour des consignes, l'adaptation aux nouveaux modèles, les corrections, avec trois heures de consultant incluses chaque mois. Le tout sans engagement de durée : vous restez libre. Et si vous décidez d'arrêter un agent, on l'arrête, sans justification. On vous vend une solution adoptée, maintenue et ROI-positive, pas juste du code livré.</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Parlons chiffres, clairement. Côté mise en place : le Setup de l'environnement, 400 euros une seule fois, et 800 euros par agent installé, une seule fois également. Côté récurrent : la maintenance, 300 euros par mois et par environnement, avec trois heures de consultant incluses. À la demande, le consultant IA est à 100 euros de l'heure, comme le carnet de temps pour les évolutions. La formation, 1 500 euros la journée. La licence du moteur d'IA reste à votre charge, et tout est sans engagement de durée. Les prix sont en HT.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rendre ça concret, prenons un exemple : un environnement, deux agents, une session de formation. Le Setup de l'environnement, 400 euros. Deux agents, 1 600 euros. La formation, 1 500 euros. Soit 3 500 euros HT à la mise en place, une seule fois. Et ensuite, 300 euros HT par mois pour la maintenance. C'est tout. Pas de surprise, pas d'engagement.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 concrètement, on démarre comment ? En deux à trois semaines, pas plus. On choisit ensemble le ou les agents prioritaires. On interroge vos utilisateurs clés et on récupère votre documentation. On met en place et on personnalise vos agents. Et on forme vos équipes pour une prise en main immédiate. Voilà. Maintenant je vous laisse la parole : quelles questions avez-vous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ECDEC3-219E-216B-4076-2B3C622A0AB8}"/>
              </a:ext>
            </a:extLst>
          </p:cNvPr>
          <p:cNvSpPr>
            <a:spLocks noGrp="1"/>
          </p:cNvSpPr>
          <p:nvPr>
            <p:ph type="title" hasCustomPrompt="1"/>
          </p:nvPr>
        </p:nvSpPr>
        <p:spPr/>
        <p:txBody>
          <a:bodyPr/>
          <a:lstStyle/>
          <a:p>
            <a:r>
              <a:rPr lang="fr-FR"/>
              <a:t>MODIFIEZ LE STYLE DU TITRE</a:t>
            </a:r>
            <a:endParaRPr lang="en-US"/>
          </a:p>
        </p:txBody>
      </p:sp>
    </p:spTree>
    <p:extLst>
      <p:ext uri="{BB962C8B-B14F-4D97-AF65-F5344CB8AC3E}">
        <p14:creationId xmlns:p14="http://schemas.microsoft.com/office/powerpoint/2010/main" val="1803806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e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C5BC82E-ABAA-5BF1-53E7-1D3178BB27E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7386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DD0BB-EA2F-36A7-7FD3-C20348C0E5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BDE80E8C-5FA4-AA4A-6D35-C743CC52CD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5" name="Espace réservé du numéro de diapositive 4">
            <a:extLst>
              <a:ext uri="{FF2B5EF4-FFF2-40B4-BE49-F238E27FC236}">
                <a16:creationId xmlns:a16="http://schemas.microsoft.com/office/drawing/2014/main" id="{EA3A9B35-F77D-F695-3A75-447C3CC610A5}"/>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72161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431CC-972E-314C-31D8-39C61EC006E6}"/>
              </a:ext>
            </a:extLst>
          </p:cNvPr>
          <p:cNvSpPr>
            <a:spLocks noGrp="1"/>
          </p:cNvSpPr>
          <p:nvPr>
            <p:ph type="title"/>
          </p:nvPr>
        </p:nvSpPr>
        <p:spPr/>
        <p:txBody>
          <a:bodyPr/>
          <a:lstStyle>
            <a:lvl1pPr>
              <a:defRPr b="1"/>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3E013790-14F8-57E9-79D5-B786DE111A9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6EC2A175-D1C2-1190-3F57-7062E193A9D3}"/>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662739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4" name="Titre 19">
            <a:extLst>
              <a:ext uri="{FF2B5EF4-FFF2-40B4-BE49-F238E27FC236}">
                <a16:creationId xmlns:a16="http://schemas.microsoft.com/office/drawing/2014/main" id="{3DFBBBEF-C15A-A51B-087C-882A4261D38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7"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CAC0282-6A7E-3C43-CAC3-F8700A3FE426}"/>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355296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7E5790C1-BFF4-512C-7BCC-36285D348726}"/>
              </a:ext>
            </a:extLst>
          </p:cNvPr>
          <p:cNvSpPr/>
          <p:nvPr/>
        </p:nvSpPr>
        <p:spPr>
          <a:xfrm>
            <a:off x="8185266"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0" name="Ellipse 9">
            <a:extLst>
              <a:ext uri="{FF2B5EF4-FFF2-40B4-BE49-F238E27FC236}">
                <a16:creationId xmlns:a16="http://schemas.microsoft.com/office/drawing/2014/main" id="{FABCA34A-9E9A-CFA7-10CB-AB6CED1DCB7A}"/>
              </a:ext>
            </a:extLst>
          </p:cNvPr>
          <p:cNvSpPr/>
          <p:nvPr/>
        </p:nvSpPr>
        <p:spPr>
          <a:xfrm>
            <a:off x="5153654"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7" name="Ellipse 6">
            <a:extLst>
              <a:ext uri="{FF2B5EF4-FFF2-40B4-BE49-F238E27FC236}">
                <a16:creationId xmlns:a16="http://schemas.microsoft.com/office/drawing/2014/main" id="{C8201D78-B6D5-A1E0-A3EC-94725867D298}"/>
              </a:ext>
            </a:extLst>
          </p:cNvPr>
          <p:cNvSpPr/>
          <p:nvPr/>
        </p:nvSpPr>
        <p:spPr>
          <a:xfrm>
            <a:off x="2107069"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29694"/>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26315"/>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28129"/>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Titre 19">
            <a:extLst>
              <a:ext uri="{FF2B5EF4-FFF2-40B4-BE49-F238E27FC236}">
                <a16:creationId xmlns:a16="http://schemas.microsoft.com/office/drawing/2014/main" id="{99F6C8ED-FC1D-A1CA-9839-805AE101C3BB}"/>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09759"/>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06282"/>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06282"/>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6E21584-8852-2B2D-28B9-A82DC6E1F1C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968778382"/>
      </p:ext>
    </p:extLst>
  </p:cSld>
  <p:clrMapOvr>
    <a:masterClrMapping/>
  </p:clrMapOvr>
  <p:extLst>
    <p:ext uri="{DCECCB84-F9BA-43D5-87BE-67443E8EF086}">
      <p15:sldGuideLst xmlns:p15="http://schemas.microsoft.com/office/powerpoint/2012/main">
        <p15:guide id="1" orient="horz" pos="2160">
          <p15:clr>
            <a:srgbClr val="FBAE40"/>
          </p15:clr>
        </p15:guide>
        <p15:guide id="2" pos="1920">
          <p15:clr>
            <a:srgbClr val="FBAE40"/>
          </p15:clr>
        </p15:guide>
        <p15:guide id="3"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Dots - Gri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32FB882C-37D7-B7E3-0E12-CA1DA4C6E0E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Espace réservé du numéro de diapositive 8">
            <a:extLst>
              <a:ext uri="{FF2B5EF4-FFF2-40B4-BE49-F238E27FC236}">
                <a16:creationId xmlns:a16="http://schemas.microsoft.com/office/drawing/2014/main" id="{6931372D-7354-87DB-81D8-86A46CD064EE}"/>
              </a:ext>
            </a:extLst>
          </p:cNvPr>
          <p:cNvSpPr>
            <a:spLocks noGrp="1"/>
          </p:cNvSpPr>
          <p:nvPr>
            <p:ph type="sldNum" sz="quarter" idx="2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42015210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Dots - Aligne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Titre 19">
            <a:extLst>
              <a:ext uri="{FF2B5EF4-FFF2-40B4-BE49-F238E27FC236}">
                <a16:creationId xmlns:a16="http://schemas.microsoft.com/office/drawing/2014/main" id="{04B83D0E-956C-22C0-A28A-82581C3EE337}"/>
              </a:ext>
            </a:extLst>
          </p:cNvPr>
          <p:cNvSpPr>
            <a:spLocks noGrp="1"/>
          </p:cNvSpPr>
          <p:nvPr userDrawn="1">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 name="Espace réservé du numéro de diapositive 2">
            <a:extLst>
              <a:ext uri="{FF2B5EF4-FFF2-40B4-BE49-F238E27FC236}">
                <a16:creationId xmlns:a16="http://schemas.microsoft.com/office/drawing/2014/main" id="{7B60E07B-A379-7A53-D876-FAC8EADDE90F}"/>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76869782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307736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 name="Titre 19">
            <a:extLst>
              <a:ext uri="{FF2B5EF4-FFF2-40B4-BE49-F238E27FC236}">
                <a16:creationId xmlns:a16="http://schemas.microsoft.com/office/drawing/2014/main" id="{A3FF87D3-EC7C-D5F0-3924-B7D6FDACD500}"/>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AE1342AE-4FE7-5D34-3968-4B0D3E7559A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553762670"/>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1" name="Titre 19">
            <a:extLst>
              <a:ext uri="{FF2B5EF4-FFF2-40B4-BE49-F238E27FC236}">
                <a16:creationId xmlns:a16="http://schemas.microsoft.com/office/drawing/2014/main" id="{DB712FA0-4E27-20A9-87B0-35A0456570FF}"/>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Espace réservé du numéro de diapositive 3">
            <a:extLst>
              <a:ext uri="{FF2B5EF4-FFF2-40B4-BE49-F238E27FC236}">
                <a16:creationId xmlns:a16="http://schemas.microsoft.com/office/drawing/2014/main" id="{6705C13F-C021-767C-1766-D9438EC0AF5D}"/>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28461408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4E7D9CAD-F323-B665-7F40-33140BBCCB2C}"/>
              </a:ext>
            </a:extLst>
          </p:cNvPr>
          <p:cNvSpPr>
            <a:spLocks noGrp="1"/>
          </p:cNvSpPr>
          <p:nvPr>
            <p:ph type="sldNum" sz="quarter" idx="12"/>
          </p:nvPr>
        </p:nvSpPr>
        <p:spPr/>
        <p:txBody>
          <a:bodyPr/>
          <a:lstStyle/>
          <a:p>
            <a:fld id="{0C34F99C-3C47-4582-9518-8D365E9692AE}" type="slidenum">
              <a:rPr lang="en-US" smtClean="0"/>
              <a:pPr/>
              <a:t>‹#›</a:t>
            </a:fld>
            <a:endParaRPr lang="en-US"/>
          </a:p>
        </p:txBody>
      </p:sp>
      <p:pic>
        <p:nvPicPr>
          <p:cNvPr id="3" name="Image 2">
            <a:extLst>
              <a:ext uri="{FF2B5EF4-FFF2-40B4-BE49-F238E27FC236}">
                <a16:creationId xmlns:a16="http://schemas.microsoft.com/office/drawing/2014/main" id="{21B864D8-4D79-E952-D921-BD49E0CE45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1612449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rcle lef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tx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016AFA35-226C-CAB4-DEA5-91F4F57B0949}"/>
              </a:ext>
            </a:extLst>
          </p:cNvPr>
          <p:cNvSpPr>
            <a:spLocks noGrp="1"/>
          </p:cNvSpPr>
          <p:nvPr>
            <p:ph type="sldNum" sz="quarter" idx="12"/>
          </p:nvPr>
        </p:nvSpPr>
        <p:spPr/>
        <p:txBody>
          <a:bodyPr/>
          <a:lstStyle>
            <a:lvl1pPr>
              <a:defRPr>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3744320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rrow Top to Down">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4" name="Espace réservé du numéro de diapositive 3">
            <a:extLst>
              <a:ext uri="{FF2B5EF4-FFF2-40B4-BE49-F238E27FC236}">
                <a16:creationId xmlns:a16="http://schemas.microsoft.com/office/drawing/2014/main" id="{134D21F2-A2B0-2046-BDCD-DC144E8F14AC}"/>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305401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rrow Left to Righ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3" name="Espace réservé du numéro de diapositive 2">
            <a:extLst>
              <a:ext uri="{FF2B5EF4-FFF2-40B4-BE49-F238E27FC236}">
                <a16:creationId xmlns:a16="http://schemas.microsoft.com/office/drawing/2014/main" id="{31721A8C-A37D-8EBF-3268-144A3CEA1DDA}"/>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51556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93041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10039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8963609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945752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669864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000143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0486553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345813023"/>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272221780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7320246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9358740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19155813"/>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81685636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a:t>
            </a:fld>
            <a:endParaRPr lang="en-US"/>
          </a:p>
        </p:txBody>
      </p:sp>
      <p:pic>
        <p:nvPicPr>
          <p:cNvPr id="6" name="Image 5" descr="Une image contenant texte, clipart">
            <a:extLst>
              <a:ext uri="{FF2B5EF4-FFF2-40B4-BE49-F238E27FC236}">
                <a16:creationId xmlns:a16="http://schemas.microsoft.com/office/drawing/2014/main" id="{5871B689-B73C-FA32-0D01-36B9921553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33061"/>
            <a:ext cx="991873" cy="216000"/>
          </a:xfrm>
          <a:prstGeom prst="rect">
            <a:avLst/>
          </a:prstGeom>
        </p:spPr>
      </p:pic>
    </p:spTree>
    <p:extLst>
      <p:ext uri="{BB962C8B-B14F-4D97-AF65-F5344CB8AC3E}">
        <p14:creationId xmlns:p14="http://schemas.microsoft.com/office/powerpoint/2010/main" val="19615020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7100994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824767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41762606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5927547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277239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5" name="Image 4">
            <a:extLst>
              <a:ext uri="{FF2B5EF4-FFF2-40B4-BE49-F238E27FC236}">
                <a16:creationId xmlns:a16="http://schemas.microsoft.com/office/drawing/2014/main" id="{3A60A342-E0B1-16E7-D2FD-EDFD3D90B1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21745431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re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C5BC82E-ABAA-5BF1-53E7-1D3178BB27E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02681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686544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ptivea VS Odo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C740888-3B94-E6EB-C2EE-73A2187D57E1}"/>
              </a:ext>
            </a:extLst>
          </p:cNvPr>
          <p:cNvSpPr>
            <a:spLocks noGrp="1"/>
          </p:cNvSpPr>
          <p:nvPr>
            <p:ph type="sldNum" sz="quarter" idx="10"/>
          </p:nvPr>
        </p:nvSpPr>
        <p:spPr/>
        <p:txBody>
          <a:bodyPr/>
          <a:lstStyle>
            <a:lvl1pPr>
              <a:defRPr>
                <a:solidFill>
                  <a:schemeClr val="bg1"/>
                </a:solidFill>
              </a:defRPr>
            </a:lvl1pPr>
          </a:lstStyle>
          <a:p>
            <a:fld id="{0C34F99C-3C47-4582-9518-8D365E9692AE}" type="slidenum">
              <a:rPr lang="en-US" smtClean="0"/>
              <a:pPr/>
              <a:t>‹#›</a:t>
            </a:fld>
            <a:endParaRPr lang="en-US"/>
          </a:p>
        </p:txBody>
      </p:sp>
      <p:pic>
        <p:nvPicPr>
          <p:cNvPr id="3" name="Image 2" descr="Une image contenant texte, clipart">
            <a:extLst>
              <a:ext uri="{FF2B5EF4-FFF2-40B4-BE49-F238E27FC236}">
                <a16:creationId xmlns:a16="http://schemas.microsoft.com/office/drawing/2014/main" id="{73770B4B-0393-2241-D122-ABE2A09601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Tree>
    <p:extLst>
      <p:ext uri="{BB962C8B-B14F-4D97-AF65-F5344CB8AC3E}">
        <p14:creationId xmlns:p14="http://schemas.microsoft.com/office/powerpoint/2010/main" val="24553488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4133757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6145373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7113928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1029554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1964835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5758458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9023056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731460000"/>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232678397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950058814"/>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5755936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28070341"/>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5798101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235827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34661968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55959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8908445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9529485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7461847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7" name="Image 6">
            <a:extLst>
              <a:ext uri="{FF2B5EF4-FFF2-40B4-BE49-F238E27FC236}">
                <a16:creationId xmlns:a16="http://schemas.microsoft.com/office/drawing/2014/main" id="{F3DA616C-E0D8-B3E5-D937-05B86367D5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Tree>
    <p:extLst>
      <p:ext uri="{BB962C8B-B14F-4D97-AF65-F5344CB8AC3E}">
        <p14:creationId xmlns:p14="http://schemas.microsoft.com/office/powerpoint/2010/main" val="9232412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0" name="Espace réservé du numéro de diapositive 5">
            <a:extLst>
              <a:ext uri="{FF2B5EF4-FFF2-40B4-BE49-F238E27FC236}">
                <a16:creationId xmlns:a16="http://schemas.microsoft.com/office/drawing/2014/main" id="{D4327D9C-5A0D-B8A2-8DDD-1241E193B4F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tx1"/>
                </a:solidFill>
                <a:latin typeface="+mn-lt"/>
              </a:defRPr>
            </a:lvl1pPr>
          </a:lstStyle>
          <a:p>
            <a:pPr defTabSz="914400">
              <a:defRPr/>
            </a:pPr>
            <a:fld id="{11061685-6496-4975-B02C-C44B14DBF38E}" type="slidenum">
              <a:rPr lang="fr-FR" smtClean="0"/>
              <a:pPr defTabSz="914400">
                <a:defRPr/>
              </a:pPr>
              <a:t>‹#›</a:t>
            </a:fld>
            <a:endParaRPr lang="fr-FR"/>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latin typeface="+mj-lt"/>
              </a:defRPr>
            </a:lvl1pPr>
          </a:lstStyle>
          <a:p>
            <a:r>
              <a:rPr lang="fr-FR"/>
              <a:t>Modifiez le style du titre</a:t>
            </a:r>
          </a:p>
        </p:txBody>
      </p:sp>
    </p:spTree>
    <p:extLst>
      <p:ext uri="{BB962C8B-B14F-4D97-AF65-F5344CB8AC3E}">
        <p14:creationId xmlns:p14="http://schemas.microsoft.com/office/powerpoint/2010/main" val="51586490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512932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theme" Target="../theme/theme2.xml"/><Relationship Id="rId16"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slideLayout" Target="../slideLayouts/slideLayout31.xml"/><Relationship Id="rId17" Type="http://schemas.openxmlformats.org/officeDocument/2006/relationships/slideLayout" Target="../slideLayouts/slideLayout32.xml"/><Relationship Id="rId18" Type="http://schemas.openxmlformats.org/officeDocument/2006/relationships/slideLayout" Target="../slideLayouts/slideLayout33.xml"/><Relationship Id="rId19" Type="http://schemas.openxmlformats.org/officeDocument/2006/relationships/slideLayout" Target="../slideLayouts/slideLayout34.xml"/><Relationship Id="rId20" Type="http://schemas.openxmlformats.org/officeDocument/2006/relationships/slideLayout" Target="../slideLayouts/slideLayout35.xml"/><Relationship Id="rId21" Type="http://schemas.openxmlformats.org/officeDocument/2006/relationships/slideLayout" Target="../slideLayouts/slideLayout36.xml"/><Relationship Id="rId22" Type="http://schemas.openxmlformats.org/officeDocument/2006/relationships/theme" Target="../theme/theme3.xml"/><Relationship Id="rId23"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theme" Target="../theme/theme4.xml"/><Relationship Id="rId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slideLayout" Target="../slideLayouts/slideLayout52.xml"/><Relationship Id="rId15" Type="http://schemas.openxmlformats.org/officeDocument/2006/relationships/slideLayout" Target="../slideLayouts/slideLayout53.xml"/><Relationship Id="rId16" Type="http://schemas.openxmlformats.org/officeDocument/2006/relationships/slideLayout" Target="../slideLayouts/slideLayout54.xml"/><Relationship Id="rId17" Type="http://schemas.openxmlformats.org/officeDocument/2006/relationships/slideLayout" Target="../slideLayouts/slideLayout55.xml"/><Relationship Id="rId18" Type="http://schemas.openxmlformats.org/officeDocument/2006/relationships/slideLayout" Target="../slideLayouts/slideLayout56.xml"/><Relationship Id="rId19" Type="http://schemas.openxmlformats.org/officeDocument/2006/relationships/slideLayout" Target="../slideLayouts/slideLayout57.xml"/><Relationship Id="rId20" Type="http://schemas.openxmlformats.org/officeDocument/2006/relationships/slideLayout" Target="../slideLayouts/slideLayout58.xml"/><Relationship Id="rId21" Type="http://schemas.openxmlformats.org/officeDocument/2006/relationships/slideLayout" Target="../slideLayouts/slideLayout59.xml"/><Relationship Id="rId22" Type="http://schemas.openxmlformats.org/officeDocument/2006/relationships/slideLayout" Target="../slideLayouts/slideLayout60.xml"/><Relationship Id="rId23" Type="http://schemas.openxmlformats.org/officeDocument/2006/relationships/theme" Target="../theme/theme5.xml"/><Relationship Id="rId2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22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A8EEA29-EC33-E36C-B107-C064A9080A85}"/>
              </a:ext>
            </a:extLst>
          </p:cNvPr>
          <p:cNvSpPr>
            <a:spLocks noGrp="1"/>
          </p:cNvSpPr>
          <p:nvPr>
            <p:ph type="title"/>
          </p:nvPr>
        </p:nvSpPr>
        <p:spPr>
          <a:xfrm>
            <a:off x="838200" y="3429000"/>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pic>
        <p:nvPicPr>
          <p:cNvPr id="7" name="Graphique 6">
            <a:extLst>
              <a:ext uri="{FF2B5EF4-FFF2-40B4-BE49-F238E27FC236}">
                <a16:creationId xmlns:a16="http://schemas.microsoft.com/office/drawing/2014/main" id="{5A29C14F-5FFB-DE9B-2044-1D5C33CA66C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09870" y="2229000"/>
            <a:ext cx="5372260" cy="895377"/>
          </a:xfrm>
          <a:prstGeom prst="rect">
            <a:avLst/>
          </a:prstGeom>
        </p:spPr>
      </p:pic>
    </p:spTree>
    <p:extLst>
      <p:ext uri="{BB962C8B-B14F-4D97-AF65-F5344CB8AC3E}">
        <p14:creationId xmlns:p14="http://schemas.microsoft.com/office/powerpoint/2010/main" val="1494106921"/>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ctr" defTabSz="914400" rtl="0" eaLnBrk="1" latinLnBrk="0" hangingPunct="1">
        <a:lnSpc>
          <a:spcPct val="90000"/>
        </a:lnSpc>
        <a:spcBef>
          <a:spcPct val="0"/>
        </a:spcBef>
        <a:buNone/>
        <a:defRPr sz="4400" kern="1200" spc="3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BED0072-E027-08DF-76D9-B4F08E13B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FEB9DAEB-28EA-395A-FB92-5E0C1A6B4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7" name="Image 6" descr="Une image contenant texte, clipart">
            <a:extLst>
              <a:ext uri="{FF2B5EF4-FFF2-40B4-BE49-F238E27FC236}">
                <a16:creationId xmlns:a16="http://schemas.microsoft.com/office/drawing/2014/main" id="{D7601D00-6815-198A-5985-25582EE1C7B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
        <p:nvSpPr>
          <p:cNvPr id="5" name="Espace réservé du numéro de diapositive 4">
            <a:extLst>
              <a:ext uri="{FF2B5EF4-FFF2-40B4-BE49-F238E27FC236}">
                <a16:creationId xmlns:a16="http://schemas.microsoft.com/office/drawing/2014/main" id="{DD67FB33-B7F0-A9F8-2B1E-488BEA6D6676}"/>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bg1"/>
                </a:solidFill>
                <a:latin typeface="+mj-lt"/>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118317803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pic>
        <p:nvPicPr>
          <p:cNvPr id="5" name="Image 4">
            <a:extLst>
              <a:ext uri="{FF2B5EF4-FFF2-40B4-BE49-F238E27FC236}">
                <a16:creationId xmlns:a16="http://schemas.microsoft.com/office/drawing/2014/main" id="{3AC64E90-F7E6-A95D-A3F0-B7FE3797D799}"/>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Tree>
    <p:extLst>
      <p:ext uri="{BB962C8B-B14F-4D97-AF65-F5344CB8AC3E}">
        <p14:creationId xmlns:p14="http://schemas.microsoft.com/office/powerpoint/2010/main" val="7903275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9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727" r:id="rId21"/>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F5C57CC-B3BC-43F6-D7AE-AF3859A4BE1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
        <p:nvSpPr>
          <p:cNvPr id="3" name="Espace réservé du numéro de diapositive 4">
            <a:extLst>
              <a:ext uri="{FF2B5EF4-FFF2-40B4-BE49-F238E27FC236}">
                <a16:creationId xmlns:a16="http://schemas.microsoft.com/office/drawing/2014/main" id="{A138721D-F502-0334-DC34-04EB3E3047CB}"/>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1214487761"/>
      </p:ext>
    </p:extLst>
  </p:cSld>
  <p:clrMap bg1="lt1" tx1="dk1" bg2="lt2" tx2="dk2" accent1="accent1" accent2="accent2" accent3="accent3" accent4="accent4" accent5="accent5" accent6="accent6" hlink="hlink" folHlink="folHlink"/>
  <p:sldLayoutIdLst>
    <p:sldLayoutId id="2147483700" r:id="rId1"/>
    <p:sldLayoutId id="2147483701"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4" name="Image 3">
            <a:extLst>
              <a:ext uri="{FF2B5EF4-FFF2-40B4-BE49-F238E27FC236}">
                <a16:creationId xmlns:a16="http://schemas.microsoft.com/office/drawing/2014/main" id="{4E235616-4349-C970-2C97-2D68E9FCDB7C}"/>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567662448"/>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E73B51-BBAF-F66B-8D9C-878DE27FEE45}"/>
              </a:ext>
            </a:extLst>
          </p:cNvPr>
          <p:cNvSpPr>
            <a:spLocks noGrp="1"/>
          </p:cNvSpPr>
          <p:nvPr>
            <p:ph type="title"/>
          </p:nvPr>
        </p:nvSpPr>
        <p:spPr/>
        <p:txBody>
          <a:bodyPr/>
          <a:lstStyle/>
          <a:p>
            <a:r>
              <a:rPr lang="fr-FR" b="1" dirty="0"/>
              <a:t>Présentation IA</a:t>
            </a:r>
          </a:p>
        </p:txBody>
      </p:sp>
      <p:sp>
        <p:nvSpPr>
          <p:cNvPr id="3" name="Freeform 10">
            <a:extLst>
              <a:ext uri="{FF2B5EF4-FFF2-40B4-BE49-F238E27FC236}">
                <a16:creationId xmlns:a16="http://schemas.microsoft.com/office/drawing/2014/main" id="{8F3ED9D8-DB55-CF2F-43FB-32A3CBD5501C}"/>
              </a:ext>
            </a:extLst>
          </p:cNvPr>
          <p:cNvSpPr/>
          <p:nvPr/>
        </p:nvSpPr>
        <p:spPr>
          <a:xfrm>
            <a:off x="10255122" y="6079373"/>
            <a:ext cx="1583685" cy="498861"/>
          </a:xfrm>
          <a:custGeom>
            <a:avLst/>
            <a:gdLst/>
            <a:ahLst/>
            <a:cxnLst/>
            <a:rect l="l" t="t" r="r" b="b"/>
            <a:pathLst>
              <a:path w="2375528" h="748291">
                <a:moveTo>
                  <a:pt x="0" y="0"/>
                </a:moveTo>
                <a:lnTo>
                  <a:pt x="2375528" y="0"/>
                </a:lnTo>
                <a:lnTo>
                  <a:pt x="2375528" y="748291"/>
                </a:lnTo>
                <a:lnTo>
                  <a:pt x="0" y="748291"/>
                </a:lnTo>
                <a:lnTo>
                  <a:pt x="0" y="0"/>
                </a:lnTo>
                <a:close/>
              </a:path>
            </a:pathLst>
          </a:custGeom>
          <a:blipFill>
            <a:blip r:embed="rId2"/>
            <a:stretch>
              <a:fillRect/>
            </a:stretch>
          </a:blipFill>
        </p:spPr>
        <p:txBody>
          <a:bodyPr/>
          <a:lstStyle/>
          <a:p>
            <a:endParaRPr lang="fr-FR" sz="800">
              <a:latin typeface="+mj-lt"/>
            </a:endParaRPr>
          </a:p>
        </p:txBody>
      </p:sp>
    </p:spTree>
    <p:extLst>
      <p:ext uri="{BB962C8B-B14F-4D97-AF65-F5344CB8AC3E}">
        <p14:creationId xmlns:p14="http://schemas.microsoft.com/office/powerpoint/2010/main" val="245670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10F126C9-6491-CBC1-6A94-A4265483429F}"/>
              </a:ext>
            </a:extLst>
          </p:cNvPr>
          <p:cNvSpPr>
            <a:spLocks noGrp="1"/>
          </p:cNvSpPr>
          <p:nvPr>
            <p:ph type="body" sz="quarter" idx="11"/>
          </p:nvPr>
        </p:nvSpPr>
        <p:spPr/>
        <p:txBody>
          <a:bodyPr/>
          <a:lstStyle/>
          <a:p>
            <a:r>
              <a:rPr lang="fr-FR">
                <a:solidFill>
                  <a:schemeClr val="accent1"/>
                </a:solidFill>
              </a:rPr>
              <a:t>ERP</a:t>
            </a:r>
          </a:p>
        </p:txBody>
      </p:sp>
      <p:sp>
        <p:nvSpPr>
          <p:cNvPr id="12" name="Espace réservé du texte 11">
            <a:extLst>
              <a:ext uri="{FF2B5EF4-FFF2-40B4-BE49-F238E27FC236}">
                <a16:creationId xmlns:a16="http://schemas.microsoft.com/office/drawing/2014/main" id="{173A2776-33AC-45EE-8D81-33FDD0469069}"/>
              </a:ext>
            </a:extLst>
          </p:cNvPr>
          <p:cNvSpPr>
            <a:spLocks noGrp="1"/>
          </p:cNvSpPr>
          <p:nvPr>
            <p:ph type="body" sz="quarter" idx="12"/>
          </p:nvPr>
        </p:nvSpPr>
        <p:spPr/>
        <p:txBody>
          <a:bodyPr/>
          <a:lstStyle/>
          <a:p>
            <a:r>
              <a:rPr lang="fr-FR">
                <a:solidFill>
                  <a:schemeClr val="accent1"/>
                </a:solidFill>
              </a:rPr>
              <a:t>WEB</a:t>
            </a:r>
          </a:p>
        </p:txBody>
      </p:sp>
      <p:sp>
        <p:nvSpPr>
          <p:cNvPr id="13" name="Espace réservé du texte 12">
            <a:extLst>
              <a:ext uri="{FF2B5EF4-FFF2-40B4-BE49-F238E27FC236}">
                <a16:creationId xmlns:a16="http://schemas.microsoft.com/office/drawing/2014/main" id="{5B29F179-051C-7262-690A-95F9E140DAE7}"/>
              </a:ext>
            </a:extLst>
          </p:cNvPr>
          <p:cNvSpPr>
            <a:spLocks noGrp="1"/>
          </p:cNvSpPr>
          <p:nvPr>
            <p:ph type="body" sz="quarter" idx="13"/>
          </p:nvPr>
        </p:nvSpPr>
        <p:spPr/>
        <p:txBody>
          <a:bodyPr/>
          <a:lstStyle/>
          <a:p>
            <a:r>
              <a:rPr lang="fr-FR">
                <a:solidFill>
                  <a:schemeClr val="accent1"/>
                </a:solidFill>
              </a:rPr>
              <a:t>BI</a:t>
            </a:r>
          </a:p>
        </p:txBody>
      </p:sp>
      <p:sp>
        <p:nvSpPr>
          <p:cNvPr id="17" name="Espace réservé du texte 16">
            <a:extLst>
              <a:ext uri="{FF2B5EF4-FFF2-40B4-BE49-F238E27FC236}">
                <a16:creationId xmlns:a16="http://schemas.microsoft.com/office/drawing/2014/main" id="{8DA0D198-7AF8-E6B2-E7C8-8AC890855366}"/>
              </a:ext>
            </a:extLst>
          </p:cNvPr>
          <p:cNvSpPr>
            <a:spLocks noGrp="1"/>
          </p:cNvSpPr>
          <p:nvPr>
            <p:ph type="body" sz="quarter" idx="17"/>
          </p:nvPr>
        </p:nvSpPr>
        <p:spPr/>
        <p:txBody>
          <a:bodyPr/>
          <a:lstStyle/>
          <a:p>
            <a:r>
              <a:rPr lang="fr-FR">
                <a:solidFill>
                  <a:schemeClr val="accent1"/>
                </a:solidFill>
              </a:rPr>
              <a:t>AI</a:t>
            </a:r>
          </a:p>
        </p:txBody>
      </p:sp>
      <p:sp>
        <p:nvSpPr>
          <p:cNvPr id="9" name="Espace réservé du numéro de diapositive 8">
            <a:extLst>
              <a:ext uri="{FF2B5EF4-FFF2-40B4-BE49-F238E27FC236}">
                <a16:creationId xmlns:a16="http://schemas.microsoft.com/office/drawing/2014/main" id="{55B39851-4F45-03F1-D0E9-814A6B1923AF}"/>
              </a:ext>
            </a:extLst>
          </p:cNvPr>
          <p:cNvSpPr>
            <a:spLocks noGrp="1"/>
          </p:cNvSpPr>
          <p:nvPr>
            <p:ph type="sldNum" sz="quarter" idx="19"/>
          </p:nvPr>
        </p:nvSpPr>
        <p:spPr/>
        <p:txBody>
          <a:bodyPr/>
          <a:lstStyle/>
          <a:p>
            <a:fld id="{0C34F99C-3C47-4582-9518-8D365E9692AE}" type="slidenum">
              <a:rPr lang="en-US" smtClean="0"/>
              <a:pPr/>
              <a:t>2</a:t>
            </a:fld>
            <a:endParaRPr lang="en-US"/>
          </a:p>
        </p:txBody>
      </p:sp>
      <p:pic>
        <p:nvPicPr>
          <p:cNvPr id="19" name="Graphique 18">
            <a:extLst>
              <a:ext uri="{FF2B5EF4-FFF2-40B4-BE49-F238E27FC236}">
                <a16:creationId xmlns:a16="http://schemas.microsoft.com/office/drawing/2014/main" id="{1524C9A2-EA54-1102-C30C-9C9B29B74F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9870" y="594801"/>
            <a:ext cx="5372260" cy="895377"/>
          </a:xfrm>
          <a:prstGeom prst="rect">
            <a:avLst/>
          </a:prstGeom>
        </p:spPr>
      </p:pic>
    </p:spTree>
    <p:extLst>
      <p:ext uri="{BB962C8B-B14F-4D97-AF65-F5344CB8AC3E}">
        <p14:creationId xmlns:p14="http://schemas.microsoft.com/office/powerpoint/2010/main" val="3231870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E76FCE8-0E40-DB1F-B455-DE4EB965E9AD}"/>
              </a:ext>
            </a:extLst>
          </p:cNvPr>
          <p:cNvSpPr>
            <a:spLocks noGrp="1"/>
          </p:cNvSpPr>
          <p:nvPr>
            <p:ph type="body" sz="quarter" idx="10"/>
          </p:nvPr>
        </p:nvSpPr>
        <p:spPr/>
        <p:txBody>
          <a:bodyPr>
            <a:normAutofit/>
          </a:bodyPr>
          <a:lstStyle/>
          <a:p>
            <a:r>
              <a:rPr lang="fr-FR" dirty="0">
                <a:solidFill>
                  <a:schemeClr val="accent1"/>
                </a:solidFill>
              </a:rPr>
              <a:t>+800</a:t>
            </a:r>
          </a:p>
          <a:p>
            <a:r>
              <a:rPr lang="fr-FR" sz="1200" dirty="0"/>
              <a:t>CLIENTS SATISFAITS</a:t>
            </a:r>
          </a:p>
        </p:txBody>
      </p:sp>
      <p:sp>
        <p:nvSpPr>
          <p:cNvPr id="11" name="Espace réservé du numéro de diapositive 10">
            <a:extLst>
              <a:ext uri="{FF2B5EF4-FFF2-40B4-BE49-F238E27FC236}">
                <a16:creationId xmlns:a16="http://schemas.microsoft.com/office/drawing/2014/main" id="{D7C651F8-9ADB-F8F1-881E-945BEFD3F149}"/>
              </a:ext>
            </a:extLst>
          </p:cNvPr>
          <p:cNvSpPr>
            <a:spLocks noGrp="1"/>
          </p:cNvSpPr>
          <p:nvPr>
            <p:ph type="sldNum" sz="quarter" idx="16"/>
          </p:nvPr>
        </p:nvSpPr>
        <p:spPr/>
        <p:txBody>
          <a:bodyPr/>
          <a:lstStyle/>
          <a:p>
            <a:fld id="{0C34F99C-3C47-4582-9518-8D365E9692AE}" type="slidenum">
              <a:rPr lang="en-US" smtClean="0"/>
              <a:pPr/>
              <a:t>3</a:t>
            </a:fld>
            <a:endParaRPr lang="en-US"/>
          </a:p>
        </p:txBody>
      </p:sp>
      <p:pic>
        <p:nvPicPr>
          <p:cNvPr id="12" name="Graphique 11">
            <a:extLst>
              <a:ext uri="{FF2B5EF4-FFF2-40B4-BE49-F238E27FC236}">
                <a16:creationId xmlns:a16="http://schemas.microsoft.com/office/drawing/2014/main" id="{3BBCFF26-8DDF-784A-961C-61249ED352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9870" y="594801"/>
            <a:ext cx="5372260" cy="895377"/>
          </a:xfrm>
          <a:prstGeom prst="rect">
            <a:avLst/>
          </a:prstGeom>
        </p:spPr>
      </p:pic>
      <p:sp>
        <p:nvSpPr>
          <p:cNvPr id="19" name="Espace réservé du texte 2">
            <a:extLst>
              <a:ext uri="{FF2B5EF4-FFF2-40B4-BE49-F238E27FC236}">
                <a16:creationId xmlns:a16="http://schemas.microsoft.com/office/drawing/2014/main" id="{C7124484-BDCA-718C-26E1-9C959DD1E75E}"/>
              </a:ext>
            </a:extLst>
          </p:cNvPr>
          <p:cNvSpPr txBox="1">
            <a:spLocks/>
          </p:cNvSpPr>
          <p:nvPr/>
        </p:nvSpPr>
        <p:spPr>
          <a:xfrm>
            <a:off x="5155070" y="2729694"/>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chemeClr val="accent1"/>
                </a:solidFill>
              </a:rPr>
              <a:t>+200</a:t>
            </a:r>
          </a:p>
          <a:p>
            <a:r>
              <a:rPr lang="fr-FR" sz="1200" dirty="0"/>
              <a:t>EMPLOYÉS HEUREUX</a:t>
            </a:r>
          </a:p>
        </p:txBody>
      </p:sp>
      <p:sp>
        <p:nvSpPr>
          <p:cNvPr id="20" name="Espace réservé du texte 2">
            <a:extLst>
              <a:ext uri="{FF2B5EF4-FFF2-40B4-BE49-F238E27FC236}">
                <a16:creationId xmlns:a16="http://schemas.microsoft.com/office/drawing/2014/main" id="{EED270A3-F44F-29CA-C4D2-9DDA95E2929F}"/>
              </a:ext>
            </a:extLst>
          </p:cNvPr>
          <p:cNvSpPr txBox="1">
            <a:spLocks/>
          </p:cNvSpPr>
          <p:nvPr/>
        </p:nvSpPr>
        <p:spPr>
          <a:xfrm>
            <a:off x="8203070" y="2746333"/>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chemeClr val="accent1"/>
                </a:solidFill>
              </a:rPr>
              <a:t>+18 ans</a:t>
            </a:r>
          </a:p>
          <a:p>
            <a:r>
              <a:rPr lang="fr-FR" sz="1200" dirty="0"/>
              <a:t>D’INTÉGRATION ERP</a:t>
            </a:r>
          </a:p>
        </p:txBody>
      </p:sp>
    </p:spTree>
    <p:extLst>
      <p:ext uri="{BB962C8B-B14F-4D97-AF65-F5344CB8AC3E}">
        <p14:creationId xmlns:p14="http://schemas.microsoft.com/office/powerpoint/2010/main" val="485529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numéro de diapositive 8">
            <a:extLst>
              <a:ext uri="{FF2B5EF4-FFF2-40B4-BE49-F238E27FC236}">
                <a16:creationId xmlns:a16="http://schemas.microsoft.com/office/drawing/2014/main" id="{1CF44E23-D1B2-B7A2-B799-4D7EA9FEFB8C}"/>
              </a:ext>
            </a:extLst>
          </p:cNvPr>
          <p:cNvSpPr>
            <a:spLocks noGrp="1"/>
          </p:cNvSpPr>
          <p:nvPr>
            <p:ph type="sldNum" sz="quarter" idx="4"/>
          </p:nvPr>
        </p:nvSpPr>
        <p:spPr/>
        <p:txBody>
          <a:bodyPr/>
          <a:lstStyle/>
          <a:p>
            <a:fld id="{0C34F99C-3C47-4582-9518-8D365E9692AE}" type="slidenum">
              <a:rPr lang="en-US" smtClean="0"/>
              <a:pPr/>
              <a:t>4</a:t>
            </a:fld>
            <a:endParaRPr lang="en-US"/>
          </a:p>
        </p:txBody>
      </p:sp>
      <p:sp>
        <p:nvSpPr>
          <p:cNvPr id="10" name="Titre 9">
            <a:extLst>
              <a:ext uri="{FF2B5EF4-FFF2-40B4-BE49-F238E27FC236}">
                <a16:creationId xmlns:a16="http://schemas.microsoft.com/office/drawing/2014/main" id="{5A2B4955-7CE6-158C-6B0E-42F5417C7983}"/>
              </a:ext>
            </a:extLst>
          </p:cNvPr>
          <p:cNvSpPr>
            <a:spLocks noGrp="1"/>
          </p:cNvSpPr>
          <p:nvPr>
            <p:ph type="title"/>
          </p:nvPr>
        </p:nvSpPr>
        <p:spPr/>
        <p:txBody>
          <a:bodyPr/>
          <a:lstStyle/>
          <a:p>
            <a:r>
              <a:rPr lang="fr-FR"/>
              <a:t>NOS RÉFÉRENCES</a:t>
            </a:r>
          </a:p>
        </p:txBody>
      </p:sp>
      <p:pic>
        <p:nvPicPr>
          <p:cNvPr id="12" name="Espace réservé du contenu 10" descr="Une image contenant capture d’écran, carré, Caractère coloré, art&#10;&#10;Le contenu généré par l’IA peut être incorrect.">
            <a:extLst>
              <a:ext uri="{FF2B5EF4-FFF2-40B4-BE49-F238E27FC236}">
                <a16:creationId xmlns:a16="http://schemas.microsoft.com/office/drawing/2014/main" id="{4285A551-0031-7974-FAE8-5C3963D337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1797" y="193675"/>
            <a:ext cx="9197975" cy="6470650"/>
          </a:xfrm>
          <a:prstGeom prst="rect">
            <a:avLst/>
          </a:prstGeom>
        </p:spPr>
      </p:pic>
    </p:spTree>
    <p:extLst>
      <p:ext uri="{BB962C8B-B14F-4D97-AF65-F5344CB8AC3E}">
        <p14:creationId xmlns:p14="http://schemas.microsoft.com/office/powerpoint/2010/main" val="1594689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A060E-E558-2616-C786-15E1D5BD6FD9}"/>
            </a:ext>
          </a:extLst>
        </p:cNvPr>
        <p:cNvGrpSpPr/>
        <p:nvPr/>
      </p:nvGrpSpPr>
      <p:grpSpPr>
        <a:xfrm>
          <a:off x="0" y="0"/>
          <a:ext cx="0" cy="0"/>
          <a:chOff x="0" y="0"/>
          <a:chExt cx="0" cy="0"/>
        </a:xfrm>
      </p:grpSpPr>
      <p:grpSp>
        <p:nvGrpSpPr>
          <p:cNvPr id="3" name="Groupe 2">
            <a:extLst>
              <a:ext uri="{FF2B5EF4-FFF2-40B4-BE49-F238E27FC236}">
                <a16:creationId xmlns:a16="http://schemas.microsoft.com/office/drawing/2014/main" id="{D7A3F1A9-4615-16E0-5283-CB2B5890B4B3}"/>
              </a:ext>
            </a:extLst>
          </p:cNvPr>
          <p:cNvGrpSpPr/>
          <p:nvPr/>
        </p:nvGrpSpPr>
        <p:grpSpPr>
          <a:xfrm>
            <a:off x="4289550" y="3030128"/>
            <a:ext cx="3612900" cy="3757225"/>
            <a:chOff x="4872466" y="3220374"/>
            <a:chExt cx="2323651" cy="2622183"/>
          </a:xfrm>
          <a:solidFill>
            <a:srgbClr val="974347"/>
          </a:solidFill>
        </p:grpSpPr>
        <p:sp>
          <p:nvSpPr>
            <p:cNvPr id="10" name="Rounded Rectangle 7">
              <a:extLst>
                <a:ext uri="{FF2B5EF4-FFF2-40B4-BE49-F238E27FC236}">
                  <a16:creationId xmlns:a16="http://schemas.microsoft.com/office/drawing/2014/main" id="{E2A267D5-318B-24C0-4201-F8D5EC78C015}"/>
                </a:ext>
              </a:extLst>
            </p:cNvPr>
            <p:cNvSpPr/>
            <p:nvPr/>
          </p:nvSpPr>
          <p:spPr>
            <a:xfrm>
              <a:off x="4872466" y="3220374"/>
              <a:ext cx="2323651" cy="1153235"/>
            </a:xfrm>
            <a:custGeom>
              <a:avLst/>
              <a:gdLst/>
              <a:ahLst/>
              <a:cxnLst/>
              <a:rect l="0" t="0" r="0" b="0"/>
              <a:pathLst>
                <a:path w="2323651" h="1153235">
                  <a:moveTo>
                    <a:pt x="722702" y="1153235"/>
                  </a:moveTo>
                  <a:cubicBezTo>
                    <a:pt x="567945" y="1036131"/>
                    <a:pt x="467957" y="850454"/>
                    <a:pt x="467957" y="641424"/>
                  </a:cubicBezTo>
                  <a:cubicBezTo>
                    <a:pt x="467957" y="287175"/>
                    <a:pt x="755133" y="0"/>
                    <a:pt x="1109382" y="0"/>
                  </a:cubicBezTo>
                  <a:cubicBezTo>
                    <a:pt x="1463631" y="0"/>
                    <a:pt x="1750807" y="287175"/>
                    <a:pt x="1750807" y="641424"/>
                  </a:cubicBezTo>
                  <a:cubicBezTo>
                    <a:pt x="1750807" y="730051"/>
                    <a:pt x="1732832" y="814478"/>
                    <a:pt x="1700330" y="891262"/>
                  </a:cubicBezTo>
                  <a:moveTo>
                    <a:pt x="0" y="653527"/>
                  </a:moveTo>
                  <a:lnTo>
                    <a:pt x="467957" y="653527"/>
                  </a:lnTo>
                  <a:moveTo>
                    <a:pt x="2323651" y="653527"/>
                  </a:moveTo>
                  <a:lnTo>
                    <a:pt x="1750807" y="653527"/>
                  </a:lnTo>
                </a:path>
              </a:pathLst>
            </a:custGeom>
            <a:gradFill flip="none" rotWithShape="1">
              <a:gsLst>
                <a:gs pos="0">
                  <a:srgbClr val="974347">
                    <a:shade val="30000"/>
                    <a:satMod val="115000"/>
                  </a:srgbClr>
                </a:gs>
                <a:gs pos="50000">
                  <a:srgbClr val="974347">
                    <a:shade val="67500"/>
                    <a:satMod val="115000"/>
                  </a:srgbClr>
                </a:gs>
                <a:gs pos="100000">
                  <a:srgbClr val="974347">
                    <a:shade val="100000"/>
                    <a:satMod val="115000"/>
                  </a:srgbClr>
                </a:gs>
              </a:gsLst>
              <a:lin ang="16200000" scaled="1"/>
              <a:tileRect/>
            </a:gradFill>
            <a:ln w="12102">
              <a:solidFill>
                <a:schemeClr val="bg1"/>
              </a:solidFill>
            </a:ln>
          </p:spPr>
          <p:txBody>
            <a:bodyPr rtlCol="0" anchor="ctr"/>
            <a:lstStyle/>
            <a:p>
              <a:pPr algn="ctr"/>
              <a:endParaRPr/>
            </a:p>
          </p:txBody>
        </p:sp>
        <p:sp>
          <p:nvSpPr>
            <p:cNvPr id="11" name="Rounded Rectangle 8">
              <a:extLst>
                <a:ext uri="{FF2B5EF4-FFF2-40B4-BE49-F238E27FC236}">
                  <a16:creationId xmlns:a16="http://schemas.microsoft.com/office/drawing/2014/main" id="{8A15832C-C416-9AEC-4C6A-F842DEEF339A}"/>
                </a:ext>
              </a:extLst>
            </p:cNvPr>
            <p:cNvSpPr/>
            <p:nvPr/>
          </p:nvSpPr>
          <p:spPr>
            <a:xfrm>
              <a:off x="5516464" y="3278562"/>
              <a:ext cx="920529" cy="1497238"/>
            </a:xfrm>
            <a:custGeom>
              <a:avLst/>
              <a:gdLst/>
              <a:ahLst/>
              <a:cxnLst/>
              <a:rect l="0" t="0" r="0" b="0"/>
              <a:pathLst>
                <a:path w="920529" h="1497238">
                  <a:moveTo>
                    <a:pt x="67878" y="162550"/>
                  </a:moveTo>
                  <a:cubicBezTo>
                    <a:pt x="24987" y="174620"/>
                    <a:pt x="0" y="219181"/>
                    <a:pt x="12078" y="262072"/>
                  </a:cubicBezTo>
                  <a:lnTo>
                    <a:pt x="145236" y="735153"/>
                  </a:lnTo>
                  <a:cubicBezTo>
                    <a:pt x="176161" y="759575"/>
                    <a:pt x="208709" y="799013"/>
                    <a:pt x="211234" y="849504"/>
                  </a:cubicBezTo>
                  <a:cubicBezTo>
                    <a:pt x="212775" y="880430"/>
                    <a:pt x="213138" y="905433"/>
                    <a:pt x="213453" y="926999"/>
                  </a:cubicBezTo>
                  <a:cubicBezTo>
                    <a:pt x="213767" y="948808"/>
                    <a:pt x="214026" y="967115"/>
                    <a:pt x="215413" y="984502"/>
                  </a:cubicBezTo>
                  <a:lnTo>
                    <a:pt x="340632" y="1429368"/>
                  </a:lnTo>
                  <a:cubicBezTo>
                    <a:pt x="352702" y="1472259"/>
                    <a:pt x="397263" y="1497238"/>
                    <a:pt x="440154" y="1485168"/>
                  </a:cubicBezTo>
                  <a:lnTo>
                    <a:pt x="631710" y="1431224"/>
                  </a:lnTo>
                  <a:cubicBezTo>
                    <a:pt x="610967" y="1412877"/>
                    <a:pt x="584947" y="1388091"/>
                    <a:pt x="567898" y="1364386"/>
                  </a:cubicBezTo>
                  <a:cubicBezTo>
                    <a:pt x="497382" y="1266317"/>
                    <a:pt x="475114" y="1166344"/>
                    <a:pt x="420443" y="1069226"/>
                  </a:cubicBezTo>
                  <a:cubicBezTo>
                    <a:pt x="411617" y="1053550"/>
                    <a:pt x="412690" y="1033161"/>
                    <a:pt x="427568" y="1023044"/>
                  </a:cubicBezTo>
                  <a:cubicBezTo>
                    <a:pt x="440412" y="1014314"/>
                    <a:pt x="457283" y="1006818"/>
                    <a:pt x="477486" y="1006818"/>
                  </a:cubicBezTo>
                  <a:cubicBezTo>
                    <a:pt x="529929" y="1010853"/>
                    <a:pt x="560855" y="1047160"/>
                    <a:pt x="574305" y="1059262"/>
                  </a:cubicBezTo>
                  <a:lnTo>
                    <a:pt x="434902" y="690205"/>
                  </a:lnTo>
                  <a:cubicBezTo>
                    <a:pt x="426833" y="666000"/>
                    <a:pt x="408357" y="614049"/>
                    <a:pt x="461898" y="588795"/>
                  </a:cubicBezTo>
                  <a:cubicBezTo>
                    <a:pt x="515858" y="563332"/>
                    <a:pt x="543137" y="610160"/>
                    <a:pt x="552553" y="631678"/>
                  </a:cubicBezTo>
                  <a:lnTo>
                    <a:pt x="690600" y="996886"/>
                  </a:lnTo>
                  <a:cubicBezTo>
                    <a:pt x="674730" y="953415"/>
                    <a:pt x="660570" y="874120"/>
                    <a:pt x="715491" y="853522"/>
                  </a:cubicBezTo>
                  <a:cubicBezTo>
                    <a:pt x="780036" y="829317"/>
                    <a:pt x="817691" y="924789"/>
                    <a:pt x="828446" y="958409"/>
                  </a:cubicBezTo>
                  <a:cubicBezTo>
                    <a:pt x="825896" y="929065"/>
                    <a:pt x="820926" y="860977"/>
                    <a:pt x="858331" y="840298"/>
                  </a:cubicBezTo>
                  <a:lnTo>
                    <a:pt x="844590" y="845454"/>
                  </a:lnTo>
                  <a:cubicBezTo>
                    <a:pt x="844590" y="845454"/>
                    <a:pt x="800982" y="849488"/>
                    <a:pt x="780036" y="821281"/>
                  </a:cubicBezTo>
                  <a:cubicBezTo>
                    <a:pt x="741099" y="768838"/>
                    <a:pt x="808275" y="684121"/>
                    <a:pt x="808275" y="684121"/>
                  </a:cubicBezTo>
                  <a:lnTo>
                    <a:pt x="856693" y="619575"/>
                  </a:lnTo>
                  <a:cubicBezTo>
                    <a:pt x="856846" y="619422"/>
                    <a:pt x="856531" y="619721"/>
                    <a:pt x="856693" y="619575"/>
                  </a:cubicBezTo>
                  <a:lnTo>
                    <a:pt x="844590" y="579234"/>
                  </a:lnTo>
                  <a:lnTo>
                    <a:pt x="796899" y="405025"/>
                  </a:lnTo>
                  <a:lnTo>
                    <a:pt x="702001" y="67878"/>
                  </a:lnTo>
                  <a:cubicBezTo>
                    <a:pt x="689930" y="24987"/>
                    <a:pt x="645370" y="0"/>
                    <a:pt x="602479" y="12078"/>
                  </a:cubicBezTo>
                  <a:lnTo>
                    <a:pt x="67878" y="162550"/>
                  </a:lnTo>
                  <a:moveTo>
                    <a:pt x="909596" y="805395"/>
                  </a:moveTo>
                  <a:cubicBezTo>
                    <a:pt x="901657" y="816618"/>
                    <a:pt x="892629" y="825469"/>
                    <a:pt x="876863" y="833351"/>
                  </a:cubicBezTo>
                  <a:lnTo>
                    <a:pt x="872313" y="835054"/>
                  </a:lnTo>
                  <a:cubicBezTo>
                    <a:pt x="891531" y="830237"/>
                    <a:pt x="907418" y="834812"/>
                    <a:pt x="920529" y="844260"/>
                  </a:cubicBezTo>
                  <a:lnTo>
                    <a:pt x="909596" y="805395"/>
                  </a:lnTo>
                  <a:moveTo>
                    <a:pt x="690600" y="996886"/>
                  </a:moveTo>
                  <a:cubicBezTo>
                    <a:pt x="690834" y="997516"/>
                    <a:pt x="691060" y="998137"/>
                    <a:pt x="691286" y="998750"/>
                  </a:cubicBezTo>
                  <a:lnTo>
                    <a:pt x="690600" y="996886"/>
                  </a:lnTo>
                </a:path>
              </a:pathLst>
            </a:custGeom>
            <a:solidFill>
              <a:schemeClr val="bg1"/>
            </a:solidFill>
            <a:ln>
              <a:solidFill>
                <a:schemeClr val="bg1"/>
              </a:solidFill>
            </a:ln>
          </p:spPr>
          <p:txBody>
            <a:bodyPr rtlCol="0" anchor="ctr"/>
            <a:lstStyle/>
            <a:p>
              <a:pPr algn="ctr"/>
              <a:endParaRPr/>
            </a:p>
          </p:txBody>
        </p:sp>
        <p:sp>
          <p:nvSpPr>
            <p:cNvPr id="12" name="Rounded Rectangle 9">
              <a:extLst>
                <a:ext uri="{FF2B5EF4-FFF2-40B4-BE49-F238E27FC236}">
                  <a16:creationId xmlns:a16="http://schemas.microsoft.com/office/drawing/2014/main" id="{5B5E481F-7F5B-B356-BF54-9F9E297E50D2}"/>
                </a:ext>
              </a:extLst>
            </p:cNvPr>
            <p:cNvSpPr/>
            <p:nvPr/>
          </p:nvSpPr>
          <p:spPr>
            <a:xfrm>
              <a:off x="5516466" y="3278564"/>
              <a:ext cx="920530" cy="1497240"/>
            </a:xfrm>
            <a:custGeom>
              <a:avLst/>
              <a:gdLst/>
              <a:ahLst/>
              <a:cxnLst/>
              <a:rect l="0" t="0" r="0" b="0"/>
              <a:pathLst>
                <a:path w="920530" h="1497240">
                  <a:moveTo>
                    <a:pt x="67877" y="162546"/>
                  </a:moveTo>
                  <a:cubicBezTo>
                    <a:pt x="24984" y="174620"/>
                    <a:pt x="0" y="219178"/>
                    <a:pt x="12073" y="262071"/>
                  </a:cubicBezTo>
                  <a:lnTo>
                    <a:pt x="145231" y="735153"/>
                  </a:lnTo>
                  <a:cubicBezTo>
                    <a:pt x="176156" y="759572"/>
                    <a:pt x="208704" y="799009"/>
                    <a:pt x="211228" y="849505"/>
                  </a:cubicBezTo>
                  <a:cubicBezTo>
                    <a:pt x="212775" y="880430"/>
                    <a:pt x="213136" y="905429"/>
                    <a:pt x="213447" y="927000"/>
                  </a:cubicBezTo>
                  <a:cubicBezTo>
                    <a:pt x="213762" y="948809"/>
                    <a:pt x="214026" y="967115"/>
                    <a:pt x="215414" y="984498"/>
                  </a:cubicBezTo>
                  <a:lnTo>
                    <a:pt x="340630" y="1429363"/>
                  </a:lnTo>
                  <a:cubicBezTo>
                    <a:pt x="352703" y="1472256"/>
                    <a:pt x="397262" y="1497240"/>
                    <a:pt x="440155" y="1485167"/>
                  </a:cubicBezTo>
                  <a:lnTo>
                    <a:pt x="631704" y="1431221"/>
                  </a:lnTo>
                  <a:cubicBezTo>
                    <a:pt x="610968" y="1412877"/>
                    <a:pt x="584942" y="1388086"/>
                    <a:pt x="567900" y="1364386"/>
                  </a:cubicBezTo>
                  <a:cubicBezTo>
                    <a:pt x="497382" y="1266315"/>
                    <a:pt x="475112" y="1166344"/>
                    <a:pt x="420441" y="1069222"/>
                  </a:cubicBezTo>
                  <a:cubicBezTo>
                    <a:pt x="411616" y="1053545"/>
                    <a:pt x="412685" y="1033157"/>
                    <a:pt x="427563" y="1023043"/>
                  </a:cubicBezTo>
                  <a:cubicBezTo>
                    <a:pt x="440408" y="1014310"/>
                    <a:pt x="457279" y="1006817"/>
                    <a:pt x="477480" y="1006817"/>
                  </a:cubicBezTo>
                  <a:cubicBezTo>
                    <a:pt x="529924" y="1010851"/>
                    <a:pt x="560852" y="1047159"/>
                    <a:pt x="574299" y="1059260"/>
                  </a:cubicBezTo>
                  <a:lnTo>
                    <a:pt x="434898" y="690200"/>
                  </a:lnTo>
                  <a:cubicBezTo>
                    <a:pt x="426829" y="665995"/>
                    <a:pt x="408355" y="614049"/>
                    <a:pt x="461893" y="588793"/>
                  </a:cubicBezTo>
                  <a:cubicBezTo>
                    <a:pt x="515859" y="563333"/>
                    <a:pt x="543135" y="610157"/>
                    <a:pt x="552549" y="631672"/>
                  </a:cubicBezTo>
                  <a:lnTo>
                    <a:pt x="690599" y="996886"/>
                  </a:lnTo>
                  <a:cubicBezTo>
                    <a:pt x="674727" y="953414"/>
                    <a:pt x="660566" y="874116"/>
                    <a:pt x="715492" y="853519"/>
                  </a:cubicBezTo>
                  <a:cubicBezTo>
                    <a:pt x="780038" y="829314"/>
                    <a:pt x="817690" y="924788"/>
                    <a:pt x="828448" y="958406"/>
                  </a:cubicBezTo>
                  <a:cubicBezTo>
                    <a:pt x="825896" y="929059"/>
                    <a:pt x="820923" y="860972"/>
                    <a:pt x="858328" y="840299"/>
                  </a:cubicBezTo>
                  <a:lnTo>
                    <a:pt x="844585" y="845452"/>
                  </a:lnTo>
                  <a:cubicBezTo>
                    <a:pt x="844585" y="845452"/>
                    <a:pt x="800983" y="849486"/>
                    <a:pt x="780038" y="821277"/>
                  </a:cubicBezTo>
                  <a:cubicBezTo>
                    <a:pt x="741100" y="768835"/>
                    <a:pt x="808275" y="684117"/>
                    <a:pt x="808275" y="684117"/>
                  </a:cubicBezTo>
                  <a:lnTo>
                    <a:pt x="856687" y="619571"/>
                  </a:lnTo>
                  <a:cubicBezTo>
                    <a:pt x="856840" y="619418"/>
                    <a:pt x="856526" y="619723"/>
                    <a:pt x="856687" y="619571"/>
                  </a:cubicBezTo>
                  <a:lnTo>
                    <a:pt x="844585" y="579230"/>
                  </a:lnTo>
                  <a:lnTo>
                    <a:pt x="796898" y="405022"/>
                  </a:lnTo>
                  <a:lnTo>
                    <a:pt x="702002" y="67877"/>
                  </a:lnTo>
                  <a:cubicBezTo>
                    <a:pt x="689929" y="24984"/>
                    <a:pt x="645370" y="0"/>
                    <a:pt x="602477" y="12073"/>
                  </a:cubicBezTo>
                  <a:close/>
                  <a:moveTo>
                    <a:pt x="909591" y="805393"/>
                  </a:moveTo>
                  <a:cubicBezTo>
                    <a:pt x="901657" y="816615"/>
                    <a:pt x="892630" y="825465"/>
                    <a:pt x="876858" y="833351"/>
                  </a:cubicBezTo>
                  <a:lnTo>
                    <a:pt x="872311" y="835055"/>
                  </a:lnTo>
                  <a:cubicBezTo>
                    <a:pt x="891531" y="830235"/>
                    <a:pt x="907418" y="834808"/>
                    <a:pt x="920530" y="844260"/>
                  </a:cubicBezTo>
                  <a:close/>
                  <a:moveTo>
                    <a:pt x="690599" y="996886"/>
                  </a:moveTo>
                  <a:cubicBezTo>
                    <a:pt x="690828" y="997514"/>
                    <a:pt x="691058" y="998135"/>
                    <a:pt x="691288" y="998747"/>
                  </a:cubicBezTo>
                  <a:close/>
                  <a:moveTo>
                    <a:pt x="163443" y="336721"/>
                  </a:moveTo>
                  <a:cubicBezTo>
                    <a:pt x="160982" y="328157"/>
                    <a:pt x="165929" y="319217"/>
                    <a:pt x="174494" y="316755"/>
                  </a:cubicBezTo>
                  <a:lnTo>
                    <a:pt x="263367" y="291208"/>
                  </a:lnTo>
                  <a:cubicBezTo>
                    <a:pt x="271932" y="288747"/>
                    <a:pt x="280872" y="293694"/>
                    <a:pt x="283333" y="302259"/>
                  </a:cubicBezTo>
                  <a:lnTo>
                    <a:pt x="308880" y="391132"/>
                  </a:lnTo>
                  <a:cubicBezTo>
                    <a:pt x="311342" y="399697"/>
                    <a:pt x="306395" y="408636"/>
                    <a:pt x="297830" y="411098"/>
                  </a:cubicBezTo>
                  <a:lnTo>
                    <a:pt x="208956" y="436645"/>
                  </a:lnTo>
                  <a:cubicBezTo>
                    <a:pt x="200392" y="439107"/>
                    <a:pt x="191452" y="434160"/>
                    <a:pt x="188990" y="425594"/>
                  </a:cubicBezTo>
                  <a:close/>
                  <a:moveTo>
                    <a:pt x="328840" y="286479"/>
                  </a:moveTo>
                  <a:cubicBezTo>
                    <a:pt x="326378" y="277913"/>
                    <a:pt x="331326" y="268974"/>
                    <a:pt x="339890" y="266512"/>
                  </a:cubicBezTo>
                  <a:lnTo>
                    <a:pt x="428763" y="240966"/>
                  </a:lnTo>
                  <a:cubicBezTo>
                    <a:pt x="437329" y="238503"/>
                    <a:pt x="446267" y="243451"/>
                    <a:pt x="448730" y="252016"/>
                  </a:cubicBezTo>
                  <a:lnTo>
                    <a:pt x="474276" y="340889"/>
                  </a:lnTo>
                  <a:cubicBezTo>
                    <a:pt x="476739" y="349454"/>
                    <a:pt x="471791" y="358393"/>
                    <a:pt x="463226" y="360856"/>
                  </a:cubicBezTo>
                  <a:lnTo>
                    <a:pt x="374353" y="386402"/>
                  </a:lnTo>
                  <a:cubicBezTo>
                    <a:pt x="365788" y="388864"/>
                    <a:pt x="356849" y="383917"/>
                    <a:pt x="354386" y="375352"/>
                  </a:cubicBezTo>
                  <a:close/>
                  <a:moveTo>
                    <a:pt x="490206" y="238070"/>
                  </a:moveTo>
                  <a:cubicBezTo>
                    <a:pt x="487744" y="229505"/>
                    <a:pt x="492691" y="220566"/>
                    <a:pt x="501256" y="218103"/>
                  </a:cubicBezTo>
                  <a:lnTo>
                    <a:pt x="590130" y="192557"/>
                  </a:lnTo>
                  <a:cubicBezTo>
                    <a:pt x="598694" y="190095"/>
                    <a:pt x="607634" y="195042"/>
                    <a:pt x="610096" y="203607"/>
                  </a:cubicBezTo>
                  <a:lnTo>
                    <a:pt x="635643" y="292480"/>
                  </a:lnTo>
                  <a:cubicBezTo>
                    <a:pt x="638104" y="301046"/>
                    <a:pt x="633157" y="309985"/>
                    <a:pt x="624591" y="312447"/>
                  </a:cubicBezTo>
                  <a:lnTo>
                    <a:pt x="535719" y="337993"/>
                  </a:lnTo>
                  <a:cubicBezTo>
                    <a:pt x="527154" y="340456"/>
                    <a:pt x="518215" y="335508"/>
                    <a:pt x="515753" y="326943"/>
                  </a:cubicBezTo>
                  <a:close/>
                  <a:moveTo>
                    <a:pt x="219921" y="514222"/>
                  </a:moveTo>
                  <a:cubicBezTo>
                    <a:pt x="217459" y="505658"/>
                    <a:pt x="222407" y="496718"/>
                    <a:pt x="230972" y="494257"/>
                  </a:cubicBezTo>
                  <a:lnTo>
                    <a:pt x="319845" y="468709"/>
                  </a:lnTo>
                  <a:cubicBezTo>
                    <a:pt x="328410" y="466248"/>
                    <a:pt x="337349" y="471195"/>
                    <a:pt x="339811" y="479760"/>
                  </a:cubicBezTo>
                  <a:lnTo>
                    <a:pt x="365357" y="568633"/>
                  </a:lnTo>
                  <a:cubicBezTo>
                    <a:pt x="367820" y="577198"/>
                    <a:pt x="362872" y="586138"/>
                    <a:pt x="354307" y="588599"/>
                  </a:cubicBezTo>
                  <a:lnTo>
                    <a:pt x="265434" y="614146"/>
                  </a:lnTo>
                  <a:cubicBezTo>
                    <a:pt x="256870" y="616608"/>
                    <a:pt x="247930" y="611661"/>
                    <a:pt x="245468" y="603095"/>
                  </a:cubicBezTo>
                  <a:close/>
                  <a:moveTo>
                    <a:pt x="385317" y="463980"/>
                  </a:moveTo>
                  <a:cubicBezTo>
                    <a:pt x="382856" y="455414"/>
                    <a:pt x="387803" y="446476"/>
                    <a:pt x="396368" y="444013"/>
                  </a:cubicBezTo>
                  <a:lnTo>
                    <a:pt x="485241" y="418467"/>
                  </a:lnTo>
                  <a:cubicBezTo>
                    <a:pt x="493806" y="416004"/>
                    <a:pt x="502745" y="420952"/>
                    <a:pt x="505207" y="429517"/>
                  </a:cubicBezTo>
                  <a:lnTo>
                    <a:pt x="530754" y="518390"/>
                  </a:lnTo>
                  <a:cubicBezTo>
                    <a:pt x="533216" y="526956"/>
                    <a:pt x="528269" y="535894"/>
                    <a:pt x="519704" y="538357"/>
                  </a:cubicBezTo>
                  <a:lnTo>
                    <a:pt x="430830" y="563903"/>
                  </a:lnTo>
                  <a:cubicBezTo>
                    <a:pt x="422266" y="566366"/>
                    <a:pt x="413326" y="561417"/>
                    <a:pt x="410864" y="552853"/>
                  </a:cubicBezTo>
                  <a:close/>
                  <a:moveTo>
                    <a:pt x="546684" y="415571"/>
                  </a:moveTo>
                  <a:cubicBezTo>
                    <a:pt x="544221" y="407006"/>
                    <a:pt x="549169" y="398067"/>
                    <a:pt x="557734" y="395605"/>
                  </a:cubicBezTo>
                  <a:lnTo>
                    <a:pt x="646607" y="370058"/>
                  </a:lnTo>
                  <a:cubicBezTo>
                    <a:pt x="655172" y="367596"/>
                    <a:pt x="664111" y="372543"/>
                    <a:pt x="666574" y="381108"/>
                  </a:cubicBezTo>
                  <a:lnTo>
                    <a:pt x="692120" y="469982"/>
                  </a:lnTo>
                  <a:cubicBezTo>
                    <a:pt x="694582" y="478547"/>
                    <a:pt x="689634" y="487486"/>
                    <a:pt x="681069" y="489948"/>
                  </a:cubicBezTo>
                  <a:lnTo>
                    <a:pt x="592197" y="515495"/>
                  </a:lnTo>
                  <a:cubicBezTo>
                    <a:pt x="583631" y="517957"/>
                    <a:pt x="574693" y="513010"/>
                    <a:pt x="572230" y="504444"/>
                  </a:cubicBezTo>
                  <a:close/>
                  <a:moveTo>
                    <a:pt x="268330" y="691723"/>
                  </a:moveTo>
                  <a:cubicBezTo>
                    <a:pt x="265869" y="683159"/>
                    <a:pt x="270816" y="674219"/>
                    <a:pt x="279382" y="671758"/>
                  </a:cubicBezTo>
                  <a:lnTo>
                    <a:pt x="368254" y="646210"/>
                  </a:lnTo>
                  <a:cubicBezTo>
                    <a:pt x="376819" y="643749"/>
                    <a:pt x="385759" y="648696"/>
                    <a:pt x="388220" y="657262"/>
                  </a:cubicBezTo>
                  <a:lnTo>
                    <a:pt x="413767" y="746134"/>
                  </a:lnTo>
                  <a:cubicBezTo>
                    <a:pt x="416229" y="754699"/>
                    <a:pt x="411282" y="763639"/>
                    <a:pt x="402717" y="766100"/>
                  </a:cubicBezTo>
                  <a:lnTo>
                    <a:pt x="313843" y="791647"/>
                  </a:lnTo>
                  <a:cubicBezTo>
                    <a:pt x="305279" y="794109"/>
                    <a:pt x="296339" y="789162"/>
                    <a:pt x="293877" y="780597"/>
                  </a:cubicBezTo>
                  <a:close/>
                  <a:moveTo>
                    <a:pt x="595093" y="593072"/>
                  </a:moveTo>
                  <a:cubicBezTo>
                    <a:pt x="592631" y="584507"/>
                    <a:pt x="597578" y="575568"/>
                    <a:pt x="606143" y="573106"/>
                  </a:cubicBezTo>
                  <a:lnTo>
                    <a:pt x="695017" y="547559"/>
                  </a:lnTo>
                  <a:cubicBezTo>
                    <a:pt x="703581" y="545097"/>
                    <a:pt x="712521" y="550044"/>
                    <a:pt x="714983" y="558610"/>
                  </a:cubicBezTo>
                  <a:lnTo>
                    <a:pt x="740530" y="647483"/>
                  </a:lnTo>
                  <a:cubicBezTo>
                    <a:pt x="742991" y="656048"/>
                    <a:pt x="738044" y="664987"/>
                    <a:pt x="729479" y="667449"/>
                  </a:cubicBezTo>
                  <a:lnTo>
                    <a:pt x="640606" y="692996"/>
                  </a:lnTo>
                  <a:cubicBezTo>
                    <a:pt x="632041" y="695458"/>
                    <a:pt x="623102" y="690511"/>
                    <a:pt x="620640" y="681946"/>
                  </a:cubicBezTo>
                  <a:close/>
                  <a:moveTo>
                    <a:pt x="568919" y="1364199"/>
                  </a:moveTo>
                  <a:lnTo>
                    <a:pt x="451858" y="1397510"/>
                  </a:lnTo>
                  <a:cubicBezTo>
                    <a:pt x="426144" y="1404828"/>
                    <a:pt x="399365" y="1389914"/>
                    <a:pt x="392048" y="1364199"/>
                  </a:cubicBezTo>
                  <a:lnTo>
                    <a:pt x="87307" y="293298"/>
                  </a:lnTo>
                  <a:cubicBezTo>
                    <a:pt x="79990" y="267583"/>
                    <a:pt x="94904" y="240804"/>
                    <a:pt x="120618" y="233487"/>
                  </a:cubicBezTo>
                  <a:lnTo>
                    <a:pt x="588740" y="100276"/>
                  </a:lnTo>
                  <a:cubicBezTo>
                    <a:pt x="614455" y="92959"/>
                    <a:pt x="641233" y="107873"/>
                    <a:pt x="648551" y="133587"/>
                  </a:cubicBezTo>
                  <a:lnTo>
                    <a:pt x="806351" y="688121"/>
                  </a:lnTo>
                </a:path>
              </a:pathLst>
            </a:custGeom>
            <a:grpFill/>
            <a:ln w="12102">
              <a:solidFill>
                <a:schemeClr val="bg1"/>
              </a:solidFill>
            </a:ln>
          </p:spPr>
          <p:txBody>
            <a:bodyPr rtlCol="0" anchor="ctr"/>
            <a:lstStyle/>
            <a:p>
              <a:pPr algn="ctr"/>
              <a:endParaRPr/>
            </a:p>
          </p:txBody>
        </p:sp>
        <p:sp>
          <p:nvSpPr>
            <p:cNvPr id="13" name="Rounded Rectangle 10">
              <a:extLst>
                <a:ext uri="{FF2B5EF4-FFF2-40B4-BE49-F238E27FC236}">
                  <a16:creationId xmlns:a16="http://schemas.microsoft.com/office/drawing/2014/main" id="{A4B71088-9608-C2B3-FD2F-E6361912E966}"/>
                </a:ext>
              </a:extLst>
            </p:cNvPr>
            <p:cNvSpPr/>
            <p:nvPr/>
          </p:nvSpPr>
          <p:spPr>
            <a:xfrm>
              <a:off x="5582471" y="3635904"/>
              <a:ext cx="1132239" cy="1301132"/>
            </a:xfrm>
            <a:custGeom>
              <a:avLst/>
              <a:gdLst/>
              <a:ahLst/>
              <a:cxnLst/>
              <a:rect l="0" t="0" r="0" b="0"/>
              <a:pathLst>
                <a:path w="1132239" h="1301132">
                  <a:moveTo>
                    <a:pt x="68580" y="1153757"/>
                  </a:moveTo>
                  <a:lnTo>
                    <a:pt x="64545" y="1285003"/>
                  </a:lnTo>
                  <a:lnTo>
                    <a:pt x="476025" y="1297105"/>
                  </a:lnTo>
                  <a:lnTo>
                    <a:pt x="480060" y="1198141"/>
                  </a:lnTo>
                  <a:lnTo>
                    <a:pt x="492162" y="1182004"/>
                  </a:lnTo>
                  <a:lnTo>
                    <a:pt x="565647" y="1073857"/>
                  </a:lnTo>
                  <a:cubicBezTo>
                    <a:pt x="515882" y="1088784"/>
                    <a:pt x="423582" y="1113408"/>
                    <a:pt x="367104" y="1129544"/>
                  </a:cubicBezTo>
                  <a:cubicBezTo>
                    <a:pt x="314661" y="1144527"/>
                    <a:pt x="283735" y="1089203"/>
                    <a:pt x="274320" y="1060964"/>
                  </a:cubicBezTo>
                  <a:lnTo>
                    <a:pt x="225910" y="899600"/>
                  </a:lnTo>
                  <a:cubicBezTo>
                    <a:pt x="205740" y="832359"/>
                    <a:pt x="169432" y="693860"/>
                    <a:pt x="157330" y="657553"/>
                  </a:cubicBezTo>
                  <a:cubicBezTo>
                    <a:pt x="143065" y="614759"/>
                    <a:pt x="149262" y="572852"/>
                    <a:pt x="145228" y="492170"/>
                  </a:cubicBezTo>
                  <a:cubicBezTo>
                    <a:pt x="141194" y="411488"/>
                    <a:pt x="60511" y="359036"/>
                    <a:pt x="32272" y="350968"/>
                  </a:cubicBezTo>
                  <a:cubicBezTo>
                    <a:pt x="9681" y="344513"/>
                    <a:pt x="1347" y="361731"/>
                    <a:pt x="0" y="371138"/>
                  </a:cubicBezTo>
                  <a:lnTo>
                    <a:pt x="12102" y="693868"/>
                  </a:lnTo>
                  <a:cubicBezTo>
                    <a:pt x="13449" y="798755"/>
                    <a:pt x="16943" y="1019824"/>
                    <a:pt x="20170" y="1065007"/>
                  </a:cubicBezTo>
                  <a:cubicBezTo>
                    <a:pt x="23397" y="1110189"/>
                    <a:pt x="53790" y="1143002"/>
                    <a:pt x="68580" y="1153757"/>
                  </a:cubicBezTo>
                  <a:moveTo>
                    <a:pt x="697902" y="1301132"/>
                  </a:moveTo>
                  <a:cubicBezTo>
                    <a:pt x="697902" y="1301132"/>
                    <a:pt x="696522" y="1250770"/>
                    <a:pt x="681765" y="1222781"/>
                  </a:cubicBezTo>
                  <a:cubicBezTo>
                    <a:pt x="647362" y="1157549"/>
                    <a:pt x="565647" y="1073857"/>
                    <a:pt x="565647" y="1073857"/>
                  </a:cubicBezTo>
                  <a:cubicBezTo>
                    <a:pt x="542427" y="1053348"/>
                    <a:pt x="518367" y="1029595"/>
                    <a:pt x="500230" y="1004487"/>
                  </a:cubicBezTo>
                  <a:cubicBezTo>
                    <a:pt x="432651" y="910911"/>
                    <a:pt x="409204" y="810139"/>
                    <a:pt x="354227" y="711795"/>
                  </a:cubicBezTo>
                  <a:cubicBezTo>
                    <a:pt x="345497" y="696167"/>
                    <a:pt x="346579" y="675900"/>
                    <a:pt x="361198" y="665564"/>
                  </a:cubicBezTo>
                  <a:cubicBezTo>
                    <a:pt x="373470" y="656891"/>
                    <a:pt x="389235" y="649484"/>
                    <a:pt x="407445" y="649484"/>
                  </a:cubicBezTo>
                  <a:cubicBezTo>
                    <a:pt x="459889" y="649484"/>
                    <a:pt x="494849" y="689834"/>
                    <a:pt x="508298" y="701936"/>
                  </a:cubicBezTo>
                  <a:lnTo>
                    <a:pt x="367104" y="326779"/>
                  </a:lnTo>
                  <a:cubicBezTo>
                    <a:pt x="359036" y="302574"/>
                    <a:pt x="344513" y="252535"/>
                    <a:pt x="399377" y="229944"/>
                  </a:cubicBezTo>
                  <a:cubicBezTo>
                    <a:pt x="454241" y="207353"/>
                    <a:pt x="478712" y="256852"/>
                    <a:pt x="488128" y="278370"/>
                  </a:cubicBezTo>
                  <a:lnTo>
                    <a:pt x="624602" y="639552"/>
                  </a:lnTo>
                  <a:cubicBezTo>
                    <a:pt x="608724" y="596081"/>
                    <a:pt x="594564" y="516778"/>
                    <a:pt x="649492" y="496180"/>
                  </a:cubicBezTo>
                  <a:cubicBezTo>
                    <a:pt x="714038" y="471975"/>
                    <a:pt x="751685" y="567455"/>
                    <a:pt x="762448" y="601067"/>
                  </a:cubicBezTo>
                  <a:cubicBezTo>
                    <a:pt x="759753" y="570141"/>
                    <a:pt x="754380" y="496180"/>
                    <a:pt x="798755" y="480043"/>
                  </a:cubicBezTo>
                  <a:cubicBezTo>
                    <a:pt x="850319" y="461293"/>
                    <a:pt x="879437" y="508282"/>
                    <a:pt x="895574" y="544589"/>
                  </a:cubicBezTo>
                  <a:cubicBezTo>
                    <a:pt x="908483" y="573635"/>
                    <a:pt x="917084" y="594346"/>
                    <a:pt x="919778" y="601067"/>
                  </a:cubicBezTo>
                  <a:cubicBezTo>
                    <a:pt x="909015" y="566107"/>
                    <a:pt x="895574" y="497793"/>
                    <a:pt x="939949" y="480043"/>
                  </a:cubicBezTo>
                  <a:cubicBezTo>
                    <a:pt x="980290" y="463907"/>
                    <a:pt x="1016597" y="476009"/>
                    <a:pt x="1032734" y="520385"/>
                  </a:cubicBezTo>
                  <a:lnTo>
                    <a:pt x="1113416" y="718072"/>
                  </a:lnTo>
                  <a:cubicBezTo>
                    <a:pt x="1132239" y="777229"/>
                    <a:pt x="1109382" y="883463"/>
                    <a:pt x="1105348" y="927838"/>
                  </a:cubicBezTo>
                  <a:cubicBezTo>
                    <a:pt x="1105348" y="927838"/>
                    <a:pt x="1091543" y="1006697"/>
                    <a:pt x="1101314" y="1060964"/>
                  </a:cubicBezTo>
                  <a:cubicBezTo>
                    <a:pt x="1108615" y="1101507"/>
                    <a:pt x="1125518" y="1177954"/>
                    <a:pt x="1125518" y="1177954"/>
                  </a:cubicBezTo>
                  <a:lnTo>
                    <a:pt x="697902" y="1301132"/>
                  </a:lnTo>
                  <a:moveTo>
                    <a:pt x="750345" y="28238"/>
                  </a:moveTo>
                  <a:lnTo>
                    <a:pt x="730175" y="48409"/>
                  </a:lnTo>
                  <a:lnTo>
                    <a:pt x="778584" y="221892"/>
                  </a:lnTo>
                  <a:cubicBezTo>
                    <a:pt x="789339" y="207103"/>
                    <a:pt x="821346" y="170255"/>
                    <a:pt x="847164" y="141210"/>
                  </a:cubicBezTo>
                  <a:cubicBezTo>
                    <a:pt x="872983" y="112164"/>
                    <a:pt x="874056" y="83385"/>
                    <a:pt x="871369" y="72630"/>
                  </a:cubicBezTo>
                  <a:cubicBezTo>
                    <a:pt x="870022" y="60527"/>
                    <a:pt x="860073" y="32272"/>
                    <a:pt x="831028" y="16136"/>
                  </a:cubicBezTo>
                  <a:cubicBezTo>
                    <a:pt x="801982" y="0"/>
                    <a:pt x="770516" y="8060"/>
                    <a:pt x="750345" y="28238"/>
                  </a:cubicBezTo>
                  <a:moveTo>
                    <a:pt x="790687" y="262233"/>
                  </a:moveTo>
                  <a:lnTo>
                    <a:pt x="742277" y="326779"/>
                  </a:lnTo>
                  <a:cubicBezTo>
                    <a:pt x="742277" y="326779"/>
                    <a:pt x="675101" y="411496"/>
                    <a:pt x="714038" y="463939"/>
                  </a:cubicBezTo>
                  <a:cubicBezTo>
                    <a:pt x="734983" y="492154"/>
                    <a:pt x="778584" y="488120"/>
                    <a:pt x="778584" y="488120"/>
                  </a:cubicBezTo>
                  <a:lnTo>
                    <a:pt x="810857" y="476017"/>
                  </a:lnTo>
                  <a:cubicBezTo>
                    <a:pt x="843130" y="459881"/>
                    <a:pt x="847164" y="439710"/>
                    <a:pt x="871369" y="403427"/>
                  </a:cubicBezTo>
                  <a:cubicBezTo>
                    <a:pt x="895727" y="366911"/>
                    <a:pt x="909015" y="337542"/>
                    <a:pt x="911710" y="326779"/>
                  </a:cubicBezTo>
                  <a:cubicBezTo>
                    <a:pt x="914397" y="316024"/>
                    <a:pt x="911710" y="286438"/>
                    <a:pt x="871369" y="262233"/>
                  </a:cubicBezTo>
                  <a:cubicBezTo>
                    <a:pt x="838975" y="242797"/>
                    <a:pt x="802789" y="250131"/>
                    <a:pt x="790687" y="262233"/>
                  </a:cubicBezTo>
                  <a:moveTo>
                    <a:pt x="508298" y="701936"/>
                  </a:moveTo>
                  <a:lnTo>
                    <a:pt x="576878" y="859258"/>
                  </a:lnTo>
                  <a:moveTo>
                    <a:pt x="624602" y="639552"/>
                  </a:moveTo>
                  <a:lnTo>
                    <a:pt x="625288" y="641408"/>
                  </a:lnTo>
                  <a:cubicBezTo>
                    <a:pt x="625054" y="640795"/>
                    <a:pt x="624828" y="640182"/>
                    <a:pt x="624602" y="639552"/>
                  </a:cubicBezTo>
                </a:path>
              </a:pathLst>
            </a:custGeom>
            <a:grpFill/>
            <a:ln>
              <a:solidFill>
                <a:schemeClr val="bg1"/>
              </a:solidFill>
            </a:ln>
          </p:spPr>
          <p:txBody>
            <a:bodyPr rtlCol="0" anchor="ctr"/>
            <a:lstStyle/>
            <a:p>
              <a:pPr algn="ctr"/>
              <a:endParaRPr/>
            </a:p>
          </p:txBody>
        </p:sp>
        <p:sp>
          <p:nvSpPr>
            <p:cNvPr id="14" name="Rounded Rectangle 11">
              <a:extLst>
                <a:ext uri="{FF2B5EF4-FFF2-40B4-BE49-F238E27FC236}">
                  <a16:creationId xmlns:a16="http://schemas.microsoft.com/office/drawing/2014/main" id="{DF042E02-A823-1895-1E41-46A5B7D836BF}"/>
                </a:ext>
              </a:extLst>
            </p:cNvPr>
            <p:cNvSpPr/>
            <p:nvPr/>
          </p:nvSpPr>
          <p:spPr>
            <a:xfrm>
              <a:off x="5582471" y="3635907"/>
              <a:ext cx="1132241" cy="1301128"/>
            </a:xfrm>
            <a:custGeom>
              <a:avLst/>
              <a:gdLst/>
              <a:ahLst/>
              <a:cxnLst/>
              <a:rect l="0" t="0" r="0" b="0"/>
              <a:pathLst>
                <a:path w="1132241" h="1301128">
                  <a:moveTo>
                    <a:pt x="68580" y="1153756"/>
                  </a:moveTo>
                  <a:lnTo>
                    <a:pt x="64545" y="1284997"/>
                  </a:lnTo>
                  <a:lnTo>
                    <a:pt x="476025" y="1297099"/>
                  </a:lnTo>
                  <a:lnTo>
                    <a:pt x="480060" y="1198136"/>
                  </a:lnTo>
                  <a:lnTo>
                    <a:pt x="492162" y="1181999"/>
                  </a:lnTo>
                  <a:lnTo>
                    <a:pt x="565648" y="1073857"/>
                  </a:lnTo>
                  <a:cubicBezTo>
                    <a:pt x="515884" y="1088782"/>
                    <a:pt x="423582" y="1113401"/>
                    <a:pt x="367104" y="1129537"/>
                  </a:cubicBezTo>
                  <a:cubicBezTo>
                    <a:pt x="314661" y="1144521"/>
                    <a:pt x="283733" y="1089198"/>
                    <a:pt x="274320" y="1060957"/>
                  </a:cubicBezTo>
                  <a:lnTo>
                    <a:pt x="225910" y="899592"/>
                  </a:lnTo>
                  <a:cubicBezTo>
                    <a:pt x="205740" y="832357"/>
                    <a:pt x="169432" y="693852"/>
                    <a:pt x="157330" y="657545"/>
                  </a:cubicBezTo>
                  <a:cubicBezTo>
                    <a:pt x="143067" y="614757"/>
                    <a:pt x="149262" y="572847"/>
                    <a:pt x="145228" y="492165"/>
                  </a:cubicBezTo>
                  <a:cubicBezTo>
                    <a:pt x="141194" y="411483"/>
                    <a:pt x="60511" y="359035"/>
                    <a:pt x="32272" y="350967"/>
                  </a:cubicBezTo>
                  <a:cubicBezTo>
                    <a:pt x="9681" y="344512"/>
                    <a:pt x="1344" y="361724"/>
                    <a:pt x="0" y="371138"/>
                  </a:cubicBezTo>
                  <a:lnTo>
                    <a:pt x="12102" y="693867"/>
                  </a:lnTo>
                  <a:cubicBezTo>
                    <a:pt x="13447" y="798754"/>
                    <a:pt x="16943" y="1019824"/>
                    <a:pt x="20170" y="1065006"/>
                  </a:cubicBezTo>
                  <a:cubicBezTo>
                    <a:pt x="23397" y="1110188"/>
                    <a:pt x="53788" y="1142998"/>
                    <a:pt x="68580" y="1153756"/>
                  </a:cubicBezTo>
                  <a:close/>
                  <a:moveTo>
                    <a:pt x="697902" y="1301128"/>
                  </a:moveTo>
                  <a:cubicBezTo>
                    <a:pt x="697902" y="1301128"/>
                    <a:pt x="696525" y="1250765"/>
                    <a:pt x="681765" y="1222774"/>
                  </a:cubicBezTo>
                  <a:cubicBezTo>
                    <a:pt x="647366" y="1157543"/>
                    <a:pt x="565648" y="1073857"/>
                    <a:pt x="565648" y="1073857"/>
                  </a:cubicBezTo>
                  <a:cubicBezTo>
                    <a:pt x="542430" y="1053346"/>
                    <a:pt x="518365" y="1029590"/>
                    <a:pt x="500230" y="1004479"/>
                  </a:cubicBezTo>
                  <a:cubicBezTo>
                    <a:pt x="432648" y="910904"/>
                    <a:pt x="409204" y="810136"/>
                    <a:pt x="354229" y="711791"/>
                  </a:cubicBezTo>
                  <a:cubicBezTo>
                    <a:pt x="345494" y="696165"/>
                    <a:pt x="346580" y="675894"/>
                    <a:pt x="361199" y="665562"/>
                  </a:cubicBezTo>
                  <a:cubicBezTo>
                    <a:pt x="373468" y="656890"/>
                    <a:pt x="389232" y="649477"/>
                    <a:pt x="407445" y="649477"/>
                  </a:cubicBezTo>
                  <a:cubicBezTo>
                    <a:pt x="459889" y="649477"/>
                    <a:pt x="494851" y="689834"/>
                    <a:pt x="508298" y="701934"/>
                  </a:cubicBezTo>
                  <a:lnTo>
                    <a:pt x="367104" y="326778"/>
                  </a:lnTo>
                  <a:cubicBezTo>
                    <a:pt x="359036" y="302573"/>
                    <a:pt x="344513" y="252536"/>
                    <a:pt x="399377" y="229945"/>
                  </a:cubicBezTo>
                  <a:cubicBezTo>
                    <a:pt x="454241" y="207354"/>
                    <a:pt x="478715" y="256850"/>
                    <a:pt x="488127" y="278366"/>
                  </a:cubicBezTo>
                  <a:lnTo>
                    <a:pt x="624599" y="639547"/>
                  </a:lnTo>
                  <a:cubicBezTo>
                    <a:pt x="608727" y="596074"/>
                    <a:pt x="594566" y="516776"/>
                    <a:pt x="649492" y="496179"/>
                  </a:cubicBezTo>
                  <a:cubicBezTo>
                    <a:pt x="714038" y="471974"/>
                    <a:pt x="751689" y="567448"/>
                    <a:pt x="762447" y="601066"/>
                  </a:cubicBezTo>
                  <a:cubicBezTo>
                    <a:pt x="759757" y="570138"/>
                    <a:pt x="754379" y="496179"/>
                    <a:pt x="798754" y="480043"/>
                  </a:cubicBezTo>
                  <a:cubicBezTo>
                    <a:pt x="850320" y="461291"/>
                    <a:pt x="879436" y="508281"/>
                    <a:pt x="895573" y="544588"/>
                  </a:cubicBezTo>
                  <a:cubicBezTo>
                    <a:pt x="908482" y="573634"/>
                    <a:pt x="917088" y="594343"/>
                    <a:pt x="919778" y="601066"/>
                  </a:cubicBezTo>
                  <a:cubicBezTo>
                    <a:pt x="909019" y="566104"/>
                    <a:pt x="895573" y="497793"/>
                    <a:pt x="939948" y="480043"/>
                  </a:cubicBezTo>
                  <a:cubicBezTo>
                    <a:pt x="980289" y="463906"/>
                    <a:pt x="1016596" y="476008"/>
                    <a:pt x="1032733" y="520384"/>
                  </a:cubicBezTo>
                  <a:lnTo>
                    <a:pt x="1113415" y="718068"/>
                  </a:lnTo>
                  <a:cubicBezTo>
                    <a:pt x="1132241" y="777226"/>
                    <a:pt x="1109382" y="883456"/>
                    <a:pt x="1105348" y="927831"/>
                  </a:cubicBezTo>
                  <a:cubicBezTo>
                    <a:pt x="1105348" y="927831"/>
                    <a:pt x="1091543" y="1006690"/>
                    <a:pt x="1101314" y="1060957"/>
                  </a:cubicBezTo>
                  <a:cubicBezTo>
                    <a:pt x="1108614" y="1101502"/>
                    <a:pt x="1125518" y="1177947"/>
                    <a:pt x="1125518" y="1177947"/>
                  </a:cubicBezTo>
                  <a:lnTo>
                    <a:pt x="697902" y="1301128"/>
                  </a:lnTo>
                  <a:close/>
                  <a:moveTo>
                    <a:pt x="750342" y="28238"/>
                  </a:moveTo>
                  <a:lnTo>
                    <a:pt x="730172" y="48409"/>
                  </a:lnTo>
                  <a:lnTo>
                    <a:pt x="778583" y="221890"/>
                  </a:lnTo>
                  <a:cubicBezTo>
                    <a:pt x="789341" y="207099"/>
                    <a:pt x="821343" y="170254"/>
                    <a:pt x="847161" y="141208"/>
                  </a:cubicBezTo>
                  <a:cubicBezTo>
                    <a:pt x="872979" y="112162"/>
                    <a:pt x="874055" y="83386"/>
                    <a:pt x="871366" y="72628"/>
                  </a:cubicBezTo>
                  <a:cubicBezTo>
                    <a:pt x="870021" y="60521"/>
                    <a:pt x="860070" y="32272"/>
                    <a:pt x="831025" y="16136"/>
                  </a:cubicBezTo>
                  <a:cubicBezTo>
                    <a:pt x="801979" y="0"/>
                    <a:pt x="770516" y="8053"/>
                    <a:pt x="750342" y="28238"/>
                  </a:cubicBezTo>
                  <a:close/>
                  <a:moveTo>
                    <a:pt x="790686" y="262232"/>
                  </a:moveTo>
                  <a:lnTo>
                    <a:pt x="742274" y="326778"/>
                  </a:lnTo>
                  <a:cubicBezTo>
                    <a:pt x="742274" y="326778"/>
                    <a:pt x="675099" y="411495"/>
                    <a:pt x="714038" y="463938"/>
                  </a:cubicBezTo>
                  <a:cubicBezTo>
                    <a:pt x="734983" y="492147"/>
                    <a:pt x="778584" y="488112"/>
                    <a:pt x="778584" y="488112"/>
                  </a:cubicBezTo>
                  <a:lnTo>
                    <a:pt x="810857" y="476011"/>
                  </a:lnTo>
                  <a:cubicBezTo>
                    <a:pt x="843130" y="459874"/>
                    <a:pt x="847163" y="439703"/>
                    <a:pt x="871366" y="403426"/>
                  </a:cubicBezTo>
                  <a:cubicBezTo>
                    <a:pt x="895727" y="366910"/>
                    <a:pt x="909018" y="337535"/>
                    <a:pt x="911707" y="326778"/>
                  </a:cubicBezTo>
                  <a:cubicBezTo>
                    <a:pt x="914396" y="316020"/>
                    <a:pt x="911707" y="286436"/>
                    <a:pt x="871366" y="262232"/>
                  </a:cubicBezTo>
                  <a:cubicBezTo>
                    <a:pt x="838974" y="242797"/>
                    <a:pt x="802788" y="250129"/>
                    <a:pt x="790686" y="262232"/>
                  </a:cubicBezTo>
                  <a:close/>
                  <a:moveTo>
                    <a:pt x="508298" y="701934"/>
                  </a:moveTo>
                  <a:lnTo>
                    <a:pt x="576878" y="859251"/>
                  </a:lnTo>
                  <a:moveTo>
                    <a:pt x="624599" y="639547"/>
                  </a:moveTo>
                  <a:lnTo>
                    <a:pt x="625287" y="641407"/>
                  </a:lnTo>
                  <a:cubicBezTo>
                    <a:pt x="625057" y="640795"/>
                    <a:pt x="624828" y="640174"/>
                    <a:pt x="624599" y="639547"/>
                  </a:cubicBezTo>
                  <a:close/>
                </a:path>
              </a:pathLst>
            </a:custGeom>
            <a:solidFill>
              <a:schemeClr val="bg1"/>
            </a:solidFill>
            <a:ln w="12102">
              <a:solidFill>
                <a:srgbClr val="974347"/>
              </a:solidFill>
            </a:ln>
          </p:spPr>
          <p:txBody>
            <a:bodyPr rtlCol="0" anchor="ctr"/>
            <a:lstStyle/>
            <a:p>
              <a:pPr algn="ctr"/>
              <a:endParaRPr/>
            </a:p>
          </p:txBody>
        </p:sp>
        <p:sp>
          <p:nvSpPr>
            <p:cNvPr id="15" name="Rounded Rectangle 12">
              <a:extLst>
                <a:ext uri="{FF2B5EF4-FFF2-40B4-BE49-F238E27FC236}">
                  <a16:creationId xmlns:a16="http://schemas.microsoft.com/office/drawing/2014/main" id="{08D836CB-D5D3-435D-03EA-C25C20A2EE3E}"/>
                </a:ext>
              </a:extLst>
            </p:cNvPr>
            <p:cNvSpPr/>
            <p:nvPr/>
          </p:nvSpPr>
          <p:spPr>
            <a:xfrm>
              <a:off x="5344458" y="4800480"/>
              <a:ext cx="1706431" cy="1042077"/>
            </a:xfrm>
            <a:custGeom>
              <a:avLst/>
              <a:gdLst/>
              <a:ahLst/>
              <a:cxnLst/>
              <a:rect l="0" t="0" r="0" b="0"/>
              <a:pathLst>
                <a:path w="1706431" h="1042077">
                  <a:moveTo>
                    <a:pt x="730917" y="133666"/>
                  </a:moveTo>
                  <a:cubicBezTo>
                    <a:pt x="743988" y="134061"/>
                    <a:pt x="754380" y="144776"/>
                    <a:pt x="754380" y="157855"/>
                  </a:cubicBezTo>
                  <a:lnTo>
                    <a:pt x="754380" y="263476"/>
                  </a:lnTo>
                  <a:lnTo>
                    <a:pt x="774187" y="263476"/>
                  </a:lnTo>
                  <a:cubicBezTo>
                    <a:pt x="787693" y="263476"/>
                    <a:pt x="798585" y="274529"/>
                    <a:pt x="798384" y="288035"/>
                  </a:cubicBezTo>
                  <a:lnTo>
                    <a:pt x="673697" y="1042077"/>
                  </a:lnTo>
                  <a:lnTo>
                    <a:pt x="0" y="1042077"/>
                  </a:lnTo>
                  <a:lnTo>
                    <a:pt x="144034" y="286414"/>
                  </a:lnTo>
                  <a:cubicBezTo>
                    <a:pt x="144703" y="273561"/>
                    <a:pt x="155329" y="263476"/>
                    <a:pt x="168206" y="263476"/>
                  </a:cubicBezTo>
                  <a:lnTo>
                    <a:pt x="213808" y="263476"/>
                  </a:lnTo>
                  <a:lnTo>
                    <a:pt x="227475" y="140451"/>
                  </a:lnTo>
                  <a:cubicBezTo>
                    <a:pt x="228871" y="127913"/>
                    <a:pt x="239666" y="118546"/>
                    <a:pt x="252285" y="118933"/>
                  </a:cubicBezTo>
                  <a:lnTo>
                    <a:pt x="730917" y="133666"/>
                  </a:lnTo>
                  <a:moveTo>
                    <a:pt x="1394199" y="3945"/>
                  </a:moveTo>
                  <a:cubicBezTo>
                    <a:pt x="1406132" y="0"/>
                    <a:pt x="1419097" y="5849"/>
                    <a:pt x="1424043" y="17395"/>
                  </a:cubicBezTo>
                  <a:lnTo>
                    <a:pt x="1452282" y="118256"/>
                  </a:lnTo>
                  <a:cubicBezTo>
                    <a:pt x="1464223" y="114254"/>
                    <a:pt x="1488589" y="114222"/>
                    <a:pt x="1496657" y="134392"/>
                  </a:cubicBezTo>
                  <a:lnTo>
                    <a:pt x="1706431" y="1042077"/>
                  </a:lnTo>
                  <a:lnTo>
                    <a:pt x="1044836" y="1042077"/>
                  </a:lnTo>
                  <a:lnTo>
                    <a:pt x="923812" y="307859"/>
                  </a:lnTo>
                  <a:cubicBezTo>
                    <a:pt x="919778" y="287689"/>
                    <a:pt x="926564" y="272012"/>
                    <a:pt x="939949" y="267518"/>
                  </a:cubicBezTo>
                  <a:lnTo>
                    <a:pt x="911710" y="166665"/>
                  </a:lnTo>
                  <a:cubicBezTo>
                    <a:pt x="906877" y="153796"/>
                    <a:pt x="916817" y="141678"/>
                    <a:pt x="931881" y="138426"/>
                  </a:cubicBezTo>
                  <a:lnTo>
                    <a:pt x="1394199" y="3945"/>
                  </a:lnTo>
                </a:path>
              </a:pathLst>
            </a:custGeom>
            <a:grpFill/>
            <a:ln>
              <a:solidFill>
                <a:schemeClr val="bg1"/>
              </a:solidFill>
            </a:ln>
          </p:spPr>
          <p:txBody>
            <a:bodyPr rtlCol="0" anchor="ctr"/>
            <a:lstStyle/>
            <a:p>
              <a:pPr algn="ctr"/>
              <a:endParaRPr/>
            </a:p>
          </p:txBody>
        </p:sp>
        <p:sp>
          <p:nvSpPr>
            <p:cNvPr id="16" name="Rounded Rectangle 13">
              <a:extLst>
                <a:ext uri="{FF2B5EF4-FFF2-40B4-BE49-F238E27FC236}">
                  <a16:creationId xmlns:a16="http://schemas.microsoft.com/office/drawing/2014/main" id="{FB75D3C0-EFE3-9EEB-503A-9F195537003A}"/>
                </a:ext>
              </a:extLst>
            </p:cNvPr>
            <p:cNvSpPr/>
            <p:nvPr/>
          </p:nvSpPr>
          <p:spPr>
            <a:xfrm>
              <a:off x="5344458" y="4800733"/>
              <a:ext cx="1706431" cy="1041818"/>
            </a:xfrm>
            <a:custGeom>
              <a:avLst/>
              <a:gdLst/>
              <a:ahLst/>
              <a:cxnLst/>
              <a:rect l="0" t="0" r="0" b="0"/>
              <a:pathLst>
                <a:path w="1706431" h="1041818">
                  <a:moveTo>
                    <a:pt x="1044836" y="1041818"/>
                  </a:moveTo>
                  <a:lnTo>
                    <a:pt x="923812" y="307608"/>
                  </a:lnTo>
                  <a:cubicBezTo>
                    <a:pt x="919778" y="291472"/>
                    <a:pt x="926413" y="271761"/>
                    <a:pt x="939801" y="267267"/>
                  </a:cubicBezTo>
                  <a:lnTo>
                    <a:pt x="911710" y="170448"/>
                  </a:lnTo>
                  <a:cubicBezTo>
                    <a:pt x="906880" y="157579"/>
                    <a:pt x="913722" y="143277"/>
                    <a:pt x="926773" y="138961"/>
                  </a:cubicBezTo>
                  <a:lnTo>
                    <a:pt x="1394093" y="3945"/>
                  </a:lnTo>
                  <a:cubicBezTo>
                    <a:pt x="1406026" y="0"/>
                    <a:pt x="1418994" y="5844"/>
                    <a:pt x="1423941" y="17398"/>
                  </a:cubicBezTo>
                  <a:lnTo>
                    <a:pt x="1452282" y="118005"/>
                  </a:lnTo>
                  <a:cubicBezTo>
                    <a:pt x="1463882" y="114111"/>
                    <a:pt x="1487184" y="113975"/>
                    <a:pt x="1495913" y="132434"/>
                  </a:cubicBezTo>
                  <a:cubicBezTo>
                    <a:pt x="1496443" y="133553"/>
                    <a:pt x="1496798" y="134747"/>
                    <a:pt x="1497076" y="135953"/>
                  </a:cubicBezTo>
                  <a:lnTo>
                    <a:pt x="1706431" y="1041818"/>
                  </a:lnTo>
                  <a:lnTo>
                    <a:pt x="1044836" y="1041818"/>
                  </a:lnTo>
                  <a:close/>
                  <a:moveTo>
                    <a:pt x="0" y="1041811"/>
                  </a:moveTo>
                  <a:lnTo>
                    <a:pt x="144030" y="286155"/>
                  </a:lnTo>
                  <a:cubicBezTo>
                    <a:pt x="144701" y="273296"/>
                    <a:pt x="155324" y="263213"/>
                    <a:pt x="168201" y="263213"/>
                  </a:cubicBezTo>
                  <a:lnTo>
                    <a:pt x="213808" y="263213"/>
                  </a:lnTo>
                  <a:lnTo>
                    <a:pt x="227477" y="140192"/>
                  </a:lnTo>
                  <a:cubicBezTo>
                    <a:pt x="228870" y="127651"/>
                    <a:pt x="239665" y="118284"/>
                    <a:pt x="252278" y="118672"/>
                  </a:cubicBezTo>
                  <a:lnTo>
                    <a:pt x="730919" y="133400"/>
                  </a:lnTo>
                  <a:cubicBezTo>
                    <a:pt x="743992" y="133802"/>
                    <a:pt x="754379" y="144515"/>
                    <a:pt x="754379" y="157593"/>
                  </a:cubicBezTo>
                  <a:lnTo>
                    <a:pt x="754379" y="263213"/>
                  </a:lnTo>
                  <a:lnTo>
                    <a:pt x="774186" y="263213"/>
                  </a:lnTo>
                  <a:cubicBezTo>
                    <a:pt x="787088" y="263213"/>
                    <a:pt x="797604" y="273299"/>
                    <a:pt x="798349" y="285972"/>
                  </a:cubicBezTo>
                  <a:cubicBezTo>
                    <a:pt x="798419" y="287172"/>
                    <a:pt x="798290" y="288374"/>
                    <a:pt x="798094" y="289561"/>
                  </a:cubicBezTo>
                  <a:lnTo>
                    <a:pt x="673697" y="1041811"/>
                  </a:lnTo>
                  <a:lnTo>
                    <a:pt x="0" y="1041811"/>
                  </a:lnTo>
                  <a:close/>
                  <a:moveTo>
                    <a:pt x="939801" y="267267"/>
                  </a:moveTo>
                  <a:lnTo>
                    <a:pt x="1452282" y="118005"/>
                  </a:lnTo>
                  <a:moveTo>
                    <a:pt x="213808" y="263213"/>
                  </a:moveTo>
                  <a:lnTo>
                    <a:pt x="754379" y="263213"/>
                  </a:lnTo>
                </a:path>
              </a:pathLst>
            </a:custGeom>
            <a:gradFill flip="none" rotWithShape="1">
              <a:gsLst>
                <a:gs pos="0">
                  <a:srgbClr val="974347">
                    <a:shade val="30000"/>
                    <a:satMod val="115000"/>
                  </a:srgbClr>
                </a:gs>
                <a:gs pos="50000">
                  <a:srgbClr val="974347">
                    <a:shade val="67500"/>
                    <a:satMod val="115000"/>
                  </a:srgbClr>
                </a:gs>
                <a:gs pos="100000">
                  <a:srgbClr val="974347">
                    <a:shade val="100000"/>
                    <a:satMod val="115000"/>
                  </a:srgbClr>
                </a:gs>
              </a:gsLst>
              <a:lin ang="16200000" scaled="1"/>
              <a:tileRect/>
            </a:gradFill>
            <a:ln w="12102">
              <a:solidFill>
                <a:schemeClr val="bg1"/>
              </a:solidFill>
            </a:ln>
          </p:spPr>
          <p:txBody>
            <a:bodyPr rtlCol="0" anchor="ctr"/>
            <a:lstStyle/>
            <a:p>
              <a:pPr algn="ctr"/>
              <a:endParaRPr/>
            </a:p>
          </p:txBody>
        </p:sp>
      </p:grpSp>
      <p:sp>
        <p:nvSpPr>
          <p:cNvPr id="19" name="Rounded Rectangle 16">
            <a:extLst>
              <a:ext uri="{FF2B5EF4-FFF2-40B4-BE49-F238E27FC236}">
                <a16:creationId xmlns:a16="http://schemas.microsoft.com/office/drawing/2014/main" id="{A17FF479-F9B3-4A4C-909B-BC5388986C19}"/>
              </a:ext>
            </a:extLst>
          </p:cNvPr>
          <p:cNvSpPr/>
          <p:nvPr/>
        </p:nvSpPr>
        <p:spPr>
          <a:xfrm>
            <a:off x="6977389" y="3636504"/>
            <a:ext cx="1063235" cy="264063"/>
          </a:xfrm>
          <a:custGeom>
            <a:avLst/>
            <a:gdLst/>
            <a:ahLst/>
            <a:cxnLst/>
            <a:rect l="0" t="0" r="0" b="0"/>
            <a:pathLst>
              <a:path w="387286" h="104884">
                <a:moveTo>
                  <a:pt x="0" y="52443"/>
                </a:moveTo>
                <a:lnTo>
                  <a:pt x="387275" y="52443"/>
                </a:lnTo>
                <a:moveTo>
                  <a:pt x="335203" y="104884"/>
                </a:moveTo>
                <a:lnTo>
                  <a:pt x="387286" y="52082"/>
                </a:lnTo>
                <a:lnTo>
                  <a:pt x="334485" y="0"/>
                </a:lnTo>
              </a:path>
            </a:pathLst>
          </a:custGeom>
          <a:noFill/>
          <a:ln w="12102">
            <a:solidFill>
              <a:srgbClr val="484848"/>
            </a:solidFill>
          </a:ln>
        </p:spPr>
        <p:txBody>
          <a:bodyPr rtlCol="0" anchor="ctr"/>
          <a:lstStyle/>
          <a:p>
            <a:pPr algn="ctr"/>
            <a:endParaRPr/>
          </a:p>
        </p:txBody>
      </p:sp>
      <p:grpSp>
        <p:nvGrpSpPr>
          <p:cNvPr id="40" name="Groupe 39">
            <a:extLst>
              <a:ext uri="{FF2B5EF4-FFF2-40B4-BE49-F238E27FC236}">
                <a16:creationId xmlns:a16="http://schemas.microsoft.com/office/drawing/2014/main" id="{304E2D57-B44A-D86D-DCF9-9D7A7B909417}"/>
              </a:ext>
            </a:extLst>
          </p:cNvPr>
          <p:cNvGrpSpPr/>
          <p:nvPr/>
        </p:nvGrpSpPr>
        <p:grpSpPr>
          <a:xfrm>
            <a:off x="438261" y="2739148"/>
            <a:ext cx="3658058" cy="2020648"/>
            <a:chOff x="222938" y="1930110"/>
            <a:chExt cx="3658058" cy="2020648"/>
          </a:xfrm>
        </p:grpSpPr>
        <p:sp>
          <p:nvSpPr>
            <p:cNvPr id="4" name="Rounded Rectangle 1">
              <a:extLst>
                <a:ext uri="{FF2B5EF4-FFF2-40B4-BE49-F238E27FC236}">
                  <a16:creationId xmlns:a16="http://schemas.microsoft.com/office/drawing/2014/main" id="{02F53739-6C3A-A4F7-4364-AB092E2C7432}"/>
                </a:ext>
              </a:extLst>
            </p:cNvPr>
            <p:cNvSpPr/>
            <p:nvPr/>
          </p:nvSpPr>
          <p:spPr>
            <a:xfrm>
              <a:off x="3300084" y="2055092"/>
              <a:ext cx="580912" cy="580912"/>
            </a:xfrm>
            <a:custGeom>
              <a:avLst/>
              <a:gdLst/>
              <a:ahLst/>
              <a:cxnLst/>
              <a:rect l="0" t="0" r="0" b="0"/>
              <a:pathLst>
                <a:path w="580912" h="580912">
                  <a:moveTo>
                    <a:pt x="0" y="290456"/>
                  </a:moveTo>
                  <a:cubicBezTo>
                    <a:pt x="0" y="450869"/>
                    <a:pt x="130043" y="580912"/>
                    <a:pt x="290456" y="580912"/>
                  </a:cubicBezTo>
                  <a:cubicBezTo>
                    <a:pt x="450869" y="580912"/>
                    <a:pt x="580912" y="450869"/>
                    <a:pt x="580912" y="290456"/>
                  </a:cubicBezTo>
                  <a:cubicBezTo>
                    <a:pt x="580912" y="130043"/>
                    <a:pt x="450869" y="0"/>
                    <a:pt x="290456" y="0"/>
                  </a:cubicBezTo>
                  <a:cubicBezTo>
                    <a:pt x="130043" y="0"/>
                    <a:pt x="0" y="130043"/>
                    <a:pt x="0" y="290456"/>
                  </a:cubicBezTo>
                </a:path>
              </a:pathLst>
            </a:custGeom>
            <a:solidFill>
              <a:srgbClr val="92D050"/>
            </a:solidFill>
            <a:ln>
              <a:noFill/>
            </a:ln>
          </p:spPr>
          <p:txBody>
            <a:bodyPr rtlCol="0" anchor="ctr"/>
            <a:lstStyle/>
            <a:p>
              <a:pPr algn="ctr"/>
              <a:endParaRPr/>
            </a:p>
          </p:txBody>
        </p:sp>
        <p:sp>
          <p:nvSpPr>
            <p:cNvPr id="5" name="Rounded Rectangle 2">
              <a:extLst>
                <a:ext uri="{FF2B5EF4-FFF2-40B4-BE49-F238E27FC236}">
                  <a16:creationId xmlns:a16="http://schemas.microsoft.com/office/drawing/2014/main" id="{168B643D-DEB5-ACBC-807F-360709525C2E}"/>
                </a:ext>
              </a:extLst>
            </p:cNvPr>
            <p:cNvSpPr/>
            <p:nvPr/>
          </p:nvSpPr>
          <p:spPr>
            <a:xfrm>
              <a:off x="3300084" y="2043441"/>
              <a:ext cx="580912" cy="580912"/>
            </a:xfrm>
            <a:custGeom>
              <a:avLst/>
              <a:gdLst/>
              <a:ahLst/>
              <a:cxnLst/>
              <a:rect l="0" t="0" r="0" b="0"/>
              <a:pathLst>
                <a:path w="580912" h="580912">
                  <a:moveTo>
                    <a:pt x="0" y="290456"/>
                  </a:moveTo>
                  <a:cubicBezTo>
                    <a:pt x="0" y="450871"/>
                    <a:pt x="130041" y="580912"/>
                    <a:pt x="290456" y="580912"/>
                  </a:cubicBezTo>
                  <a:cubicBezTo>
                    <a:pt x="450871" y="580912"/>
                    <a:pt x="580912" y="450871"/>
                    <a:pt x="580912" y="290456"/>
                  </a:cubicBezTo>
                  <a:cubicBezTo>
                    <a:pt x="580912" y="130041"/>
                    <a:pt x="450871" y="0"/>
                    <a:pt x="290456" y="0"/>
                  </a:cubicBezTo>
                  <a:cubicBezTo>
                    <a:pt x="130041" y="0"/>
                    <a:pt x="0" y="130041"/>
                    <a:pt x="0" y="290456"/>
                  </a:cubicBezTo>
                </a:path>
              </a:pathLst>
            </a:custGeom>
            <a:noFill/>
            <a:ln w="12102">
              <a:solidFill>
                <a:srgbClr val="FFFFFF"/>
              </a:solidFill>
            </a:ln>
          </p:spPr>
          <p:txBody>
            <a:bodyPr rtlCol="0" anchor="ctr"/>
            <a:lstStyle/>
            <a:p>
              <a:pPr algn="ctr"/>
              <a:endParaRPr/>
            </a:p>
          </p:txBody>
        </p:sp>
        <p:sp>
          <p:nvSpPr>
            <p:cNvPr id="21" name="TextBox 18">
              <a:extLst>
                <a:ext uri="{FF2B5EF4-FFF2-40B4-BE49-F238E27FC236}">
                  <a16:creationId xmlns:a16="http://schemas.microsoft.com/office/drawing/2014/main" id="{F7C2E538-B269-ADD1-C21E-F4495B65837B}"/>
                </a:ext>
              </a:extLst>
            </p:cNvPr>
            <p:cNvSpPr txBox="1"/>
            <p:nvPr/>
          </p:nvSpPr>
          <p:spPr>
            <a:xfrm>
              <a:off x="891015" y="1930110"/>
              <a:ext cx="1660337" cy="307777"/>
            </a:xfrm>
            <a:prstGeom prst="rect">
              <a:avLst/>
            </a:prstGeom>
            <a:noFill/>
            <a:ln>
              <a:noFill/>
            </a:ln>
          </p:spPr>
          <p:txBody>
            <a:bodyPr wrap="square" lIns="0" tIns="0" rIns="0" bIns="0" anchor="t">
              <a:spAutoFit/>
            </a:bodyPr>
            <a:lstStyle/>
            <a:p>
              <a:pPr algn="r"/>
              <a:r>
                <a:rPr sz="2000" b="1" dirty="0">
                  <a:solidFill>
                    <a:srgbClr val="92D050"/>
                  </a:solidFill>
                </a:rPr>
                <a:t>Impact Massif</a:t>
              </a:r>
            </a:p>
          </p:txBody>
        </p:sp>
        <p:sp>
          <p:nvSpPr>
            <p:cNvPr id="22" name="TextBox 19">
              <a:extLst>
                <a:ext uri="{FF2B5EF4-FFF2-40B4-BE49-F238E27FC236}">
                  <a16:creationId xmlns:a16="http://schemas.microsoft.com/office/drawing/2014/main" id="{8F67ABB2-BCA0-55A4-3990-FAF3FA87FA0C}"/>
                </a:ext>
              </a:extLst>
            </p:cNvPr>
            <p:cNvSpPr txBox="1"/>
            <p:nvPr/>
          </p:nvSpPr>
          <p:spPr>
            <a:xfrm>
              <a:off x="222938" y="2288765"/>
              <a:ext cx="3144030" cy="1661993"/>
            </a:xfrm>
            <a:prstGeom prst="rect">
              <a:avLst/>
            </a:prstGeom>
            <a:noFill/>
            <a:ln>
              <a:noFill/>
            </a:ln>
          </p:spPr>
          <p:txBody>
            <a:bodyPr wrap="square" lIns="0" tIns="0" rIns="0" bIns="0" anchor="t">
              <a:spAutoFit/>
            </a:bodyPr>
            <a:lstStyle/>
            <a:p>
              <a:pPr algn="ctr"/>
              <a:r>
                <a:rPr lang="fr-FR" b="0" dirty="0"/>
                <a:t>Leroy Merlin a déployé l'IA pour assister ses 28 000 collaborateurs, divisant par 10 le temps de recherche d'information technique pour mieux servir le client.</a:t>
              </a:r>
              <a:endParaRPr b="0" dirty="0"/>
            </a:p>
          </p:txBody>
        </p:sp>
        <p:sp>
          <p:nvSpPr>
            <p:cNvPr id="27" name="Rounded Rectangle 24">
              <a:extLst>
                <a:ext uri="{FF2B5EF4-FFF2-40B4-BE49-F238E27FC236}">
                  <a16:creationId xmlns:a16="http://schemas.microsoft.com/office/drawing/2014/main" id="{E7C59245-7833-9EC0-0A31-4FDD55A658D5}"/>
                </a:ext>
              </a:extLst>
            </p:cNvPr>
            <p:cNvSpPr/>
            <p:nvPr/>
          </p:nvSpPr>
          <p:spPr>
            <a:xfrm>
              <a:off x="3396903" y="2140260"/>
              <a:ext cx="376389" cy="375126"/>
            </a:xfrm>
            <a:custGeom>
              <a:avLst/>
              <a:gdLst/>
              <a:ahLst/>
              <a:cxnLst/>
              <a:rect l="0" t="0" r="0" b="0"/>
              <a:pathLst>
                <a:path w="376389" h="375126">
                  <a:moveTo>
                    <a:pt x="166386" y="12148"/>
                  </a:moveTo>
                  <a:lnTo>
                    <a:pt x="376389" y="12148"/>
                  </a:lnTo>
                  <a:moveTo>
                    <a:pt x="196509" y="60558"/>
                  </a:moveTo>
                  <a:lnTo>
                    <a:pt x="367698" y="60558"/>
                  </a:lnTo>
                  <a:moveTo>
                    <a:pt x="0" y="0"/>
                  </a:moveTo>
                  <a:moveTo>
                    <a:pt x="231169" y="108967"/>
                  </a:moveTo>
                  <a:lnTo>
                    <a:pt x="354011" y="109334"/>
                  </a:lnTo>
                  <a:moveTo>
                    <a:pt x="269308" y="157744"/>
                  </a:moveTo>
                  <a:lnTo>
                    <a:pt x="343986" y="157744"/>
                  </a:lnTo>
                  <a:moveTo>
                    <a:pt x="260997" y="206153"/>
                  </a:moveTo>
                  <a:lnTo>
                    <a:pt x="315508" y="206153"/>
                  </a:lnTo>
                  <a:moveTo>
                    <a:pt x="248963" y="254562"/>
                  </a:moveTo>
                  <a:lnTo>
                    <a:pt x="269308" y="254562"/>
                  </a:lnTo>
                  <a:moveTo>
                    <a:pt x="376388" y="375126"/>
                  </a:moveTo>
                  <a:cubicBezTo>
                    <a:pt x="351957" y="348960"/>
                    <a:pt x="328173" y="333042"/>
                    <a:pt x="269304" y="319080"/>
                  </a:cubicBezTo>
                  <a:cubicBezTo>
                    <a:pt x="212055" y="305505"/>
                    <a:pt x="191512" y="296564"/>
                    <a:pt x="145494" y="254562"/>
                  </a:cubicBezTo>
                  <a:cubicBezTo>
                    <a:pt x="96746" y="282202"/>
                    <a:pt x="49209" y="315613"/>
                    <a:pt x="10886" y="375126"/>
                  </a:cubicBezTo>
                  <a:moveTo>
                    <a:pt x="145480" y="254628"/>
                  </a:moveTo>
                  <a:cubicBezTo>
                    <a:pt x="128165" y="311687"/>
                    <a:pt x="157016" y="352425"/>
                    <a:pt x="165673" y="374535"/>
                  </a:cubicBezTo>
                </a:path>
              </a:pathLst>
            </a:custGeom>
            <a:noFill/>
            <a:ln w="12102">
              <a:solidFill>
                <a:srgbClr val="FFFFFF"/>
              </a:solidFill>
            </a:ln>
          </p:spPr>
          <p:txBody>
            <a:bodyPr rtlCol="0" anchor="ctr"/>
            <a:lstStyle/>
            <a:p>
              <a:pPr algn="ctr"/>
              <a:endParaRPr/>
            </a:p>
          </p:txBody>
        </p:sp>
      </p:grpSp>
      <p:grpSp>
        <p:nvGrpSpPr>
          <p:cNvPr id="37" name="Groupe 36">
            <a:extLst>
              <a:ext uri="{FF2B5EF4-FFF2-40B4-BE49-F238E27FC236}">
                <a16:creationId xmlns:a16="http://schemas.microsoft.com/office/drawing/2014/main" id="{639DA708-3CB8-25DC-735A-046964F6988B}"/>
              </a:ext>
            </a:extLst>
          </p:cNvPr>
          <p:cNvGrpSpPr/>
          <p:nvPr/>
        </p:nvGrpSpPr>
        <p:grpSpPr>
          <a:xfrm>
            <a:off x="8107037" y="3280038"/>
            <a:ext cx="3344827" cy="1486890"/>
            <a:chOff x="8587086" y="2464393"/>
            <a:chExt cx="3344827" cy="1486890"/>
          </a:xfrm>
        </p:grpSpPr>
        <p:sp>
          <p:nvSpPr>
            <p:cNvPr id="23" name="TextBox 20">
              <a:extLst>
                <a:ext uri="{FF2B5EF4-FFF2-40B4-BE49-F238E27FC236}">
                  <a16:creationId xmlns:a16="http://schemas.microsoft.com/office/drawing/2014/main" id="{452DF805-4568-A038-C687-4530DF78B378}"/>
                </a:ext>
              </a:extLst>
            </p:cNvPr>
            <p:cNvSpPr txBox="1"/>
            <p:nvPr/>
          </p:nvSpPr>
          <p:spPr>
            <a:xfrm>
              <a:off x="9282042" y="2464393"/>
              <a:ext cx="2548999" cy="307777"/>
            </a:xfrm>
            <a:prstGeom prst="rect">
              <a:avLst/>
            </a:prstGeom>
            <a:noFill/>
            <a:ln>
              <a:noFill/>
            </a:ln>
          </p:spPr>
          <p:txBody>
            <a:bodyPr wrap="square" lIns="0" tIns="0" rIns="0" bIns="0" anchor="t">
              <a:spAutoFit/>
            </a:bodyPr>
            <a:lstStyle/>
            <a:p>
              <a:pPr algn="l"/>
              <a:r>
                <a:rPr sz="2000" b="1"/>
                <a:t>Adoption</a:t>
              </a:r>
              <a:r>
                <a:rPr lang="fr-FR" sz="2000" b="1"/>
                <a:t> </a:t>
              </a:r>
              <a:r>
                <a:rPr sz="2000" b="1" err="1"/>
                <a:t>Fulgurante</a:t>
              </a:r>
              <a:endParaRPr sz="2000" b="1"/>
            </a:p>
          </p:txBody>
        </p:sp>
        <p:sp>
          <p:nvSpPr>
            <p:cNvPr id="24" name="TextBox 21">
              <a:extLst>
                <a:ext uri="{FF2B5EF4-FFF2-40B4-BE49-F238E27FC236}">
                  <a16:creationId xmlns:a16="http://schemas.microsoft.com/office/drawing/2014/main" id="{6A39B03C-68CA-46CE-66BE-300F4F8BB2D5}"/>
                </a:ext>
              </a:extLst>
            </p:cNvPr>
            <p:cNvSpPr txBox="1"/>
            <p:nvPr/>
          </p:nvSpPr>
          <p:spPr>
            <a:xfrm>
              <a:off x="9050524" y="2843287"/>
              <a:ext cx="2881389" cy="1107996"/>
            </a:xfrm>
            <a:prstGeom prst="rect">
              <a:avLst/>
            </a:prstGeom>
            <a:noFill/>
            <a:ln>
              <a:noFill/>
            </a:ln>
          </p:spPr>
          <p:txBody>
            <a:bodyPr wrap="square" lIns="0" tIns="0" rIns="0" bIns="0" anchor="t">
              <a:spAutoFit/>
            </a:bodyPr>
            <a:lstStyle/>
            <a:p>
              <a:pPr algn="ctr"/>
              <a:r>
                <a:rPr b="0"/>
                <a:t>85% des </a:t>
              </a:r>
              <a:r>
                <a:rPr b="0" err="1"/>
                <a:t>entreprises</a:t>
              </a:r>
              <a:r>
                <a:rPr lang="fr-FR"/>
                <a:t> </a:t>
              </a:r>
              <a:r>
                <a:rPr b="0" err="1"/>
                <a:t>intègrent</a:t>
              </a:r>
              <a:r>
                <a:rPr b="0"/>
                <a:t> des agents IA</a:t>
              </a:r>
              <a:r>
                <a:rPr lang="fr-FR" b="0"/>
                <a:t> </a:t>
              </a:r>
              <a:r>
                <a:rPr b="0"/>
                <a:t>pour </a:t>
              </a:r>
              <a:r>
                <a:rPr b="0" err="1"/>
                <a:t>leur</a:t>
              </a:r>
              <a:r>
                <a:rPr b="0"/>
                <a:t> support client</a:t>
              </a:r>
              <a:r>
                <a:rPr lang="fr-FR" b="0"/>
                <a:t> </a:t>
              </a:r>
              <a:r>
                <a:rPr b="0" err="1"/>
                <a:t>cette</a:t>
              </a:r>
              <a:r>
                <a:rPr b="0"/>
                <a:t> </a:t>
              </a:r>
              <a:r>
                <a:rPr b="0" err="1"/>
                <a:t>année</a:t>
              </a:r>
              <a:r>
                <a:rPr b="0"/>
                <a:t>.</a:t>
              </a:r>
            </a:p>
          </p:txBody>
        </p:sp>
        <p:grpSp>
          <p:nvGrpSpPr>
            <p:cNvPr id="30" name="Groupe 29">
              <a:extLst>
                <a:ext uri="{FF2B5EF4-FFF2-40B4-BE49-F238E27FC236}">
                  <a16:creationId xmlns:a16="http://schemas.microsoft.com/office/drawing/2014/main" id="{F1A747FE-4F27-81FC-8293-3271E0B78E8E}"/>
                </a:ext>
              </a:extLst>
            </p:cNvPr>
            <p:cNvGrpSpPr/>
            <p:nvPr/>
          </p:nvGrpSpPr>
          <p:grpSpPr>
            <a:xfrm>
              <a:off x="8587086" y="2662434"/>
              <a:ext cx="580912" cy="580912"/>
              <a:chOff x="7799481" y="1745600"/>
              <a:chExt cx="580912" cy="580912"/>
            </a:xfrm>
            <a:solidFill>
              <a:schemeClr val="tx1"/>
            </a:solidFill>
          </p:grpSpPr>
          <p:sp>
            <p:nvSpPr>
              <p:cNvPr id="17" name="Rounded Rectangle 14">
                <a:extLst>
                  <a:ext uri="{FF2B5EF4-FFF2-40B4-BE49-F238E27FC236}">
                    <a16:creationId xmlns:a16="http://schemas.microsoft.com/office/drawing/2014/main" id="{BA6DE6F4-FEBD-2984-FD96-33F67597CE8B}"/>
                  </a:ext>
                </a:extLst>
              </p:cNvPr>
              <p:cNvSpPr/>
              <p:nvPr/>
            </p:nvSpPr>
            <p:spPr>
              <a:xfrm>
                <a:off x="7799481" y="1745600"/>
                <a:ext cx="580912" cy="580912"/>
              </a:xfrm>
              <a:custGeom>
                <a:avLst/>
                <a:gdLst/>
                <a:ahLst/>
                <a:cxnLst/>
                <a:rect l="0" t="0" r="0" b="0"/>
                <a:pathLst>
                  <a:path w="580912" h="580912">
                    <a:moveTo>
                      <a:pt x="0" y="290456"/>
                    </a:moveTo>
                    <a:cubicBezTo>
                      <a:pt x="0" y="450869"/>
                      <a:pt x="130043" y="580912"/>
                      <a:pt x="290456" y="580912"/>
                    </a:cubicBezTo>
                    <a:cubicBezTo>
                      <a:pt x="450869" y="580912"/>
                      <a:pt x="580912" y="450869"/>
                      <a:pt x="580912" y="290456"/>
                    </a:cubicBezTo>
                    <a:cubicBezTo>
                      <a:pt x="580912" y="130043"/>
                      <a:pt x="450869" y="0"/>
                      <a:pt x="290456" y="0"/>
                    </a:cubicBezTo>
                    <a:cubicBezTo>
                      <a:pt x="130043" y="0"/>
                      <a:pt x="0" y="130043"/>
                      <a:pt x="0" y="290456"/>
                    </a:cubicBezTo>
                  </a:path>
                </a:pathLst>
              </a:custGeom>
              <a:grpFill/>
              <a:ln>
                <a:noFill/>
              </a:ln>
            </p:spPr>
            <p:txBody>
              <a:bodyPr rtlCol="0" anchor="ctr"/>
              <a:lstStyle/>
              <a:p>
                <a:pPr algn="ctr"/>
                <a:endParaRPr/>
              </a:p>
            </p:txBody>
          </p:sp>
          <p:sp>
            <p:nvSpPr>
              <p:cNvPr id="18" name="Rounded Rectangle 15">
                <a:extLst>
                  <a:ext uri="{FF2B5EF4-FFF2-40B4-BE49-F238E27FC236}">
                    <a16:creationId xmlns:a16="http://schemas.microsoft.com/office/drawing/2014/main" id="{2097D5B9-E582-F643-610C-26A9356783C2}"/>
                  </a:ext>
                </a:extLst>
              </p:cNvPr>
              <p:cNvSpPr/>
              <p:nvPr/>
            </p:nvSpPr>
            <p:spPr>
              <a:xfrm>
                <a:off x="7799481" y="1745600"/>
                <a:ext cx="580912" cy="580912"/>
              </a:xfrm>
              <a:custGeom>
                <a:avLst/>
                <a:gdLst/>
                <a:ahLst/>
                <a:cxnLst/>
                <a:rect l="0" t="0" r="0" b="0"/>
                <a:pathLst>
                  <a:path w="580912" h="580912">
                    <a:moveTo>
                      <a:pt x="0" y="290456"/>
                    </a:moveTo>
                    <a:cubicBezTo>
                      <a:pt x="0" y="450871"/>
                      <a:pt x="130041" y="580912"/>
                      <a:pt x="290456" y="580912"/>
                    </a:cubicBezTo>
                    <a:cubicBezTo>
                      <a:pt x="450871" y="580912"/>
                      <a:pt x="580912" y="450871"/>
                      <a:pt x="580912" y="290456"/>
                    </a:cubicBezTo>
                    <a:cubicBezTo>
                      <a:pt x="580912" y="130041"/>
                      <a:pt x="450871" y="0"/>
                      <a:pt x="290456" y="0"/>
                    </a:cubicBezTo>
                    <a:cubicBezTo>
                      <a:pt x="130041" y="0"/>
                      <a:pt x="0" y="130041"/>
                      <a:pt x="0" y="290456"/>
                    </a:cubicBezTo>
                  </a:path>
                </a:pathLst>
              </a:custGeom>
              <a:grpFill/>
              <a:ln w="12102">
                <a:solidFill>
                  <a:srgbClr val="FFFFFF"/>
                </a:solidFill>
              </a:ln>
            </p:spPr>
            <p:txBody>
              <a:bodyPr rtlCol="0" anchor="ctr"/>
              <a:lstStyle/>
              <a:p>
                <a:pPr algn="ctr"/>
                <a:endParaRPr/>
              </a:p>
            </p:txBody>
          </p:sp>
          <p:sp>
            <p:nvSpPr>
              <p:cNvPr id="28" name="Rounded Rectangle 25">
                <a:extLst>
                  <a:ext uri="{FF2B5EF4-FFF2-40B4-BE49-F238E27FC236}">
                    <a16:creationId xmlns:a16="http://schemas.microsoft.com/office/drawing/2014/main" id="{CD281394-A4A5-D275-7EDB-9637110875AB}"/>
                  </a:ext>
                </a:extLst>
              </p:cNvPr>
              <p:cNvSpPr/>
              <p:nvPr/>
            </p:nvSpPr>
            <p:spPr>
              <a:xfrm>
                <a:off x="7891781" y="1818616"/>
                <a:ext cx="371138" cy="363070"/>
              </a:xfrm>
              <a:custGeom>
                <a:avLst/>
                <a:gdLst/>
                <a:ahLst/>
                <a:cxnLst/>
                <a:rect l="0" t="0" r="0" b="0"/>
                <a:pathLst>
                  <a:path w="371138" h="363070">
                    <a:moveTo>
                      <a:pt x="0" y="363070"/>
                    </a:moveTo>
                    <a:lnTo>
                      <a:pt x="371138" y="363070"/>
                    </a:lnTo>
                    <a:moveTo>
                      <a:pt x="64481" y="363070"/>
                    </a:moveTo>
                    <a:lnTo>
                      <a:pt x="64481" y="322729"/>
                    </a:lnTo>
                    <a:cubicBezTo>
                      <a:pt x="64481" y="318273"/>
                      <a:pt x="60869" y="314661"/>
                      <a:pt x="56413" y="314661"/>
                    </a:cubicBezTo>
                    <a:lnTo>
                      <a:pt x="24140" y="314661"/>
                    </a:lnTo>
                    <a:cubicBezTo>
                      <a:pt x="19684" y="314661"/>
                      <a:pt x="16071" y="318273"/>
                      <a:pt x="16071" y="322729"/>
                    </a:cubicBezTo>
                    <a:lnTo>
                      <a:pt x="16071" y="363070"/>
                    </a:lnTo>
                    <a:moveTo>
                      <a:pt x="161300" y="363070"/>
                    </a:moveTo>
                    <a:lnTo>
                      <a:pt x="161300" y="258183"/>
                    </a:lnTo>
                    <a:cubicBezTo>
                      <a:pt x="161300" y="253727"/>
                      <a:pt x="157687" y="250115"/>
                      <a:pt x="153231" y="250115"/>
                    </a:cubicBezTo>
                    <a:lnTo>
                      <a:pt x="120958" y="250115"/>
                    </a:lnTo>
                    <a:cubicBezTo>
                      <a:pt x="116503" y="250115"/>
                      <a:pt x="112890" y="253727"/>
                      <a:pt x="112890" y="258183"/>
                    </a:cubicBezTo>
                    <a:lnTo>
                      <a:pt x="112890" y="363070"/>
                    </a:lnTo>
                    <a:moveTo>
                      <a:pt x="258118" y="363070"/>
                    </a:moveTo>
                    <a:lnTo>
                      <a:pt x="258118" y="193637"/>
                    </a:lnTo>
                    <a:cubicBezTo>
                      <a:pt x="258118" y="189181"/>
                      <a:pt x="254506" y="185569"/>
                      <a:pt x="250050" y="185569"/>
                    </a:cubicBezTo>
                    <a:lnTo>
                      <a:pt x="217777" y="185569"/>
                    </a:lnTo>
                    <a:cubicBezTo>
                      <a:pt x="213321" y="185569"/>
                      <a:pt x="209709" y="189181"/>
                      <a:pt x="209709" y="193637"/>
                    </a:cubicBezTo>
                    <a:lnTo>
                      <a:pt x="209709" y="363070"/>
                    </a:lnTo>
                    <a:moveTo>
                      <a:pt x="354937" y="363070"/>
                    </a:moveTo>
                    <a:lnTo>
                      <a:pt x="354937" y="129091"/>
                    </a:lnTo>
                    <a:cubicBezTo>
                      <a:pt x="354937" y="124635"/>
                      <a:pt x="351325" y="121023"/>
                      <a:pt x="346869" y="121023"/>
                    </a:cubicBezTo>
                    <a:lnTo>
                      <a:pt x="314596" y="121023"/>
                    </a:lnTo>
                    <a:cubicBezTo>
                      <a:pt x="310140" y="121023"/>
                      <a:pt x="306528" y="124635"/>
                      <a:pt x="306528" y="129091"/>
                    </a:cubicBezTo>
                    <a:lnTo>
                      <a:pt x="306528" y="363070"/>
                    </a:lnTo>
                    <a:moveTo>
                      <a:pt x="40341" y="201705"/>
                    </a:moveTo>
                    <a:lnTo>
                      <a:pt x="330797" y="8068"/>
                    </a:lnTo>
                    <a:moveTo>
                      <a:pt x="322729" y="72614"/>
                    </a:moveTo>
                    <a:lnTo>
                      <a:pt x="330797" y="8068"/>
                    </a:lnTo>
                    <a:lnTo>
                      <a:pt x="266251" y="0"/>
                    </a:lnTo>
                  </a:path>
                </a:pathLst>
              </a:custGeom>
              <a:grpFill/>
              <a:ln w="12102">
                <a:solidFill>
                  <a:srgbClr val="FFFFFF"/>
                </a:solidFill>
              </a:ln>
            </p:spPr>
            <p:txBody>
              <a:bodyPr rtlCol="0" anchor="ctr"/>
              <a:lstStyle/>
              <a:p>
                <a:pPr algn="ctr"/>
                <a:endParaRPr/>
              </a:p>
            </p:txBody>
          </p:sp>
        </p:grpSp>
      </p:grpSp>
      <p:grpSp>
        <p:nvGrpSpPr>
          <p:cNvPr id="6" name="Groupe 5">
            <a:extLst>
              <a:ext uri="{FF2B5EF4-FFF2-40B4-BE49-F238E27FC236}">
                <a16:creationId xmlns:a16="http://schemas.microsoft.com/office/drawing/2014/main" id="{B792983A-FF92-7874-E969-934643C83171}"/>
              </a:ext>
            </a:extLst>
          </p:cNvPr>
          <p:cNvGrpSpPr/>
          <p:nvPr/>
        </p:nvGrpSpPr>
        <p:grpSpPr>
          <a:xfrm>
            <a:off x="958354" y="5050417"/>
            <a:ext cx="3461083" cy="1681375"/>
            <a:chOff x="509751" y="4740019"/>
            <a:chExt cx="3461083" cy="1681375"/>
          </a:xfrm>
        </p:grpSpPr>
        <p:sp>
          <p:nvSpPr>
            <p:cNvPr id="25" name="TextBox 22">
              <a:extLst>
                <a:ext uri="{FF2B5EF4-FFF2-40B4-BE49-F238E27FC236}">
                  <a16:creationId xmlns:a16="http://schemas.microsoft.com/office/drawing/2014/main" id="{38BEE000-FDD6-CD05-A791-59DDF55080C3}"/>
                </a:ext>
              </a:extLst>
            </p:cNvPr>
            <p:cNvSpPr txBox="1"/>
            <p:nvPr/>
          </p:nvSpPr>
          <p:spPr>
            <a:xfrm>
              <a:off x="1103137" y="4942544"/>
              <a:ext cx="2113520" cy="307777"/>
            </a:xfrm>
            <a:prstGeom prst="rect">
              <a:avLst/>
            </a:prstGeom>
            <a:noFill/>
            <a:ln>
              <a:noFill/>
            </a:ln>
          </p:spPr>
          <p:txBody>
            <a:bodyPr wrap="square" lIns="0" tIns="0" rIns="0" bIns="0" anchor="t">
              <a:spAutoFit/>
            </a:bodyPr>
            <a:lstStyle/>
            <a:p>
              <a:pPr algn="r"/>
              <a:r>
                <a:rPr sz="2000" b="1" err="1">
                  <a:solidFill>
                    <a:srgbClr val="00B0F0"/>
                  </a:solidFill>
                </a:rPr>
                <a:t>Préférence</a:t>
              </a:r>
              <a:r>
                <a:rPr sz="2000" b="1">
                  <a:solidFill>
                    <a:srgbClr val="00B0F0"/>
                  </a:solidFill>
                </a:rPr>
                <a:t> Client</a:t>
              </a:r>
            </a:p>
          </p:txBody>
        </p:sp>
        <p:sp>
          <p:nvSpPr>
            <p:cNvPr id="26" name="TextBox 23">
              <a:extLst>
                <a:ext uri="{FF2B5EF4-FFF2-40B4-BE49-F238E27FC236}">
                  <a16:creationId xmlns:a16="http://schemas.microsoft.com/office/drawing/2014/main" id="{2425E0AE-8831-642E-474F-31A18110D058}"/>
                </a:ext>
              </a:extLst>
            </p:cNvPr>
            <p:cNvSpPr txBox="1"/>
            <p:nvPr/>
          </p:nvSpPr>
          <p:spPr>
            <a:xfrm>
              <a:off x="509751" y="5313398"/>
              <a:ext cx="3300293" cy="1107996"/>
            </a:xfrm>
            <a:prstGeom prst="rect">
              <a:avLst/>
            </a:prstGeom>
            <a:noFill/>
            <a:ln>
              <a:noFill/>
            </a:ln>
          </p:spPr>
          <p:txBody>
            <a:bodyPr wrap="square" lIns="0" tIns="0" rIns="0" bIns="0" anchor="t">
              <a:spAutoFit/>
            </a:bodyPr>
            <a:lstStyle/>
            <a:p>
              <a:pPr algn="ctr"/>
              <a:r>
                <a:rPr b="0" dirty="0"/>
                <a:t>51% des</a:t>
              </a:r>
              <a:r>
                <a:rPr lang="fr-FR" b="0" dirty="0"/>
                <a:t> </a:t>
              </a:r>
              <a:r>
                <a:rPr b="0" dirty="0" err="1"/>
                <a:t>consommateurs</a:t>
              </a:r>
              <a:r>
                <a:rPr lang="fr-FR" dirty="0"/>
                <a:t> </a:t>
              </a:r>
              <a:r>
                <a:rPr b="0" dirty="0" err="1"/>
                <a:t>préfèrent</a:t>
              </a:r>
              <a:r>
                <a:rPr b="0" dirty="0"/>
                <a:t> </a:t>
              </a:r>
              <a:r>
                <a:rPr b="0" dirty="0" err="1"/>
                <a:t>une</a:t>
              </a:r>
              <a:r>
                <a:rPr b="0" dirty="0"/>
                <a:t> </a:t>
              </a:r>
              <a:r>
                <a:rPr b="0" dirty="0" err="1"/>
                <a:t>réponse</a:t>
              </a:r>
              <a:r>
                <a:rPr lang="fr-FR" dirty="0"/>
                <a:t> </a:t>
              </a:r>
              <a:r>
                <a:rPr b="0" dirty="0" err="1"/>
                <a:t>immédiate</a:t>
              </a:r>
              <a:r>
                <a:rPr b="0" dirty="0"/>
                <a:t> d'un agent IA</a:t>
              </a:r>
              <a:r>
                <a:rPr lang="fr-FR" b="0" dirty="0"/>
                <a:t> </a:t>
              </a:r>
              <a:r>
                <a:rPr b="0" dirty="0" err="1"/>
                <a:t>plutôt</a:t>
              </a:r>
              <a:r>
                <a:rPr lang="fr-FR" dirty="0"/>
                <a:t> </a:t>
              </a:r>
              <a:r>
                <a:rPr b="0" dirty="0" err="1"/>
                <a:t>que</a:t>
              </a:r>
              <a:r>
                <a:rPr b="0" dirty="0"/>
                <a:t> </a:t>
              </a:r>
              <a:r>
                <a:rPr b="0" dirty="0" err="1"/>
                <a:t>d'attendre</a:t>
              </a:r>
              <a:r>
                <a:rPr b="0" dirty="0"/>
                <a:t> un</a:t>
              </a:r>
              <a:r>
                <a:rPr lang="fr-FR" b="0" dirty="0"/>
                <a:t> </a:t>
              </a:r>
              <a:r>
                <a:rPr b="0" dirty="0" err="1"/>
                <a:t>humain</a:t>
              </a:r>
              <a:r>
                <a:rPr b="0" dirty="0"/>
                <a:t>.</a:t>
              </a:r>
            </a:p>
          </p:txBody>
        </p:sp>
        <p:grpSp>
          <p:nvGrpSpPr>
            <p:cNvPr id="41" name="Groupe 40">
              <a:extLst>
                <a:ext uri="{FF2B5EF4-FFF2-40B4-BE49-F238E27FC236}">
                  <a16:creationId xmlns:a16="http://schemas.microsoft.com/office/drawing/2014/main" id="{C1D96E4A-08A0-E05A-5E86-2067EAB6D191}"/>
                </a:ext>
              </a:extLst>
            </p:cNvPr>
            <p:cNvGrpSpPr/>
            <p:nvPr/>
          </p:nvGrpSpPr>
          <p:grpSpPr>
            <a:xfrm>
              <a:off x="3389922" y="4740019"/>
              <a:ext cx="580912" cy="580912"/>
              <a:chOff x="2647152" y="3854465"/>
              <a:chExt cx="580912" cy="580912"/>
            </a:xfrm>
            <a:solidFill>
              <a:srgbClr val="00B0F0"/>
            </a:solidFill>
          </p:grpSpPr>
          <p:sp>
            <p:nvSpPr>
              <p:cNvPr id="7" name="Rounded Rectangle 4">
                <a:extLst>
                  <a:ext uri="{FF2B5EF4-FFF2-40B4-BE49-F238E27FC236}">
                    <a16:creationId xmlns:a16="http://schemas.microsoft.com/office/drawing/2014/main" id="{767CFE6E-A4DD-4B13-F740-CAE50D3A6080}"/>
                  </a:ext>
                </a:extLst>
              </p:cNvPr>
              <p:cNvSpPr/>
              <p:nvPr/>
            </p:nvSpPr>
            <p:spPr>
              <a:xfrm>
                <a:off x="2647152" y="3854465"/>
                <a:ext cx="580912" cy="580912"/>
              </a:xfrm>
              <a:custGeom>
                <a:avLst/>
                <a:gdLst/>
                <a:ahLst/>
                <a:cxnLst/>
                <a:rect l="0" t="0" r="0" b="0"/>
                <a:pathLst>
                  <a:path w="580912" h="580912">
                    <a:moveTo>
                      <a:pt x="0" y="290456"/>
                    </a:moveTo>
                    <a:cubicBezTo>
                      <a:pt x="0" y="450869"/>
                      <a:pt x="130043" y="580912"/>
                      <a:pt x="290456" y="580912"/>
                    </a:cubicBezTo>
                    <a:cubicBezTo>
                      <a:pt x="450869" y="580912"/>
                      <a:pt x="580912" y="450869"/>
                      <a:pt x="580912" y="290456"/>
                    </a:cubicBezTo>
                    <a:cubicBezTo>
                      <a:pt x="580912" y="130043"/>
                      <a:pt x="450869" y="0"/>
                      <a:pt x="290456" y="0"/>
                    </a:cubicBezTo>
                    <a:cubicBezTo>
                      <a:pt x="130043" y="0"/>
                      <a:pt x="0" y="130043"/>
                      <a:pt x="0" y="290456"/>
                    </a:cubicBezTo>
                  </a:path>
                </a:pathLst>
              </a:custGeom>
              <a:grpFill/>
              <a:ln>
                <a:noFill/>
              </a:ln>
            </p:spPr>
            <p:txBody>
              <a:bodyPr rtlCol="0" anchor="ctr"/>
              <a:lstStyle/>
              <a:p>
                <a:pPr algn="ctr"/>
                <a:endParaRPr/>
              </a:p>
            </p:txBody>
          </p:sp>
          <p:sp>
            <p:nvSpPr>
              <p:cNvPr id="8" name="Rounded Rectangle 5">
                <a:extLst>
                  <a:ext uri="{FF2B5EF4-FFF2-40B4-BE49-F238E27FC236}">
                    <a16:creationId xmlns:a16="http://schemas.microsoft.com/office/drawing/2014/main" id="{4779C4C8-F38F-1411-AEC7-460EBD13620D}"/>
                  </a:ext>
                </a:extLst>
              </p:cNvPr>
              <p:cNvSpPr/>
              <p:nvPr/>
            </p:nvSpPr>
            <p:spPr>
              <a:xfrm>
                <a:off x="2647152" y="3854465"/>
                <a:ext cx="580912" cy="580912"/>
              </a:xfrm>
              <a:custGeom>
                <a:avLst/>
                <a:gdLst/>
                <a:ahLst/>
                <a:cxnLst/>
                <a:rect l="0" t="0" r="0" b="0"/>
                <a:pathLst>
                  <a:path w="580912" h="580912">
                    <a:moveTo>
                      <a:pt x="0" y="290456"/>
                    </a:moveTo>
                    <a:cubicBezTo>
                      <a:pt x="0" y="450871"/>
                      <a:pt x="130041" y="580912"/>
                      <a:pt x="290456" y="580912"/>
                    </a:cubicBezTo>
                    <a:cubicBezTo>
                      <a:pt x="450871" y="580912"/>
                      <a:pt x="580912" y="450871"/>
                      <a:pt x="580912" y="290456"/>
                    </a:cubicBezTo>
                    <a:cubicBezTo>
                      <a:pt x="580912" y="130041"/>
                      <a:pt x="450871" y="0"/>
                      <a:pt x="290456" y="0"/>
                    </a:cubicBezTo>
                    <a:cubicBezTo>
                      <a:pt x="130041" y="0"/>
                      <a:pt x="0" y="130041"/>
                      <a:pt x="0" y="290456"/>
                    </a:cubicBezTo>
                  </a:path>
                </a:pathLst>
              </a:custGeom>
              <a:grpFill/>
              <a:ln w="12102">
                <a:solidFill>
                  <a:srgbClr val="FFFFFF"/>
                </a:solidFill>
              </a:ln>
            </p:spPr>
            <p:txBody>
              <a:bodyPr rtlCol="0" anchor="ctr"/>
              <a:lstStyle/>
              <a:p>
                <a:pPr algn="ctr"/>
                <a:endParaRPr/>
              </a:p>
            </p:txBody>
          </p:sp>
          <p:sp>
            <p:nvSpPr>
              <p:cNvPr id="29" name="Rounded Rectangle 26">
                <a:extLst>
                  <a:ext uri="{FF2B5EF4-FFF2-40B4-BE49-F238E27FC236}">
                    <a16:creationId xmlns:a16="http://schemas.microsoft.com/office/drawing/2014/main" id="{1DDAC3B8-86CD-D8F7-2CC6-55A89040894E}"/>
                  </a:ext>
                </a:extLst>
              </p:cNvPr>
              <p:cNvSpPr/>
              <p:nvPr/>
            </p:nvSpPr>
            <p:spPr>
              <a:xfrm>
                <a:off x="2743971" y="3951283"/>
                <a:ext cx="366620" cy="366397"/>
              </a:xfrm>
              <a:custGeom>
                <a:avLst/>
                <a:gdLst/>
                <a:ahLst/>
                <a:cxnLst/>
                <a:rect l="0" t="0" r="0" b="0"/>
                <a:pathLst>
                  <a:path w="366620" h="366397">
                    <a:moveTo>
                      <a:pt x="192183" y="94297"/>
                    </a:moveTo>
                    <a:lnTo>
                      <a:pt x="38783" y="94297"/>
                    </a:lnTo>
                    <a:cubicBezTo>
                      <a:pt x="28764" y="94297"/>
                      <a:pt x="20643" y="102418"/>
                      <a:pt x="20643" y="112437"/>
                    </a:cubicBezTo>
                    <a:lnTo>
                      <a:pt x="20643" y="348257"/>
                    </a:lnTo>
                    <a:cubicBezTo>
                      <a:pt x="20643" y="358276"/>
                      <a:pt x="28764" y="366397"/>
                      <a:pt x="38783" y="366397"/>
                    </a:cubicBezTo>
                    <a:lnTo>
                      <a:pt x="274603" y="366397"/>
                    </a:lnTo>
                    <a:cubicBezTo>
                      <a:pt x="284621" y="366397"/>
                      <a:pt x="292743" y="358276"/>
                      <a:pt x="292743" y="348257"/>
                    </a:cubicBezTo>
                    <a:lnTo>
                      <a:pt x="292743" y="221137"/>
                    </a:lnTo>
                    <a:moveTo>
                      <a:pt x="156680" y="229244"/>
                    </a:moveTo>
                    <a:cubicBezTo>
                      <a:pt x="133132" y="229244"/>
                      <a:pt x="114042" y="210154"/>
                      <a:pt x="114042" y="186605"/>
                    </a:cubicBezTo>
                    <a:cubicBezTo>
                      <a:pt x="114042" y="163057"/>
                      <a:pt x="133132" y="143967"/>
                      <a:pt x="156680" y="143967"/>
                    </a:cubicBezTo>
                    <a:cubicBezTo>
                      <a:pt x="180229" y="143967"/>
                      <a:pt x="199319" y="163057"/>
                      <a:pt x="199319" y="186605"/>
                    </a:cubicBezTo>
                    <a:cubicBezTo>
                      <a:pt x="199319" y="210154"/>
                      <a:pt x="180229" y="229244"/>
                      <a:pt x="156680" y="229244"/>
                    </a:cubicBezTo>
                    <a:close/>
                    <a:moveTo>
                      <a:pt x="231303" y="316663"/>
                    </a:moveTo>
                    <a:cubicBezTo>
                      <a:pt x="231303" y="276157"/>
                      <a:pt x="197192" y="242047"/>
                      <a:pt x="156686" y="242047"/>
                    </a:cubicBezTo>
                    <a:cubicBezTo>
                      <a:pt x="116179" y="242047"/>
                      <a:pt x="82069" y="276157"/>
                      <a:pt x="82069" y="316663"/>
                    </a:cubicBezTo>
                    <a:moveTo>
                      <a:pt x="263573" y="62399"/>
                    </a:moveTo>
                    <a:lnTo>
                      <a:pt x="334347" y="62399"/>
                    </a:lnTo>
                    <a:cubicBezTo>
                      <a:pt x="334347" y="62399"/>
                      <a:pt x="366620" y="62399"/>
                      <a:pt x="366620" y="94672"/>
                    </a:cubicBezTo>
                    <a:lnTo>
                      <a:pt x="366620" y="135401"/>
                    </a:lnTo>
                    <a:cubicBezTo>
                      <a:pt x="366620" y="135401"/>
                      <a:pt x="366620" y="167674"/>
                      <a:pt x="334347" y="167674"/>
                    </a:cubicBezTo>
                    <a:lnTo>
                      <a:pt x="263573" y="167674"/>
                    </a:lnTo>
                    <a:cubicBezTo>
                      <a:pt x="263573" y="167674"/>
                      <a:pt x="231300" y="167674"/>
                      <a:pt x="231300" y="135401"/>
                    </a:cubicBezTo>
                    <a:lnTo>
                      <a:pt x="231300" y="94672"/>
                    </a:lnTo>
                    <a:cubicBezTo>
                      <a:pt x="231300" y="94672"/>
                      <a:pt x="231300" y="62399"/>
                      <a:pt x="263573" y="62399"/>
                    </a:cubicBezTo>
                    <a:moveTo>
                      <a:pt x="0" y="0"/>
                    </a:moveTo>
                    <a:moveTo>
                      <a:pt x="298965" y="20880"/>
                    </a:moveTo>
                    <a:lnTo>
                      <a:pt x="298965" y="62402"/>
                    </a:lnTo>
                    <a:moveTo>
                      <a:pt x="0" y="0"/>
                    </a:moveTo>
                    <a:moveTo>
                      <a:pt x="274194" y="105363"/>
                    </a:moveTo>
                    <a:lnTo>
                      <a:pt x="274194" y="124742"/>
                    </a:lnTo>
                    <a:moveTo>
                      <a:pt x="0" y="0"/>
                    </a:moveTo>
                    <a:moveTo>
                      <a:pt x="323737" y="105363"/>
                    </a:moveTo>
                    <a:lnTo>
                      <a:pt x="323737" y="124742"/>
                    </a:lnTo>
                  </a:path>
                </a:pathLst>
              </a:custGeom>
              <a:grpFill/>
              <a:ln w="12102">
                <a:solidFill>
                  <a:srgbClr val="FFFFFF"/>
                </a:solidFill>
              </a:ln>
            </p:spPr>
            <p:txBody>
              <a:bodyPr rtlCol="0" anchor="ctr"/>
              <a:lstStyle/>
              <a:p>
                <a:pPr algn="ctr"/>
                <a:endParaRPr/>
              </a:p>
            </p:txBody>
          </p:sp>
        </p:grpSp>
      </p:grpSp>
      <p:sp>
        <p:nvSpPr>
          <p:cNvPr id="2" name="Titre 1">
            <a:extLst>
              <a:ext uri="{FF2B5EF4-FFF2-40B4-BE49-F238E27FC236}">
                <a16:creationId xmlns:a16="http://schemas.microsoft.com/office/drawing/2014/main" id="{BD35AB82-E73F-232F-E97A-32A4653D13DD}"/>
              </a:ext>
            </a:extLst>
          </p:cNvPr>
          <p:cNvSpPr>
            <a:spLocks noGrp="1"/>
          </p:cNvSpPr>
          <p:nvPr>
            <p:ph type="title"/>
          </p:nvPr>
        </p:nvSpPr>
        <p:spPr>
          <a:xfrm>
            <a:off x="838200" y="166865"/>
            <a:ext cx="10515600" cy="1325563"/>
          </a:xfrm>
        </p:spPr>
        <p:txBody>
          <a:bodyPr/>
          <a:lstStyle/>
          <a:p>
            <a:r>
              <a:rPr lang="fr-FR" dirty="0"/>
              <a:t>Avantages de l’IA</a:t>
            </a:r>
          </a:p>
        </p:txBody>
      </p:sp>
      <p:sp>
        <p:nvSpPr>
          <p:cNvPr id="35" name="Rounded Rectangle 16">
            <a:extLst>
              <a:ext uri="{FF2B5EF4-FFF2-40B4-BE49-F238E27FC236}">
                <a16:creationId xmlns:a16="http://schemas.microsoft.com/office/drawing/2014/main" id="{FDE18AC4-4F23-7DFC-AB46-B04F9B5E9ED6}"/>
              </a:ext>
            </a:extLst>
          </p:cNvPr>
          <p:cNvSpPr/>
          <p:nvPr/>
        </p:nvSpPr>
        <p:spPr>
          <a:xfrm rot="11505899">
            <a:off x="4171943" y="3184227"/>
            <a:ext cx="1063235" cy="264063"/>
          </a:xfrm>
          <a:custGeom>
            <a:avLst/>
            <a:gdLst/>
            <a:ahLst/>
            <a:cxnLst/>
            <a:rect l="0" t="0" r="0" b="0"/>
            <a:pathLst>
              <a:path w="387286" h="104884">
                <a:moveTo>
                  <a:pt x="0" y="52443"/>
                </a:moveTo>
                <a:lnTo>
                  <a:pt x="387275" y="52443"/>
                </a:lnTo>
                <a:moveTo>
                  <a:pt x="335203" y="104884"/>
                </a:moveTo>
                <a:lnTo>
                  <a:pt x="387286" y="52082"/>
                </a:lnTo>
                <a:lnTo>
                  <a:pt x="334485" y="0"/>
                </a:lnTo>
              </a:path>
            </a:pathLst>
          </a:custGeom>
          <a:noFill/>
          <a:ln w="12102">
            <a:solidFill>
              <a:srgbClr val="484848"/>
            </a:solidFill>
          </a:ln>
        </p:spPr>
        <p:txBody>
          <a:bodyPr rtlCol="0" anchor="ctr"/>
          <a:lstStyle/>
          <a:p>
            <a:pPr algn="ctr"/>
            <a:endParaRPr/>
          </a:p>
        </p:txBody>
      </p:sp>
      <p:sp>
        <p:nvSpPr>
          <p:cNvPr id="36" name="Rounded Rectangle 16">
            <a:extLst>
              <a:ext uri="{FF2B5EF4-FFF2-40B4-BE49-F238E27FC236}">
                <a16:creationId xmlns:a16="http://schemas.microsoft.com/office/drawing/2014/main" id="{F4F69945-CFDF-F4E5-8281-04CA9F7B6D24}"/>
              </a:ext>
            </a:extLst>
          </p:cNvPr>
          <p:cNvSpPr/>
          <p:nvPr/>
        </p:nvSpPr>
        <p:spPr>
          <a:xfrm rot="7899250">
            <a:off x="4229809" y="4539161"/>
            <a:ext cx="1063235" cy="264063"/>
          </a:xfrm>
          <a:custGeom>
            <a:avLst/>
            <a:gdLst/>
            <a:ahLst/>
            <a:cxnLst/>
            <a:rect l="0" t="0" r="0" b="0"/>
            <a:pathLst>
              <a:path w="387286" h="104884">
                <a:moveTo>
                  <a:pt x="0" y="52443"/>
                </a:moveTo>
                <a:lnTo>
                  <a:pt x="387275" y="52443"/>
                </a:lnTo>
                <a:moveTo>
                  <a:pt x="335203" y="104884"/>
                </a:moveTo>
                <a:lnTo>
                  <a:pt x="387286" y="52082"/>
                </a:lnTo>
                <a:lnTo>
                  <a:pt x="334485" y="0"/>
                </a:lnTo>
              </a:path>
            </a:pathLst>
          </a:custGeom>
          <a:noFill/>
          <a:ln w="12102">
            <a:solidFill>
              <a:srgbClr val="484848"/>
            </a:solidFill>
          </a:ln>
        </p:spPr>
        <p:txBody>
          <a:bodyPr rtlCol="0" anchor="ctr"/>
          <a:lstStyle/>
          <a:p>
            <a:pPr algn="ctr"/>
            <a:endParaRPr/>
          </a:p>
        </p:txBody>
      </p:sp>
      <p:sp>
        <p:nvSpPr>
          <p:cNvPr id="9" name="TextBox 21">
            <a:extLst>
              <a:ext uri="{FF2B5EF4-FFF2-40B4-BE49-F238E27FC236}">
                <a16:creationId xmlns:a16="http://schemas.microsoft.com/office/drawing/2014/main" id="{6A2E87F7-6E0B-0D05-EAED-198F58A895CA}"/>
              </a:ext>
            </a:extLst>
          </p:cNvPr>
          <p:cNvSpPr txBox="1"/>
          <p:nvPr/>
        </p:nvSpPr>
        <p:spPr>
          <a:xfrm>
            <a:off x="1030412" y="1742620"/>
            <a:ext cx="10131175" cy="553998"/>
          </a:xfrm>
          <a:prstGeom prst="rect">
            <a:avLst/>
          </a:prstGeom>
          <a:noFill/>
          <a:ln>
            <a:noFill/>
          </a:ln>
        </p:spPr>
        <p:txBody>
          <a:bodyPr wrap="square" lIns="0" tIns="0" rIns="0" bIns="0" anchor="t">
            <a:spAutoFit/>
          </a:bodyPr>
          <a:lstStyle/>
          <a:p>
            <a:pPr algn="ctr"/>
            <a:r>
              <a:rPr lang="fr-FR" b="0"/>
              <a:t>Notre mission : </a:t>
            </a:r>
          </a:p>
          <a:p>
            <a:pPr algn="ctr"/>
            <a:r>
              <a:rPr lang="fr-FR" b="0"/>
              <a:t>Décharger vos équipes de la charge mentale pour qu'elles se concentrent sur la valeur ajoutée.</a:t>
            </a:r>
            <a:endParaRPr b="0"/>
          </a:p>
        </p:txBody>
      </p:sp>
    </p:spTree>
    <p:extLst>
      <p:ext uri="{BB962C8B-B14F-4D97-AF65-F5344CB8AC3E}">
        <p14:creationId xmlns:p14="http://schemas.microsoft.com/office/powerpoint/2010/main" val="2347132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4F63-8DC7-B5EC-16E2-936B3B61F3A5}"/>
            </a:ext>
          </a:extLst>
        </p:cNvPr>
        <p:cNvGrpSpPr/>
        <p:nvPr/>
      </p:nvGrpSpPr>
      <p:grpSpPr>
        <a:xfrm>
          <a:off x="0" y="0"/>
          <a:ext cx="0" cy="0"/>
          <a:chOff x="0" y="0"/>
          <a:chExt cx="0" cy="0"/>
        </a:xfrm>
      </p:grpSpPr>
      <p:sp>
        <p:nvSpPr>
          <p:cNvPr id="22" name="TextBox 19">
            <a:extLst>
              <a:ext uri="{FF2B5EF4-FFF2-40B4-BE49-F238E27FC236}">
                <a16:creationId xmlns:a16="http://schemas.microsoft.com/office/drawing/2014/main" id="{B4B114DD-23E8-C856-2480-592A794BD53D}"/>
              </a:ext>
            </a:extLst>
          </p:cNvPr>
          <p:cNvSpPr txBox="1"/>
          <p:nvPr/>
        </p:nvSpPr>
        <p:spPr>
          <a:xfrm>
            <a:off x="1304815" y="2877744"/>
            <a:ext cx="3144030" cy="1384995"/>
          </a:xfrm>
          <a:prstGeom prst="rect">
            <a:avLst/>
          </a:prstGeom>
          <a:noFill/>
          <a:ln>
            <a:noFill/>
          </a:ln>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000000"/>
                </a:solidFill>
                <a:effectLst/>
                <a:uLnTx/>
                <a:uFillTx/>
                <a:latin typeface="Trebuchet MS"/>
                <a:ea typeface="+mn-ea"/>
                <a:cs typeface="+mn-cs"/>
              </a:rPr>
              <a:t>- </a:t>
            </a:r>
            <a:r>
              <a:rPr kumimoji="0" sz="1800" b="0" i="0" u="none" strike="noStrike" kern="1200" cap="none" spc="0" normalizeH="0" baseline="0" noProof="0" dirty="0">
                <a:ln>
                  <a:noFill/>
                </a:ln>
                <a:solidFill>
                  <a:srgbClr val="000000"/>
                </a:solidFill>
                <a:effectLst/>
                <a:uLnTx/>
                <a:uFillTx/>
                <a:latin typeface="Trebuchet MS"/>
                <a:ea typeface="+mn-ea"/>
                <a:cs typeface="+mn-cs"/>
              </a:rPr>
              <a:t>S</a:t>
            </a:r>
            <a:r>
              <a:rPr kumimoji="0" lang="fr-FR" sz="1800" b="0" i="0" u="none" strike="noStrike" kern="1200" cap="none" spc="0" normalizeH="0" baseline="0" noProof="0" dirty="0" err="1">
                <a:ln>
                  <a:noFill/>
                </a:ln>
                <a:solidFill>
                  <a:srgbClr val="000000"/>
                </a:solidFill>
                <a:effectLst/>
                <a:uLnTx/>
                <a:uFillTx/>
                <a:latin typeface="Trebuchet MS"/>
                <a:ea typeface="+mn-ea"/>
                <a:cs typeface="+mn-cs"/>
              </a:rPr>
              <a:t>ouveraineté</a:t>
            </a:r>
            <a:r>
              <a:rPr kumimoji="0" lang="fr-FR" sz="1800" b="0" i="0" u="none" strike="noStrike" kern="1200" cap="none" spc="0" normalizeH="0" baseline="0" noProof="0" dirty="0">
                <a:ln>
                  <a:noFill/>
                </a:ln>
                <a:solidFill>
                  <a:srgbClr val="000000"/>
                </a:solidFill>
                <a:effectLst/>
                <a:uLnTx/>
                <a:uFillTx/>
                <a:latin typeface="Trebuchet MS"/>
                <a:ea typeface="+mn-ea"/>
                <a:cs typeface="+mn-cs"/>
              </a:rPr>
              <a:t> des données</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fr-FR" sz="1800" b="0" i="0" u="none" strike="noStrike" kern="1200" cap="none" spc="0" normalizeH="0" baseline="0" noProof="0" dirty="0">
                <a:ln>
                  <a:noFill/>
                </a:ln>
                <a:solidFill>
                  <a:srgbClr val="000000"/>
                </a:solidFill>
                <a:effectLst/>
                <a:uLnTx/>
                <a:uFillTx/>
                <a:latin typeface="Trebuchet MS"/>
                <a:ea typeface="+mn-ea"/>
                <a:cs typeface="+mn-cs"/>
              </a:rPr>
              <a:t>Efficacité des coûts</a:t>
            </a:r>
          </a:p>
          <a:p>
            <a:pPr marR="0" lvl="0" algn="ctr" defTabSz="914400" rtl="0" eaLnBrk="1" fontAlgn="auto" latinLnBrk="0" hangingPunct="1">
              <a:lnSpc>
                <a:spcPct val="100000"/>
              </a:lnSpc>
              <a:spcBef>
                <a:spcPts val="0"/>
              </a:spcBef>
              <a:spcAft>
                <a:spcPts val="0"/>
              </a:spcAft>
              <a:buClrTx/>
              <a:buSzTx/>
              <a:tabLst/>
              <a:defRPr/>
            </a:pPr>
            <a:r>
              <a:rPr kumimoji="0" lang="fr-FR" sz="1800" b="0" i="0" u="none" strike="noStrike" kern="1200" cap="none" spc="0" normalizeH="0" baseline="0" noProof="0" dirty="0">
                <a:ln>
                  <a:noFill/>
                </a:ln>
                <a:solidFill>
                  <a:srgbClr val="000000"/>
                </a:solidFill>
                <a:effectLst/>
                <a:uLnTx/>
                <a:uFillTx/>
                <a:latin typeface="Trebuchet MS"/>
                <a:ea typeface="+mn-ea"/>
                <a:cs typeface="+mn-cs"/>
              </a:rPr>
              <a:t>Idéal pour les processus métiers critiques et l’analyse documentaire confidentielle</a:t>
            </a:r>
            <a:endParaRPr kumimoji="0"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 name="Titre 1">
            <a:extLst>
              <a:ext uri="{FF2B5EF4-FFF2-40B4-BE49-F238E27FC236}">
                <a16:creationId xmlns:a16="http://schemas.microsoft.com/office/drawing/2014/main" id="{E90491C0-D5D3-FC24-9B7C-F8F0B2C50125}"/>
              </a:ext>
            </a:extLst>
          </p:cNvPr>
          <p:cNvSpPr>
            <a:spLocks noGrp="1"/>
          </p:cNvSpPr>
          <p:nvPr>
            <p:ph type="title"/>
          </p:nvPr>
        </p:nvSpPr>
        <p:spPr>
          <a:xfrm>
            <a:off x="838200" y="166865"/>
            <a:ext cx="10515600" cy="1325563"/>
          </a:xfrm>
        </p:spPr>
        <p:txBody>
          <a:bodyPr/>
          <a:lstStyle/>
          <a:p>
            <a:r>
              <a:rPr lang="fr-FR" dirty="0"/>
              <a:t>Quel moteur IA pour mon entreprise ?</a:t>
            </a:r>
          </a:p>
        </p:txBody>
      </p:sp>
      <p:sp>
        <p:nvSpPr>
          <p:cNvPr id="6" name="TextBox 19">
            <a:extLst>
              <a:ext uri="{FF2B5EF4-FFF2-40B4-BE49-F238E27FC236}">
                <a16:creationId xmlns:a16="http://schemas.microsoft.com/office/drawing/2014/main" id="{A7C91F3B-7925-4EE0-45A0-C84675487B49}"/>
              </a:ext>
            </a:extLst>
          </p:cNvPr>
          <p:cNvSpPr txBox="1"/>
          <p:nvPr/>
        </p:nvSpPr>
        <p:spPr>
          <a:xfrm>
            <a:off x="1304815" y="5306139"/>
            <a:ext cx="3144030" cy="1384995"/>
          </a:xfrm>
          <a:prstGeom prst="rect">
            <a:avLst/>
          </a:prstGeom>
          <a:noFill/>
          <a:ln>
            <a:noFill/>
          </a:ln>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000000"/>
                </a:solidFill>
                <a:effectLst/>
                <a:uLnTx/>
                <a:uFillTx/>
                <a:latin typeface="Trebuchet MS"/>
                <a:ea typeface="+mn-ea"/>
                <a:cs typeface="+mn-cs"/>
              </a:rPr>
              <a:t>- </a:t>
            </a:r>
            <a:r>
              <a:rPr lang="fr-FR">
                <a:solidFill>
                  <a:srgbClr val="000000"/>
                </a:solidFill>
                <a:latin typeface="Trebuchet MS"/>
              </a:rPr>
              <a:t>Nuance linguistique</a:t>
            </a:r>
            <a:endParaRPr kumimoji="0" lang="fr-FR" sz="1800" b="0" i="0" u="none" strike="noStrike" kern="1200" cap="none" spc="0" normalizeH="0" baseline="0" noProof="0">
              <a:ln>
                <a:noFill/>
              </a:ln>
              <a:solidFill>
                <a:srgbClr val="000000"/>
              </a:solidFill>
              <a:effectLst/>
              <a:uLnTx/>
              <a:uFillTx/>
              <a:latin typeface="Trebuchet MS"/>
              <a:ea typeface="+mn-ea"/>
              <a:cs typeface="+mn-cs"/>
            </a:endParaRP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lang="fr-FR">
                <a:solidFill>
                  <a:srgbClr val="000000"/>
                </a:solidFill>
                <a:latin typeface="Trebuchet MS"/>
              </a:rPr>
              <a:t>Analyse de code</a:t>
            </a:r>
            <a:endParaRPr kumimoji="0" lang="fr-FR" sz="1800" b="0" i="0" u="none" strike="noStrike" kern="1200" cap="none" spc="0" normalizeH="0" baseline="0" noProof="0">
              <a:ln>
                <a:noFill/>
              </a:ln>
              <a:solidFill>
                <a:srgbClr val="000000"/>
              </a:solidFill>
              <a:effectLst/>
              <a:uLnTx/>
              <a:uFillTx/>
              <a:latin typeface="Trebuchet MS"/>
              <a:ea typeface="+mn-ea"/>
              <a:cs typeface="+mn-cs"/>
            </a:endParaRPr>
          </a:p>
          <a:p>
            <a:pPr marR="0" lvl="0" algn="ctr" defTabSz="914400" rtl="0" eaLnBrk="1" fontAlgn="auto" latinLnBrk="0" hangingPunct="1">
              <a:lnSpc>
                <a:spcPct val="100000"/>
              </a:lnSpc>
              <a:spcBef>
                <a:spcPts val="0"/>
              </a:spcBef>
              <a:spcAft>
                <a:spcPts val="0"/>
              </a:spcAft>
              <a:buClrTx/>
              <a:buSzTx/>
              <a:tabLst/>
              <a:defRPr/>
            </a:pPr>
            <a:r>
              <a:rPr kumimoji="0" lang="fr-FR" sz="1800" b="0" i="0" u="none" strike="noStrike" kern="1200" cap="none" spc="0" normalizeH="0" baseline="0" noProof="0">
                <a:ln>
                  <a:noFill/>
                </a:ln>
                <a:solidFill>
                  <a:srgbClr val="000000"/>
                </a:solidFill>
                <a:effectLst/>
                <a:uLnTx/>
                <a:uFillTx/>
                <a:latin typeface="Trebuchet MS"/>
                <a:ea typeface="+mn-ea"/>
                <a:cs typeface="+mn-cs"/>
              </a:rPr>
              <a:t>Idéal pour la rédaction marketing et la synthèse de documents</a:t>
            </a:r>
            <a:endParaRPr kumimoji="0" sz="1800" b="0" i="0" u="none" strike="noStrike" kern="1200" cap="none" spc="0" normalizeH="0" baseline="0" noProof="0">
              <a:ln>
                <a:noFill/>
              </a:ln>
              <a:solidFill>
                <a:srgbClr val="000000"/>
              </a:solidFill>
              <a:effectLst/>
              <a:uLnTx/>
              <a:uFillTx/>
              <a:latin typeface="Trebuchet MS"/>
              <a:ea typeface="+mn-ea"/>
              <a:cs typeface="+mn-cs"/>
            </a:endParaRPr>
          </a:p>
        </p:txBody>
      </p:sp>
      <p:sp>
        <p:nvSpPr>
          <p:cNvPr id="9" name="TextBox 19">
            <a:extLst>
              <a:ext uri="{FF2B5EF4-FFF2-40B4-BE49-F238E27FC236}">
                <a16:creationId xmlns:a16="http://schemas.microsoft.com/office/drawing/2014/main" id="{115DB18C-0579-EE29-50A1-FDFE84E48AD8}"/>
              </a:ext>
            </a:extLst>
          </p:cNvPr>
          <p:cNvSpPr txBox="1"/>
          <p:nvPr/>
        </p:nvSpPr>
        <p:spPr>
          <a:xfrm>
            <a:off x="7660370" y="5306140"/>
            <a:ext cx="3144030" cy="1384995"/>
          </a:xfrm>
          <a:prstGeom prst="rect">
            <a:avLst/>
          </a:prstGeom>
          <a:noFill/>
          <a:ln>
            <a:noFill/>
          </a:ln>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000000"/>
                </a:solidFill>
                <a:effectLst/>
                <a:uLnTx/>
                <a:uFillTx/>
                <a:latin typeface="Trebuchet MS"/>
                <a:ea typeface="+mn-ea"/>
                <a:cs typeface="+mn-cs"/>
              </a:rPr>
              <a:t>- Google Workspace</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fr-FR" sz="1800" b="0" i="0" u="none" strike="noStrike" kern="1200" cap="none" spc="0" normalizeH="0" baseline="0" noProof="0">
                <a:ln>
                  <a:noFill/>
                </a:ln>
                <a:solidFill>
                  <a:srgbClr val="000000"/>
                </a:solidFill>
                <a:effectLst/>
                <a:uLnTx/>
                <a:uFillTx/>
                <a:latin typeface="Trebuchet MS"/>
                <a:ea typeface="+mn-ea"/>
                <a:cs typeface="+mn-cs"/>
              </a:rPr>
              <a:t>Multimodales</a:t>
            </a:r>
          </a:p>
          <a:p>
            <a:pPr marR="0" lvl="0" algn="ctr" defTabSz="914400" rtl="0" eaLnBrk="1" fontAlgn="auto" latinLnBrk="0" hangingPunct="1">
              <a:lnSpc>
                <a:spcPct val="100000"/>
              </a:lnSpc>
              <a:spcBef>
                <a:spcPts val="0"/>
              </a:spcBef>
              <a:spcAft>
                <a:spcPts val="0"/>
              </a:spcAft>
              <a:buClrTx/>
              <a:buSzTx/>
              <a:tabLst/>
              <a:defRPr/>
            </a:pPr>
            <a:r>
              <a:rPr kumimoji="0" lang="fr-FR" sz="1800" b="0" i="0" u="none" strike="noStrike" kern="1200" cap="none" spc="0" normalizeH="0" baseline="0" noProof="0">
                <a:ln>
                  <a:noFill/>
                </a:ln>
                <a:solidFill>
                  <a:srgbClr val="000000"/>
                </a:solidFill>
                <a:effectLst/>
                <a:uLnTx/>
                <a:uFillTx/>
                <a:latin typeface="Trebuchet MS"/>
                <a:ea typeface="+mn-ea"/>
                <a:cs typeface="+mn-cs"/>
              </a:rPr>
              <a:t>Idéal pour les </a:t>
            </a:r>
            <a:r>
              <a:rPr kumimoji="0" lang="fr-FR" sz="1800" b="0" i="0" u="none" strike="noStrike" kern="1200" cap="none" spc="0" normalizeH="0" baseline="0" noProof="0" err="1">
                <a:ln>
                  <a:noFill/>
                </a:ln>
                <a:solidFill>
                  <a:srgbClr val="000000"/>
                </a:solidFill>
                <a:effectLst/>
                <a:uLnTx/>
                <a:uFillTx/>
                <a:latin typeface="Trebuchet MS"/>
                <a:ea typeface="+mn-ea"/>
                <a:cs typeface="+mn-cs"/>
              </a:rPr>
              <a:t>users</a:t>
            </a:r>
            <a:r>
              <a:rPr kumimoji="0" lang="fr-FR" sz="1800" b="0" i="0" u="none" strike="noStrike" kern="1200" cap="none" spc="0" normalizeH="0" baseline="0" noProof="0">
                <a:ln>
                  <a:noFill/>
                </a:ln>
                <a:solidFill>
                  <a:srgbClr val="000000"/>
                </a:solidFill>
                <a:effectLst/>
                <a:uLnTx/>
                <a:uFillTx/>
                <a:latin typeface="Trebuchet MS"/>
                <a:ea typeface="+mn-ea"/>
                <a:cs typeface="+mn-cs"/>
              </a:rPr>
              <a:t> Google et les tâches diverses </a:t>
            </a:r>
            <a:br>
              <a:rPr kumimoji="0" lang="fr-FR" sz="1800" b="0" i="0" u="none" strike="noStrike" kern="1200" cap="none" spc="0" normalizeH="0" baseline="0" noProof="0">
                <a:ln>
                  <a:noFill/>
                </a:ln>
                <a:solidFill>
                  <a:srgbClr val="000000"/>
                </a:solidFill>
                <a:effectLst/>
                <a:uLnTx/>
                <a:uFillTx/>
                <a:latin typeface="Trebuchet MS"/>
                <a:ea typeface="+mn-ea"/>
                <a:cs typeface="+mn-cs"/>
              </a:rPr>
            </a:br>
            <a:r>
              <a:rPr kumimoji="0" lang="fr-FR" sz="1800" b="0" i="0" u="none" strike="noStrike" kern="1200" cap="none" spc="0" normalizeH="0" baseline="0" noProof="0">
                <a:ln>
                  <a:noFill/>
                </a:ln>
                <a:solidFill>
                  <a:srgbClr val="000000"/>
                </a:solidFill>
                <a:effectLst/>
                <a:uLnTx/>
                <a:uFillTx/>
                <a:latin typeface="Trebuchet MS"/>
                <a:ea typeface="+mn-ea"/>
                <a:cs typeface="+mn-cs"/>
              </a:rPr>
              <a:t>(image, vidéo)</a:t>
            </a:r>
            <a:endParaRPr kumimoji="0" sz="1800" b="0" i="0" u="none" strike="noStrike" kern="1200" cap="none" spc="0" normalizeH="0" baseline="0" noProof="0">
              <a:ln>
                <a:noFill/>
              </a:ln>
              <a:solidFill>
                <a:srgbClr val="000000"/>
              </a:solidFill>
              <a:effectLst/>
              <a:uLnTx/>
              <a:uFillTx/>
              <a:latin typeface="Trebuchet MS"/>
              <a:ea typeface="+mn-ea"/>
              <a:cs typeface="+mn-cs"/>
            </a:endParaRPr>
          </a:p>
        </p:txBody>
      </p:sp>
      <p:sp>
        <p:nvSpPr>
          <p:cNvPr id="20" name="TextBox 19">
            <a:extLst>
              <a:ext uri="{FF2B5EF4-FFF2-40B4-BE49-F238E27FC236}">
                <a16:creationId xmlns:a16="http://schemas.microsoft.com/office/drawing/2014/main" id="{441C0D81-4EDF-8A2B-CF53-2D5B21725709}"/>
              </a:ext>
            </a:extLst>
          </p:cNvPr>
          <p:cNvSpPr txBox="1"/>
          <p:nvPr/>
        </p:nvSpPr>
        <p:spPr>
          <a:xfrm>
            <a:off x="7660370" y="3016243"/>
            <a:ext cx="3144030" cy="1107996"/>
          </a:xfrm>
          <a:prstGeom prst="rect">
            <a:avLst/>
          </a:prstGeom>
          <a:noFill/>
          <a:ln>
            <a:noFill/>
          </a:ln>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000000"/>
                </a:solidFill>
                <a:effectLst/>
                <a:uLnTx/>
                <a:uFillTx/>
                <a:latin typeface="Trebuchet MS"/>
                <a:ea typeface="+mn-ea"/>
                <a:cs typeface="+mn-cs"/>
              </a:rPr>
              <a:t>- Polyvalence</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lang="fr-FR">
                <a:solidFill>
                  <a:srgbClr val="000000"/>
                </a:solidFill>
                <a:latin typeface="Trebuchet MS"/>
              </a:rPr>
              <a:t>Créativité</a:t>
            </a:r>
            <a:endParaRPr kumimoji="0" lang="fr-FR" sz="1800" b="0" i="0" u="none" strike="noStrike" kern="1200" cap="none" spc="0" normalizeH="0" baseline="0" noProof="0">
              <a:ln>
                <a:noFill/>
              </a:ln>
              <a:solidFill>
                <a:srgbClr val="000000"/>
              </a:solidFill>
              <a:effectLst/>
              <a:uLnTx/>
              <a:uFillTx/>
              <a:latin typeface="Trebuchet MS"/>
              <a:ea typeface="+mn-ea"/>
              <a:cs typeface="+mn-cs"/>
            </a:endParaRPr>
          </a:p>
          <a:p>
            <a:pPr marR="0" lvl="0" algn="ctr" defTabSz="914400" rtl="0" eaLnBrk="1" fontAlgn="auto" latinLnBrk="0" hangingPunct="1">
              <a:lnSpc>
                <a:spcPct val="100000"/>
              </a:lnSpc>
              <a:spcBef>
                <a:spcPts val="0"/>
              </a:spcBef>
              <a:spcAft>
                <a:spcPts val="0"/>
              </a:spcAft>
              <a:buClrTx/>
              <a:buSzTx/>
              <a:tabLst/>
              <a:defRPr/>
            </a:pPr>
            <a:r>
              <a:rPr kumimoji="0" lang="fr-FR" sz="1800" b="0" i="0" u="none" strike="noStrike" kern="1200" cap="none" spc="0" normalizeH="0" baseline="0" noProof="0">
                <a:ln>
                  <a:noFill/>
                </a:ln>
                <a:solidFill>
                  <a:srgbClr val="000000"/>
                </a:solidFill>
                <a:effectLst/>
                <a:uLnTx/>
                <a:uFillTx/>
                <a:latin typeface="Trebuchet MS"/>
                <a:ea typeface="+mn-ea"/>
                <a:cs typeface="+mn-cs"/>
              </a:rPr>
              <a:t>Idéal pour brainstormer et réalisé des tâches diverses </a:t>
            </a:r>
            <a:endParaRPr kumimoji="0" sz="1800" b="0" i="0" u="none" strike="noStrike" kern="1200" cap="none" spc="0" normalizeH="0" baseline="0" noProof="0">
              <a:ln>
                <a:noFill/>
              </a:ln>
              <a:solidFill>
                <a:srgbClr val="000000"/>
              </a:solidFill>
              <a:effectLst/>
              <a:uLnTx/>
              <a:uFillTx/>
              <a:latin typeface="Trebuchet MS"/>
              <a:ea typeface="+mn-ea"/>
              <a:cs typeface="+mn-cs"/>
            </a:endParaRPr>
          </a:p>
        </p:txBody>
      </p:sp>
      <p:grpSp>
        <p:nvGrpSpPr>
          <p:cNvPr id="38" name="Groupe 37">
            <a:extLst>
              <a:ext uri="{FF2B5EF4-FFF2-40B4-BE49-F238E27FC236}">
                <a16:creationId xmlns:a16="http://schemas.microsoft.com/office/drawing/2014/main" id="{F3912230-C72A-E140-D429-22EBF34A89AE}"/>
              </a:ext>
            </a:extLst>
          </p:cNvPr>
          <p:cNvGrpSpPr/>
          <p:nvPr/>
        </p:nvGrpSpPr>
        <p:grpSpPr>
          <a:xfrm>
            <a:off x="4876156" y="1721818"/>
            <a:ext cx="2490487" cy="4447975"/>
            <a:chOff x="4883128" y="1671018"/>
            <a:chExt cx="2490487" cy="4447975"/>
          </a:xfrm>
        </p:grpSpPr>
        <p:sp>
          <p:nvSpPr>
            <p:cNvPr id="31" name="Flèche : virage 30">
              <a:extLst>
                <a:ext uri="{FF2B5EF4-FFF2-40B4-BE49-F238E27FC236}">
                  <a16:creationId xmlns:a16="http://schemas.microsoft.com/office/drawing/2014/main" id="{F6C5A8EF-8C25-5F8D-DCEA-C76080D8CE6A}"/>
                </a:ext>
              </a:extLst>
            </p:cNvPr>
            <p:cNvSpPr/>
            <p:nvPr/>
          </p:nvSpPr>
          <p:spPr>
            <a:xfrm rot="10800000">
              <a:off x="5170023" y="1671018"/>
              <a:ext cx="925975" cy="4447975"/>
            </a:xfrm>
            <a:prstGeom prst="bentArrow">
              <a:avLst>
                <a:gd name="adj1" fmla="val 25000"/>
                <a:gd name="adj2" fmla="val 25000"/>
                <a:gd name="adj3" fmla="val 25000"/>
                <a:gd name="adj4" fmla="val 52500"/>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2" name="Flèche : virage 31">
              <a:extLst>
                <a:ext uri="{FF2B5EF4-FFF2-40B4-BE49-F238E27FC236}">
                  <a16:creationId xmlns:a16="http://schemas.microsoft.com/office/drawing/2014/main" id="{F1F2BA99-C49C-B066-368F-CEA2121A72E5}"/>
                </a:ext>
              </a:extLst>
            </p:cNvPr>
            <p:cNvSpPr/>
            <p:nvPr/>
          </p:nvSpPr>
          <p:spPr>
            <a:xfrm rot="10800000" flipH="1">
              <a:off x="6153914" y="1671018"/>
              <a:ext cx="925975" cy="4447974"/>
            </a:xfrm>
            <a:prstGeom prst="bentArrow">
              <a:avLst>
                <a:gd name="adj1" fmla="val 25000"/>
                <a:gd name="adj2" fmla="val 25000"/>
                <a:gd name="adj3" fmla="val 25000"/>
                <a:gd name="adj4" fmla="val 52500"/>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Flèche : virage 32">
              <a:extLst>
                <a:ext uri="{FF2B5EF4-FFF2-40B4-BE49-F238E27FC236}">
                  <a16:creationId xmlns:a16="http://schemas.microsoft.com/office/drawing/2014/main" id="{4B1D1F0C-FBE3-DF07-74E1-BD96666709D9}"/>
                </a:ext>
              </a:extLst>
            </p:cNvPr>
            <p:cNvSpPr/>
            <p:nvPr/>
          </p:nvSpPr>
          <p:spPr>
            <a:xfrm rot="10800000">
              <a:off x="4883128" y="1671020"/>
              <a:ext cx="925975" cy="2051840"/>
            </a:xfrm>
            <a:prstGeom prst="bentArrow">
              <a:avLst>
                <a:gd name="adj1" fmla="val 25000"/>
                <a:gd name="adj2" fmla="val 25000"/>
                <a:gd name="adj3" fmla="val 25000"/>
                <a:gd name="adj4" fmla="val 5250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4" name="Flèche : virage 33">
              <a:extLst>
                <a:ext uri="{FF2B5EF4-FFF2-40B4-BE49-F238E27FC236}">
                  <a16:creationId xmlns:a16="http://schemas.microsoft.com/office/drawing/2014/main" id="{71F5260C-5187-56BA-CCAA-4A35A800F0A3}"/>
                </a:ext>
              </a:extLst>
            </p:cNvPr>
            <p:cNvSpPr/>
            <p:nvPr/>
          </p:nvSpPr>
          <p:spPr>
            <a:xfrm rot="10800000" flipH="1">
              <a:off x="6447640" y="1671018"/>
              <a:ext cx="925975" cy="2051840"/>
            </a:xfrm>
            <a:prstGeom prst="bentArrow">
              <a:avLst>
                <a:gd name="adj1" fmla="val 25000"/>
                <a:gd name="adj2" fmla="val 25000"/>
                <a:gd name="adj3" fmla="val 25000"/>
                <a:gd name="adj4" fmla="val 525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pic>
        <p:nvPicPr>
          <p:cNvPr id="1026" name="Picture 2" descr="Dassault Systèmes et Mistral AI s'associent afin d'accélérer l'économie  générative en proposant des solutions industrielles de confiance basées sur  l'IA | Dassault Systèmes">
            <a:extLst>
              <a:ext uri="{FF2B5EF4-FFF2-40B4-BE49-F238E27FC236}">
                <a16:creationId xmlns:a16="http://schemas.microsoft.com/office/drawing/2014/main" id="{57FA9EED-3DAF-8C6A-14C3-DABB3EE691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8179" y="2190949"/>
            <a:ext cx="1794076" cy="6867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F8CC822-23AF-0BE2-9FA1-D1DE221DEB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92" y="4853316"/>
            <a:ext cx="1794076" cy="3854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94A52E2-D748-70B7-DA1E-B83D7AB5F4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5347" y="4575795"/>
            <a:ext cx="1794076" cy="66296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atGPT Vertical Logo PNG, SVG, AI Vector – Free Download">
            <a:extLst>
              <a:ext uri="{FF2B5EF4-FFF2-40B4-BE49-F238E27FC236}">
                <a16:creationId xmlns:a16="http://schemas.microsoft.com/office/drawing/2014/main" id="{DCCFD99B-D58F-FFE4-E177-9AA0C62BE3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9817" y="2405126"/>
            <a:ext cx="1845136" cy="538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36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86B34-A0B3-BBF2-6F2F-09BA9A8ACFD5}"/>
            </a:ext>
          </a:extLst>
        </p:cNvPr>
        <p:cNvGrpSpPr/>
        <p:nvPr/>
      </p:nvGrpSpPr>
      <p:grpSpPr>
        <a:xfrm>
          <a:off x="0" y="0"/>
          <a:ext cx="0" cy="0"/>
          <a:chOff x="0" y="0"/>
          <a:chExt cx="0" cy="0"/>
        </a:xfrm>
      </p:grpSpPr>
      <p:grpSp>
        <p:nvGrpSpPr>
          <p:cNvPr id="2" name="Group 4">
            <a:extLst>
              <a:ext uri="{FF2B5EF4-FFF2-40B4-BE49-F238E27FC236}">
                <a16:creationId xmlns:a16="http://schemas.microsoft.com/office/drawing/2014/main" id="{12CCEBB4-0F31-55D8-C8F9-12E17726C475}"/>
              </a:ext>
            </a:extLst>
          </p:cNvPr>
          <p:cNvGrpSpPr/>
          <p:nvPr/>
        </p:nvGrpSpPr>
        <p:grpSpPr>
          <a:xfrm>
            <a:off x="5160429" y="3854348"/>
            <a:ext cx="1983432" cy="2448447"/>
            <a:chOff x="2168539" y="3038204"/>
            <a:chExt cx="1983432" cy="2448447"/>
          </a:xfrm>
        </p:grpSpPr>
        <p:sp>
          <p:nvSpPr>
            <p:cNvPr id="3" name="Rounded Rectangle 1">
              <a:extLst>
                <a:ext uri="{FF2B5EF4-FFF2-40B4-BE49-F238E27FC236}">
                  <a16:creationId xmlns:a16="http://schemas.microsoft.com/office/drawing/2014/main" id="{EB1960AD-1BC1-AADD-22CB-C29DC29F6EF3}"/>
                </a:ext>
              </a:extLst>
            </p:cNvPr>
            <p:cNvSpPr/>
            <p:nvPr/>
          </p:nvSpPr>
          <p:spPr>
            <a:xfrm>
              <a:off x="2168539" y="4796445"/>
              <a:ext cx="225304" cy="187236"/>
            </a:xfrm>
            <a:custGeom>
              <a:avLst/>
              <a:gdLst/>
              <a:ahLst/>
              <a:cxnLst/>
              <a:rect l="0" t="0" r="0" b="0"/>
              <a:pathLst>
                <a:path w="225304" h="187236">
                  <a:moveTo>
                    <a:pt x="102158" y="0"/>
                  </a:moveTo>
                  <a:cubicBezTo>
                    <a:pt x="103224" y="11722"/>
                    <a:pt x="106800" y="22314"/>
                    <a:pt x="112908" y="29441"/>
                  </a:cubicBezTo>
                  <a:cubicBezTo>
                    <a:pt x="131028" y="50573"/>
                    <a:pt x="199044" y="91119"/>
                    <a:pt x="225304" y="135795"/>
                  </a:cubicBezTo>
                  <a:lnTo>
                    <a:pt x="224679" y="137925"/>
                  </a:lnTo>
                  <a:cubicBezTo>
                    <a:pt x="211530" y="164224"/>
                    <a:pt x="164415" y="179563"/>
                    <a:pt x="142495" y="183949"/>
                  </a:cubicBezTo>
                  <a:cubicBezTo>
                    <a:pt x="110719" y="187236"/>
                    <a:pt x="41901" y="176059"/>
                    <a:pt x="20861" y="105051"/>
                  </a:cubicBezTo>
                  <a:cubicBezTo>
                    <a:pt x="0" y="34622"/>
                    <a:pt x="65800" y="5812"/>
                    <a:pt x="102158" y="0"/>
                  </a:cubicBezTo>
                </a:path>
              </a:pathLst>
            </a:custGeom>
            <a:gradFill rotWithShape="1">
              <a:gsLst>
                <a:gs pos="0">
                  <a:srgbClr val="D9D9D9"/>
                </a:gs>
                <a:gs pos="100000">
                  <a:srgbClr val="BCBCBC"/>
                </a:gs>
              </a:gsLst>
              <a:lin ang="5400000" scaled="1"/>
            </a:gradFill>
            <a:ln>
              <a:noFill/>
            </a:ln>
          </p:spPr>
          <p:txBody>
            <a:bodyPr rtlCol="0" anchor="ctr"/>
            <a:lstStyle/>
            <a:p>
              <a:pPr algn="ctr"/>
              <a:endParaRPr/>
            </a:p>
          </p:txBody>
        </p:sp>
        <p:sp>
          <p:nvSpPr>
            <p:cNvPr id="4" name="Rounded Rectangle 2">
              <a:extLst>
                <a:ext uri="{FF2B5EF4-FFF2-40B4-BE49-F238E27FC236}">
                  <a16:creationId xmlns:a16="http://schemas.microsoft.com/office/drawing/2014/main" id="{74A60C2C-D84C-9DBC-DBF8-01109E8FACE9}"/>
                </a:ext>
              </a:extLst>
            </p:cNvPr>
            <p:cNvSpPr/>
            <p:nvPr/>
          </p:nvSpPr>
          <p:spPr>
            <a:xfrm>
              <a:off x="3763166" y="5331796"/>
              <a:ext cx="171818" cy="154855"/>
            </a:xfrm>
            <a:custGeom>
              <a:avLst/>
              <a:gdLst/>
              <a:ahLst/>
              <a:cxnLst/>
              <a:rect l="0" t="0" r="0" b="0"/>
              <a:pathLst>
                <a:path w="171818" h="154855">
                  <a:moveTo>
                    <a:pt x="131061" y="0"/>
                  </a:moveTo>
                  <a:cubicBezTo>
                    <a:pt x="171818" y="25595"/>
                    <a:pt x="171568" y="73736"/>
                    <a:pt x="168551" y="85820"/>
                  </a:cubicBezTo>
                  <a:cubicBezTo>
                    <a:pt x="165263" y="98970"/>
                    <a:pt x="129102" y="154855"/>
                    <a:pt x="56779" y="131844"/>
                  </a:cubicBezTo>
                  <a:cubicBezTo>
                    <a:pt x="3155" y="114775"/>
                    <a:pt x="0" y="49330"/>
                    <a:pt x="5930" y="11933"/>
                  </a:cubicBezTo>
                  <a:cubicBezTo>
                    <a:pt x="51421" y="26575"/>
                    <a:pt x="105656" y="16542"/>
                    <a:pt x="131061" y="0"/>
                  </a:cubicBezTo>
                </a:path>
              </a:pathLst>
            </a:custGeom>
            <a:gradFill rotWithShape="1">
              <a:gsLst>
                <a:gs pos="0">
                  <a:srgbClr val="D9D9D9"/>
                </a:gs>
                <a:gs pos="100000">
                  <a:srgbClr val="BCBCBC"/>
                </a:gs>
              </a:gsLst>
              <a:lin ang="5400000" scaled="1"/>
            </a:gradFill>
            <a:ln>
              <a:noFill/>
            </a:ln>
          </p:spPr>
          <p:txBody>
            <a:bodyPr rtlCol="0" anchor="ctr"/>
            <a:lstStyle/>
            <a:p>
              <a:pPr algn="ctr"/>
              <a:endParaRPr/>
            </a:p>
          </p:txBody>
        </p:sp>
        <p:sp>
          <p:nvSpPr>
            <p:cNvPr id="5" name="Rounded Rectangle 3">
              <a:extLst>
                <a:ext uri="{FF2B5EF4-FFF2-40B4-BE49-F238E27FC236}">
                  <a16:creationId xmlns:a16="http://schemas.microsoft.com/office/drawing/2014/main" id="{8CD8F36F-847F-DEA9-92ED-46D4CD37F4A3}"/>
                </a:ext>
              </a:extLst>
            </p:cNvPr>
            <p:cNvSpPr/>
            <p:nvPr/>
          </p:nvSpPr>
          <p:spPr>
            <a:xfrm>
              <a:off x="2261723" y="3038204"/>
              <a:ext cx="1890248" cy="2326814"/>
            </a:xfrm>
            <a:custGeom>
              <a:avLst/>
              <a:gdLst/>
              <a:ahLst/>
              <a:cxnLst/>
              <a:rect l="0" t="0" r="0" b="0"/>
              <a:pathLst>
                <a:path w="1890248" h="2326814">
                  <a:moveTo>
                    <a:pt x="1502336" y="400404"/>
                  </a:moveTo>
                  <a:cubicBezTo>
                    <a:pt x="1474946" y="354380"/>
                    <a:pt x="1420152" y="232747"/>
                    <a:pt x="1413577" y="183436"/>
                  </a:cubicBezTo>
                  <a:cubicBezTo>
                    <a:pt x="1407002" y="134125"/>
                    <a:pt x="1383990" y="101251"/>
                    <a:pt x="1380703" y="61802"/>
                  </a:cubicBezTo>
                  <a:cubicBezTo>
                    <a:pt x="1369749" y="39882"/>
                    <a:pt x="1324817" y="0"/>
                    <a:pt x="1232771" y="15779"/>
                  </a:cubicBezTo>
                  <a:cubicBezTo>
                    <a:pt x="1219621" y="23669"/>
                    <a:pt x="1266742" y="69475"/>
                    <a:pt x="1291944" y="91389"/>
                  </a:cubicBezTo>
                  <a:cubicBezTo>
                    <a:pt x="1299616" y="99062"/>
                    <a:pt x="1308380" y="119003"/>
                    <a:pt x="1282081" y="137412"/>
                  </a:cubicBezTo>
                  <a:cubicBezTo>
                    <a:pt x="1255782" y="155822"/>
                    <a:pt x="1225104" y="151660"/>
                    <a:pt x="1213046" y="147275"/>
                  </a:cubicBezTo>
                  <a:cubicBezTo>
                    <a:pt x="1202093" y="152751"/>
                    <a:pt x="1186747" y="167656"/>
                    <a:pt x="1213046" y="183436"/>
                  </a:cubicBezTo>
                  <a:cubicBezTo>
                    <a:pt x="1245920" y="203160"/>
                    <a:pt x="1291944" y="180148"/>
                    <a:pt x="1318243" y="206448"/>
                  </a:cubicBezTo>
                  <a:cubicBezTo>
                    <a:pt x="1344542" y="232747"/>
                    <a:pt x="1367553" y="265621"/>
                    <a:pt x="1374128" y="318219"/>
                  </a:cubicBezTo>
                  <a:cubicBezTo>
                    <a:pt x="1379388" y="360297"/>
                    <a:pt x="1380703" y="408076"/>
                    <a:pt x="1380703" y="426703"/>
                  </a:cubicBezTo>
                  <a:cubicBezTo>
                    <a:pt x="1365976" y="435230"/>
                    <a:pt x="1340827" y="457690"/>
                    <a:pt x="1327368" y="492450"/>
                  </a:cubicBezTo>
                  <a:cubicBezTo>
                    <a:pt x="1321806" y="506823"/>
                    <a:pt x="1318243" y="523299"/>
                    <a:pt x="1318243" y="541761"/>
                  </a:cubicBezTo>
                  <a:cubicBezTo>
                    <a:pt x="1318243" y="581210"/>
                    <a:pt x="1298518" y="637096"/>
                    <a:pt x="1305093" y="673257"/>
                  </a:cubicBezTo>
                  <a:cubicBezTo>
                    <a:pt x="1305093" y="689694"/>
                    <a:pt x="1314955" y="758729"/>
                    <a:pt x="1354404" y="758729"/>
                  </a:cubicBezTo>
                  <a:cubicBezTo>
                    <a:pt x="1393853" y="758729"/>
                    <a:pt x="1407002" y="762016"/>
                    <a:pt x="1410290" y="775166"/>
                  </a:cubicBezTo>
                  <a:cubicBezTo>
                    <a:pt x="1412919" y="785686"/>
                    <a:pt x="1411388" y="810229"/>
                    <a:pt x="1410290" y="821189"/>
                  </a:cubicBezTo>
                  <a:cubicBezTo>
                    <a:pt x="1387278" y="817902"/>
                    <a:pt x="1341254" y="804752"/>
                    <a:pt x="1298518" y="808040"/>
                  </a:cubicBezTo>
                  <a:cubicBezTo>
                    <a:pt x="1243303" y="817902"/>
                    <a:pt x="1111137" y="867213"/>
                    <a:pt x="1058539" y="906661"/>
                  </a:cubicBezTo>
                  <a:cubicBezTo>
                    <a:pt x="1042102" y="913236"/>
                    <a:pt x="1035527" y="906661"/>
                    <a:pt x="999366" y="863925"/>
                  </a:cubicBezTo>
                  <a:cubicBezTo>
                    <a:pt x="967590" y="827764"/>
                    <a:pt x="892854" y="726513"/>
                    <a:pt x="848146" y="610796"/>
                  </a:cubicBezTo>
                  <a:cubicBezTo>
                    <a:pt x="792260" y="466151"/>
                    <a:pt x="664052" y="429990"/>
                    <a:pt x="644328" y="433277"/>
                  </a:cubicBezTo>
                  <a:cubicBezTo>
                    <a:pt x="624603" y="436565"/>
                    <a:pt x="598304" y="472726"/>
                    <a:pt x="604879" y="485876"/>
                  </a:cubicBezTo>
                  <a:cubicBezTo>
                    <a:pt x="611454" y="499025"/>
                    <a:pt x="650903" y="551623"/>
                    <a:pt x="667340" y="581210"/>
                  </a:cubicBezTo>
                  <a:cubicBezTo>
                    <a:pt x="683776" y="610796"/>
                    <a:pt x="723225" y="643670"/>
                    <a:pt x="749524" y="660107"/>
                  </a:cubicBezTo>
                  <a:cubicBezTo>
                    <a:pt x="775823" y="676544"/>
                    <a:pt x="775823" y="686406"/>
                    <a:pt x="792260" y="748867"/>
                  </a:cubicBezTo>
                  <a:cubicBezTo>
                    <a:pt x="808697" y="811327"/>
                    <a:pt x="874445" y="985559"/>
                    <a:pt x="930331" y="1034870"/>
                  </a:cubicBezTo>
                  <a:cubicBezTo>
                    <a:pt x="986216" y="1084181"/>
                    <a:pt x="1009228" y="1067744"/>
                    <a:pt x="1055251" y="1051307"/>
                  </a:cubicBezTo>
                  <a:cubicBezTo>
                    <a:pt x="1101275" y="1034870"/>
                    <a:pt x="1239345" y="992134"/>
                    <a:pt x="1272219" y="1008571"/>
                  </a:cubicBezTo>
                  <a:cubicBezTo>
                    <a:pt x="1286072" y="1015494"/>
                    <a:pt x="1287085" y="1023587"/>
                    <a:pt x="1284113" y="1041444"/>
                  </a:cubicBezTo>
                  <a:cubicBezTo>
                    <a:pt x="1280030" y="1065982"/>
                    <a:pt x="1268419" y="1108954"/>
                    <a:pt x="1272219" y="1192664"/>
                  </a:cubicBezTo>
                  <a:cubicBezTo>
                    <a:pt x="1272219" y="1245263"/>
                    <a:pt x="1249207" y="1291286"/>
                    <a:pt x="1249207" y="1363609"/>
                  </a:cubicBezTo>
                  <a:cubicBezTo>
                    <a:pt x="1249207" y="1403057"/>
                    <a:pt x="1186747" y="1422782"/>
                    <a:pt x="1170310" y="1475380"/>
                  </a:cubicBezTo>
                  <a:cubicBezTo>
                    <a:pt x="1157161" y="1491159"/>
                    <a:pt x="1123195" y="1506058"/>
                    <a:pt x="1107850" y="1511541"/>
                  </a:cubicBezTo>
                  <a:cubicBezTo>
                    <a:pt x="1073884" y="1494006"/>
                    <a:pt x="982929" y="1458943"/>
                    <a:pt x="956630" y="1439219"/>
                  </a:cubicBezTo>
                  <a:cubicBezTo>
                    <a:pt x="930331" y="1419494"/>
                    <a:pt x="894169" y="1357034"/>
                    <a:pt x="818559" y="1327447"/>
                  </a:cubicBezTo>
                  <a:cubicBezTo>
                    <a:pt x="773930" y="1305133"/>
                    <a:pt x="689273" y="1269353"/>
                    <a:pt x="631178" y="1263264"/>
                  </a:cubicBezTo>
                  <a:cubicBezTo>
                    <a:pt x="612249" y="1261285"/>
                    <a:pt x="596141" y="1262456"/>
                    <a:pt x="585155" y="1268274"/>
                  </a:cubicBezTo>
                  <a:cubicBezTo>
                    <a:pt x="529269" y="1297861"/>
                    <a:pt x="486533" y="1386620"/>
                    <a:pt x="407636" y="1458943"/>
                  </a:cubicBezTo>
                  <a:cubicBezTo>
                    <a:pt x="344518" y="1516801"/>
                    <a:pt x="249841" y="1636462"/>
                    <a:pt x="210392" y="1689060"/>
                  </a:cubicBezTo>
                  <a:cubicBezTo>
                    <a:pt x="190668" y="1690158"/>
                    <a:pt x="145960" y="1694977"/>
                    <a:pt x="124920" y="1705497"/>
                  </a:cubicBezTo>
                  <a:cubicBezTo>
                    <a:pt x="95334" y="1705497"/>
                    <a:pt x="72322" y="1672623"/>
                    <a:pt x="39448" y="1689060"/>
                  </a:cubicBezTo>
                  <a:cubicBezTo>
                    <a:pt x="6574" y="1705497"/>
                    <a:pt x="0" y="1764670"/>
                    <a:pt x="19724" y="1787682"/>
                  </a:cubicBezTo>
                  <a:cubicBezTo>
                    <a:pt x="39448" y="1810694"/>
                    <a:pt x="118346" y="1856717"/>
                    <a:pt x="138070" y="1906028"/>
                  </a:cubicBezTo>
                  <a:cubicBezTo>
                    <a:pt x="157794" y="1955339"/>
                    <a:pt x="223542" y="1935614"/>
                    <a:pt x="233404" y="1906028"/>
                  </a:cubicBezTo>
                  <a:cubicBezTo>
                    <a:pt x="241294" y="1882359"/>
                    <a:pt x="232313" y="1845757"/>
                    <a:pt x="226829" y="1830418"/>
                  </a:cubicBezTo>
                  <a:cubicBezTo>
                    <a:pt x="250939" y="1799733"/>
                    <a:pt x="319534" y="1728509"/>
                    <a:pt x="401061" y="1689060"/>
                  </a:cubicBezTo>
                  <a:cubicBezTo>
                    <a:pt x="482588" y="1649611"/>
                    <a:pt x="542419" y="1589340"/>
                    <a:pt x="562143" y="1564139"/>
                  </a:cubicBezTo>
                  <a:cubicBezTo>
                    <a:pt x="574201" y="1572904"/>
                    <a:pt x="608824" y="1591753"/>
                    <a:pt x="650903" y="1597013"/>
                  </a:cubicBezTo>
                  <a:cubicBezTo>
                    <a:pt x="703501" y="1603588"/>
                    <a:pt x="917181" y="1725221"/>
                    <a:pt x="966492" y="1764670"/>
                  </a:cubicBezTo>
                  <a:cubicBezTo>
                    <a:pt x="1015803" y="1804119"/>
                    <a:pt x="1074976" y="1876441"/>
                    <a:pt x="1157161" y="1876441"/>
                  </a:cubicBezTo>
                  <a:cubicBezTo>
                    <a:pt x="1239345" y="1876441"/>
                    <a:pt x="1331392" y="1899453"/>
                    <a:pt x="1380703" y="1929040"/>
                  </a:cubicBezTo>
                  <a:cubicBezTo>
                    <a:pt x="1420152" y="1952709"/>
                    <a:pt x="1486997" y="1956437"/>
                    <a:pt x="1515486" y="1955339"/>
                  </a:cubicBezTo>
                  <a:cubicBezTo>
                    <a:pt x="1485899" y="2000264"/>
                    <a:pt x="1414234" y="2099984"/>
                    <a:pt x="1364266" y="2139433"/>
                  </a:cubicBezTo>
                  <a:cubicBezTo>
                    <a:pt x="1353313" y="2140530"/>
                    <a:pt x="1329420" y="2149295"/>
                    <a:pt x="1321530" y="2175594"/>
                  </a:cubicBezTo>
                  <a:cubicBezTo>
                    <a:pt x="1311668" y="2208468"/>
                    <a:pt x="1311668" y="2277503"/>
                    <a:pt x="1337967" y="2280790"/>
                  </a:cubicBezTo>
                  <a:cubicBezTo>
                    <a:pt x="1364266" y="2284078"/>
                    <a:pt x="1439876" y="2280790"/>
                    <a:pt x="1502336" y="2303802"/>
                  </a:cubicBezTo>
                  <a:cubicBezTo>
                    <a:pt x="1564797" y="2326814"/>
                    <a:pt x="1646982" y="2300515"/>
                    <a:pt x="1646982" y="2274215"/>
                  </a:cubicBezTo>
                  <a:cubicBezTo>
                    <a:pt x="1646982" y="2247916"/>
                    <a:pt x="1623970" y="2215042"/>
                    <a:pt x="1574659" y="2208468"/>
                  </a:cubicBezTo>
                  <a:cubicBezTo>
                    <a:pt x="1535210" y="2203208"/>
                    <a:pt x="1503434" y="2184358"/>
                    <a:pt x="1492474" y="2175594"/>
                  </a:cubicBezTo>
                  <a:cubicBezTo>
                    <a:pt x="1557131" y="2110944"/>
                    <a:pt x="1700237" y="1971118"/>
                    <a:pt x="1755465" y="1929040"/>
                  </a:cubicBezTo>
                  <a:cubicBezTo>
                    <a:pt x="1824501" y="1876441"/>
                    <a:pt x="1890248" y="1790969"/>
                    <a:pt x="1886961" y="1728509"/>
                  </a:cubicBezTo>
                  <a:cubicBezTo>
                    <a:pt x="1883674" y="1666048"/>
                    <a:pt x="1854087" y="1633175"/>
                    <a:pt x="1811351" y="1629887"/>
                  </a:cubicBezTo>
                  <a:cubicBezTo>
                    <a:pt x="1777162" y="1627257"/>
                    <a:pt x="1674379" y="1628789"/>
                    <a:pt x="1627257" y="1629887"/>
                  </a:cubicBezTo>
                  <a:cubicBezTo>
                    <a:pt x="1628355" y="1579478"/>
                    <a:pt x="1643694" y="1448423"/>
                    <a:pt x="1696292" y="1327447"/>
                  </a:cubicBezTo>
                  <a:cubicBezTo>
                    <a:pt x="1748891" y="1206471"/>
                    <a:pt x="1744512" y="1119244"/>
                    <a:pt x="1735741" y="1090755"/>
                  </a:cubicBezTo>
                  <a:cubicBezTo>
                    <a:pt x="1748891" y="1085272"/>
                    <a:pt x="1772560" y="1053279"/>
                    <a:pt x="1762040" y="969122"/>
                  </a:cubicBezTo>
                  <a:cubicBezTo>
                    <a:pt x="1748891" y="863925"/>
                    <a:pt x="1739028" y="811327"/>
                    <a:pt x="1729166" y="755442"/>
                  </a:cubicBezTo>
                  <a:cubicBezTo>
                    <a:pt x="1721277" y="710733"/>
                    <a:pt x="1695201" y="688596"/>
                    <a:pt x="1683143" y="683119"/>
                  </a:cubicBezTo>
                  <a:cubicBezTo>
                    <a:pt x="1683143" y="677642"/>
                    <a:pt x="1681170" y="664052"/>
                    <a:pt x="1673281" y="653533"/>
                  </a:cubicBezTo>
                  <a:cubicBezTo>
                    <a:pt x="1683143" y="628331"/>
                    <a:pt x="1698265" y="564773"/>
                    <a:pt x="1679855" y="512175"/>
                  </a:cubicBezTo>
                  <a:cubicBezTo>
                    <a:pt x="1656844" y="446427"/>
                    <a:pt x="1584521" y="400404"/>
                    <a:pt x="1502336" y="400404"/>
                  </a:cubicBezTo>
                </a:path>
              </a:pathLst>
            </a:custGeom>
            <a:solidFill>
              <a:srgbClr val="974347"/>
            </a:solidFill>
            <a:ln>
              <a:solidFill>
                <a:schemeClr val="tx1"/>
              </a:solidFill>
            </a:ln>
          </p:spPr>
          <p:txBody>
            <a:bodyPr rtlCol="0" anchor="ctr"/>
            <a:lstStyle/>
            <a:p>
              <a:pPr algn="ctr"/>
              <a:endParaRPr/>
            </a:p>
          </p:txBody>
        </p:sp>
      </p:grpSp>
      <p:grpSp>
        <p:nvGrpSpPr>
          <p:cNvPr id="6" name="Group 8">
            <a:extLst>
              <a:ext uri="{FF2B5EF4-FFF2-40B4-BE49-F238E27FC236}">
                <a16:creationId xmlns:a16="http://schemas.microsoft.com/office/drawing/2014/main" id="{902B100A-67F3-DAF8-087F-28E2EF46A0F1}"/>
              </a:ext>
            </a:extLst>
          </p:cNvPr>
          <p:cNvGrpSpPr/>
          <p:nvPr/>
        </p:nvGrpSpPr>
        <p:grpSpPr>
          <a:xfrm>
            <a:off x="5160426" y="3854346"/>
            <a:ext cx="1983438" cy="2448448"/>
            <a:chOff x="2168536" y="3038202"/>
            <a:chExt cx="1983438" cy="2448448"/>
          </a:xfrm>
        </p:grpSpPr>
        <p:sp>
          <p:nvSpPr>
            <p:cNvPr id="7" name="Rounded Rectangle 5">
              <a:extLst>
                <a:ext uri="{FF2B5EF4-FFF2-40B4-BE49-F238E27FC236}">
                  <a16:creationId xmlns:a16="http://schemas.microsoft.com/office/drawing/2014/main" id="{D7B1A3CD-413F-C189-561E-C556606B5E71}"/>
                </a:ext>
              </a:extLst>
            </p:cNvPr>
            <p:cNvSpPr/>
            <p:nvPr/>
          </p:nvSpPr>
          <p:spPr>
            <a:xfrm>
              <a:off x="2168536" y="4796447"/>
              <a:ext cx="225307" cy="187233"/>
            </a:xfrm>
            <a:custGeom>
              <a:avLst/>
              <a:gdLst/>
              <a:ahLst/>
              <a:cxnLst/>
              <a:rect l="0" t="0" r="0" b="0"/>
              <a:pathLst>
                <a:path w="225307" h="187233">
                  <a:moveTo>
                    <a:pt x="102159" y="0"/>
                  </a:moveTo>
                  <a:cubicBezTo>
                    <a:pt x="103223" y="11718"/>
                    <a:pt x="106805" y="22312"/>
                    <a:pt x="112913" y="29438"/>
                  </a:cubicBezTo>
                  <a:cubicBezTo>
                    <a:pt x="131028" y="50572"/>
                    <a:pt x="199046" y="91117"/>
                    <a:pt x="225307" y="135790"/>
                  </a:cubicBezTo>
                  <a:lnTo>
                    <a:pt x="224685" y="137922"/>
                  </a:lnTo>
                  <a:cubicBezTo>
                    <a:pt x="211535" y="164221"/>
                    <a:pt x="164416" y="179563"/>
                    <a:pt x="142500" y="183945"/>
                  </a:cubicBezTo>
                  <a:cubicBezTo>
                    <a:pt x="110722" y="187233"/>
                    <a:pt x="41906" y="176056"/>
                    <a:pt x="20867" y="105048"/>
                  </a:cubicBezTo>
                  <a:cubicBezTo>
                    <a:pt x="0" y="34622"/>
                    <a:pt x="65800" y="5812"/>
                    <a:pt x="102159" y="0"/>
                  </a:cubicBezTo>
                  <a:close/>
                </a:path>
              </a:pathLst>
            </a:custGeom>
            <a:noFill/>
            <a:ln w="9861">
              <a:solidFill>
                <a:srgbClr val="484848"/>
              </a:solidFill>
            </a:ln>
          </p:spPr>
          <p:txBody>
            <a:bodyPr rtlCol="0" anchor="ctr"/>
            <a:lstStyle/>
            <a:p>
              <a:pPr algn="ctr"/>
              <a:endParaRPr/>
            </a:p>
          </p:txBody>
        </p:sp>
        <p:sp>
          <p:nvSpPr>
            <p:cNvPr id="8" name="Rounded Rectangle 6">
              <a:extLst>
                <a:ext uri="{FF2B5EF4-FFF2-40B4-BE49-F238E27FC236}">
                  <a16:creationId xmlns:a16="http://schemas.microsoft.com/office/drawing/2014/main" id="{476EEACA-9286-8B3E-D507-269341B15C83}"/>
                </a:ext>
              </a:extLst>
            </p:cNvPr>
            <p:cNvSpPr/>
            <p:nvPr/>
          </p:nvSpPr>
          <p:spPr>
            <a:xfrm>
              <a:off x="3763163" y="5331797"/>
              <a:ext cx="171821" cy="154853"/>
            </a:xfrm>
            <a:custGeom>
              <a:avLst/>
              <a:gdLst/>
              <a:ahLst/>
              <a:cxnLst/>
              <a:rect l="0" t="0" r="0" b="0"/>
              <a:pathLst>
                <a:path w="171821" h="154853">
                  <a:moveTo>
                    <a:pt x="131063" y="0"/>
                  </a:moveTo>
                  <a:cubicBezTo>
                    <a:pt x="171821" y="25592"/>
                    <a:pt x="171573" y="73738"/>
                    <a:pt x="168553" y="85818"/>
                  </a:cubicBezTo>
                  <a:cubicBezTo>
                    <a:pt x="165266" y="98968"/>
                    <a:pt x="129104" y="154853"/>
                    <a:pt x="56782" y="131842"/>
                  </a:cubicBezTo>
                  <a:cubicBezTo>
                    <a:pt x="3158" y="114777"/>
                    <a:pt x="0" y="49331"/>
                    <a:pt x="5930" y="11929"/>
                  </a:cubicBezTo>
                  <a:cubicBezTo>
                    <a:pt x="51424" y="26575"/>
                    <a:pt x="105656" y="16538"/>
                    <a:pt x="131063" y="0"/>
                  </a:cubicBezTo>
                  <a:close/>
                </a:path>
              </a:pathLst>
            </a:custGeom>
            <a:noFill/>
            <a:ln w="9861">
              <a:solidFill>
                <a:srgbClr val="484848"/>
              </a:solidFill>
            </a:ln>
          </p:spPr>
          <p:txBody>
            <a:bodyPr rtlCol="0" anchor="ctr"/>
            <a:lstStyle/>
            <a:p>
              <a:pPr algn="ctr"/>
              <a:endParaRPr/>
            </a:p>
          </p:txBody>
        </p:sp>
        <p:sp>
          <p:nvSpPr>
            <p:cNvPr id="9" name="Rounded Rectangle 7">
              <a:extLst>
                <a:ext uri="{FF2B5EF4-FFF2-40B4-BE49-F238E27FC236}">
                  <a16:creationId xmlns:a16="http://schemas.microsoft.com/office/drawing/2014/main" id="{02BEF4D7-FD86-99D2-475D-63EC6AB33EA3}"/>
                </a:ext>
              </a:extLst>
            </p:cNvPr>
            <p:cNvSpPr/>
            <p:nvPr/>
          </p:nvSpPr>
          <p:spPr>
            <a:xfrm>
              <a:off x="2261726" y="3038202"/>
              <a:ext cx="1890248" cy="2326815"/>
            </a:xfrm>
            <a:custGeom>
              <a:avLst/>
              <a:gdLst/>
              <a:ahLst/>
              <a:cxnLst/>
              <a:rect l="0" t="0" r="0" b="0"/>
              <a:pathLst>
                <a:path w="1890248" h="2326815">
                  <a:moveTo>
                    <a:pt x="1502336" y="400404"/>
                  </a:moveTo>
                  <a:cubicBezTo>
                    <a:pt x="1474941" y="354380"/>
                    <a:pt x="1420152" y="232747"/>
                    <a:pt x="1413577" y="183436"/>
                  </a:cubicBezTo>
                  <a:cubicBezTo>
                    <a:pt x="1407002" y="134125"/>
                    <a:pt x="1383990" y="101251"/>
                    <a:pt x="1380703" y="61802"/>
                  </a:cubicBezTo>
                  <a:cubicBezTo>
                    <a:pt x="1369745" y="39887"/>
                    <a:pt x="1324817" y="0"/>
                    <a:pt x="1232771" y="15779"/>
                  </a:cubicBezTo>
                  <a:cubicBezTo>
                    <a:pt x="1219621" y="23669"/>
                    <a:pt x="1266740" y="69474"/>
                    <a:pt x="1291944" y="91390"/>
                  </a:cubicBezTo>
                  <a:cubicBezTo>
                    <a:pt x="1299614" y="99060"/>
                    <a:pt x="1308380" y="119004"/>
                    <a:pt x="1282081" y="137414"/>
                  </a:cubicBezTo>
                  <a:cubicBezTo>
                    <a:pt x="1255782" y="155823"/>
                    <a:pt x="1222908" y="140701"/>
                    <a:pt x="1213046" y="147276"/>
                  </a:cubicBezTo>
                  <a:cubicBezTo>
                    <a:pt x="1202088" y="152754"/>
                    <a:pt x="1186747" y="167656"/>
                    <a:pt x="1213046" y="183436"/>
                  </a:cubicBezTo>
                  <a:cubicBezTo>
                    <a:pt x="1245920" y="203161"/>
                    <a:pt x="1291944" y="180150"/>
                    <a:pt x="1318243" y="206449"/>
                  </a:cubicBezTo>
                  <a:cubicBezTo>
                    <a:pt x="1344542" y="232748"/>
                    <a:pt x="1367553" y="265622"/>
                    <a:pt x="1374128" y="318220"/>
                  </a:cubicBezTo>
                  <a:cubicBezTo>
                    <a:pt x="1379388" y="360299"/>
                    <a:pt x="1380703" y="408075"/>
                    <a:pt x="1380703" y="426704"/>
                  </a:cubicBezTo>
                  <a:moveTo>
                    <a:pt x="1502336" y="400404"/>
                  </a:moveTo>
                  <a:cubicBezTo>
                    <a:pt x="1584521" y="400404"/>
                    <a:pt x="1656844" y="446428"/>
                    <a:pt x="1679855" y="512176"/>
                  </a:cubicBezTo>
                  <a:cubicBezTo>
                    <a:pt x="1698265" y="564774"/>
                    <a:pt x="1683143" y="628330"/>
                    <a:pt x="1673281" y="653534"/>
                  </a:cubicBezTo>
                  <a:moveTo>
                    <a:pt x="1380703" y="426704"/>
                  </a:moveTo>
                  <a:cubicBezTo>
                    <a:pt x="1407002" y="411477"/>
                    <a:pt x="1457628" y="400404"/>
                    <a:pt x="1502336" y="400404"/>
                  </a:cubicBezTo>
                  <a:moveTo>
                    <a:pt x="1380703" y="426704"/>
                  </a:moveTo>
                  <a:cubicBezTo>
                    <a:pt x="1365973" y="435231"/>
                    <a:pt x="1340822" y="457691"/>
                    <a:pt x="1327368" y="492452"/>
                  </a:cubicBezTo>
                  <a:moveTo>
                    <a:pt x="1410290" y="821191"/>
                  </a:moveTo>
                  <a:cubicBezTo>
                    <a:pt x="1411386" y="810232"/>
                    <a:pt x="1412919" y="785687"/>
                    <a:pt x="1410290" y="775167"/>
                  </a:cubicBezTo>
                  <a:cubicBezTo>
                    <a:pt x="1407002" y="762018"/>
                    <a:pt x="1393853" y="758730"/>
                    <a:pt x="1354404" y="758730"/>
                  </a:cubicBezTo>
                  <a:cubicBezTo>
                    <a:pt x="1314955" y="758730"/>
                    <a:pt x="1305093" y="689695"/>
                    <a:pt x="1305093" y="673258"/>
                  </a:cubicBezTo>
                  <a:cubicBezTo>
                    <a:pt x="1298518" y="637097"/>
                    <a:pt x="1318243" y="581211"/>
                    <a:pt x="1318243" y="541763"/>
                  </a:cubicBezTo>
                  <a:cubicBezTo>
                    <a:pt x="1318243" y="523299"/>
                    <a:pt x="1321806" y="506824"/>
                    <a:pt x="1327368" y="492452"/>
                  </a:cubicBezTo>
                  <a:moveTo>
                    <a:pt x="1410290" y="821191"/>
                  </a:moveTo>
                  <a:cubicBezTo>
                    <a:pt x="1367553" y="811329"/>
                    <a:pt x="1328284" y="803439"/>
                    <a:pt x="1284108" y="811329"/>
                  </a:cubicBezTo>
                  <a:cubicBezTo>
                    <a:pt x="1228889" y="821191"/>
                    <a:pt x="1111137" y="867214"/>
                    <a:pt x="1058539" y="906663"/>
                  </a:cubicBezTo>
                  <a:cubicBezTo>
                    <a:pt x="1042102" y="913238"/>
                    <a:pt x="1035527" y="906663"/>
                    <a:pt x="999366" y="863927"/>
                  </a:cubicBezTo>
                  <a:cubicBezTo>
                    <a:pt x="967588" y="827765"/>
                    <a:pt x="892854" y="726514"/>
                    <a:pt x="848146" y="610798"/>
                  </a:cubicBezTo>
                  <a:cubicBezTo>
                    <a:pt x="792260" y="466153"/>
                    <a:pt x="664052" y="429991"/>
                    <a:pt x="644328" y="433279"/>
                  </a:cubicBezTo>
                  <a:cubicBezTo>
                    <a:pt x="624603" y="436566"/>
                    <a:pt x="598304" y="472727"/>
                    <a:pt x="604879" y="485877"/>
                  </a:cubicBezTo>
                  <a:cubicBezTo>
                    <a:pt x="611454" y="499027"/>
                    <a:pt x="650903" y="551625"/>
                    <a:pt x="667340" y="581211"/>
                  </a:cubicBezTo>
                  <a:cubicBezTo>
                    <a:pt x="683776" y="610798"/>
                    <a:pt x="723225" y="643672"/>
                    <a:pt x="749524" y="660109"/>
                  </a:cubicBezTo>
                  <a:cubicBezTo>
                    <a:pt x="775823" y="676546"/>
                    <a:pt x="775823" y="686408"/>
                    <a:pt x="792260" y="748868"/>
                  </a:cubicBezTo>
                  <a:cubicBezTo>
                    <a:pt x="808697" y="811329"/>
                    <a:pt x="874445" y="985560"/>
                    <a:pt x="930331" y="1034871"/>
                  </a:cubicBezTo>
                  <a:cubicBezTo>
                    <a:pt x="986216" y="1084182"/>
                    <a:pt x="1009228" y="1067745"/>
                    <a:pt x="1055251" y="1051308"/>
                  </a:cubicBezTo>
                  <a:cubicBezTo>
                    <a:pt x="1101275" y="1034871"/>
                    <a:pt x="1239345" y="992135"/>
                    <a:pt x="1272219" y="1008572"/>
                  </a:cubicBezTo>
                  <a:cubicBezTo>
                    <a:pt x="1286068" y="1015496"/>
                    <a:pt x="1287081" y="1023587"/>
                    <a:pt x="1284108" y="1041446"/>
                  </a:cubicBezTo>
                  <a:moveTo>
                    <a:pt x="1410290" y="821191"/>
                  </a:moveTo>
                  <a:cubicBezTo>
                    <a:pt x="1435351" y="821191"/>
                    <a:pt x="1455931" y="825817"/>
                    <a:pt x="1472750" y="833566"/>
                  </a:cubicBezTo>
                  <a:moveTo>
                    <a:pt x="1107850" y="1511542"/>
                  </a:moveTo>
                  <a:cubicBezTo>
                    <a:pt x="1123191" y="1506063"/>
                    <a:pt x="1157161" y="1491161"/>
                    <a:pt x="1170310" y="1475381"/>
                  </a:cubicBezTo>
                  <a:cubicBezTo>
                    <a:pt x="1186747" y="1422783"/>
                    <a:pt x="1249207" y="1403059"/>
                    <a:pt x="1249207" y="1363610"/>
                  </a:cubicBezTo>
                  <a:cubicBezTo>
                    <a:pt x="1249207" y="1291287"/>
                    <a:pt x="1272219" y="1245264"/>
                    <a:pt x="1272219" y="1192666"/>
                  </a:cubicBezTo>
                  <a:cubicBezTo>
                    <a:pt x="1268414" y="1108953"/>
                    <a:pt x="1280024" y="1065981"/>
                    <a:pt x="1284108" y="1041446"/>
                  </a:cubicBezTo>
                  <a:moveTo>
                    <a:pt x="1107850" y="1511542"/>
                  </a:moveTo>
                  <a:cubicBezTo>
                    <a:pt x="1073880" y="1494009"/>
                    <a:pt x="982929" y="1458944"/>
                    <a:pt x="956630" y="1439220"/>
                  </a:cubicBezTo>
                  <a:cubicBezTo>
                    <a:pt x="930331" y="1419496"/>
                    <a:pt x="894169" y="1357035"/>
                    <a:pt x="818559" y="1327449"/>
                  </a:cubicBezTo>
                  <a:cubicBezTo>
                    <a:pt x="773928" y="1305133"/>
                    <a:pt x="689274" y="1269351"/>
                    <a:pt x="631178" y="1263269"/>
                  </a:cubicBezTo>
                  <a:moveTo>
                    <a:pt x="1107850" y="1511542"/>
                  </a:moveTo>
                  <a:cubicBezTo>
                    <a:pt x="1104562" y="1558661"/>
                    <a:pt x="1153216" y="1667365"/>
                    <a:pt x="1374128" y="1725223"/>
                  </a:cubicBezTo>
                  <a:cubicBezTo>
                    <a:pt x="1561509" y="1781108"/>
                    <a:pt x="1633832" y="1771246"/>
                    <a:pt x="1630545" y="1728510"/>
                  </a:cubicBezTo>
                  <a:cubicBezTo>
                    <a:pt x="1627915" y="1694321"/>
                    <a:pt x="1627257" y="1648517"/>
                    <a:pt x="1627257" y="1629888"/>
                  </a:cubicBezTo>
                  <a:moveTo>
                    <a:pt x="210392" y="1689061"/>
                  </a:moveTo>
                  <a:cubicBezTo>
                    <a:pt x="249841" y="1636463"/>
                    <a:pt x="344518" y="1516802"/>
                    <a:pt x="407636" y="1458944"/>
                  </a:cubicBezTo>
                  <a:cubicBezTo>
                    <a:pt x="486533" y="1386622"/>
                    <a:pt x="529269" y="1297862"/>
                    <a:pt x="585155" y="1268276"/>
                  </a:cubicBezTo>
                  <a:cubicBezTo>
                    <a:pt x="596142" y="1262459"/>
                    <a:pt x="612250" y="1261288"/>
                    <a:pt x="631178" y="1263269"/>
                  </a:cubicBezTo>
                  <a:moveTo>
                    <a:pt x="210392" y="1689061"/>
                  </a:moveTo>
                  <a:cubicBezTo>
                    <a:pt x="190668" y="1690157"/>
                    <a:pt x="145960" y="1694979"/>
                    <a:pt x="124920" y="1705498"/>
                  </a:cubicBezTo>
                  <a:cubicBezTo>
                    <a:pt x="95334" y="1705498"/>
                    <a:pt x="72322" y="1672625"/>
                    <a:pt x="39448" y="1689061"/>
                  </a:cubicBezTo>
                  <a:cubicBezTo>
                    <a:pt x="6574" y="1705498"/>
                    <a:pt x="0" y="1764671"/>
                    <a:pt x="19724" y="1787683"/>
                  </a:cubicBezTo>
                  <a:cubicBezTo>
                    <a:pt x="39448" y="1810695"/>
                    <a:pt x="118346" y="1856718"/>
                    <a:pt x="138070" y="1906029"/>
                  </a:cubicBezTo>
                  <a:cubicBezTo>
                    <a:pt x="157794" y="1955340"/>
                    <a:pt x="223542" y="1935616"/>
                    <a:pt x="233404" y="1906029"/>
                  </a:cubicBezTo>
                  <a:cubicBezTo>
                    <a:pt x="241294" y="1882360"/>
                    <a:pt x="232308" y="1845760"/>
                    <a:pt x="226829" y="1830419"/>
                  </a:cubicBezTo>
                  <a:moveTo>
                    <a:pt x="226829" y="1830419"/>
                  </a:moveTo>
                  <a:cubicBezTo>
                    <a:pt x="204914" y="1831515"/>
                    <a:pt x="157137" y="1823187"/>
                    <a:pt x="141357" y="1781108"/>
                  </a:cubicBezTo>
                  <a:cubicBezTo>
                    <a:pt x="125578" y="1739030"/>
                    <a:pt x="180806" y="1702211"/>
                    <a:pt x="210392" y="1689061"/>
                  </a:cubicBezTo>
                  <a:moveTo>
                    <a:pt x="226829" y="1830419"/>
                  </a:moveTo>
                  <a:cubicBezTo>
                    <a:pt x="250937" y="1799737"/>
                    <a:pt x="319534" y="1728510"/>
                    <a:pt x="401061" y="1689061"/>
                  </a:cubicBezTo>
                  <a:cubicBezTo>
                    <a:pt x="482588" y="1649613"/>
                    <a:pt x="542419" y="1589344"/>
                    <a:pt x="562143" y="1564141"/>
                  </a:cubicBezTo>
                  <a:moveTo>
                    <a:pt x="562143" y="1564141"/>
                  </a:moveTo>
                  <a:cubicBezTo>
                    <a:pt x="574197" y="1572907"/>
                    <a:pt x="608824" y="1591755"/>
                    <a:pt x="650903" y="1597015"/>
                  </a:cubicBezTo>
                  <a:cubicBezTo>
                    <a:pt x="703501" y="1603589"/>
                    <a:pt x="917181" y="1725223"/>
                    <a:pt x="966492" y="1764671"/>
                  </a:cubicBezTo>
                  <a:cubicBezTo>
                    <a:pt x="1015803" y="1804120"/>
                    <a:pt x="1074976" y="1876443"/>
                    <a:pt x="1157161" y="1876443"/>
                  </a:cubicBezTo>
                  <a:cubicBezTo>
                    <a:pt x="1239345" y="1876443"/>
                    <a:pt x="1331392" y="1899454"/>
                    <a:pt x="1380703" y="1929041"/>
                  </a:cubicBezTo>
                  <a:cubicBezTo>
                    <a:pt x="1420152" y="1952710"/>
                    <a:pt x="1486996" y="1956435"/>
                    <a:pt x="1515486" y="1955340"/>
                  </a:cubicBezTo>
                  <a:moveTo>
                    <a:pt x="631178" y="1263269"/>
                  </a:moveTo>
                  <a:cubicBezTo>
                    <a:pt x="588442" y="1329590"/>
                    <a:pt x="514805" y="1482613"/>
                    <a:pt x="562143" y="1564141"/>
                  </a:cubicBezTo>
                  <a:moveTo>
                    <a:pt x="1515486" y="1955340"/>
                  </a:moveTo>
                  <a:cubicBezTo>
                    <a:pt x="1485899" y="2000267"/>
                    <a:pt x="1414234" y="2099985"/>
                    <a:pt x="1364266" y="2139434"/>
                  </a:cubicBezTo>
                  <a:moveTo>
                    <a:pt x="1811351" y="1629888"/>
                  </a:moveTo>
                  <a:cubicBezTo>
                    <a:pt x="1870524" y="1634440"/>
                    <a:pt x="1880386" y="1823844"/>
                    <a:pt x="1775190" y="1886305"/>
                  </a:cubicBezTo>
                  <a:cubicBezTo>
                    <a:pt x="1691033" y="1936273"/>
                    <a:pt x="1566988" y="1953148"/>
                    <a:pt x="1515486" y="1955340"/>
                  </a:cubicBezTo>
                  <a:moveTo>
                    <a:pt x="1364266" y="2139434"/>
                  </a:moveTo>
                  <a:cubicBezTo>
                    <a:pt x="1353308" y="2140529"/>
                    <a:pt x="1329420" y="2149296"/>
                    <a:pt x="1321530" y="2175595"/>
                  </a:cubicBezTo>
                  <a:cubicBezTo>
                    <a:pt x="1311668" y="2208469"/>
                    <a:pt x="1311668" y="2277504"/>
                    <a:pt x="1337967" y="2280792"/>
                  </a:cubicBezTo>
                  <a:cubicBezTo>
                    <a:pt x="1364266" y="2284079"/>
                    <a:pt x="1439876" y="2280792"/>
                    <a:pt x="1502336" y="2303803"/>
                  </a:cubicBezTo>
                  <a:cubicBezTo>
                    <a:pt x="1564797" y="2326815"/>
                    <a:pt x="1646982" y="2300516"/>
                    <a:pt x="1646982" y="2274217"/>
                  </a:cubicBezTo>
                  <a:cubicBezTo>
                    <a:pt x="1646982" y="2247918"/>
                    <a:pt x="1623970" y="2215044"/>
                    <a:pt x="1574659" y="2208469"/>
                  </a:cubicBezTo>
                  <a:cubicBezTo>
                    <a:pt x="1535210" y="2203209"/>
                    <a:pt x="1503432" y="2184361"/>
                    <a:pt x="1492474" y="2175595"/>
                  </a:cubicBezTo>
                  <a:moveTo>
                    <a:pt x="1492474" y="2175595"/>
                  </a:moveTo>
                  <a:cubicBezTo>
                    <a:pt x="1384648" y="2249233"/>
                    <a:pt x="1362075" y="2182170"/>
                    <a:pt x="1364266" y="2139434"/>
                  </a:cubicBezTo>
                  <a:moveTo>
                    <a:pt x="1492474" y="2175595"/>
                  </a:moveTo>
                  <a:cubicBezTo>
                    <a:pt x="1557126" y="2110943"/>
                    <a:pt x="1700237" y="1971119"/>
                    <a:pt x="1755465" y="1929041"/>
                  </a:cubicBezTo>
                  <a:cubicBezTo>
                    <a:pt x="1824501" y="1876443"/>
                    <a:pt x="1890248" y="1790971"/>
                    <a:pt x="1886961" y="1728510"/>
                  </a:cubicBezTo>
                  <a:cubicBezTo>
                    <a:pt x="1883674" y="1666050"/>
                    <a:pt x="1854087" y="1633176"/>
                    <a:pt x="1811351" y="1629888"/>
                  </a:cubicBezTo>
                  <a:moveTo>
                    <a:pt x="1811351" y="1629888"/>
                  </a:moveTo>
                  <a:cubicBezTo>
                    <a:pt x="1777162" y="1627259"/>
                    <a:pt x="1674377" y="1628792"/>
                    <a:pt x="1627257" y="1629888"/>
                  </a:cubicBezTo>
                  <a:moveTo>
                    <a:pt x="1627257" y="1629888"/>
                  </a:moveTo>
                  <a:cubicBezTo>
                    <a:pt x="1628353" y="1579482"/>
                    <a:pt x="1643694" y="1448425"/>
                    <a:pt x="1696292" y="1327449"/>
                  </a:cubicBezTo>
                  <a:cubicBezTo>
                    <a:pt x="1748891" y="1206473"/>
                    <a:pt x="1744507" y="1119247"/>
                    <a:pt x="1735741" y="1090757"/>
                  </a:cubicBezTo>
                  <a:moveTo>
                    <a:pt x="1735741" y="1090757"/>
                  </a:moveTo>
                  <a:cubicBezTo>
                    <a:pt x="1748891" y="1085277"/>
                    <a:pt x="1772560" y="1053280"/>
                    <a:pt x="1762040" y="969123"/>
                  </a:cubicBezTo>
                  <a:cubicBezTo>
                    <a:pt x="1748891" y="863927"/>
                    <a:pt x="1739028" y="811329"/>
                    <a:pt x="1729166" y="755443"/>
                  </a:cubicBezTo>
                  <a:cubicBezTo>
                    <a:pt x="1721277" y="710734"/>
                    <a:pt x="1695196" y="688599"/>
                    <a:pt x="1683143" y="683120"/>
                  </a:cubicBezTo>
                  <a:moveTo>
                    <a:pt x="1735741" y="1090757"/>
                  </a:moveTo>
                  <a:cubicBezTo>
                    <a:pt x="1689718" y="1077607"/>
                    <a:pt x="1637119" y="1172941"/>
                    <a:pt x="1614108" y="1176229"/>
                  </a:cubicBezTo>
                  <a:cubicBezTo>
                    <a:pt x="1591096" y="1179516"/>
                    <a:pt x="1607533" y="1126918"/>
                    <a:pt x="1574659" y="1028296"/>
                  </a:cubicBezTo>
                  <a:cubicBezTo>
                    <a:pt x="1548360" y="949399"/>
                    <a:pt x="1574659" y="888034"/>
                    <a:pt x="1591096" y="867214"/>
                  </a:cubicBezTo>
                  <a:moveTo>
                    <a:pt x="1683143" y="683120"/>
                  </a:moveTo>
                  <a:cubicBezTo>
                    <a:pt x="1683143" y="677641"/>
                    <a:pt x="1681170" y="664053"/>
                    <a:pt x="1673281" y="653534"/>
                  </a:cubicBezTo>
                  <a:moveTo>
                    <a:pt x="1683143" y="683120"/>
                  </a:moveTo>
                  <a:cubicBezTo>
                    <a:pt x="1635804" y="675231"/>
                    <a:pt x="1628353" y="710515"/>
                    <a:pt x="1630545" y="729144"/>
                  </a:cubicBezTo>
                  <a:moveTo>
                    <a:pt x="1673281" y="653534"/>
                  </a:moveTo>
                  <a:cubicBezTo>
                    <a:pt x="1627257" y="633809"/>
                    <a:pt x="1591096" y="683120"/>
                    <a:pt x="1591096" y="699557"/>
                  </a:cubicBezTo>
                  <a:cubicBezTo>
                    <a:pt x="1591096" y="712707"/>
                    <a:pt x="1617395" y="724760"/>
                    <a:pt x="1630545" y="729144"/>
                  </a:cubicBezTo>
                  <a:moveTo>
                    <a:pt x="1284108" y="1041446"/>
                  </a:moveTo>
                  <a:cubicBezTo>
                    <a:pt x="1285625" y="1080894"/>
                    <a:pt x="1318900" y="1148615"/>
                    <a:pt x="1439876" y="1103906"/>
                  </a:cubicBezTo>
                  <a:cubicBezTo>
                    <a:pt x="1534553" y="1061828"/>
                    <a:pt x="1547264" y="996518"/>
                    <a:pt x="1541785" y="969123"/>
                  </a:cubicBezTo>
                  <a:cubicBezTo>
                    <a:pt x="1545219" y="930492"/>
                    <a:pt x="1533588" y="861597"/>
                    <a:pt x="1472750" y="833566"/>
                  </a:cubicBezTo>
                  <a:moveTo>
                    <a:pt x="1472750" y="833566"/>
                  </a:moveTo>
                  <a:cubicBezTo>
                    <a:pt x="1489569" y="841315"/>
                    <a:pt x="1535210" y="860639"/>
                    <a:pt x="1551647" y="863927"/>
                  </a:cubicBezTo>
                  <a:cubicBezTo>
                    <a:pt x="1568084" y="867214"/>
                    <a:pt x="1591096" y="867214"/>
                    <a:pt x="1591096" y="867214"/>
                  </a:cubicBezTo>
                  <a:moveTo>
                    <a:pt x="1591096" y="867214"/>
                  </a:moveTo>
                  <a:cubicBezTo>
                    <a:pt x="1603418" y="854011"/>
                    <a:pt x="1624789" y="818753"/>
                    <a:pt x="1629998" y="768592"/>
                  </a:cubicBezTo>
                  <a:moveTo>
                    <a:pt x="1630545" y="729144"/>
                  </a:moveTo>
                  <a:cubicBezTo>
                    <a:pt x="1631580" y="743117"/>
                    <a:pt x="1631274" y="756302"/>
                    <a:pt x="1629998" y="768592"/>
                  </a:cubicBezTo>
                  <a:moveTo>
                    <a:pt x="1327368" y="492452"/>
                  </a:moveTo>
                  <a:cubicBezTo>
                    <a:pt x="1331997" y="513271"/>
                    <a:pt x="1342569" y="560172"/>
                    <a:pt x="1347829" y="581211"/>
                  </a:cubicBezTo>
                  <a:cubicBezTo>
                    <a:pt x="1347829" y="604223"/>
                    <a:pt x="1337967" y="660109"/>
                    <a:pt x="1354404" y="663396"/>
                  </a:cubicBezTo>
                  <a:cubicBezTo>
                    <a:pt x="1364266" y="666683"/>
                    <a:pt x="1367553" y="640384"/>
                    <a:pt x="1380703" y="643672"/>
                  </a:cubicBezTo>
                  <a:cubicBezTo>
                    <a:pt x="1388595" y="645645"/>
                    <a:pt x="1395304" y="649986"/>
                    <a:pt x="1399406" y="658828"/>
                  </a:cubicBezTo>
                  <a:moveTo>
                    <a:pt x="1367553" y="712707"/>
                  </a:moveTo>
                  <a:cubicBezTo>
                    <a:pt x="1380703" y="735719"/>
                    <a:pt x="1403715" y="709419"/>
                    <a:pt x="1403715" y="683120"/>
                  </a:cubicBezTo>
                  <a:cubicBezTo>
                    <a:pt x="1403715" y="672605"/>
                    <a:pt x="1402138" y="664718"/>
                    <a:pt x="1399406" y="658828"/>
                  </a:cubicBezTo>
                  <a:moveTo>
                    <a:pt x="1399406" y="658828"/>
                  </a:moveTo>
                  <a:cubicBezTo>
                    <a:pt x="1418375" y="670213"/>
                    <a:pt x="1464860" y="709419"/>
                    <a:pt x="1499049" y="775167"/>
                  </a:cubicBezTo>
                  <a:cubicBezTo>
                    <a:pt x="1522061" y="814616"/>
                    <a:pt x="1556593" y="827765"/>
                    <a:pt x="1591096" y="811329"/>
                  </a:cubicBezTo>
                  <a:cubicBezTo>
                    <a:pt x="1606875" y="800809"/>
                    <a:pt x="1623605" y="778455"/>
                    <a:pt x="1629998" y="768592"/>
                  </a:cubicBezTo>
                </a:path>
              </a:pathLst>
            </a:custGeom>
            <a:solidFill>
              <a:schemeClr val="bg1"/>
            </a:solidFill>
            <a:ln w="9861">
              <a:solidFill>
                <a:srgbClr val="974347"/>
              </a:solidFill>
            </a:ln>
          </p:spPr>
          <p:txBody>
            <a:bodyPr rtlCol="0" anchor="ctr"/>
            <a:lstStyle/>
            <a:p>
              <a:pPr algn="ctr"/>
              <a:endParaRPr/>
            </a:p>
          </p:txBody>
        </p:sp>
      </p:grpSp>
      <p:sp>
        <p:nvSpPr>
          <p:cNvPr id="10" name="Rounded Rectangle 9">
            <a:extLst>
              <a:ext uri="{FF2B5EF4-FFF2-40B4-BE49-F238E27FC236}">
                <a16:creationId xmlns:a16="http://schemas.microsoft.com/office/drawing/2014/main" id="{A207314B-43E5-0648-64A4-9307A6BBF845}"/>
              </a:ext>
            </a:extLst>
          </p:cNvPr>
          <p:cNvSpPr/>
          <p:nvPr/>
        </p:nvSpPr>
        <p:spPr>
          <a:xfrm>
            <a:off x="5454782" y="2140560"/>
            <a:ext cx="352598" cy="349962"/>
          </a:xfrm>
          <a:custGeom>
            <a:avLst/>
            <a:gdLst/>
            <a:ahLst/>
            <a:cxnLst/>
            <a:rect l="0" t="0" r="0" b="0"/>
            <a:pathLst>
              <a:path w="352598" h="349962">
                <a:moveTo>
                  <a:pt x="247698" y="20565"/>
                </a:moveTo>
                <a:cubicBezTo>
                  <a:pt x="169951" y="0"/>
                  <a:pt x="130029" y="68055"/>
                  <a:pt x="65017" y="137741"/>
                </a:cubicBezTo>
                <a:cubicBezTo>
                  <a:pt x="0" y="207434"/>
                  <a:pt x="86129" y="308830"/>
                  <a:pt x="163876" y="329396"/>
                </a:cubicBezTo>
                <a:cubicBezTo>
                  <a:pt x="241623" y="349962"/>
                  <a:pt x="352598" y="261702"/>
                  <a:pt x="268375" y="191536"/>
                </a:cubicBezTo>
                <a:cubicBezTo>
                  <a:pt x="184152" y="121376"/>
                  <a:pt x="325444" y="41131"/>
                  <a:pt x="247698" y="20565"/>
                </a:cubicBezTo>
              </a:path>
            </a:pathLst>
          </a:custGeom>
          <a:gradFill rotWithShape="1">
            <a:gsLst>
              <a:gs pos="0">
                <a:srgbClr val="9CC2FF"/>
              </a:gs>
              <a:gs pos="100000">
                <a:srgbClr val="4F92FF"/>
              </a:gs>
            </a:gsLst>
            <a:lin ang="5400000" scaled="1"/>
          </a:gradFill>
          <a:ln>
            <a:noFill/>
          </a:ln>
        </p:spPr>
        <p:txBody>
          <a:bodyPr rtlCol="0" anchor="ctr"/>
          <a:lstStyle/>
          <a:p>
            <a:pPr algn="ctr"/>
            <a:endParaRPr/>
          </a:p>
        </p:txBody>
      </p:sp>
      <p:sp>
        <p:nvSpPr>
          <p:cNvPr id="11" name="Rounded Rectangle 10">
            <a:extLst>
              <a:ext uri="{FF2B5EF4-FFF2-40B4-BE49-F238E27FC236}">
                <a16:creationId xmlns:a16="http://schemas.microsoft.com/office/drawing/2014/main" id="{68916B49-6A17-C68F-0A3F-AD68BC726F40}"/>
              </a:ext>
            </a:extLst>
          </p:cNvPr>
          <p:cNvSpPr/>
          <p:nvPr/>
        </p:nvSpPr>
        <p:spPr>
          <a:xfrm>
            <a:off x="5454781" y="2140561"/>
            <a:ext cx="352597" cy="349961"/>
          </a:xfrm>
          <a:custGeom>
            <a:avLst/>
            <a:gdLst/>
            <a:ahLst/>
            <a:cxnLst/>
            <a:rect l="0" t="0" r="0" b="0"/>
            <a:pathLst>
              <a:path w="352597" h="349961">
                <a:moveTo>
                  <a:pt x="247698" y="20565"/>
                </a:moveTo>
                <a:cubicBezTo>
                  <a:pt x="169952" y="0"/>
                  <a:pt x="130033" y="68053"/>
                  <a:pt x="65016" y="137742"/>
                </a:cubicBezTo>
                <a:cubicBezTo>
                  <a:pt x="0" y="207432"/>
                  <a:pt x="86131" y="308829"/>
                  <a:pt x="163877" y="329395"/>
                </a:cubicBezTo>
                <a:cubicBezTo>
                  <a:pt x="241623" y="349961"/>
                  <a:pt x="352597" y="261698"/>
                  <a:pt x="268374" y="191536"/>
                </a:cubicBezTo>
                <a:cubicBezTo>
                  <a:pt x="184151" y="121373"/>
                  <a:pt x="325444" y="41131"/>
                  <a:pt x="247698" y="20565"/>
                </a:cubicBezTo>
                <a:close/>
              </a:path>
            </a:pathLst>
          </a:custGeom>
          <a:noFill/>
          <a:ln w="9861">
            <a:solidFill>
              <a:srgbClr val="484848"/>
            </a:solidFill>
          </a:ln>
        </p:spPr>
        <p:txBody>
          <a:bodyPr rtlCol="0" anchor="ctr"/>
          <a:lstStyle/>
          <a:p>
            <a:pPr algn="ctr"/>
            <a:endParaRPr/>
          </a:p>
        </p:txBody>
      </p:sp>
      <p:sp>
        <p:nvSpPr>
          <p:cNvPr id="12" name="Rounded Rectangle 11">
            <a:extLst>
              <a:ext uri="{FF2B5EF4-FFF2-40B4-BE49-F238E27FC236}">
                <a16:creationId xmlns:a16="http://schemas.microsoft.com/office/drawing/2014/main" id="{6F2DB9BC-34C1-FC6B-58C7-147992125321}"/>
              </a:ext>
            </a:extLst>
          </p:cNvPr>
          <p:cNvSpPr/>
          <p:nvPr/>
        </p:nvSpPr>
        <p:spPr>
          <a:xfrm>
            <a:off x="6456121" y="2732007"/>
            <a:ext cx="369943" cy="223542"/>
          </a:xfrm>
          <a:custGeom>
            <a:avLst/>
            <a:gdLst/>
            <a:ahLst/>
            <a:cxnLst/>
            <a:rect l="0" t="0" r="0" b="0"/>
            <a:pathLst>
              <a:path w="369943" h="223542">
                <a:moveTo>
                  <a:pt x="103224" y="36167"/>
                </a:moveTo>
                <a:cubicBezTo>
                  <a:pt x="67062" y="19730"/>
                  <a:pt x="0" y="38133"/>
                  <a:pt x="7889" y="85472"/>
                </a:cubicBezTo>
                <a:cubicBezTo>
                  <a:pt x="13373" y="118346"/>
                  <a:pt x="30901" y="144645"/>
                  <a:pt x="86787" y="167656"/>
                </a:cubicBezTo>
                <a:cubicBezTo>
                  <a:pt x="142672" y="190668"/>
                  <a:pt x="175362" y="223542"/>
                  <a:pt x="205133" y="223542"/>
                </a:cubicBezTo>
                <a:cubicBezTo>
                  <a:pt x="251156" y="223542"/>
                  <a:pt x="338239" y="203818"/>
                  <a:pt x="353065" y="108483"/>
                </a:cubicBezTo>
                <a:cubicBezTo>
                  <a:pt x="369943" y="0"/>
                  <a:pt x="247869" y="65747"/>
                  <a:pt x="178833" y="62460"/>
                </a:cubicBezTo>
                <a:cubicBezTo>
                  <a:pt x="159109" y="61520"/>
                  <a:pt x="113086" y="39455"/>
                  <a:pt x="103224" y="36167"/>
                </a:cubicBezTo>
              </a:path>
            </a:pathLst>
          </a:custGeom>
          <a:gradFill rotWithShape="1">
            <a:gsLst>
              <a:gs pos="0">
                <a:srgbClr val="7FDFFF"/>
              </a:gs>
              <a:gs pos="100000">
                <a:srgbClr val="1AC6FF"/>
              </a:gs>
            </a:gsLst>
            <a:lin ang="5400000" scaled="1"/>
          </a:gradFill>
          <a:ln>
            <a:noFill/>
          </a:ln>
        </p:spPr>
        <p:txBody>
          <a:bodyPr rtlCol="0" anchor="ctr"/>
          <a:lstStyle/>
          <a:p>
            <a:pPr algn="ctr"/>
            <a:endParaRPr/>
          </a:p>
        </p:txBody>
      </p:sp>
      <p:sp>
        <p:nvSpPr>
          <p:cNvPr id="13" name="Rounded Rectangle 12">
            <a:extLst>
              <a:ext uri="{FF2B5EF4-FFF2-40B4-BE49-F238E27FC236}">
                <a16:creationId xmlns:a16="http://schemas.microsoft.com/office/drawing/2014/main" id="{8B7BDB5F-2683-F2AE-5B2C-F878ADB76956}"/>
              </a:ext>
            </a:extLst>
          </p:cNvPr>
          <p:cNvSpPr/>
          <p:nvPr/>
        </p:nvSpPr>
        <p:spPr>
          <a:xfrm>
            <a:off x="6456122" y="2732007"/>
            <a:ext cx="369941" cy="223544"/>
          </a:xfrm>
          <a:custGeom>
            <a:avLst/>
            <a:gdLst/>
            <a:ahLst/>
            <a:cxnLst/>
            <a:rect l="0" t="0" r="0" b="0"/>
            <a:pathLst>
              <a:path w="369941" h="223544">
                <a:moveTo>
                  <a:pt x="103224" y="36165"/>
                </a:moveTo>
                <a:cubicBezTo>
                  <a:pt x="67062" y="19729"/>
                  <a:pt x="0" y="38136"/>
                  <a:pt x="7889" y="85474"/>
                </a:cubicBezTo>
                <a:cubicBezTo>
                  <a:pt x="13369" y="118348"/>
                  <a:pt x="30901" y="144647"/>
                  <a:pt x="86787" y="167658"/>
                </a:cubicBezTo>
                <a:cubicBezTo>
                  <a:pt x="142672" y="190670"/>
                  <a:pt x="175364" y="223544"/>
                  <a:pt x="205133" y="223544"/>
                </a:cubicBezTo>
                <a:cubicBezTo>
                  <a:pt x="251156" y="223544"/>
                  <a:pt x="338236" y="203818"/>
                  <a:pt x="353065" y="108485"/>
                </a:cubicBezTo>
                <a:cubicBezTo>
                  <a:pt x="369941" y="0"/>
                  <a:pt x="247869" y="65749"/>
                  <a:pt x="178833" y="62462"/>
                </a:cubicBezTo>
                <a:cubicBezTo>
                  <a:pt x="159109" y="61522"/>
                  <a:pt x="113086" y="39451"/>
                  <a:pt x="103224" y="36165"/>
                </a:cubicBezTo>
                <a:close/>
              </a:path>
            </a:pathLst>
          </a:custGeom>
          <a:noFill/>
          <a:ln w="9861">
            <a:solidFill>
              <a:srgbClr val="484848"/>
            </a:solidFill>
          </a:ln>
        </p:spPr>
        <p:txBody>
          <a:bodyPr rtlCol="0" anchor="ctr"/>
          <a:lstStyle/>
          <a:p>
            <a:pPr algn="ctr"/>
            <a:endParaRPr/>
          </a:p>
        </p:txBody>
      </p:sp>
      <p:sp>
        <p:nvSpPr>
          <p:cNvPr id="14" name="Rounded Rectangle 13">
            <a:extLst>
              <a:ext uri="{FF2B5EF4-FFF2-40B4-BE49-F238E27FC236}">
                <a16:creationId xmlns:a16="http://schemas.microsoft.com/office/drawing/2014/main" id="{A68C2AF7-F861-F8F6-F35A-92E1502B7FAA}"/>
              </a:ext>
            </a:extLst>
          </p:cNvPr>
          <p:cNvSpPr/>
          <p:nvPr/>
        </p:nvSpPr>
        <p:spPr>
          <a:xfrm>
            <a:off x="5319361" y="3229087"/>
            <a:ext cx="324971" cy="328331"/>
          </a:xfrm>
          <a:custGeom>
            <a:avLst/>
            <a:gdLst/>
            <a:ahLst/>
            <a:cxnLst/>
            <a:rect l="0" t="0" r="0" b="0"/>
            <a:pathLst>
              <a:path w="324971" h="328331">
                <a:moveTo>
                  <a:pt x="0" y="133283"/>
                </a:moveTo>
                <a:cubicBezTo>
                  <a:pt x="0" y="224850"/>
                  <a:pt x="97569" y="146288"/>
                  <a:pt x="146301" y="237310"/>
                </a:cubicBezTo>
                <a:cubicBezTo>
                  <a:pt x="195034" y="328331"/>
                  <a:pt x="324971" y="240558"/>
                  <a:pt x="256751" y="165789"/>
                </a:cubicBezTo>
                <a:cubicBezTo>
                  <a:pt x="188525" y="91021"/>
                  <a:pt x="248572" y="0"/>
                  <a:pt x="146301" y="0"/>
                </a:cubicBezTo>
                <a:cubicBezTo>
                  <a:pt x="44031" y="0"/>
                  <a:pt x="0" y="41716"/>
                  <a:pt x="0" y="133283"/>
                </a:cubicBezTo>
              </a:path>
            </a:pathLst>
          </a:custGeom>
          <a:gradFill rotWithShape="1">
            <a:gsLst>
              <a:gs pos="0">
                <a:srgbClr val="83FAC1"/>
              </a:gs>
              <a:gs pos="100000">
                <a:srgbClr val="44E095"/>
              </a:gs>
            </a:gsLst>
            <a:lin ang="5400000" scaled="1"/>
          </a:gradFill>
          <a:ln>
            <a:noFill/>
          </a:ln>
        </p:spPr>
        <p:txBody>
          <a:bodyPr rtlCol="0" anchor="ctr"/>
          <a:lstStyle/>
          <a:p>
            <a:pPr algn="ctr"/>
            <a:endParaRPr/>
          </a:p>
        </p:txBody>
      </p:sp>
      <p:sp>
        <p:nvSpPr>
          <p:cNvPr id="15" name="Rounded Rectangle 14">
            <a:extLst>
              <a:ext uri="{FF2B5EF4-FFF2-40B4-BE49-F238E27FC236}">
                <a16:creationId xmlns:a16="http://schemas.microsoft.com/office/drawing/2014/main" id="{22995616-68E6-5F3F-545E-2AE79B60421A}"/>
              </a:ext>
            </a:extLst>
          </p:cNvPr>
          <p:cNvSpPr/>
          <p:nvPr/>
        </p:nvSpPr>
        <p:spPr>
          <a:xfrm>
            <a:off x="5319361" y="3229087"/>
            <a:ext cx="324974" cy="328332"/>
          </a:xfrm>
          <a:custGeom>
            <a:avLst/>
            <a:gdLst/>
            <a:ahLst/>
            <a:cxnLst/>
            <a:rect l="0" t="0" r="0" b="0"/>
            <a:pathLst>
              <a:path w="324974" h="328332">
                <a:moveTo>
                  <a:pt x="0" y="133283"/>
                </a:moveTo>
                <a:cubicBezTo>
                  <a:pt x="0" y="224848"/>
                  <a:pt x="97573" y="146286"/>
                  <a:pt x="146303" y="237310"/>
                </a:cubicBezTo>
                <a:cubicBezTo>
                  <a:pt x="195034" y="328332"/>
                  <a:pt x="324974" y="240560"/>
                  <a:pt x="256751" y="165791"/>
                </a:cubicBezTo>
                <a:cubicBezTo>
                  <a:pt x="188528" y="91023"/>
                  <a:pt x="248573" y="0"/>
                  <a:pt x="146303" y="0"/>
                </a:cubicBezTo>
                <a:cubicBezTo>
                  <a:pt x="44032" y="0"/>
                  <a:pt x="0" y="41719"/>
                  <a:pt x="0" y="133283"/>
                </a:cubicBezTo>
                <a:close/>
              </a:path>
            </a:pathLst>
          </a:custGeom>
          <a:noFill/>
          <a:ln w="9861">
            <a:solidFill>
              <a:srgbClr val="484848"/>
            </a:solidFill>
          </a:ln>
        </p:spPr>
        <p:txBody>
          <a:bodyPr rtlCol="0" anchor="ctr"/>
          <a:lstStyle/>
          <a:p>
            <a:pPr algn="ctr"/>
            <a:endParaRPr/>
          </a:p>
        </p:txBody>
      </p:sp>
      <p:sp>
        <p:nvSpPr>
          <p:cNvPr id="16" name="Rounded Rectangle 15">
            <a:extLst>
              <a:ext uri="{FF2B5EF4-FFF2-40B4-BE49-F238E27FC236}">
                <a16:creationId xmlns:a16="http://schemas.microsoft.com/office/drawing/2014/main" id="{E32734E8-857E-8206-BC73-18C15D3748EA}"/>
              </a:ext>
            </a:extLst>
          </p:cNvPr>
          <p:cNvSpPr/>
          <p:nvPr/>
        </p:nvSpPr>
        <p:spPr>
          <a:xfrm>
            <a:off x="6289029" y="3780968"/>
            <a:ext cx="272965" cy="279053"/>
          </a:xfrm>
          <a:custGeom>
            <a:avLst/>
            <a:gdLst/>
            <a:ahLst/>
            <a:cxnLst/>
            <a:rect l="0" t="0" r="0" b="0"/>
            <a:pathLst>
              <a:path w="272965" h="279053">
                <a:moveTo>
                  <a:pt x="212503" y="265647"/>
                </a:moveTo>
                <a:cubicBezTo>
                  <a:pt x="233312" y="266587"/>
                  <a:pt x="254884" y="263635"/>
                  <a:pt x="271794" y="271952"/>
                </a:cubicBezTo>
                <a:cubicBezTo>
                  <a:pt x="253661" y="279053"/>
                  <a:pt x="232523" y="278573"/>
                  <a:pt x="212503" y="265647"/>
                </a:cubicBezTo>
                <a:moveTo>
                  <a:pt x="133303" y="17896"/>
                </a:moveTo>
                <a:cubicBezTo>
                  <a:pt x="200142" y="0"/>
                  <a:pt x="207263" y="40283"/>
                  <a:pt x="229768" y="85702"/>
                </a:cubicBezTo>
                <a:cubicBezTo>
                  <a:pt x="219683" y="86077"/>
                  <a:pt x="208887" y="87181"/>
                  <a:pt x="197355" y="89160"/>
                </a:cubicBezTo>
                <a:cubicBezTo>
                  <a:pt x="184205" y="97050"/>
                  <a:pt x="231327" y="142856"/>
                  <a:pt x="256528" y="164770"/>
                </a:cubicBezTo>
                <a:cubicBezTo>
                  <a:pt x="264200" y="172443"/>
                  <a:pt x="272965" y="192384"/>
                  <a:pt x="246665" y="210793"/>
                </a:cubicBezTo>
                <a:cubicBezTo>
                  <a:pt x="220366" y="229203"/>
                  <a:pt x="187492" y="214081"/>
                  <a:pt x="177630" y="220656"/>
                </a:cubicBezTo>
                <a:cubicBezTo>
                  <a:pt x="173810" y="222562"/>
                  <a:pt x="169464" y="225613"/>
                  <a:pt x="166525" y="229446"/>
                </a:cubicBezTo>
                <a:cubicBezTo>
                  <a:pt x="104289" y="199386"/>
                  <a:pt x="45089" y="265818"/>
                  <a:pt x="24188" y="187867"/>
                </a:cubicBezTo>
                <a:cubicBezTo>
                  <a:pt x="0" y="97648"/>
                  <a:pt x="32413" y="44912"/>
                  <a:pt x="133303" y="17896"/>
                </a:cubicBezTo>
              </a:path>
            </a:pathLst>
          </a:custGeom>
          <a:gradFill rotWithShape="1">
            <a:gsLst>
              <a:gs pos="0">
                <a:srgbClr val="FFEF63"/>
              </a:gs>
              <a:gs pos="100000">
                <a:srgbClr val="FFE60A"/>
              </a:gs>
            </a:gsLst>
            <a:lin ang="5400000" scaled="1"/>
          </a:gradFill>
          <a:ln>
            <a:noFill/>
          </a:ln>
        </p:spPr>
        <p:txBody>
          <a:bodyPr rtlCol="0" anchor="ctr"/>
          <a:lstStyle/>
          <a:p>
            <a:pPr algn="ctr"/>
            <a:endParaRPr/>
          </a:p>
        </p:txBody>
      </p:sp>
      <p:sp>
        <p:nvSpPr>
          <p:cNvPr id="17" name="Rounded Rectangle 16">
            <a:extLst>
              <a:ext uri="{FF2B5EF4-FFF2-40B4-BE49-F238E27FC236}">
                <a16:creationId xmlns:a16="http://schemas.microsoft.com/office/drawing/2014/main" id="{C5FB4901-271A-75D4-8AA8-F799C571733C}"/>
              </a:ext>
            </a:extLst>
          </p:cNvPr>
          <p:cNvSpPr/>
          <p:nvPr/>
        </p:nvSpPr>
        <p:spPr>
          <a:xfrm>
            <a:off x="6289031" y="3780965"/>
            <a:ext cx="272961" cy="279055"/>
          </a:xfrm>
          <a:custGeom>
            <a:avLst/>
            <a:gdLst/>
            <a:ahLst/>
            <a:cxnLst/>
            <a:rect l="0" t="0" r="0" b="0"/>
            <a:pathLst>
              <a:path w="272961" h="279055">
                <a:moveTo>
                  <a:pt x="212499" y="265648"/>
                </a:moveTo>
                <a:cubicBezTo>
                  <a:pt x="233313" y="266591"/>
                  <a:pt x="254886" y="263636"/>
                  <a:pt x="271794" y="271953"/>
                </a:cubicBezTo>
                <a:cubicBezTo>
                  <a:pt x="253663" y="279055"/>
                  <a:pt x="232520" y="278577"/>
                  <a:pt x="212499" y="265648"/>
                </a:cubicBezTo>
                <a:close/>
                <a:moveTo>
                  <a:pt x="133300" y="17899"/>
                </a:moveTo>
                <a:cubicBezTo>
                  <a:pt x="200143" y="0"/>
                  <a:pt x="207259" y="40287"/>
                  <a:pt x="229764" y="85702"/>
                </a:cubicBezTo>
                <a:cubicBezTo>
                  <a:pt x="219683" y="86076"/>
                  <a:pt x="208887" y="87185"/>
                  <a:pt x="197352" y="89163"/>
                </a:cubicBezTo>
                <a:cubicBezTo>
                  <a:pt x="184202" y="97053"/>
                  <a:pt x="231322" y="142857"/>
                  <a:pt x="256525" y="164773"/>
                </a:cubicBezTo>
                <a:cubicBezTo>
                  <a:pt x="264196" y="172443"/>
                  <a:pt x="272961" y="192387"/>
                  <a:pt x="246663" y="210796"/>
                </a:cubicBezTo>
                <a:cubicBezTo>
                  <a:pt x="220365" y="229205"/>
                  <a:pt x="187489" y="214084"/>
                  <a:pt x="177628" y="220658"/>
                </a:cubicBezTo>
                <a:cubicBezTo>
                  <a:pt x="173812" y="222566"/>
                  <a:pt x="169462" y="225616"/>
                  <a:pt x="166527" y="229448"/>
                </a:cubicBezTo>
                <a:cubicBezTo>
                  <a:pt x="104290" y="199392"/>
                  <a:pt x="45087" y="265820"/>
                  <a:pt x="24187" y="187868"/>
                </a:cubicBezTo>
                <a:cubicBezTo>
                  <a:pt x="0" y="97653"/>
                  <a:pt x="32414" y="44916"/>
                  <a:pt x="133300" y="17899"/>
                </a:cubicBezTo>
                <a:close/>
              </a:path>
            </a:pathLst>
          </a:custGeom>
          <a:noFill/>
          <a:ln w="9861">
            <a:solidFill>
              <a:srgbClr val="484848"/>
            </a:solidFill>
          </a:ln>
        </p:spPr>
        <p:txBody>
          <a:bodyPr rtlCol="0" anchor="ctr"/>
          <a:lstStyle/>
          <a:p>
            <a:pPr algn="ctr"/>
            <a:endParaRPr/>
          </a:p>
        </p:txBody>
      </p:sp>
      <p:sp>
        <p:nvSpPr>
          <p:cNvPr id="18" name="Rounded Rectangle 17">
            <a:extLst>
              <a:ext uri="{FF2B5EF4-FFF2-40B4-BE49-F238E27FC236}">
                <a16:creationId xmlns:a16="http://schemas.microsoft.com/office/drawing/2014/main" id="{95C0FE16-2705-AFF2-F75B-DEAA5A4EC9FB}"/>
              </a:ext>
            </a:extLst>
          </p:cNvPr>
          <p:cNvSpPr/>
          <p:nvPr/>
        </p:nvSpPr>
        <p:spPr>
          <a:xfrm>
            <a:off x="5266335" y="4325780"/>
            <a:ext cx="278685" cy="234239"/>
          </a:xfrm>
          <a:custGeom>
            <a:avLst/>
            <a:gdLst/>
            <a:ahLst/>
            <a:cxnLst/>
            <a:rect l="0" t="0" r="0" b="0"/>
            <a:pathLst>
              <a:path w="278685" h="234239">
                <a:moveTo>
                  <a:pt x="133375" y="191779"/>
                </a:moveTo>
                <a:cubicBezTo>
                  <a:pt x="196079" y="175283"/>
                  <a:pt x="244792" y="234239"/>
                  <a:pt x="261735" y="160069"/>
                </a:cubicBezTo>
                <a:cubicBezTo>
                  <a:pt x="278685" y="85899"/>
                  <a:pt x="163573" y="0"/>
                  <a:pt x="100863" y="16502"/>
                </a:cubicBezTo>
                <a:cubicBezTo>
                  <a:pt x="38160" y="33005"/>
                  <a:pt x="31650" y="76832"/>
                  <a:pt x="15825" y="134105"/>
                </a:cubicBezTo>
                <a:cubicBezTo>
                  <a:pt x="0" y="191385"/>
                  <a:pt x="70665" y="208282"/>
                  <a:pt x="133375" y="191779"/>
                </a:cubicBezTo>
              </a:path>
            </a:pathLst>
          </a:custGeom>
          <a:gradFill rotWithShape="1">
            <a:gsLst>
              <a:gs pos="0">
                <a:srgbClr val="FFBF84"/>
              </a:gs>
              <a:gs pos="100000">
                <a:srgbClr val="F99539"/>
              </a:gs>
            </a:gsLst>
            <a:lin ang="5400000" scaled="1"/>
          </a:gradFill>
          <a:ln>
            <a:noFill/>
          </a:ln>
        </p:spPr>
        <p:txBody>
          <a:bodyPr rtlCol="0" anchor="ctr"/>
          <a:lstStyle/>
          <a:p>
            <a:pPr algn="ctr"/>
            <a:endParaRPr/>
          </a:p>
        </p:txBody>
      </p:sp>
      <p:sp>
        <p:nvSpPr>
          <p:cNvPr id="19" name="Rounded Rectangle 18">
            <a:extLst>
              <a:ext uri="{FF2B5EF4-FFF2-40B4-BE49-F238E27FC236}">
                <a16:creationId xmlns:a16="http://schemas.microsoft.com/office/drawing/2014/main" id="{31543190-C2D9-D5D7-1E78-5A58E849454B}"/>
              </a:ext>
            </a:extLst>
          </p:cNvPr>
          <p:cNvSpPr/>
          <p:nvPr/>
        </p:nvSpPr>
        <p:spPr>
          <a:xfrm>
            <a:off x="5266338" y="4325783"/>
            <a:ext cx="278679" cy="234237"/>
          </a:xfrm>
          <a:custGeom>
            <a:avLst/>
            <a:gdLst/>
            <a:ahLst/>
            <a:cxnLst/>
            <a:rect l="0" t="0" r="0" b="0"/>
            <a:pathLst>
              <a:path w="278679" h="234237">
                <a:moveTo>
                  <a:pt x="133370" y="191779"/>
                </a:moveTo>
                <a:cubicBezTo>
                  <a:pt x="196078" y="175278"/>
                  <a:pt x="244786" y="234237"/>
                  <a:pt x="261733" y="160067"/>
                </a:cubicBezTo>
                <a:cubicBezTo>
                  <a:pt x="278679" y="85897"/>
                  <a:pt x="163571" y="0"/>
                  <a:pt x="100864" y="16500"/>
                </a:cubicBezTo>
                <a:cubicBezTo>
                  <a:pt x="38156" y="33000"/>
                  <a:pt x="31649" y="76826"/>
                  <a:pt x="15824" y="134103"/>
                </a:cubicBezTo>
                <a:cubicBezTo>
                  <a:pt x="0" y="191381"/>
                  <a:pt x="70663" y="208279"/>
                  <a:pt x="133370" y="191779"/>
                </a:cubicBezTo>
                <a:close/>
              </a:path>
            </a:pathLst>
          </a:custGeom>
          <a:noFill/>
          <a:ln w="9861">
            <a:solidFill>
              <a:srgbClr val="484848"/>
            </a:solidFill>
          </a:ln>
        </p:spPr>
        <p:txBody>
          <a:bodyPr rtlCol="0" anchor="ctr"/>
          <a:lstStyle/>
          <a:p>
            <a:pPr algn="ctr"/>
            <a:endParaRPr/>
          </a:p>
        </p:txBody>
      </p:sp>
      <p:sp>
        <p:nvSpPr>
          <p:cNvPr id="21" name="TextBox 20">
            <a:extLst>
              <a:ext uri="{FF2B5EF4-FFF2-40B4-BE49-F238E27FC236}">
                <a16:creationId xmlns:a16="http://schemas.microsoft.com/office/drawing/2014/main" id="{928DF326-6ECD-C0B9-81E0-AE77B7EF1FF1}"/>
              </a:ext>
            </a:extLst>
          </p:cNvPr>
          <p:cNvSpPr txBox="1"/>
          <p:nvPr/>
        </p:nvSpPr>
        <p:spPr>
          <a:xfrm>
            <a:off x="2764508" y="2024241"/>
            <a:ext cx="1792158" cy="307777"/>
          </a:xfrm>
          <a:prstGeom prst="rect">
            <a:avLst/>
          </a:prstGeom>
          <a:noFill/>
          <a:ln>
            <a:noFill/>
          </a:ln>
        </p:spPr>
        <p:txBody>
          <a:bodyPr wrap="square" lIns="0" tIns="0" rIns="0" bIns="0" anchor="t">
            <a:spAutoFit/>
          </a:bodyPr>
          <a:lstStyle/>
          <a:p>
            <a:pPr algn="r"/>
            <a:r>
              <a:rPr sz="2000" b="0" err="1">
                <a:solidFill>
                  <a:srgbClr val="4E88E7"/>
                </a:solidFill>
              </a:rPr>
              <a:t>Facteur</a:t>
            </a:r>
            <a:r>
              <a:rPr sz="2000" b="0">
                <a:solidFill>
                  <a:srgbClr val="4E88E7"/>
                </a:solidFill>
              </a:rPr>
              <a:t> </a:t>
            </a:r>
            <a:r>
              <a:rPr sz="2000" b="0" err="1">
                <a:solidFill>
                  <a:srgbClr val="4E88E7"/>
                </a:solidFill>
              </a:rPr>
              <a:t>humain</a:t>
            </a:r>
            <a:endParaRPr sz="2000" b="0">
              <a:solidFill>
                <a:srgbClr val="4E88E7"/>
              </a:solidFill>
            </a:endParaRPr>
          </a:p>
        </p:txBody>
      </p:sp>
      <p:sp>
        <p:nvSpPr>
          <p:cNvPr id="22" name="TextBox 21">
            <a:extLst>
              <a:ext uri="{FF2B5EF4-FFF2-40B4-BE49-F238E27FC236}">
                <a16:creationId xmlns:a16="http://schemas.microsoft.com/office/drawing/2014/main" id="{08F01B0D-B302-FCBC-3303-E925B631AA34}"/>
              </a:ext>
            </a:extLst>
          </p:cNvPr>
          <p:cNvSpPr txBox="1"/>
          <p:nvPr/>
        </p:nvSpPr>
        <p:spPr>
          <a:xfrm>
            <a:off x="7502187" y="2693761"/>
            <a:ext cx="1450718" cy="307777"/>
          </a:xfrm>
          <a:prstGeom prst="rect">
            <a:avLst/>
          </a:prstGeom>
          <a:noFill/>
          <a:ln>
            <a:noFill/>
          </a:ln>
        </p:spPr>
        <p:txBody>
          <a:bodyPr wrap="square" lIns="0" tIns="0" rIns="0" bIns="0" anchor="t">
            <a:spAutoFit/>
          </a:bodyPr>
          <a:lstStyle/>
          <a:p>
            <a:pPr algn="l"/>
            <a:r>
              <a:rPr sz="2000" b="0">
                <a:solidFill>
                  <a:srgbClr val="1EABDA"/>
                </a:solidFill>
              </a:rPr>
              <a:t>Maintenance</a:t>
            </a:r>
          </a:p>
        </p:txBody>
      </p:sp>
      <p:sp>
        <p:nvSpPr>
          <p:cNvPr id="23" name="TextBox 22">
            <a:extLst>
              <a:ext uri="{FF2B5EF4-FFF2-40B4-BE49-F238E27FC236}">
                <a16:creationId xmlns:a16="http://schemas.microsoft.com/office/drawing/2014/main" id="{6E979C6D-22E0-1168-AC00-ECA400F0FF7B}"/>
              </a:ext>
            </a:extLst>
          </p:cNvPr>
          <p:cNvSpPr txBox="1"/>
          <p:nvPr/>
        </p:nvSpPr>
        <p:spPr>
          <a:xfrm>
            <a:off x="1809152" y="2297402"/>
            <a:ext cx="2747548" cy="553998"/>
          </a:xfrm>
          <a:prstGeom prst="rect">
            <a:avLst/>
          </a:prstGeom>
          <a:noFill/>
          <a:ln>
            <a:noFill/>
          </a:ln>
        </p:spPr>
        <p:txBody>
          <a:bodyPr wrap="none" lIns="0" tIns="0" rIns="0" bIns="0" anchor="t">
            <a:spAutoFit/>
          </a:bodyPr>
          <a:lstStyle/>
          <a:p>
            <a:pPr algn="r"/>
            <a:r>
              <a:rPr b="0">
                <a:solidFill>
                  <a:srgbClr val="484848"/>
                </a:solidFill>
              </a:rPr>
              <a:t>Résistance au changement
et besoin de formation</a:t>
            </a:r>
          </a:p>
        </p:txBody>
      </p:sp>
      <p:sp>
        <p:nvSpPr>
          <p:cNvPr id="24" name="TextBox 23">
            <a:extLst>
              <a:ext uri="{FF2B5EF4-FFF2-40B4-BE49-F238E27FC236}">
                <a16:creationId xmlns:a16="http://schemas.microsoft.com/office/drawing/2014/main" id="{B3CF16B1-E2A7-702A-8CE8-891ECE7FA0D4}"/>
              </a:ext>
            </a:extLst>
          </p:cNvPr>
          <p:cNvSpPr txBox="1"/>
          <p:nvPr/>
        </p:nvSpPr>
        <p:spPr>
          <a:xfrm>
            <a:off x="7502187" y="2956983"/>
            <a:ext cx="2721899" cy="553998"/>
          </a:xfrm>
          <a:prstGeom prst="rect">
            <a:avLst/>
          </a:prstGeom>
          <a:noFill/>
          <a:ln>
            <a:noFill/>
          </a:ln>
        </p:spPr>
        <p:txBody>
          <a:bodyPr wrap="none" lIns="0" tIns="0" rIns="0" bIns="0" anchor="t">
            <a:spAutoFit/>
          </a:bodyPr>
          <a:lstStyle/>
          <a:p>
            <a:pPr algn="l"/>
            <a:r>
              <a:rPr b="0">
                <a:solidFill>
                  <a:srgbClr val="484848"/>
                </a:solidFill>
              </a:rPr>
              <a:t>Les modèles changent, les
connecteurs se cassent</a:t>
            </a:r>
          </a:p>
        </p:txBody>
      </p:sp>
      <p:sp>
        <p:nvSpPr>
          <p:cNvPr id="25" name="TextBox 24">
            <a:extLst>
              <a:ext uri="{FF2B5EF4-FFF2-40B4-BE49-F238E27FC236}">
                <a16:creationId xmlns:a16="http://schemas.microsoft.com/office/drawing/2014/main" id="{E920CD40-33B5-7993-CE64-CCDCCF55DF0B}"/>
              </a:ext>
            </a:extLst>
          </p:cNvPr>
          <p:cNvSpPr txBox="1"/>
          <p:nvPr/>
        </p:nvSpPr>
        <p:spPr>
          <a:xfrm>
            <a:off x="2597796" y="3148444"/>
            <a:ext cx="1958870" cy="307777"/>
          </a:xfrm>
          <a:prstGeom prst="rect">
            <a:avLst/>
          </a:prstGeom>
          <a:noFill/>
          <a:ln>
            <a:noFill/>
          </a:ln>
        </p:spPr>
        <p:txBody>
          <a:bodyPr wrap="square" lIns="0" tIns="0" rIns="0" bIns="0" anchor="t">
            <a:spAutoFit/>
          </a:bodyPr>
          <a:lstStyle/>
          <a:p>
            <a:pPr algn="r"/>
            <a:r>
              <a:rPr sz="2000" b="0" err="1">
                <a:solidFill>
                  <a:srgbClr val="3CC583"/>
                </a:solidFill>
              </a:rPr>
              <a:t>Sécurité</a:t>
            </a:r>
            <a:r>
              <a:rPr sz="2000" b="0">
                <a:solidFill>
                  <a:srgbClr val="3CC583"/>
                </a:solidFill>
              </a:rPr>
              <a:t> et RGPD</a:t>
            </a:r>
          </a:p>
        </p:txBody>
      </p:sp>
      <p:sp>
        <p:nvSpPr>
          <p:cNvPr id="26" name="TextBox 25">
            <a:extLst>
              <a:ext uri="{FF2B5EF4-FFF2-40B4-BE49-F238E27FC236}">
                <a16:creationId xmlns:a16="http://schemas.microsoft.com/office/drawing/2014/main" id="{42DA400C-A777-2E88-AD54-A9530F97A35D}"/>
              </a:ext>
            </a:extLst>
          </p:cNvPr>
          <p:cNvSpPr txBox="1"/>
          <p:nvPr/>
        </p:nvSpPr>
        <p:spPr>
          <a:xfrm>
            <a:off x="7502188" y="3772121"/>
            <a:ext cx="2721898" cy="307777"/>
          </a:xfrm>
          <a:prstGeom prst="rect">
            <a:avLst/>
          </a:prstGeom>
          <a:noFill/>
          <a:ln>
            <a:noFill/>
          </a:ln>
        </p:spPr>
        <p:txBody>
          <a:bodyPr wrap="square" lIns="0" tIns="0" rIns="0" bIns="0" anchor="t">
            <a:spAutoFit/>
          </a:bodyPr>
          <a:lstStyle/>
          <a:p>
            <a:pPr algn="l"/>
            <a:r>
              <a:rPr sz="2000" b="0" err="1">
                <a:solidFill>
                  <a:srgbClr val="E0CB15"/>
                </a:solidFill>
              </a:rPr>
              <a:t>Ingénierie</a:t>
            </a:r>
            <a:r>
              <a:rPr sz="2000" b="0">
                <a:solidFill>
                  <a:srgbClr val="E0CB15"/>
                </a:solidFill>
              </a:rPr>
              <a:t> des</a:t>
            </a:r>
            <a:r>
              <a:rPr lang="fr-FR" sz="2000" b="0">
                <a:solidFill>
                  <a:srgbClr val="E0CB15"/>
                </a:solidFill>
              </a:rPr>
              <a:t> </a:t>
            </a:r>
            <a:r>
              <a:rPr sz="2000" b="0">
                <a:solidFill>
                  <a:srgbClr val="E0CB15"/>
                </a:solidFill>
              </a:rPr>
              <a:t>prompts</a:t>
            </a:r>
          </a:p>
        </p:txBody>
      </p:sp>
      <p:sp>
        <p:nvSpPr>
          <p:cNvPr id="27" name="TextBox 26">
            <a:extLst>
              <a:ext uri="{FF2B5EF4-FFF2-40B4-BE49-F238E27FC236}">
                <a16:creationId xmlns:a16="http://schemas.microsoft.com/office/drawing/2014/main" id="{9C26A125-3A78-9C58-F0EA-F64B8F513D51}"/>
              </a:ext>
            </a:extLst>
          </p:cNvPr>
          <p:cNvSpPr txBox="1"/>
          <p:nvPr/>
        </p:nvSpPr>
        <p:spPr>
          <a:xfrm>
            <a:off x="2576944" y="3421604"/>
            <a:ext cx="1979709" cy="553998"/>
          </a:xfrm>
          <a:prstGeom prst="rect">
            <a:avLst/>
          </a:prstGeom>
          <a:noFill/>
          <a:ln>
            <a:noFill/>
          </a:ln>
        </p:spPr>
        <p:txBody>
          <a:bodyPr wrap="none" lIns="0" tIns="0" rIns="0" bIns="0" anchor="t">
            <a:spAutoFit/>
          </a:bodyPr>
          <a:lstStyle/>
          <a:p>
            <a:pPr algn="r"/>
            <a:r>
              <a:rPr b="0" err="1">
                <a:solidFill>
                  <a:srgbClr val="484848"/>
                </a:solidFill>
              </a:rPr>
              <a:t>Risques</a:t>
            </a:r>
            <a:r>
              <a:rPr b="0">
                <a:solidFill>
                  <a:srgbClr val="484848"/>
                </a:solidFill>
              </a:rPr>
              <a:t> de </a:t>
            </a:r>
            <a:r>
              <a:rPr b="0" err="1">
                <a:solidFill>
                  <a:srgbClr val="484848"/>
                </a:solidFill>
              </a:rPr>
              <a:t>fuite</a:t>
            </a:r>
            <a:r>
              <a:rPr b="0">
                <a:solidFill>
                  <a:srgbClr val="484848"/>
                </a:solidFill>
              </a:rPr>
              <a:t> de
données</a:t>
            </a:r>
          </a:p>
        </p:txBody>
      </p:sp>
      <p:sp>
        <p:nvSpPr>
          <p:cNvPr id="28" name="TextBox 27">
            <a:extLst>
              <a:ext uri="{FF2B5EF4-FFF2-40B4-BE49-F238E27FC236}">
                <a16:creationId xmlns:a16="http://schemas.microsoft.com/office/drawing/2014/main" id="{DE669C42-D5DB-973E-0C9F-1C1D53D37633}"/>
              </a:ext>
            </a:extLst>
          </p:cNvPr>
          <p:cNvSpPr txBox="1"/>
          <p:nvPr/>
        </p:nvSpPr>
        <p:spPr>
          <a:xfrm>
            <a:off x="7502188" y="4049827"/>
            <a:ext cx="2752357" cy="830997"/>
          </a:xfrm>
          <a:prstGeom prst="rect">
            <a:avLst/>
          </a:prstGeom>
          <a:noFill/>
          <a:ln>
            <a:noFill/>
          </a:ln>
        </p:spPr>
        <p:txBody>
          <a:bodyPr wrap="none" lIns="0" tIns="0" rIns="0" bIns="0" anchor="t">
            <a:spAutoFit/>
          </a:bodyPr>
          <a:lstStyle/>
          <a:p>
            <a:pPr algn="l"/>
            <a:r>
              <a:rPr b="0" err="1">
                <a:solidFill>
                  <a:srgbClr val="484848"/>
                </a:solidFill>
              </a:rPr>
              <a:t>Contextes</a:t>
            </a:r>
            <a:r>
              <a:rPr b="0">
                <a:solidFill>
                  <a:srgbClr val="484848"/>
                </a:solidFill>
              </a:rPr>
              <a:t> complexes
</a:t>
            </a:r>
            <a:r>
              <a:rPr b="0" err="1">
                <a:solidFill>
                  <a:srgbClr val="484848"/>
                </a:solidFill>
              </a:rPr>
              <a:t>nécessaires</a:t>
            </a:r>
            <a:r>
              <a:rPr b="0">
                <a:solidFill>
                  <a:srgbClr val="484848"/>
                </a:solidFill>
              </a:rPr>
              <a:t> pour </a:t>
            </a:r>
            <a:r>
              <a:rPr b="0" err="1">
                <a:solidFill>
                  <a:srgbClr val="484848"/>
                </a:solidFill>
              </a:rPr>
              <a:t>éviter</a:t>
            </a:r>
            <a:r>
              <a:rPr b="0">
                <a:solidFill>
                  <a:srgbClr val="484848"/>
                </a:solidFill>
              </a:rPr>
              <a:t> les
hallucinations</a:t>
            </a:r>
          </a:p>
        </p:txBody>
      </p:sp>
      <p:sp>
        <p:nvSpPr>
          <p:cNvPr id="29" name="TextBox 28">
            <a:extLst>
              <a:ext uri="{FF2B5EF4-FFF2-40B4-BE49-F238E27FC236}">
                <a16:creationId xmlns:a16="http://schemas.microsoft.com/office/drawing/2014/main" id="{8A765508-3C92-3897-27A4-4C5EEE6F34B9}"/>
              </a:ext>
            </a:extLst>
          </p:cNvPr>
          <p:cNvSpPr txBox="1"/>
          <p:nvPr/>
        </p:nvSpPr>
        <p:spPr>
          <a:xfrm>
            <a:off x="2663559" y="4339918"/>
            <a:ext cx="1893147" cy="307777"/>
          </a:xfrm>
          <a:prstGeom prst="rect">
            <a:avLst/>
          </a:prstGeom>
          <a:noFill/>
          <a:ln>
            <a:noFill/>
          </a:ln>
        </p:spPr>
        <p:txBody>
          <a:bodyPr wrap="square" lIns="0" tIns="0" rIns="0" bIns="0" anchor="t">
            <a:spAutoFit/>
          </a:bodyPr>
          <a:lstStyle/>
          <a:p>
            <a:pPr algn="r"/>
            <a:r>
              <a:rPr sz="2000" b="0">
                <a:solidFill>
                  <a:srgbClr val="DE8431"/>
                </a:solidFill>
              </a:rPr>
              <a:t>Silos de données</a:t>
            </a:r>
          </a:p>
        </p:txBody>
      </p:sp>
      <p:sp>
        <p:nvSpPr>
          <p:cNvPr id="30" name="TextBox 29">
            <a:extLst>
              <a:ext uri="{FF2B5EF4-FFF2-40B4-BE49-F238E27FC236}">
                <a16:creationId xmlns:a16="http://schemas.microsoft.com/office/drawing/2014/main" id="{45589995-C159-EFBD-1BC8-C9F6B9B0C7D3}"/>
              </a:ext>
            </a:extLst>
          </p:cNvPr>
          <p:cNvSpPr txBox="1"/>
          <p:nvPr/>
        </p:nvSpPr>
        <p:spPr>
          <a:xfrm>
            <a:off x="1845924" y="4613078"/>
            <a:ext cx="2710742" cy="553998"/>
          </a:xfrm>
          <a:prstGeom prst="rect">
            <a:avLst/>
          </a:prstGeom>
          <a:noFill/>
          <a:ln>
            <a:noFill/>
          </a:ln>
        </p:spPr>
        <p:txBody>
          <a:bodyPr wrap="none" lIns="0" tIns="0" rIns="0" bIns="0" anchor="t">
            <a:spAutoFit/>
          </a:bodyPr>
          <a:lstStyle/>
          <a:p>
            <a:pPr algn="r"/>
            <a:r>
              <a:rPr b="0">
                <a:solidFill>
                  <a:srgbClr val="484848"/>
                </a:solidFill>
              </a:rPr>
              <a:t>L'IA </a:t>
            </a:r>
            <a:r>
              <a:rPr b="0" err="1">
                <a:solidFill>
                  <a:srgbClr val="484848"/>
                </a:solidFill>
              </a:rPr>
              <a:t>nécessite</a:t>
            </a:r>
            <a:r>
              <a:rPr b="0">
                <a:solidFill>
                  <a:srgbClr val="484848"/>
                </a:solidFill>
              </a:rPr>
              <a:t> des données
</a:t>
            </a:r>
            <a:r>
              <a:rPr b="0" err="1">
                <a:solidFill>
                  <a:srgbClr val="484848"/>
                </a:solidFill>
              </a:rPr>
              <a:t>propres</a:t>
            </a:r>
            <a:endParaRPr b="0">
              <a:solidFill>
                <a:srgbClr val="484848"/>
              </a:solidFill>
            </a:endParaRPr>
          </a:p>
        </p:txBody>
      </p:sp>
      <p:sp>
        <p:nvSpPr>
          <p:cNvPr id="31" name="Titre 30">
            <a:extLst>
              <a:ext uri="{FF2B5EF4-FFF2-40B4-BE49-F238E27FC236}">
                <a16:creationId xmlns:a16="http://schemas.microsoft.com/office/drawing/2014/main" id="{07BD4EA9-9E4D-1693-51AE-2745C2B1842E}"/>
              </a:ext>
            </a:extLst>
          </p:cNvPr>
          <p:cNvSpPr>
            <a:spLocks noGrp="1"/>
          </p:cNvSpPr>
          <p:nvPr>
            <p:ph type="title"/>
          </p:nvPr>
        </p:nvSpPr>
        <p:spPr>
          <a:xfrm>
            <a:off x="838200" y="81320"/>
            <a:ext cx="10515600" cy="1325563"/>
          </a:xfrm>
        </p:spPr>
        <p:txBody>
          <a:bodyPr/>
          <a:lstStyle/>
          <a:p>
            <a:r>
              <a:rPr lang="fr-FR"/>
              <a:t>Intégration IA : Le choc des réalités</a:t>
            </a:r>
          </a:p>
        </p:txBody>
      </p:sp>
    </p:spTree>
    <p:extLst>
      <p:ext uri="{BB962C8B-B14F-4D97-AF65-F5344CB8AC3E}">
        <p14:creationId xmlns:p14="http://schemas.microsoft.com/office/powerpoint/2010/main" val="1736822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41596-B301-8E3E-B409-C41CACB03507}"/>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61D6B74C-1D72-A2AB-BBEC-FD5AA989EFFD}"/>
              </a:ext>
            </a:extLst>
          </p:cNvPr>
          <p:cNvSpPr/>
          <p:nvPr/>
        </p:nvSpPr>
        <p:spPr>
          <a:xfrm>
            <a:off x="3958427" y="4253307"/>
            <a:ext cx="7024312" cy="834189"/>
          </a:xfrm>
          <a:custGeom>
            <a:avLst/>
            <a:gdLst/>
            <a:ahLst/>
            <a:cxnLst/>
            <a:rect l="0" t="0" r="0" b="0"/>
            <a:pathLst>
              <a:path w="2599464" h="834189">
                <a:moveTo>
                  <a:pt x="1105987" y="271798"/>
                </a:moveTo>
                <a:cubicBezTo>
                  <a:pt x="1158437" y="219348"/>
                  <a:pt x="1206976" y="163353"/>
                  <a:pt x="1251284" y="104273"/>
                </a:cubicBezTo>
                <a:lnTo>
                  <a:pt x="2181057" y="104273"/>
                </a:lnTo>
                <a:lnTo>
                  <a:pt x="2181057" y="0"/>
                </a:lnTo>
                <a:lnTo>
                  <a:pt x="2599464" y="417094"/>
                </a:lnTo>
                <a:lnTo>
                  <a:pt x="2181057" y="834189"/>
                </a:lnTo>
                <a:lnTo>
                  <a:pt x="2181057" y="729915"/>
                </a:lnTo>
                <a:lnTo>
                  <a:pt x="0" y="729915"/>
                </a:lnTo>
                <a:cubicBezTo>
                  <a:pt x="205401" y="729915"/>
                  <a:pt x="408787" y="689457"/>
                  <a:pt x="598557" y="610852"/>
                </a:cubicBezTo>
                <a:cubicBezTo>
                  <a:pt x="788326" y="532256"/>
                  <a:pt x="960751" y="417042"/>
                  <a:pt x="1105987" y="271798"/>
                </a:cubicBezTo>
              </a:path>
            </a:pathLst>
          </a:custGeom>
          <a:gradFill rotWithShape="1">
            <a:gsLst>
              <a:gs pos="0">
                <a:srgbClr val="83FAC1"/>
              </a:gs>
              <a:gs pos="100000">
                <a:srgbClr val="44E095"/>
              </a:gs>
            </a:gsLst>
            <a:lin ang="5400000" scaled="1"/>
          </a:gradFill>
          <a:ln>
            <a:noFill/>
          </a:ln>
        </p:spPr>
        <p:txBody>
          <a:bodyPr rtlCol="0" anchor="ctr"/>
          <a:lstStyle/>
          <a:p>
            <a:pPr algn="ctr"/>
            <a:endParaRPr sz="2000"/>
          </a:p>
        </p:txBody>
      </p:sp>
      <p:sp>
        <p:nvSpPr>
          <p:cNvPr id="3" name="Rounded Rectangle 2">
            <a:extLst>
              <a:ext uri="{FF2B5EF4-FFF2-40B4-BE49-F238E27FC236}">
                <a16:creationId xmlns:a16="http://schemas.microsoft.com/office/drawing/2014/main" id="{BEC42E33-E6C0-A136-4B6A-24A414AAC86D}"/>
              </a:ext>
            </a:extLst>
          </p:cNvPr>
          <p:cNvSpPr/>
          <p:nvPr/>
        </p:nvSpPr>
        <p:spPr>
          <a:xfrm>
            <a:off x="3850205" y="4253307"/>
            <a:ext cx="7170626" cy="834189"/>
          </a:xfrm>
          <a:custGeom>
            <a:avLst/>
            <a:gdLst/>
            <a:ahLst/>
            <a:cxnLst/>
            <a:rect l="0" t="0" r="0" b="0"/>
            <a:pathLst>
              <a:path w="2599465" h="834189">
                <a:moveTo>
                  <a:pt x="1251284" y="104273"/>
                </a:moveTo>
                <a:lnTo>
                  <a:pt x="2181057" y="104273"/>
                </a:lnTo>
                <a:lnTo>
                  <a:pt x="2181057" y="0"/>
                </a:lnTo>
                <a:lnTo>
                  <a:pt x="2599465" y="417094"/>
                </a:lnTo>
                <a:lnTo>
                  <a:pt x="2181057" y="834189"/>
                </a:lnTo>
                <a:lnTo>
                  <a:pt x="2181057" y="729915"/>
                </a:lnTo>
                <a:lnTo>
                  <a:pt x="0" y="729915"/>
                </a:lnTo>
              </a:path>
            </a:pathLst>
          </a:custGeom>
          <a:noFill/>
          <a:ln w="13033">
            <a:solidFill>
              <a:srgbClr val="484848"/>
            </a:solidFill>
          </a:ln>
        </p:spPr>
        <p:txBody>
          <a:bodyPr rtlCol="0" anchor="ctr"/>
          <a:lstStyle/>
          <a:p>
            <a:pPr algn="ctr"/>
            <a:endParaRPr sz="2000"/>
          </a:p>
        </p:txBody>
      </p:sp>
      <p:sp>
        <p:nvSpPr>
          <p:cNvPr id="4" name="Rounded Rectangle 3">
            <a:extLst>
              <a:ext uri="{FF2B5EF4-FFF2-40B4-BE49-F238E27FC236}">
                <a16:creationId xmlns:a16="http://schemas.microsoft.com/office/drawing/2014/main" id="{ED3935B9-703E-592D-FBB5-B7386117DA89}"/>
              </a:ext>
            </a:extLst>
          </p:cNvPr>
          <p:cNvSpPr/>
          <p:nvPr/>
        </p:nvSpPr>
        <p:spPr>
          <a:xfrm>
            <a:off x="4527809" y="1864951"/>
            <a:ext cx="1564105" cy="2502568"/>
          </a:xfrm>
          <a:custGeom>
            <a:avLst/>
            <a:gdLst/>
            <a:ahLst/>
            <a:cxnLst/>
            <a:rect l="0" t="0" r="0" b="0"/>
            <a:pathLst>
              <a:path w="1564105" h="2502568">
                <a:moveTo>
                  <a:pt x="458117" y="458117"/>
                </a:moveTo>
                <a:cubicBezTo>
                  <a:pt x="164787" y="751439"/>
                  <a:pt x="0" y="1149278"/>
                  <a:pt x="0" y="1564105"/>
                </a:cubicBezTo>
                <a:cubicBezTo>
                  <a:pt x="0" y="1769507"/>
                  <a:pt x="40458" y="1972892"/>
                  <a:pt x="119063" y="2162662"/>
                </a:cubicBezTo>
                <a:cubicBezTo>
                  <a:pt x="169279" y="2283897"/>
                  <a:pt x="234433" y="2398051"/>
                  <a:pt x="312821" y="2502568"/>
                </a:cubicBezTo>
                <a:lnTo>
                  <a:pt x="1553756" y="2502568"/>
                </a:lnTo>
                <a:cubicBezTo>
                  <a:pt x="1434032" y="2501247"/>
                  <a:pt x="1315629" y="2477030"/>
                  <a:pt x="1204951" y="2431184"/>
                </a:cubicBezTo>
                <a:cubicBezTo>
                  <a:pt x="1091085" y="2384017"/>
                  <a:pt x="987619" y="2314884"/>
                  <a:pt x="900472" y="2227737"/>
                </a:cubicBezTo>
                <a:cubicBezTo>
                  <a:pt x="813326" y="2140591"/>
                  <a:pt x="744192" y="2037125"/>
                  <a:pt x="697026" y="1923258"/>
                </a:cubicBezTo>
                <a:cubicBezTo>
                  <a:pt x="649859" y="1809391"/>
                  <a:pt x="625581" y="1687356"/>
                  <a:pt x="625581" y="1564105"/>
                </a:cubicBezTo>
                <a:cubicBezTo>
                  <a:pt x="625337" y="1315125"/>
                  <a:pt x="724241" y="1076347"/>
                  <a:pt x="900298" y="900298"/>
                </a:cubicBezTo>
                <a:cubicBezTo>
                  <a:pt x="1076347" y="724241"/>
                  <a:pt x="1315125" y="625337"/>
                  <a:pt x="1564105" y="625337"/>
                </a:cubicBezTo>
                <a:lnTo>
                  <a:pt x="1564105" y="0"/>
                </a:lnTo>
                <a:cubicBezTo>
                  <a:pt x="1149278" y="0"/>
                  <a:pt x="751439" y="164787"/>
                  <a:pt x="458117" y="458117"/>
                </a:cubicBezTo>
              </a:path>
            </a:pathLst>
          </a:custGeom>
          <a:gradFill rotWithShape="1">
            <a:gsLst>
              <a:gs pos="0">
                <a:srgbClr val="FFBF84"/>
              </a:gs>
              <a:gs pos="100000">
                <a:srgbClr val="F99539"/>
              </a:gs>
            </a:gsLst>
            <a:lin ang="5400000" scaled="1"/>
          </a:gradFill>
          <a:ln>
            <a:noFill/>
          </a:ln>
        </p:spPr>
        <p:txBody>
          <a:bodyPr rtlCol="0" anchor="ctr"/>
          <a:lstStyle/>
          <a:p>
            <a:pPr algn="ctr"/>
            <a:endParaRPr sz="2000"/>
          </a:p>
        </p:txBody>
      </p:sp>
      <p:sp>
        <p:nvSpPr>
          <p:cNvPr id="5" name="Rounded Rectangle 4">
            <a:extLst>
              <a:ext uri="{FF2B5EF4-FFF2-40B4-BE49-F238E27FC236}">
                <a16:creationId xmlns:a16="http://schemas.microsoft.com/office/drawing/2014/main" id="{036B906B-726E-C1DB-0CE3-DB81409A08F3}"/>
              </a:ext>
            </a:extLst>
          </p:cNvPr>
          <p:cNvSpPr/>
          <p:nvPr/>
        </p:nvSpPr>
        <p:spPr>
          <a:xfrm>
            <a:off x="4527809" y="1864951"/>
            <a:ext cx="1564105" cy="2502568"/>
          </a:xfrm>
          <a:custGeom>
            <a:avLst/>
            <a:gdLst/>
            <a:ahLst/>
            <a:cxnLst/>
            <a:rect l="0" t="0" r="0" b="0"/>
            <a:pathLst>
              <a:path w="1564105" h="2502568">
                <a:moveTo>
                  <a:pt x="312821" y="2502568"/>
                </a:moveTo>
                <a:cubicBezTo>
                  <a:pt x="234435" y="2398054"/>
                  <a:pt x="169277" y="2283897"/>
                  <a:pt x="119060" y="2162662"/>
                </a:cubicBezTo>
                <a:cubicBezTo>
                  <a:pt x="40456" y="1972896"/>
                  <a:pt x="0" y="1769506"/>
                  <a:pt x="0" y="1564105"/>
                </a:cubicBezTo>
                <a:cubicBezTo>
                  <a:pt x="0" y="1149278"/>
                  <a:pt x="164788" y="751442"/>
                  <a:pt x="458116" y="458116"/>
                </a:cubicBezTo>
                <a:cubicBezTo>
                  <a:pt x="751442" y="164788"/>
                  <a:pt x="1149278" y="0"/>
                  <a:pt x="1564105" y="0"/>
                </a:cubicBezTo>
                <a:moveTo>
                  <a:pt x="1553760" y="2502568"/>
                </a:moveTo>
                <a:cubicBezTo>
                  <a:pt x="1434032" y="2501248"/>
                  <a:pt x="1315628" y="2477030"/>
                  <a:pt x="1204949" y="2431185"/>
                </a:cubicBezTo>
                <a:cubicBezTo>
                  <a:pt x="1091082" y="2384019"/>
                  <a:pt x="987621" y="2314888"/>
                  <a:pt x="900471" y="2227739"/>
                </a:cubicBezTo>
                <a:cubicBezTo>
                  <a:pt x="813321" y="2140589"/>
                  <a:pt x="744190" y="2037128"/>
                  <a:pt x="697025" y="1923261"/>
                </a:cubicBezTo>
                <a:cubicBezTo>
                  <a:pt x="649860" y="1809395"/>
                  <a:pt x="625584" y="1687353"/>
                  <a:pt x="625584" y="1564105"/>
                </a:cubicBezTo>
                <a:lnTo>
                  <a:pt x="625336" y="1564105"/>
                </a:lnTo>
                <a:cubicBezTo>
                  <a:pt x="625336" y="1315128"/>
                  <a:pt x="724242" y="1076348"/>
                  <a:pt x="900295" y="900295"/>
                </a:cubicBezTo>
                <a:cubicBezTo>
                  <a:pt x="1076348" y="724242"/>
                  <a:pt x="1315128" y="625336"/>
                  <a:pt x="1564105" y="625336"/>
                </a:cubicBezTo>
              </a:path>
            </a:pathLst>
          </a:custGeom>
          <a:noFill/>
          <a:ln w="13033">
            <a:solidFill>
              <a:srgbClr val="484848"/>
            </a:solidFill>
          </a:ln>
        </p:spPr>
        <p:txBody>
          <a:bodyPr rtlCol="0" anchor="ctr"/>
          <a:lstStyle/>
          <a:p>
            <a:pPr algn="ctr"/>
            <a:endParaRPr sz="2000"/>
          </a:p>
        </p:txBody>
      </p:sp>
      <p:sp>
        <p:nvSpPr>
          <p:cNvPr id="6" name="Rounded Rectangle 5">
            <a:extLst>
              <a:ext uri="{FF2B5EF4-FFF2-40B4-BE49-F238E27FC236}">
                <a16:creationId xmlns:a16="http://schemas.microsoft.com/office/drawing/2014/main" id="{98AFFC34-ED9A-1904-ECEF-5E8779B8ECE9}"/>
              </a:ext>
            </a:extLst>
          </p:cNvPr>
          <p:cNvSpPr/>
          <p:nvPr/>
        </p:nvSpPr>
        <p:spPr>
          <a:xfrm>
            <a:off x="6090967" y="1864265"/>
            <a:ext cx="1569475" cy="3129470"/>
          </a:xfrm>
          <a:custGeom>
            <a:avLst/>
            <a:gdLst/>
            <a:ahLst/>
            <a:cxnLst/>
            <a:rect l="0" t="0" r="0" b="0"/>
            <a:pathLst>
              <a:path w="1569475" h="3129470">
                <a:moveTo>
                  <a:pt x="0" y="695"/>
                </a:moveTo>
                <a:cubicBezTo>
                  <a:pt x="205810" y="0"/>
                  <a:pt x="409734" y="39919"/>
                  <a:pt x="600086" y="118185"/>
                </a:cubicBezTo>
                <a:cubicBezTo>
                  <a:pt x="790437" y="196451"/>
                  <a:pt x="963471" y="311508"/>
                  <a:pt x="1109263" y="456770"/>
                </a:cubicBezTo>
                <a:cubicBezTo>
                  <a:pt x="1255064" y="602032"/>
                  <a:pt x="1370755" y="774640"/>
                  <a:pt x="1449725" y="964705"/>
                </a:cubicBezTo>
                <a:cubicBezTo>
                  <a:pt x="1528686" y="1154761"/>
                  <a:pt x="1569362" y="1358538"/>
                  <a:pt x="1569414" y="1564348"/>
                </a:cubicBezTo>
                <a:cubicBezTo>
                  <a:pt x="1569475" y="1770167"/>
                  <a:pt x="1528912" y="1973961"/>
                  <a:pt x="1450055" y="2164069"/>
                </a:cubicBezTo>
                <a:cubicBezTo>
                  <a:pt x="1371207" y="2354178"/>
                  <a:pt x="1255602" y="2526846"/>
                  <a:pt x="1109889" y="2672195"/>
                </a:cubicBezTo>
                <a:cubicBezTo>
                  <a:pt x="964175" y="2817535"/>
                  <a:pt x="791202" y="2932697"/>
                  <a:pt x="600894" y="3011067"/>
                </a:cubicBezTo>
                <a:cubicBezTo>
                  <a:pt x="410595" y="3089429"/>
                  <a:pt x="206687" y="3129470"/>
                  <a:pt x="877" y="3128888"/>
                </a:cubicBezTo>
                <a:lnTo>
                  <a:pt x="2650" y="2503559"/>
                </a:lnTo>
                <a:cubicBezTo>
                  <a:pt x="126179" y="2503906"/>
                  <a:pt x="248562" y="2479871"/>
                  <a:pt x="362776" y="2432835"/>
                </a:cubicBezTo>
                <a:cubicBezTo>
                  <a:pt x="476999" y="2385799"/>
                  <a:pt x="580813" y="2316683"/>
                  <a:pt x="668272" y="2229449"/>
                </a:cubicBezTo>
                <a:cubicBezTo>
                  <a:pt x="755732" y="2142215"/>
                  <a:pt x="825108" y="2038576"/>
                  <a:pt x="872440" y="1924475"/>
                </a:cubicBezTo>
                <a:cubicBezTo>
                  <a:pt x="919772" y="1810373"/>
                  <a:pt x="944111" y="1688051"/>
                  <a:pt x="944076" y="1564531"/>
                </a:cubicBezTo>
                <a:cubicBezTo>
                  <a:pt x="944050" y="1441001"/>
                  <a:pt x="919633" y="1318697"/>
                  <a:pt x="872240" y="1204621"/>
                </a:cubicBezTo>
                <a:cubicBezTo>
                  <a:pt x="824848" y="1090546"/>
                  <a:pt x="755410" y="986950"/>
                  <a:pt x="667899" y="899760"/>
                </a:cubicBezTo>
                <a:cubicBezTo>
                  <a:pt x="580396" y="812578"/>
                  <a:pt x="476539" y="743514"/>
                  <a:pt x="362290" y="696548"/>
                </a:cubicBezTo>
                <a:cubicBezTo>
                  <a:pt x="248041" y="649572"/>
                  <a:pt x="125649" y="625607"/>
                  <a:pt x="2120" y="626024"/>
                </a:cubicBezTo>
                <a:lnTo>
                  <a:pt x="0" y="695"/>
                </a:lnTo>
              </a:path>
            </a:pathLst>
          </a:custGeom>
          <a:gradFill rotWithShape="1">
            <a:gsLst>
              <a:gs pos="0">
                <a:srgbClr val="FFEF63"/>
              </a:gs>
              <a:gs pos="100000">
                <a:srgbClr val="FFE60A"/>
              </a:gs>
            </a:gsLst>
            <a:lin ang="5400000" scaled="1"/>
          </a:gradFill>
          <a:ln>
            <a:noFill/>
          </a:ln>
        </p:spPr>
        <p:txBody>
          <a:bodyPr rtlCol="0" anchor="ctr"/>
          <a:lstStyle/>
          <a:p>
            <a:pPr algn="ctr"/>
            <a:endParaRPr sz="2000"/>
          </a:p>
        </p:txBody>
      </p:sp>
      <p:sp>
        <p:nvSpPr>
          <p:cNvPr id="7" name="Rounded Rectangle 6">
            <a:extLst>
              <a:ext uri="{FF2B5EF4-FFF2-40B4-BE49-F238E27FC236}">
                <a16:creationId xmlns:a16="http://schemas.microsoft.com/office/drawing/2014/main" id="{9165FF9C-D357-6444-45C1-BB42E29256B6}"/>
              </a:ext>
            </a:extLst>
          </p:cNvPr>
          <p:cNvSpPr/>
          <p:nvPr/>
        </p:nvSpPr>
        <p:spPr>
          <a:xfrm>
            <a:off x="6090967" y="1864261"/>
            <a:ext cx="1569474" cy="3129477"/>
          </a:xfrm>
          <a:custGeom>
            <a:avLst/>
            <a:gdLst/>
            <a:ahLst/>
            <a:cxnLst/>
            <a:rect l="0" t="0" r="0" b="0"/>
            <a:pathLst>
              <a:path w="1569474" h="3129477">
                <a:moveTo>
                  <a:pt x="878" y="3128894"/>
                </a:moveTo>
                <a:cubicBezTo>
                  <a:pt x="206689" y="3129477"/>
                  <a:pt x="410591" y="3089437"/>
                  <a:pt x="600897" y="3011066"/>
                </a:cubicBezTo>
                <a:cubicBezTo>
                  <a:pt x="791203" y="2932697"/>
                  <a:pt x="964171" y="2817540"/>
                  <a:pt x="1109888" y="2672195"/>
                </a:cubicBezTo>
                <a:cubicBezTo>
                  <a:pt x="1255604" y="2526851"/>
                  <a:pt x="1371203" y="2354177"/>
                  <a:pt x="1450058" y="2164071"/>
                </a:cubicBezTo>
                <a:cubicBezTo>
                  <a:pt x="1528913" y="1973966"/>
                  <a:pt x="1569474" y="1770166"/>
                  <a:pt x="1569417" y="1564355"/>
                </a:cubicBezTo>
                <a:cubicBezTo>
                  <a:pt x="1569358" y="1358544"/>
                  <a:pt x="1528683" y="1154768"/>
                  <a:pt x="1449721" y="964707"/>
                </a:cubicBezTo>
                <a:cubicBezTo>
                  <a:pt x="1370759" y="774645"/>
                  <a:pt x="1255064" y="602037"/>
                  <a:pt x="1109266" y="456774"/>
                </a:cubicBezTo>
                <a:cubicBezTo>
                  <a:pt x="963467" y="311511"/>
                  <a:pt x="790435" y="196451"/>
                  <a:pt x="600084" y="118189"/>
                </a:cubicBezTo>
                <a:cubicBezTo>
                  <a:pt x="409734" y="39926"/>
                  <a:pt x="205810" y="0"/>
                  <a:pt x="0" y="698"/>
                </a:cubicBezTo>
                <a:lnTo>
                  <a:pt x="2123" y="626032"/>
                </a:lnTo>
                <a:cubicBezTo>
                  <a:pt x="125649" y="625612"/>
                  <a:pt x="248044" y="649575"/>
                  <a:pt x="362291" y="696549"/>
                </a:cubicBezTo>
                <a:cubicBezTo>
                  <a:pt x="476539" y="743521"/>
                  <a:pt x="580392" y="812580"/>
                  <a:pt x="667899" y="899766"/>
                </a:cubicBezTo>
                <a:cubicBezTo>
                  <a:pt x="755407" y="986952"/>
                  <a:pt x="824847" y="1090551"/>
                  <a:pt x="872239" y="1204625"/>
                </a:cubicBezTo>
                <a:cubicBezTo>
                  <a:pt x="919632" y="1318698"/>
                  <a:pt x="944046" y="1441004"/>
                  <a:pt x="944080" y="1564531"/>
                </a:cubicBezTo>
                <a:cubicBezTo>
                  <a:pt x="944114" y="1688057"/>
                  <a:pt x="919770" y="1810377"/>
                  <a:pt x="872442" y="1924478"/>
                </a:cubicBezTo>
                <a:cubicBezTo>
                  <a:pt x="825113" y="2038578"/>
                  <a:pt x="755731" y="2142216"/>
                  <a:pt x="668273" y="2229452"/>
                </a:cubicBezTo>
                <a:cubicBezTo>
                  <a:pt x="580814" y="2316686"/>
                  <a:pt x="477000" y="2385803"/>
                  <a:pt x="362779" y="2432840"/>
                </a:cubicBezTo>
                <a:cubicBezTo>
                  <a:pt x="248558" y="2479877"/>
                  <a:pt x="126177" y="2503910"/>
                  <a:pt x="2651" y="2503559"/>
                </a:cubicBezTo>
              </a:path>
            </a:pathLst>
          </a:custGeom>
          <a:noFill/>
          <a:ln w="13033">
            <a:solidFill>
              <a:srgbClr val="484848"/>
            </a:solidFill>
          </a:ln>
        </p:spPr>
        <p:txBody>
          <a:bodyPr rtlCol="0" anchor="ctr"/>
          <a:lstStyle/>
          <a:p>
            <a:pPr algn="ctr"/>
            <a:endParaRPr sz="2000"/>
          </a:p>
        </p:txBody>
      </p:sp>
      <p:sp>
        <p:nvSpPr>
          <p:cNvPr id="8" name="Rounded Rectangle 7">
            <a:extLst>
              <a:ext uri="{FF2B5EF4-FFF2-40B4-BE49-F238E27FC236}">
                <a16:creationId xmlns:a16="http://schemas.microsoft.com/office/drawing/2014/main" id="{0A20A447-1401-D4A1-0020-17DD3DF67D3D}"/>
              </a:ext>
            </a:extLst>
          </p:cNvPr>
          <p:cNvSpPr/>
          <p:nvPr/>
        </p:nvSpPr>
        <p:spPr>
          <a:xfrm>
            <a:off x="1082419" y="4370460"/>
            <a:ext cx="5008548" cy="625642"/>
          </a:xfrm>
          <a:custGeom>
            <a:avLst/>
            <a:gdLst/>
            <a:ahLst/>
            <a:cxnLst/>
            <a:rect l="0" t="0" r="0" b="0"/>
            <a:pathLst>
              <a:path w="2198436" h="625642">
                <a:moveTo>
                  <a:pt x="0" y="0"/>
                </a:moveTo>
                <a:lnTo>
                  <a:pt x="2198436" y="0"/>
                </a:lnTo>
                <a:lnTo>
                  <a:pt x="2198436" y="625642"/>
                </a:lnTo>
                <a:lnTo>
                  <a:pt x="0" y="625642"/>
                </a:lnTo>
                <a:lnTo>
                  <a:pt x="0" y="0"/>
                </a:lnTo>
              </a:path>
            </a:pathLst>
          </a:custGeom>
          <a:gradFill rotWithShape="1">
            <a:gsLst>
              <a:gs pos="0">
                <a:srgbClr val="FFA6A3"/>
              </a:gs>
              <a:gs pos="100000">
                <a:srgbClr val="FD6A65"/>
              </a:gs>
            </a:gsLst>
            <a:lin ang="5400000" scaled="1"/>
          </a:gradFill>
          <a:ln>
            <a:noFill/>
          </a:ln>
        </p:spPr>
        <p:txBody>
          <a:bodyPr rtlCol="0" anchor="ctr"/>
          <a:lstStyle/>
          <a:p>
            <a:pPr algn="ctr"/>
            <a:endParaRPr sz="2000"/>
          </a:p>
        </p:txBody>
      </p:sp>
      <p:sp>
        <p:nvSpPr>
          <p:cNvPr id="9" name="Rounded Rectangle 8">
            <a:extLst>
              <a:ext uri="{FF2B5EF4-FFF2-40B4-BE49-F238E27FC236}">
                <a16:creationId xmlns:a16="http://schemas.microsoft.com/office/drawing/2014/main" id="{8AAA5C49-92BA-B01E-8371-8042B31BA587}"/>
              </a:ext>
            </a:extLst>
          </p:cNvPr>
          <p:cNvSpPr/>
          <p:nvPr/>
        </p:nvSpPr>
        <p:spPr>
          <a:xfrm>
            <a:off x="1083366" y="4367519"/>
            <a:ext cx="5008548" cy="625642"/>
          </a:xfrm>
          <a:custGeom>
            <a:avLst/>
            <a:gdLst/>
            <a:ahLst/>
            <a:cxnLst/>
            <a:rect l="0" t="0" r="0" b="0"/>
            <a:pathLst>
              <a:path w="2198436" h="625642">
                <a:moveTo>
                  <a:pt x="0" y="0"/>
                </a:moveTo>
                <a:lnTo>
                  <a:pt x="2198436" y="0"/>
                </a:lnTo>
                <a:lnTo>
                  <a:pt x="2198436" y="625642"/>
                </a:lnTo>
                <a:lnTo>
                  <a:pt x="0" y="625642"/>
                </a:lnTo>
                <a:close/>
              </a:path>
            </a:pathLst>
          </a:custGeom>
          <a:noFill/>
          <a:ln w="13033">
            <a:solidFill>
              <a:srgbClr val="484848"/>
            </a:solidFill>
          </a:ln>
        </p:spPr>
        <p:txBody>
          <a:bodyPr rtlCol="0" anchor="ctr"/>
          <a:lstStyle/>
          <a:p>
            <a:pPr algn="ctr"/>
            <a:endParaRPr sz="2000"/>
          </a:p>
        </p:txBody>
      </p:sp>
      <p:sp>
        <p:nvSpPr>
          <p:cNvPr id="11" name="TextBox 10">
            <a:extLst>
              <a:ext uri="{FF2B5EF4-FFF2-40B4-BE49-F238E27FC236}">
                <a16:creationId xmlns:a16="http://schemas.microsoft.com/office/drawing/2014/main" id="{00ABC32E-8011-7741-E4A1-8C3ED2D8CDAF}"/>
              </a:ext>
            </a:extLst>
          </p:cNvPr>
          <p:cNvSpPr txBox="1"/>
          <p:nvPr/>
        </p:nvSpPr>
        <p:spPr>
          <a:xfrm>
            <a:off x="2306476" y="2696715"/>
            <a:ext cx="1710405" cy="615553"/>
          </a:xfrm>
          <a:prstGeom prst="rect">
            <a:avLst/>
          </a:prstGeom>
          <a:noFill/>
          <a:ln>
            <a:noFill/>
          </a:ln>
        </p:spPr>
        <p:txBody>
          <a:bodyPr wrap="square" lIns="0" tIns="0" rIns="0" bIns="0" anchor="t">
            <a:spAutoFit/>
          </a:bodyPr>
          <a:lstStyle/>
          <a:p>
            <a:pPr algn="ctr"/>
            <a:r>
              <a:rPr sz="2000" b="0">
                <a:solidFill>
                  <a:srgbClr val="DE8431"/>
                </a:solidFill>
              </a:rPr>
              <a:t>Excellence
</a:t>
            </a:r>
            <a:r>
              <a:rPr sz="2000" b="0" err="1">
                <a:solidFill>
                  <a:srgbClr val="DE8431"/>
                </a:solidFill>
              </a:rPr>
              <a:t>Opérationnelle</a:t>
            </a:r>
            <a:endParaRPr sz="2000" b="0">
              <a:solidFill>
                <a:srgbClr val="DE8431"/>
              </a:solidFill>
            </a:endParaRPr>
          </a:p>
        </p:txBody>
      </p:sp>
      <p:sp>
        <p:nvSpPr>
          <p:cNvPr id="12" name="TextBox 11">
            <a:extLst>
              <a:ext uri="{FF2B5EF4-FFF2-40B4-BE49-F238E27FC236}">
                <a16:creationId xmlns:a16="http://schemas.microsoft.com/office/drawing/2014/main" id="{A6A26679-757A-0AE8-7375-6AA196F74AD1}"/>
              </a:ext>
            </a:extLst>
          </p:cNvPr>
          <p:cNvSpPr txBox="1"/>
          <p:nvPr/>
        </p:nvSpPr>
        <p:spPr>
          <a:xfrm>
            <a:off x="8171370" y="2696715"/>
            <a:ext cx="1730345" cy="615553"/>
          </a:xfrm>
          <a:prstGeom prst="rect">
            <a:avLst/>
          </a:prstGeom>
          <a:noFill/>
          <a:ln>
            <a:noFill/>
          </a:ln>
        </p:spPr>
        <p:txBody>
          <a:bodyPr wrap="none" lIns="0" tIns="0" rIns="0" bIns="0" anchor="t">
            <a:spAutoFit/>
          </a:bodyPr>
          <a:lstStyle/>
          <a:p>
            <a:pPr algn="ctr"/>
            <a:r>
              <a:rPr sz="2000" b="0">
                <a:solidFill>
                  <a:srgbClr val="E0CB15"/>
                </a:solidFill>
              </a:rPr>
              <a:t>Transformation
Sales</a:t>
            </a:r>
          </a:p>
        </p:txBody>
      </p:sp>
      <p:sp>
        <p:nvSpPr>
          <p:cNvPr id="13" name="TextBox 12">
            <a:extLst>
              <a:ext uri="{FF2B5EF4-FFF2-40B4-BE49-F238E27FC236}">
                <a16:creationId xmlns:a16="http://schemas.microsoft.com/office/drawing/2014/main" id="{D68CF419-F36F-9A7C-B720-9CB474C04F5F}"/>
              </a:ext>
            </a:extLst>
          </p:cNvPr>
          <p:cNvSpPr txBox="1"/>
          <p:nvPr/>
        </p:nvSpPr>
        <p:spPr>
          <a:xfrm>
            <a:off x="5560527" y="3342162"/>
            <a:ext cx="1062791" cy="307777"/>
          </a:xfrm>
          <a:prstGeom prst="rect">
            <a:avLst/>
          </a:prstGeom>
          <a:noFill/>
          <a:ln>
            <a:noFill/>
          </a:ln>
        </p:spPr>
        <p:txBody>
          <a:bodyPr wrap="none" lIns="0" tIns="0" rIns="0" bIns="0" anchor="t">
            <a:spAutoFit/>
          </a:bodyPr>
          <a:lstStyle/>
          <a:p>
            <a:pPr algn="ctr"/>
            <a:r>
              <a:rPr sz="2000" b="0">
                <a:solidFill>
                  <a:srgbClr val="000000"/>
                </a:solidFill>
              </a:rPr>
              <a:t>Agents IA</a:t>
            </a:r>
          </a:p>
        </p:txBody>
      </p:sp>
      <p:sp>
        <p:nvSpPr>
          <p:cNvPr id="14" name="TextBox 13">
            <a:extLst>
              <a:ext uri="{FF2B5EF4-FFF2-40B4-BE49-F238E27FC236}">
                <a16:creationId xmlns:a16="http://schemas.microsoft.com/office/drawing/2014/main" id="{E9E865D3-623E-AA8F-7246-1E32043CA22E}"/>
              </a:ext>
            </a:extLst>
          </p:cNvPr>
          <p:cNvSpPr txBox="1"/>
          <p:nvPr/>
        </p:nvSpPr>
        <p:spPr>
          <a:xfrm>
            <a:off x="2027583" y="3416022"/>
            <a:ext cx="2274282" cy="553998"/>
          </a:xfrm>
          <a:prstGeom prst="rect">
            <a:avLst/>
          </a:prstGeom>
          <a:noFill/>
          <a:ln>
            <a:noFill/>
          </a:ln>
        </p:spPr>
        <p:txBody>
          <a:bodyPr wrap="square" lIns="0" tIns="0" rIns="0" bIns="0" anchor="t">
            <a:spAutoFit/>
          </a:bodyPr>
          <a:lstStyle/>
          <a:p>
            <a:pPr algn="ctr"/>
            <a:r>
              <a:rPr b="0" err="1">
                <a:solidFill>
                  <a:srgbClr val="000000"/>
                </a:solidFill>
              </a:rPr>
              <a:t>Préparation</a:t>
            </a:r>
            <a:r>
              <a:rPr b="0">
                <a:solidFill>
                  <a:srgbClr val="000000"/>
                </a:solidFill>
              </a:rPr>
              <a:t> des
</a:t>
            </a:r>
            <a:r>
              <a:rPr b="0" err="1">
                <a:solidFill>
                  <a:srgbClr val="000000"/>
                </a:solidFill>
              </a:rPr>
              <a:t>démos</a:t>
            </a:r>
            <a:r>
              <a:rPr b="0">
                <a:solidFill>
                  <a:srgbClr val="000000"/>
                </a:solidFill>
              </a:rPr>
              <a:t> </a:t>
            </a:r>
            <a:r>
              <a:rPr b="0" err="1">
                <a:solidFill>
                  <a:srgbClr val="000000"/>
                </a:solidFill>
              </a:rPr>
              <a:t>assistée</a:t>
            </a:r>
            <a:r>
              <a:rPr b="0">
                <a:solidFill>
                  <a:srgbClr val="000000"/>
                </a:solidFill>
              </a:rPr>
              <a:t> par</a:t>
            </a:r>
            <a:r>
              <a:rPr lang="fr-FR" b="0">
                <a:solidFill>
                  <a:srgbClr val="000000"/>
                </a:solidFill>
              </a:rPr>
              <a:t> </a:t>
            </a:r>
            <a:r>
              <a:rPr b="0">
                <a:solidFill>
                  <a:srgbClr val="000000"/>
                </a:solidFill>
              </a:rPr>
              <a:t>IA</a:t>
            </a:r>
          </a:p>
        </p:txBody>
      </p:sp>
      <p:sp>
        <p:nvSpPr>
          <p:cNvPr id="15" name="TextBox 14">
            <a:extLst>
              <a:ext uri="{FF2B5EF4-FFF2-40B4-BE49-F238E27FC236}">
                <a16:creationId xmlns:a16="http://schemas.microsoft.com/office/drawing/2014/main" id="{060FC5F3-D7A7-0924-4047-5F59124738DA}"/>
              </a:ext>
            </a:extLst>
          </p:cNvPr>
          <p:cNvSpPr txBox="1"/>
          <p:nvPr/>
        </p:nvSpPr>
        <p:spPr>
          <a:xfrm>
            <a:off x="7855876" y="3428999"/>
            <a:ext cx="2483211" cy="553998"/>
          </a:xfrm>
          <a:prstGeom prst="rect">
            <a:avLst/>
          </a:prstGeom>
          <a:noFill/>
          <a:ln>
            <a:noFill/>
          </a:ln>
        </p:spPr>
        <p:txBody>
          <a:bodyPr wrap="square" lIns="0" tIns="0" rIns="0" bIns="0" anchor="t">
            <a:spAutoFit/>
          </a:bodyPr>
          <a:lstStyle/>
          <a:p>
            <a:pPr algn="ctr"/>
            <a:r>
              <a:rPr b="0">
                <a:solidFill>
                  <a:srgbClr val="000000"/>
                </a:solidFill>
              </a:rPr>
              <a:t>Scraping intelligent,
copywriting</a:t>
            </a:r>
            <a:r>
              <a:rPr lang="fr-FR" b="0">
                <a:solidFill>
                  <a:srgbClr val="000000"/>
                </a:solidFill>
              </a:rPr>
              <a:t> </a:t>
            </a:r>
            <a:r>
              <a:rPr b="0" err="1">
                <a:solidFill>
                  <a:srgbClr val="000000"/>
                </a:solidFill>
              </a:rPr>
              <a:t>automatisé</a:t>
            </a:r>
            <a:endParaRPr b="0">
              <a:solidFill>
                <a:srgbClr val="000000"/>
              </a:solidFill>
            </a:endParaRPr>
          </a:p>
        </p:txBody>
      </p:sp>
      <p:sp>
        <p:nvSpPr>
          <p:cNvPr id="16" name="TextBox 15">
            <a:extLst>
              <a:ext uri="{FF2B5EF4-FFF2-40B4-BE49-F238E27FC236}">
                <a16:creationId xmlns:a16="http://schemas.microsoft.com/office/drawing/2014/main" id="{1AACC93B-30EC-9461-668C-A1FA94106EA2}"/>
              </a:ext>
            </a:extLst>
          </p:cNvPr>
          <p:cNvSpPr txBox="1"/>
          <p:nvPr/>
        </p:nvSpPr>
        <p:spPr>
          <a:xfrm>
            <a:off x="2695912" y="5027526"/>
            <a:ext cx="1939634" cy="307777"/>
          </a:xfrm>
          <a:prstGeom prst="rect">
            <a:avLst/>
          </a:prstGeom>
          <a:noFill/>
          <a:ln>
            <a:noFill/>
          </a:ln>
        </p:spPr>
        <p:txBody>
          <a:bodyPr wrap="none" lIns="0" tIns="0" rIns="0" bIns="0" anchor="t">
            <a:spAutoFit/>
          </a:bodyPr>
          <a:lstStyle/>
          <a:p>
            <a:pPr algn="ctr"/>
            <a:r>
              <a:rPr sz="2000" b="0" err="1">
                <a:solidFill>
                  <a:srgbClr val="000000"/>
                </a:solidFill>
              </a:rPr>
              <a:t>Croissance</a:t>
            </a:r>
            <a:r>
              <a:rPr lang="fr-FR" sz="2000">
                <a:solidFill>
                  <a:srgbClr val="000000"/>
                </a:solidFill>
              </a:rPr>
              <a:t> </a:t>
            </a:r>
            <a:r>
              <a:rPr sz="2000" b="0">
                <a:solidFill>
                  <a:srgbClr val="000000"/>
                </a:solidFill>
              </a:rPr>
              <a:t>Lente</a:t>
            </a:r>
          </a:p>
        </p:txBody>
      </p:sp>
      <p:sp>
        <p:nvSpPr>
          <p:cNvPr id="17" name="TextBox 16">
            <a:extLst>
              <a:ext uri="{FF2B5EF4-FFF2-40B4-BE49-F238E27FC236}">
                <a16:creationId xmlns:a16="http://schemas.microsoft.com/office/drawing/2014/main" id="{9B774135-7FAC-8E51-6E96-BB7412A5B13C}"/>
              </a:ext>
            </a:extLst>
          </p:cNvPr>
          <p:cNvSpPr txBox="1"/>
          <p:nvPr/>
        </p:nvSpPr>
        <p:spPr>
          <a:xfrm>
            <a:off x="7078322" y="5027526"/>
            <a:ext cx="2486504" cy="307777"/>
          </a:xfrm>
          <a:prstGeom prst="rect">
            <a:avLst/>
          </a:prstGeom>
          <a:noFill/>
          <a:ln>
            <a:noFill/>
          </a:ln>
        </p:spPr>
        <p:txBody>
          <a:bodyPr wrap="square" lIns="0" tIns="0" rIns="0" bIns="0" anchor="t">
            <a:spAutoFit/>
          </a:bodyPr>
          <a:lstStyle/>
          <a:p>
            <a:pPr algn="ctr"/>
            <a:r>
              <a:rPr sz="2000" b="0" err="1">
                <a:solidFill>
                  <a:srgbClr val="000000"/>
                </a:solidFill>
              </a:rPr>
              <a:t>Croissance</a:t>
            </a:r>
            <a:r>
              <a:rPr lang="fr-FR" sz="2000">
                <a:solidFill>
                  <a:srgbClr val="000000"/>
                </a:solidFill>
              </a:rPr>
              <a:t> </a:t>
            </a:r>
            <a:r>
              <a:rPr sz="2000" b="0" err="1">
                <a:solidFill>
                  <a:srgbClr val="000000"/>
                </a:solidFill>
              </a:rPr>
              <a:t>Rapide</a:t>
            </a:r>
            <a:endParaRPr sz="2000" b="0">
              <a:solidFill>
                <a:srgbClr val="000000"/>
              </a:solidFill>
            </a:endParaRPr>
          </a:p>
        </p:txBody>
      </p:sp>
      <p:sp>
        <p:nvSpPr>
          <p:cNvPr id="18" name="TextBox 17">
            <a:extLst>
              <a:ext uri="{FF2B5EF4-FFF2-40B4-BE49-F238E27FC236}">
                <a16:creationId xmlns:a16="http://schemas.microsoft.com/office/drawing/2014/main" id="{4E49DF3F-ECBB-70F0-E9B7-FD63791DE9EE}"/>
              </a:ext>
            </a:extLst>
          </p:cNvPr>
          <p:cNvSpPr txBox="1"/>
          <p:nvPr/>
        </p:nvSpPr>
        <p:spPr>
          <a:xfrm>
            <a:off x="2431722" y="5514665"/>
            <a:ext cx="2608765" cy="553998"/>
          </a:xfrm>
          <a:prstGeom prst="rect">
            <a:avLst/>
          </a:prstGeom>
          <a:noFill/>
          <a:ln>
            <a:noFill/>
          </a:ln>
        </p:spPr>
        <p:txBody>
          <a:bodyPr wrap="square" lIns="0" tIns="0" rIns="0" bIns="0" anchor="t">
            <a:spAutoFit/>
          </a:bodyPr>
          <a:lstStyle/>
          <a:p>
            <a:pPr algn="ctr"/>
            <a:r>
              <a:rPr b="0">
                <a:solidFill>
                  <a:srgbClr val="000000"/>
                </a:solidFill>
              </a:rPr>
              <a:t>Prospection</a:t>
            </a:r>
            <a:r>
              <a:rPr lang="fr-FR" b="0">
                <a:solidFill>
                  <a:srgbClr val="000000"/>
                </a:solidFill>
              </a:rPr>
              <a:t> </a:t>
            </a:r>
            <a:r>
              <a:rPr b="0" err="1">
                <a:solidFill>
                  <a:srgbClr val="000000"/>
                </a:solidFill>
              </a:rPr>
              <a:t>manuelle</a:t>
            </a:r>
            <a:r>
              <a:rPr b="0">
                <a:solidFill>
                  <a:srgbClr val="000000"/>
                </a:solidFill>
              </a:rPr>
              <a:t>, </a:t>
            </a:r>
            <a:endParaRPr lang="fr-FR" b="0">
              <a:solidFill>
                <a:srgbClr val="000000"/>
              </a:solidFill>
            </a:endParaRPr>
          </a:p>
          <a:p>
            <a:pPr algn="ctr"/>
            <a:r>
              <a:rPr b="0" err="1">
                <a:solidFill>
                  <a:srgbClr val="000000"/>
                </a:solidFill>
              </a:rPr>
              <a:t>taux</a:t>
            </a:r>
            <a:r>
              <a:rPr b="0">
                <a:solidFill>
                  <a:srgbClr val="000000"/>
                </a:solidFill>
              </a:rPr>
              <a:t> de</a:t>
            </a:r>
            <a:r>
              <a:rPr lang="fr-FR" b="0">
                <a:solidFill>
                  <a:srgbClr val="000000"/>
                </a:solidFill>
              </a:rPr>
              <a:t> </a:t>
            </a:r>
            <a:r>
              <a:rPr b="0">
                <a:solidFill>
                  <a:srgbClr val="000000"/>
                </a:solidFill>
              </a:rPr>
              <a:t>no-show </a:t>
            </a:r>
            <a:r>
              <a:rPr b="0" err="1">
                <a:solidFill>
                  <a:srgbClr val="000000"/>
                </a:solidFill>
              </a:rPr>
              <a:t>élevé</a:t>
            </a:r>
            <a:endParaRPr b="0">
              <a:solidFill>
                <a:srgbClr val="000000"/>
              </a:solidFill>
            </a:endParaRPr>
          </a:p>
        </p:txBody>
      </p:sp>
      <p:sp>
        <p:nvSpPr>
          <p:cNvPr id="19" name="TextBox 18">
            <a:extLst>
              <a:ext uri="{FF2B5EF4-FFF2-40B4-BE49-F238E27FC236}">
                <a16:creationId xmlns:a16="http://schemas.microsoft.com/office/drawing/2014/main" id="{3707546E-E6F8-1208-320F-2462C90EEADC}"/>
              </a:ext>
            </a:extLst>
          </p:cNvPr>
          <p:cNvSpPr txBox="1"/>
          <p:nvPr/>
        </p:nvSpPr>
        <p:spPr>
          <a:xfrm>
            <a:off x="7097002" y="5514665"/>
            <a:ext cx="2608765" cy="553998"/>
          </a:xfrm>
          <a:prstGeom prst="rect">
            <a:avLst/>
          </a:prstGeom>
          <a:noFill/>
          <a:ln>
            <a:noFill/>
          </a:ln>
        </p:spPr>
        <p:txBody>
          <a:bodyPr wrap="square" lIns="0" tIns="0" rIns="0" bIns="0" anchor="t">
            <a:spAutoFit/>
          </a:bodyPr>
          <a:lstStyle/>
          <a:p>
            <a:pPr algn="ctr"/>
            <a:r>
              <a:rPr b="0">
                <a:solidFill>
                  <a:srgbClr val="000000"/>
                </a:solidFill>
              </a:rPr>
              <a:t>Leads </a:t>
            </a:r>
            <a:r>
              <a:rPr b="0" err="1">
                <a:solidFill>
                  <a:srgbClr val="000000"/>
                </a:solidFill>
              </a:rPr>
              <a:t>qualifiés</a:t>
            </a:r>
            <a:r>
              <a:rPr b="0">
                <a:solidFill>
                  <a:srgbClr val="000000"/>
                </a:solidFill>
              </a:rPr>
              <a:t>,</a:t>
            </a:r>
            <a:r>
              <a:rPr lang="fr-FR" b="0">
                <a:solidFill>
                  <a:srgbClr val="000000"/>
                </a:solidFill>
              </a:rPr>
              <a:t> </a:t>
            </a:r>
            <a:endParaRPr lang="fr-FR">
              <a:solidFill>
                <a:srgbClr val="000000"/>
              </a:solidFill>
            </a:endParaRPr>
          </a:p>
          <a:p>
            <a:pPr algn="ctr"/>
            <a:r>
              <a:rPr b="0">
                <a:solidFill>
                  <a:srgbClr val="000000"/>
                </a:solidFill>
              </a:rPr>
              <a:t>relation client</a:t>
            </a:r>
            <a:r>
              <a:rPr lang="fr-FR" b="0">
                <a:solidFill>
                  <a:srgbClr val="000000"/>
                </a:solidFill>
              </a:rPr>
              <a:t> </a:t>
            </a:r>
            <a:r>
              <a:rPr b="0" err="1">
                <a:solidFill>
                  <a:srgbClr val="000000"/>
                </a:solidFill>
              </a:rPr>
              <a:t>améliorée</a:t>
            </a:r>
            <a:endParaRPr b="0">
              <a:solidFill>
                <a:srgbClr val="000000"/>
              </a:solidFill>
            </a:endParaRPr>
          </a:p>
        </p:txBody>
      </p:sp>
      <p:sp>
        <p:nvSpPr>
          <p:cNvPr id="20" name="Rounded Rectangle 19">
            <a:extLst>
              <a:ext uri="{FF2B5EF4-FFF2-40B4-BE49-F238E27FC236}">
                <a16:creationId xmlns:a16="http://schemas.microsoft.com/office/drawing/2014/main" id="{A824D0A1-0538-69D7-9E99-E6ADB5AAC929}"/>
              </a:ext>
            </a:extLst>
          </p:cNvPr>
          <p:cNvSpPr/>
          <p:nvPr/>
        </p:nvSpPr>
        <p:spPr>
          <a:xfrm>
            <a:off x="4640772" y="3138059"/>
            <a:ext cx="399715" cy="373442"/>
          </a:xfrm>
          <a:custGeom>
            <a:avLst/>
            <a:gdLst/>
            <a:ahLst/>
            <a:cxnLst/>
            <a:rect l="0" t="0" r="0" b="0"/>
            <a:pathLst>
              <a:path w="399715" h="373442">
                <a:moveTo>
                  <a:pt x="0" y="373442"/>
                </a:moveTo>
                <a:lnTo>
                  <a:pt x="399715" y="373442"/>
                </a:lnTo>
                <a:moveTo>
                  <a:pt x="149024" y="320489"/>
                </a:moveTo>
                <a:lnTo>
                  <a:pt x="54535" y="160359"/>
                </a:lnTo>
                <a:moveTo>
                  <a:pt x="127995" y="133822"/>
                </a:moveTo>
                <a:lnTo>
                  <a:pt x="228446" y="256917"/>
                </a:lnTo>
                <a:moveTo>
                  <a:pt x="6882" y="95449"/>
                </a:moveTo>
                <a:cubicBezTo>
                  <a:pt x="6878" y="132250"/>
                  <a:pt x="36711" y="162086"/>
                  <a:pt x="73512" y="162086"/>
                </a:cubicBezTo>
                <a:cubicBezTo>
                  <a:pt x="110314" y="162086"/>
                  <a:pt x="140147" y="132250"/>
                  <a:pt x="140143" y="95449"/>
                </a:cubicBezTo>
                <a:cubicBezTo>
                  <a:pt x="140147" y="58647"/>
                  <a:pt x="110314" y="28812"/>
                  <a:pt x="73512" y="28812"/>
                </a:cubicBezTo>
                <a:cubicBezTo>
                  <a:pt x="36711" y="28812"/>
                  <a:pt x="6878" y="58647"/>
                  <a:pt x="6882" y="95449"/>
                </a:cubicBezTo>
                <a:moveTo>
                  <a:pt x="220973" y="119414"/>
                </a:moveTo>
                <a:lnTo>
                  <a:pt x="135642" y="119414"/>
                </a:lnTo>
                <a:moveTo>
                  <a:pt x="131993" y="63524"/>
                </a:moveTo>
                <a:lnTo>
                  <a:pt x="215759" y="63524"/>
                </a:lnTo>
                <a:moveTo>
                  <a:pt x="209416" y="85943"/>
                </a:moveTo>
                <a:cubicBezTo>
                  <a:pt x="209410" y="109789"/>
                  <a:pt x="228739" y="129123"/>
                  <a:pt x="252585" y="129123"/>
                </a:cubicBezTo>
                <a:cubicBezTo>
                  <a:pt x="276431" y="129123"/>
                  <a:pt x="295761" y="109789"/>
                  <a:pt x="295754" y="85943"/>
                </a:cubicBezTo>
                <a:cubicBezTo>
                  <a:pt x="295761" y="62096"/>
                  <a:pt x="276431" y="42762"/>
                  <a:pt x="252585" y="42762"/>
                </a:cubicBezTo>
                <a:cubicBezTo>
                  <a:pt x="228739" y="42762"/>
                  <a:pt x="209410" y="62096"/>
                  <a:pt x="209416" y="85943"/>
                </a:cubicBezTo>
                <a:moveTo>
                  <a:pt x="281921" y="373442"/>
                </a:moveTo>
                <a:lnTo>
                  <a:pt x="135173" y="373442"/>
                </a:lnTo>
                <a:lnTo>
                  <a:pt x="164526" y="261261"/>
                </a:lnTo>
                <a:lnTo>
                  <a:pt x="252568" y="261261"/>
                </a:lnTo>
                <a:close/>
                <a:moveTo>
                  <a:pt x="188648" y="320489"/>
                </a:moveTo>
                <a:cubicBezTo>
                  <a:pt x="188645" y="331480"/>
                  <a:pt x="197555" y="340392"/>
                  <a:pt x="208547" y="340392"/>
                </a:cubicBezTo>
                <a:cubicBezTo>
                  <a:pt x="219539" y="340392"/>
                  <a:pt x="228448" y="331480"/>
                  <a:pt x="228446" y="320489"/>
                </a:cubicBezTo>
                <a:cubicBezTo>
                  <a:pt x="228448" y="309497"/>
                  <a:pt x="219539" y="300585"/>
                  <a:pt x="208547" y="300585"/>
                </a:cubicBezTo>
                <a:cubicBezTo>
                  <a:pt x="197555" y="300585"/>
                  <a:pt x="188645" y="309497"/>
                  <a:pt x="188648" y="320489"/>
                </a:cubicBezTo>
                <a:moveTo>
                  <a:pt x="53683" y="95449"/>
                </a:moveTo>
                <a:cubicBezTo>
                  <a:pt x="53683" y="84497"/>
                  <a:pt x="62561" y="75619"/>
                  <a:pt x="73512" y="75619"/>
                </a:cubicBezTo>
                <a:cubicBezTo>
                  <a:pt x="84464" y="75619"/>
                  <a:pt x="93342" y="84497"/>
                  <a:pt x="93342" y="95449"/>
                </a:cubicBezTo>
                <a:cubicBezTo>
                  <a:pt x="93342" y="106400"/>
                  <a:pt x="84464" y="115278"/>
                  <a:pt x="73512" y="115278"/>
                </a:cubicBezTo>
                <a:cubicBezTo>
                  <a:pt x="62561" y="115278"/>
                  <a:pt x="53683" y="106400"/>
                  <a:pt x="53683" y="95449"/>
                </a:cubicBezTo>
                <a:moveTo>
                  <a:pt x="243896" y="85943"/>
                </a:moveTo>
                <a:cubicBezTo>
                  <a:pt x="243896" y="81143"/>
                  <a:pt x="247786" y="77253"/>
                  <a:pt x="252585" y="77253"/>
                </a:cubicBezTo>
                <a:cubicBezTo>
                  <a:pt x="257384" y="77253"/>
                  <a:pt x="261275" y="81143"/>
                  <a:pt x="261275" y="85943"/>
                </a:cubicBezTo>
                <a:cubicBezTo>
                  <a:pt x="261275" y="90742"/>
                  <a:pt x="257384" y="94632"/>
                  <a:pt x="252585" y="94632"/>
                </a:cubicBezTo>
                <a:cubicBezTo>
                  <a:pt x="247786" y="94632"/>
                  <a:pt x="243896" y="90742"/>
                  <a:pt x="243896" y="85943"/>
                </a:cubicBezTo>
                <a:moveTo>
                  <a:pt x="261970" y="42200"/>
                </a:moveTo>
                <a:lnTo>
                  <a:pt x="289220" y="8154"/>
                </a:lnTo>
                <a:cubicBezTo>
                  <a:pt x="293334" y="3001"/>
                  <a:pt x="299570" y="1"/>
                  <a:pt x="306164" y="4"/>
                </a:cubicBezTo>
                <a:lnTo>
                  <a:pt x="358301" y="4"/>
                </a:lnTo>
                <a:cubicBezTo>
                  <a:pt x="364059" y="0"/>
                  <a:pt x="369581" y="2288"/>
                  <a:pt x="373647" y="6364"/>
                </a:cubicBezTo>
                <a:lnTo>
                  <a:pt x="391026" y="23743"/>
                </a:lnTo>
                <a:cubicBezTo>
                  <a:pt x="399502" y="32224"/>
                  <a:pt x="399500" y="45970"/>
                  <a:pt x="391022" y="54448"/>
                </a:cubicBezTo>
                <a:cubicBezTo>
                  <a:pt x="382544" y="62926"/>
                  <a:pt x="368798" y="62928"/>
                  <a:pt x="360317" y="54452"/>
                </a:cubicBezTo>
                <a:lnTo>
                  <a:pt x="349316" y="43451"/>
                </a:lnTo>
                <a:lnTo>
                  <a:pt x="316609" y="43451"/>
                </a:lnTo>
                <a:lnTo>
                  <a:pt x="297840" y="66895"/>
                </a:lnTo>
                <a:cubicBezTo>
                  <a:pt x="296362" y="68716"/>
                  <a:pt x="294601" y="70288"/>
                  <a:pt x="292626" y="71553"/>
                </a:cubicBezTo>
                <a:moveTo>
                  <a:pt x="292400" y="100089"/>
                </a:moveTo>
                <a:lnTo>
                  <a:pt x="316609" y="130346"/>
                </a:lnTo>
                <a:lnTo>
                  <a:pt x="349316" y="130346"/>
                </a:lnTo>
                <a:lnTo>
                  <a:pt x="360335" y="119327"/>
                </a:lnTo>
                <a:cubicBezTo>
                  <a:pt x="368815" y="110852"/>
                  <a:pt x="382559" y="110856"/>
                  <a:pt x="391034" y="119336"/>
                </a:cubicBezTo>
                <a:cubicBezTo>
                  <a:pt x="399510" y="127816"/>
                  <a:pt x="399506" y="141561"/>
                  <a:pt x="391026" y="150036"/>
                </a:cubicBezTo>
                <a:lnTo>
                  <a:pt x="373647" y="167415"/>
                </a:lnTo>
                <a:cubicBezTo>
                  <a:pt x="369578" y="171500"/>
                  <a:pt x="364049" y="173795"/>
                  <a:pt x="358284" y="173793"/>
                </a:cubicBezTo>
                <a:lnTo>
                  <a:pt x="306147" y="173793"/>
                </a:lnTo>
                <a:cubicBezTo>
                  <a:pt x="299555" y="173788"/>
                  <a:pt x="293321" y="170790"/>
                  <a:pt x="289203" y="165642"/>
                </a:cubicBezTo>
                <a:lnTo>
                  <a:pt x="259015" y="127930"/>
                </a:lnTo>
              </a:path>
            </a:pathLst>
          </a:custGeom>
          <a:solidFill>
            <a:srgbClr val="000000"/>
          </a:solidFill>
          <a:ln w="13033">
            <a:solidFill>
              <a:srgbClr val="484848"/>
            </a:solidFill>
          </a:ln>
        </p:spPr>
        <p:txBody>
          <a:bodyPr rtlCol="0" anchor="ctr"/>
          <a:lstStyle/>
          <a:p>
            <a:pPr algn="ctr"/>
            <a:endParaRPr sz="2000">
              <a:solidFill>
                <a:srgbClr val="000000"/>
              </a:solidFill>
            </a:endParaRPr>
          </a:p>
        </p:txBody>
      </p:sp>
      <p:sp>
        <p:nvSpPr>
          <p:cNvPr id="21" name="Rounded Rectangle 20">
            <a:extLst>
              <a:ext uri="{FF2B5EF4-FFF2-40B4-BE49-F238E27FC236}">
                <a16:creationId xmlns:a16="http://schemas.microsoft.com/office/drawing/2014/main" id="{8C3E95E5-D8E8-B078-A513-47D5258B15A6}"/>
              </a:ext>
            </a:extLst>
          </p:cNvPr>
          <p:cNvSpPr/>
          <p:nvPr/>
        </p:nvSpPr>
        <p:spPr>
          <a:xfrm>
            <a:off x="7152899" y="3134421"/>
            <a:ext cx="400002" cy="379383"/>
          </a:xfrm>
          <a:custGeom>
            <a:avLst/>
            <a:gdLst/>
            <a:ahLst/>
            <a:cxnLst/>
            <a:rect l="0" t="0" r="0" b="0"/>
            <a:pathLst>
              <a:path w="400002" h="379383">
                <a:moveTo>
                  <a:pt x="33715" y="157515"/>
                </a:moveTo>
                <a:cubicBezTo>
                  <a:pt x="33018" y="151748"/>
                  <a:pt x="32670" y="145945"/>
                  <a:pt x="32672" y="140136"/>
                </a:cubicBezTo>
                <a:cubicBezTo>
                  <a:pt x="32599" y="77479"/>
                  <a:pt x="77061" y="23611"/>
                  <a:pt x="138596" y="11805"/>
                </a:cubicBezTo>
                <a:cubicBezTo>
                  <a:pt x="200131" y="0"/>
                  <a:pt x="261372" y="33588"/>
                  <a:pt x="284493" y="91823"/>
                </a:cubicBezTo>
                <a:moveTo>
                  <a:pt x="255470" y="232418"/>
                </a:moveTo>
                <a:lnTo>
                  <a:pt x="293182" y="270131"/>
                </a:lnTo>
                <a:moveTo>
                  <a:pt x="390157" y="332695"/>
                </a:moveTo>
                <a:cubicBezTo>
                  <a:pt x="397131" y="339194"/>
                  <a:pt x="400002" y="348981"/>
                  <a:pt x="397643" y="358217"/>
                </a:cubicBezTo>
                <a:cubicBezTo>
                  <a:pt x="395284" y="367454"/>
                  <a:pt x="388072" y="374666"/>
                  <a:pt x="378836" y="377025"/>
                </a:cubicBezTo>
                <a:cubicBezTo>
                  <a:pt x="369600" y="379383"/>
                  <a:pt x="359812" y="376513"/>
                  <a:pt x="353314" y="369538"/>
                </a:cubicBezTo>
                <a:lnTo>
                  <a:pt x="285883" y="301934"/>
                </a:lnTo>
                <a:cubicBezTo>
                  <a:pt x="282593" y="298671"/>
                  <a:pt x="280743" y="294229"/>
                  <a:pt x="280743" y="289595"/>
                </a:cubicBezTo>
                <a:cubicBezTo>
                  <a:pt x="280743" y="284961"/>
                  <a:pt x="282593" y="280519"/>
                  <a:pt x="285883" y="277256"/>
                </a:cubicBezTo>
                <a:lnTo>
                  <a:pt x="298222" y="264917"/>
                </a:lnTo>
                <a:cubicBezTo>
                  <a:pt x="301485" y="261627"/>
                  <a:pt x="305927" y="259776"/>
                  <a:pt x="310561" y="259776"/>
                </a:cubicBezTo>
                <a:cubicBezTo>
                  <a:pt x="315195" y="259776"/>
                  <a:pt x="319637" y="261627"/>
                  <a:pt x="322900" y="264917"/>
                </a:cubicBezTo>
                <a:close/>
                <a:moveTo>
                  <a:pt x="303436" y="3538"/>
                </a:moveTo>
                <a:lnTo>
                  <a:pt x="372952" y="3538"/>
                </a:lnTo>
                <a:lnTo>
                  <a:pt x="372952" y="73053"/>
                </a:lnTo>
                <a:moveTo>
                  <a:pt x="293530" y="147957"/>
                </a:moveTo>
                <a:cubicBezTo>
                  <a:pt x="290013" y="207054"/>
                  <a:pt x="247160" y="256382"/>
                  <a:pt x="189135" y="268125"/>
                </a:cubicBezTo>
                <a:cubicBezTo>
                  <a:pt x="131110" y="279869"/>
                  <a:pt x="72448" y="251087"/>
                  <a:pt x="46227" y="198008"/>
                </a:cubicBezTo>
                <a:moveTo>
                  <a:pt x="372778" y="3538"/>
                </a:moveTo>
                <a:lnTo>
                  <a:pt x="218105" y="158384"/>
                </a:lnTo>
                <a:cubicBezTo>
                  <a:pt x="211327" y="165122"/>
                  <a:pt x="200379" y="165122"/>
                  <a:pt x="193601" y="158384"/>
                </a:cubicBezTo>
                <a:lnTo>
                  <a:pt x="152065" y="116675"/>
                </a:lnTo>
                <a:cubicBezTo>
                  <a:pt x="145287" y="109936"/>
                  <a:pt x="134339" y="109936"/>
                  <a:pt x="127561" y="116675"/>
                </a:cubicBezTo>
                <a:lnTo>
                  <a:pt x="0" y="244236"/>
                </a:lnTo>
              </a:path>
            </a:pathLst>
          </a:custGeom>
          <a:solidFill>
            <a:srgbClr val="000000"/>
          </a:solidFill>
          <a:ln w="13033">
            <a:solidFill>
              <a:srgbClr val="484848"/>
            </a:solidFill>
          </a:ln>
        </p:spPr>
        <p:txBody>
          <a:bodyPr rtlCol="0" anchor="ctr"/>
          <a:lstStyle/>
          <a:p>
            <a:pPr algn="ctr"/>
            <a:endParaRPr sz="2000"/>
          </a:p>
        </p:txBody>
      </p:sp>
      <p:sp>
        <p:nvSpPr>
          <p:cNvPr id="22" name="Rounded Rectangle 21">
            <a:extLst>
              <a:ext uri="{FF2B5EF4-FFF2-40B4-BE49-F238E27FC236}">
                <a16:creationId xmlns:a16="http://schemas.microsoft.com/office/drawing/2014/main" id="{1CA6BB2E-E205-1907-915F-AA80E1374E75}"/>
              </a:ext>
            </a:extLst>
          </p:cNvPr>
          <p:cNvSpPr/>
          <p:nvPr/>
        </p:nvSpPr>
        <p:spPr>
          <a:xfrm>
            <a:off x="3446145" y="4449850"/>
            <a:ext cx="404060" cy="404060"/>
          </a:xfrm>
          <a:custGeom>
            <a:avLst/>
            <a:gdLst/>
            <a:ahLst/>
            <a:cxnLst/>
            <a:rect l="0" t="0" r="0" b="0"/>
            <a:pathLst>
              <a:path w="404060" h="404060">
                <a:moveTo>
                  <a:pt x="193775" y="322379"/>
                </a:moveTo>
                <a:lnTo>
                  <a:pt x="259815" y="322379"/>
                </a:lnTo>
                <a:cubicBezTo>
                  <a:pt x="278932" y="322379"/>
                  <a:pt x="296311" y="315427"/>
                  <a:pt x="310214" y="303262"/>
                </a:cubicBezTo>
                <a:cubicBezTo>
                  <a:pt x="324117" y="289359"/>
                  <a:pt x="331068" y="271980"/>
                  <a:pt x="331068" y="252863"/>
                </a:cubicBezTo>
                <a:lnTo>
                  <a:pt x="331068" y="164231"/>
                </a:lnTo>
                <a:moveTo>
                  <a:pt x="226795" y="383205"/>
                </a:moveTo>
                <a:cubicBezTo>
                  <a:pt x="205940" y="397108"/>
                  <a:pt x="179872" y="404060"/>
                  <a:pt x="152065" y="404060"/>
                </a:cubicBezTo>
                <a:cubicBezTo>
                  <a:pt x="75598" y="404060"/>
                  <a:pt x="13034" y="341496"/>
                  <a:pt x="13034" y="265028"/>
                </a:cubicBezTo>
                <a:cubicBezTo>
                  <a:pt x="13034" y="188561"/>
                  <a:pt x="75598" y="125997"/>
                  <a:pt x="152065" y="125997"/>
                </a:cubicBezTo>
                <a:cubicBezTo>
                  <a:pt x="218105" y="125997"/>
                  <a:pt x="273718" y="172920"/>
                  <a:pt x="287621" y="233746"/>
                </a:cubicBezTo>
                <a:moveTo>
                  <a:pt x="152065" y="334544"/>
                </a:moveTo>
                <a:cubicBezTo>
                  <a:pt x="190457" y="334544"/>
                  <a:pt x="221581" y="303422"/>
                  <a:pt x="221581" y="265028"/>
                </a:cubicBezTo>
                <a:cubicBezTo>
                  <a:pt x="221581" y="226637"/>
                  <a:pt x="190457" y="195513"/>
                  <a:pt x="152065" y="195513"/>
                </a:cubicBezTo>
                <a:cubicBezTo>
                  <a:pt x="113673" y="195513"/>
                  <a:pt x="82550" y="226637"/>
                  <a:pt x="82550" y="265028"/>
                </a:cubicBezTo>
                <a:cubicBezTo>
                  <a:pt x="82550" y="303422"/>
                  <a:pt x="113673" y="334544"/>
                  <a:pt x="152065" y="334544"/>
                </a:cubicBezTo>
                <a:close/>
                <a:moveTo>
                  <a:pt x="152065" y="268504"/>
                </a:moveTo>
                <a:cubicBezTo>
                  <a:pt x="150146" y="268504"/>
                  <a:pt x="148589" y="266949"/>
                  <a:pt x="148589" y="265028"/>
                </a:cubicBezTo>
                <a:cubicBezTo>
                  <a:pt x="148589" y="263108"/>
                  <a:pt x="150146" y="261553"/>
                  <a:pt x="152065" y="261553"/>
                </a:cubicBezTo>
                <a:moveTo>
                  <a:pt x="152064" y="261553"/>
                </a:moveTo>
                <a:cubicBezTo>
                  <a:pt x="153984" y="261553"/>
                  <a:pt x="155540" y="263108"/>
                  <a:pt x="155540" y="265028"/>
                </a:cubicBezTo>
                <a:cubicBezTo>
                  <a:pt x="155540" y="266949"/>
                  <a:pt x="153984" y="268504"/>
                  <a:pt x="152064" y="268504"/>
                </a:cubicBezTo>
                <a:moveTo>
                  <a:pt x="331068" y="159017"/>
                </a:moveTo>
                <a:cubicBezTo>
                  <a:pt x="371381" y="159017"/>
                  <a:pt x="404060" y="126337"/>
                  <a:pt x="404060" y="86025"/>
                </a:cubicBezTo>
                <a:cubicBezTo>
                  <a:pt x="404060" y="45713"/>
                  <a:pt x="371381" y="13034"/>
                  <a:pt x="331068" y="13034"/>
                </a:cubicBezTo>
                <a:cubicBezTo>
                  <a:pt x="290756" y="13034"/>
                  <a:pt x="258077" y="45713"/>
                  <a:pt x="258077" y="86025"/>
                </a:cubicBezTo>
                <a:cubicBezTo>
                  <a:pt x="258077" y="126337"/>
                  <a:pt x="290756" y="159017"/>
                  <a:pt x="331068" y="159017"/>
                </a:cubicBezTo>
                <a:close/>
                <a:moveTo>
                  <a:pt x="0" y="0"/>
                </a:moveTo>
                <a:moveTo>
                  <a:pt x="350184" y="66909"/>
                </a:moveTo>
                <a:lnTo>
                  <a:pt x="331067" y="86026"/>
                </a:lnTo>
              </a:path>
            </a:pathLst>
          </a:custGeom>
          <a:solidFill>
            <a:srgbClr val="000000"/>
          </a:solidFill>
          <a:ln w="13033">
            <a:solidFill>
              <a:srgbClr val="484848"/>
            </a:solidFill>
          </a:ln>
        </p:spPr>
        <p:txBody>
          <a:bodyPr rtlCol="0" anchor="ctr"/>
          <a:lstStyle/>
          <a:p>
            <a:pPr algn="ctr"/>
            <a:endParaRPr sz="2000"/>
          </a:p>
        </p:txBody>
      </p:sp>
      <p:sp>
        <p:nvSpPr>
          <p:cNvPr id="23" name="Rounded Rectangle 22">
            <a:extLst>
              <a:ext uri="{FF2B5EF4-FFF2-40B4-BE49-F238E27FC236}">
                <a16:creationId xmlns:a16="http://schemas.microsoft.com/office/drawing/2014/main" id="{B811D523-09F6-34B2-7C2C-517FC99FC7FC}"/>
              </a:ext>
            </a:extLst>
          </p:cNvPr>
          <p:cNvSpPr/>
          <p:nvPr/>
        </p:nvSpPr>
        <p:spPr>
          <a:xfrm>
            <a:off x="8064501" y="4471020"/>
            <a:ext cx="382336" cy="388871"/>
          </a:xfrm>
          <a:custGeom>
            <a:avLst/>
            <a:gdLst/>
            <a:ahLst/>
            <a:cxnLst/>
            <a:rect l="0" t="0" r="0" b="0"/>
            <a:pathLst>
              <a:path w="382336" h="388871">
                <a:moveTo>
                  <a:pt x="0" y="300916"/>
                </a:moveTo>
                <a:lnTo>
                  <a:pt x="191168" y="353053"/>
                </a:lnTo>
                <a:moveTo>
                  <a:pt x="191168" y="353053"/>
                </a:moveTo>
                <a:lnTo>
                  <a:pt x="382336" y="300916"/>
                </a:lnTo>
                <a:moveTo>
                  <a:pt x="0" y="300916"/>
                </a:moveTo>
                <a:lnTo>
                  <a:pt x="95462" y="275908"/>
                </a:lnTo>
                <a:moveTo>
                  <a:pt x="0" y="380181"/>
                </a:moveTo>
                <a:lnTo>
                  <a:pt x="0" y="303088"/>
                </a:lnTo>
                <a:moveTo>
                  <a:pt x="382336" y="303088"/>
                </a:moveTo>
                <a:lnTo>
                  <a:pt x="382336" y="380181"/>
                </a:lnTo>
                <a:moveTo>
                  <a:pt x="191168" y="388871"/>
                </a:moveTo>
                <a:lnTo>
                  <a:pt x="191168" y="353053"/>
                </a:lnTo>
                <a:moveTo>
                  <a:pt x="251994" y="91239"/>
                </a:moveTo>
                <a:cubicBezTo>
                  <a:pt x="251994" y="124832"/>
                  <a:pt x="241862" y="212892"/>
                  <a:pt x="191168" y="212892"/>
                </a:cubicBezTo>
                <a:cubicBezTo>
                  <a:pt x="140474" y="212892"/>
                  <a:pt x="130342" y="124919"/>
                  <a:pt x="130342" y="91239"/>
                </a:cubicBezTo>
                <a:cubicBezTo>
                  <a:pt x="130342" y="30413"/>
                  <a:pt x="191168" y="0"/>
                  <a:pt x="191168" y="0"/>
                </a:cubicBezTo>
                <a:cubicBezTo>
                  <a:pt x="191168" y="0"/>
                  <a:pt x="251994" y="30413"/>
                  <a:pt x="251994" y="91239"/>
                </a:cubicBezTo>
                <a:close/>
                <a:moveTo>
                  <a:pt x="167307" y="89067"/>
                </a:moveTo>
                <a:cubicBezTo>
                  <a:pt x="167304" y="102247"/>
                  <a:pt x="177988" y="112933"/>
                  <a:pt x="191168" y="112933"/>
                </a:cubicBezTo>
                <a:cubicBezTo>
                  <a:pt x="204348" y="112933"/>
                  <a:pt x="215032" y="102247"/>
                  <a:pt x="215029" y="89067"/>
                </a:cubicBezTo>
                <a:cubicBezTo>
                  <a:pt x="215032" y="75886"/>
                  <a:pt x="204348" y="65200"/>
                  <a:pt x="191168" y="65200"/>
                </a:cubicBezTo>
                <a:cubicBezTo>
                  <a:pt x="177988" y="65200"/>
                  <a:pt x="167304" y="75886"/>
                  <a:pt x="167307" y="89067"/>
                </a:cubicBezTo>
                <a:moveTo>
                  <a:pt x="150901" y="197233"/>
                </a:moveTo>
                <a:lnTo>
                  <a:pt x="136859" y="204272"/>
                </a:lnTo>
                <a:cubicBezTo>
                  <a:pt x="128919" y="208486"/>
                  <a:pt x="121646" y="213850"/>
                  <a:pt x="115274" y="220191"/>
                </a:cubicBezTo>
                <a:cubicBezTo>
                  <a:pt x="112156" y="223535"/>
                  <a:pt x="107335" y="224682"/>
                  <a:pt x="103045" y="223099"/>
                </a:cubicBezTo>
                <a:cubicBezTo>
                  <a:pt x="98755" y="221515"/>
                  <a:pt x="95834" y="217512"/>
                  <a:pt x="95636" y="212944"/>
                </a:cubicBezTo>
                <a:cubicBezTo>
                  <a:pt x="92576" y="186195"/>
                  <a:pt x="107536" y="160635"/>
                  <a:pt x="132358" y="150206"/>
                </a:cubicBezTo>
                <a:moveTo>
                  <a:pt x="231435" y="197233"/>
                </a:moveTo>
                <a:lnTo>
                  <a:pt x="245477" y="204272"/>
                </a:lnTo>
                <a:cubicBezTo>
                  <a:pt x="253417" y="208486"/>
                  <a:pt x="260690" y="213850"/>
                  <a:pt x="267062" y="220191"/>
                </a:cubicBezTo>
                <a:cubicBezTo>
                  <a:pt x="270180" y="223535"/>
                  <a:pt x="275001" y="224682"/>
                  <a:pt x="279291" y="223099"/>
                </a:cubicBezTo>
                <a:cubicBezTo>
                  <a:pt x="283581" y="221515"/>
                  <a:pt x="286502" y="217512"/>
                  <a:pt x="286700" y="212944"/>
                </a:cubicBezTo>
                <a:cubicBezTo>
                  <a:pt x="289760" y="186195"/>
                  <a:pt x="274800" y="160635"/>
                  <a:pt x="249978" y="150206"/>
                </a:cubicBezTo>
                <a:moveTo>
                  <a:pt x="382336" y="300916"/>
                </a:moveTo>
                <a:lnTo>
                  <a:pt x="286874" y="275908"/>
                </a:lnTo>
                <a:moveTo>
                  <a:pt x="215498" y="264073"/>
                </a:moveTo>
                <a:cubicBezTo>
                  <a:pt x="215498" y="277507"/>
                  <a:pt x="204602" y="310005"/>
                  <a:pt x="191168" y="310005"/>
                </a:cubicBezTo>
                <a:cubicBezTo>
                  <a:pt x="177734" y="310005"/>
                  <a:pt x="166837" y="277507"/>
                  <a:pt x="166837" y="264073"/>
                </a:cubicBezTo>
                <a:cubicBezTo>
                  <a:pt x="166837" y="250635"/>
                  <a:pt x="177731" y="239742"/>
                  <a:pt x="191168" y="239742"/>
                </a:cubicBezTo>
                <a:cubicBezTo>
                  <a:pt x="204605" y="239742"/>
                  <a:pt x="215498" y="250635"/>
                  <a:pt x="215498" y="264073"/>
                </a:cubicBezTo>
                <a:close/>
              </a:path>
            </a:pathLst>
          </a:custGeom>
          <a:solidFill>
            <a:srgbClr val="000000"/>
          </a:solidFill>
          <a:ln w="13033">
            <a:solidFill>
              <a:srgbClr val="484848"/>
            </a:solidFill>
          </a:ln>
        </p:spPr>
        <p:txBody>
          <a:bodyPr rtlCol="0" anchor="ctr"/>
          <a:lstStyle/>
          <a:p>
            <a:pPr algn="ctr"/>
            <a:endParaRPr sz="2000"/>
          </a:p>
        </p:txBody>
      </p:sp>
      <p:sp>
        <p:nvSpPr>
          <p:cNvPr id="24" name="Titre 23">
            <a:extLst>
              <a:ext uri="{FF2B5EF4-FFF2-40B4-BE49-F238E27FC236}">
                <a16:creationId xmlns:a16="http://schemas.microsoft.com/office/drawing/2014/main" id="{D683E32A-3515-35DD-87AC-82A396AA62D7}"/>
              </a:ext>
            </a:extLst>
          </p:cNvPr>
          <p:cNvSpPr>
            <a:spLocks noGrp="1"/>
          </p:cNvSpPr>
          <p:nvPr>
            <p:ph type="title"/>
          </p:nvPr>
        </p:nvSpPr>
        <p:spPr>
          <a:xfrm>
            <a:off x="833167" y="17964"/>
            <a:ext cx="10515600" cy="1325563"/>
          </a:xfrm>
        </p:spPr>
        <p:txBody>
          <a:bodyPr/>
          <a:lstStyle/>
          <a:p>
            <a:r>
              <a:rPr lang="fr-FR"/>
              <a:t>L’IA propulse la croissance de Captivea</a:t>
            </a:r>
          </a:p>
        </p:txBody>
      </p:sp>
    </p:spTree>
    <p:extLst>
      <p:ext uri="{BB962C8B-B14F-4D97-AF65-F5344CB8AC3E}">
        <p14:creationId xmlns:p14="http://schemas.microsoft.com/office/powerpoint/2010/main" val="2563265505"/>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Le triple A de l'Humain Augmenté</a:t>
            </a:r>
          </a:p>
        </p:txBody>
      </p:sp>
      <p:sp>
        <p:nvSpPr>
          <p:cNvPr id="4" name="TextBox 3"/>
          <p:cNvSpPr txBox="1"/>
          <p:nvPr/>
        </p:nvSpPr>
        <p:spPr>
          <a:xfrm>
            <a:off x="548640" y="1234440"/>
            <a:ext cx="11091672" cy="548640"/>
          </a:xfrm>
          <a:prstGeom prst="rect">
            <a:avLst/>
          </a:prstGeom>
          <a:noFill/>
        </p:spPr>
        <p:txBody>
          <a:bodyPr wrap="square" lIns="0" rIns="0" tIns="0" bIns="0" anchor="t">
            <a:spAutoFit/>
          </a:bodyPr>
          <a:lstStyle/>
          <a:p>
            <a:pPr algn="ctr">
              <a:spcBef>
                <a:spcPts val="0"/>
              </a:spcBef>
              <a:spcAft>
                <a:spcPts val="0"/>
              </a:spcAft>
            </a:pPr>
            <a:r>
              <a:rPr sz="1500" b="0" i="0">
                <a:solidFill>
                  <a:srgbClr val="212529"/>
                </a:solidFill>
                <a:latin typeface="Trebuchet MS"/>
              </a:rPr>
              <a:t>On part toujours d'un besoin concret. On allège la charge, on ne remplace personne.</a:t>
            </a:r>
          </a:p>
        </p:txBody>
      </p:sp>
      <p:sp>
        <p:nvSpPr>
          <p:cNvPr id="5" name="Rounded Rectangle 4"/>
          <p:cNvSpPr/>
          <p:nvPr/>
        </p:nvSpPr>
        <p:spPr>
          <a:xfrm>
            <a:off x="548640" y="2331720"/>
            <a:ext cx="3456432" cy="288036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331720"/>
            <a:ext cx="3456432" cy="749808"/>
          </a:xfrm>
          <a:prstGeom prst="roundRect">
            <a:avLst>
              <a:gd name="adj" fmla="val 6000"/>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77439"/>
            <a:ext cx="3456432" cy="658368"/>
          </a:xfrm>
          <a:prstGeom prst="rect">
            <a:avLst/>
          </a:prstGeom>
          <a:noFill/>
        </p:spPr>
        <p:txBody>
          <a:bodyPr wrap="square" lIns="0" rIns="0" tIns="0" bIns="0" anchor="ctr">
            <a:spAutoFit/>
          </a:bodyPr>
          <a:lstStyle/>
          <a:p>
            <a:pPr algn="ctr">
              <a:spcBef>
                <a:spcPts val="0"/>
              </a:spcBef>
              <a:spcAft>
                <a:spcPts val="0"/>
              </a:spcAft>
            </a:pPr>
            <a:r>
              <a:rPr sz="1800" b="1" i="0">
                <a:solidFill>
                  <a:srgbClr val="FFFFFF"/>
                </a:solidFill>
                <a:latin typeface="Trebuchet MS"/>
              </a:rPr>
              <a:t>Adoption</a:t>
            </a:r>
          </a:p>
        </p:txBody>
      </p:sp>
      <p:sp>
        <p:nvSpPr>
          <p:cNvPr id="8" name="TextBox 7"/>
          <p:cNvSpPr txBox="1"/>
          <p:nvPr/>
        </p:nvSpPr>
        <p:spPr>
          <a:xfrm>
            <a:off x="914400" y="3291839"/>
            <a:ext cx="2724911" cy="1737360"/>
          </a:xfrm>
          <a:prstGeom prst="rect">
            <a:avLst/>
          </a:prstGeom>
          <a:noFill/>
        </p:spPr>
        <p:txBody>
          <a:bodyPr wrap="square" lIns="0" rIns="0" tIns="0" bIns="0" anchor="ctr">
            <a:spAutoFit/>
          </a:bodyPr>
          <a:lstStyle/>
          <a:p>
            <a:pPr algn="ctr">
              <a:lnSpc>
                <a:spcPct val="118000"/>
              </a:lnSpc>
              <a:spcBef>
                <a:spcPts val="0"/>
              </a:spcBef>
              <a:spcAft>
                <a:spcPts val="0"/>
              </a:spcAft>
            </a:pPr>
            <a:r>
              <a:rPr sz="1350" b="0" i="0">
                <a:solidFill>
                  <a:srgbClr val="212529"/>
                </a:solidFill>
                <a:latin typeface="Trebuchet MS"/>
              </a:rPr>
              <a:t>On installe l'environnement et on forme vos équipes. L'IA entre dans les usages, sans accroc.</a:t>
            </a:r>
          </a:p>
        </p:txBody>
      </p:sp>
      <p:sp>
        <p:nvSpPr>
          <p:cNvPr id="9" name="Rounded Rectangle 8"/>
          <p:cNvSpPr/>
          <p:nvPr/>
        </p:nvSpPr>
        <p:spPr>
          <a:xfrm>
            <a:off x="4370831" y="2331720"/>
            <a:ext cx="3456432" cy="288036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70831" y="2331720"/>
            <a:ext cx="3456432" cy="749808"/>
          </a:xfrm>
          <a:prstGeom prst="roundRect">
            <a:avLst>
              <a:gd name="adj" fmla="val 6000"/>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0831" y="2377439"/>
            <a:ext cx="3456432" cy="658368"/>
          </a:xfrm>
          <a:prstGeom prst="rect">
            <a:avLst/>
          </a:prstGeom>
          <a:noFill/>
        </p:spPr>
        <p:txBody>
          <a:bodyPr wrap="square" lIns="0" rIns="0" tIns="0" bIns="0" anchor="ctr">
            <a:spAutoFit/>
          </a:bodyPr>
          <a:lstStyle/>
          <a:p>
            <a:pPr algn="ctr">
              <a:spcBef>
                <a:spcPts val="0"/>
              </a:spcBef>
              <a:spcAft>
                <a:spcPts val="0"/>
              </a:spcAft>
            </a:pPr>
            <a:r>
              <a:rPr sz="1800" b="1" i="0">
                <a:solidFill>
                  <a:srgbClr val="FFFFFF"/>
                </a:solidFill>
                <a:latin typeface="Trebuchet MS"/>
              </a:rPr>
              <a:t>Automatisation</a:t>
            </a:r>
          </a:p>
        </p:txBody>
      </p:sp>
      <p:sp>
        <p:nvSpPr>
          <p:cNvPr id="12" name="TextBox 11"/>
          <p:cNvSpPr txBox="1"/>
          <p:nvPr/>
        </p:nvSpPr>
        <p:spPr>
          <a:xfrm>
            <a:off x="4736592" y="3291839"/>
            <a:ext cx="2724911" cy="1737360"/>
          </a:xfrm>
          <a:prstGeom prst="rect">
            <a:avLst/>
          </a:prstGeom>
          <a:noFill/>
        </p:spPr>
        <p:txBody>
          <a:bodyPr wrap="square" lIns="0" rIns="0" tIns="0" bIns="0" anchor="ctr">
            <a:spAutoFit/>
          </a:bodyPr>
          <a:lstStyle/>
          <a:p>
            <a:pPr algn="ctr">
              <a:lnSpc>
                <a:spcPct val="118000"/>
              </a:lnSpc>
              <a:spcBef>
                <a:spcPts val="0"/>
              </a:spcBef>
              <a:spcAft>
                <a:spcPts val="0"/>
              </a:spcAft>
            </a:pPr>
            <a:r>
              <a:rPr sz="1350" b="0" i="0">
                <a:solidFill>
                  <a:srgbClr val="212529"/>
                </a:solidFill>
                <a:latin typeface="Trebuchet MS"/>
              </a:rPr>
              <a:t>On déploie les agents qui retirent les tâches répétitives, là où ça pèse le plus.</a:t>
            </a:r>
          </a:p>
        </p:txBody>
      </p:sp>
      <p:sp>
        <p:nvSpPr>
          <p:cNvPr id="13" name="Rounded Rectangle 12"/>
          <p:cNvSpPr/>
          <p:nvPr/>
        </p:nvSpPr>
        <p:spPr>
          <a:xfrm>
            <a:off x="8193023" y="2331720"/>
            <a:ext cx="3456432" cy="288036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93023" y="2331720"/>
            <a:ext cx="3456432" cy="749808"/>
          </a:xfrm>
          <a:prstGeom prst="roundRect">
            <a:avLst>
              <a:gd name="adj" fmla="val 6000"/>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3" y="2377439"/>
            <a:ext cx="3456432" cy="658368"/>
          </a:xfrm>
          <a:prstGeom prst="rect">
            <a:avLst/>
          </a:prstGeom>
          <a:noFill/>
        </p:spPr>
        <p:txBody>
          <a:bodyPr wrap="square" lIns="0" rIns="0" tIns="0" bIns="0" anchor="ctr">
            <a:spAutoFit/>
          </a:bodyPr>
          <a:lstStyle/>
          <a:p>
            <a:pPr algn="ctr">
              <a:spcBef>
                <a:spcPts val="0"/>
              </a:spcBef>
              <a:spcAft>
                <a:spcPts val="0"/>
              </a:spcAft>
            </a:pPr>
            <a:r>
              <a:rPr sz="1800" b="1" i="0">
                <a:solidFill>
                  <a:srgbClr val="FFFFFF"/>
                </a:solidFill>
                <a:latin typeface="Trebuchet MS"/>
              </a:rPr>
              <a:t>Accélération</a:t>
            </a:r>
          </a:p>
        </p:txBody>
      </p:sp>
      <p:sp>
        <p:nvSpPr>
          <p:cNvPr id="16" name="TextBox 15"/>
          <p:cNvSpPr txBox="1"/>
          <p:nvPr/>
        </p:nvSpPr>
        <p:spPr>
          <a:xfrm>
            <a:off x="8558784" y="3291839"/>
            <a:ext cx="2724911" cy="1737360"/>
          </a:xfrm>
          <a:prstGeom prst="rect">
            <a:avLst/>
          </a:prstGeom>
          <a:noFill/>
        </p:spPr>
        <p:txBody>
          <a:bodyPr wrap="square" lIns="0" rIns="0" tIns="0" bIns="0" anchor="ctr">
            <a:spAutoFit/>
          </a:bodyPr>
          <a:lstStyle/>
          <a:p>
            <a:pPr algn="ctr">
              <a:lnSpc>
                <a:spcPct val="118000"/>
              </a:lnSpc>
              <a:spcBef>
                <a:spcPts val="0"/>
              </a:spcBef>
              <a:spcAft>
                <a:spcPts val="0"/>
              </a:spcAft>
            </a:pPr>
            <a:r>
              <a:rPr sz="1350" b="0" i="0">
                <a:solidFill>
                  <a:srgbClr val="212529"/>
                </a:solidFill>
                <a:latin typeface="Trebuchet MS"/>
              </a:rPr>
              <a:t>On entretient, on mesure le ROI et on fait monter vos agents en puissance.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Six collègues virtuels, un par métier</a:t>
            </a:r>
          </a:p>
        </p:txBody>
      </p:sp>
      <p:sp>
        <p:nvSpPr>
          <p:cNvPr id="4" name="TextBox 3"/>
          <p:cNvSpPr txBox="1"/>
          <p:nvPr/>
        </p:nvSpPr>
        <p:spPr>
          <a:xfrm>
            <a:off x="868680" y="1207008"/>
            <a:ext cx="10789920" cy="457200"/>
          </a:xfrm>
          <a:prstGeom prst="rect">
            <a:avLst/>
          </a:prstGeom>
          <a:noFill/>
        </p:spPr>
        <p:txBody>
          <a:bodyPr wrap="square" lIns="0" rIns="0" tIns="0" bIns="0" anchor="t">
            <a:spAutoFit/>
          </a:bodyPr>
          <a:lstStyle/>
          <a:p>
            <a:pPr algn="l">
              <a:spcBef>
                <a:spcPts val="0"/>
              </a:spcBef>
              <a:spcAft>
                <a:spcPts val="0"/>
              </a:spcAft>
            </a:pPr>
            <a:r>
              <a:rPr sz="1500" b="0" i="0">
                <a:solidFill>
                  <a:srgbClr val="212529"/>
                </a:solidFill>
                <a:latin typeface="Trebuchet MS"/>
              </a:rPr>
              <a:t>Chacun prend une charge précise. Vous gardez la main.</a:t>
            </a:r>
          </a:p>
        </p:txBody>
      </p:sp>
      <p:sp>
        <p:nvSpPr>
          <p:cNvPr id="5" name="Rounded Rectangle 4"/>
          <p:cNvSpPr/>
          <p:nvPr/>
        </p:nvSpPr>
        <p:spPr>
          <a:xfrm>
            <a:off x="548640" y="1783080"/>
            <a:ext cx="3456432" cy="1719072"/>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148840"/>
            <a:ext cx="237744" cy="237744"/>
          </a:xfrm>
          <a:prstGeom prst="ellipse">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2057400"/>
            <a:ext cx="2496311" cy="731520"/>
          </a:xfrm>
          <a:prstGeom prst="rect">
            <a:avLst/>
          </a:prstGeom>
          <a:noFill/>
        </p:spPr>
        <p:txBody>
          <a:bodyPr wrap="square" lIns="0" rIns="0" tIns="0" bIns="0" anchor="t">
            <a:spAutoFit/>
          </a:bodyPr>
          <a:lstStyle/>
          <a:p>
            <a:pPr algn="l">
              <a:spcBef>
                <a:spcPts val="0"/>
              </a:spcBef>
              <a:spcAft>
                <a:spcPts val="0"/>
              </a:spcAft>
            </a:pPr>
            <a:r>
              <a:rPr sz="1550" b="1" i="0">
                <a:solidFill>
                  <a:srgbClr val="212529"/>
                </a:solidFill>
                <a:latin typeface="Trebuchet MS"/>
              </a:rPr>
              <a:t>Léo</a:t>
            </a:r>
          </a:p>
          <a:p>
            <a:pPr algn="l">
              <a:spcBef>
                <a:spcPts val="100"/>
              </a:spcBef>
              <a:spcAft>
                <a:spcPts val="0"/>
              </a:spcAft>
            </a:pPr>
            <a:r>
              <a:rPr sz="1200" b="1" i="0">
                <a:solidFill>
                  <a:srgbClr val="CD5358"/>
                </a:solidFill>
                <a:latin typeface="Trebuchet MS"/>
              </a:rPr>
              <a:t>Marketing</a:t>
            </a:r>
          </a:p>
        </p:txBody>
      </p:sp>
      <p:sp>
        <p:nvSpPr>
          <p:cNvPr id="8" name="TextBox 7"/>
          <p:cNvSpPr txBox="1"/>
          <p:nvPr/>
        </p:nvSpPr>
        <p:spPr>
          <a:xfrm>
            <a:off x="896112" y="2843784"/>
            <a:ext cx="2798063" cy="548640"/>
          </a:xfrm>
          <a:prstGeom prst="rect">
            <a:avLst/>
          </a:prstGeom>
          <a:noFill/>
        </p:spPr>
        <p:txBody>
          <a:bodyPr wrap="square" lIns="0" rIns="0" tIns="0" bIns="0" anchor="t">
            <a:spAutoFit/>
          </a:bodyPr>
          <a:lstStyle/>
          <a:p>
            <a:pPr algn="l">
              <a:lnSpc>
                <a:spcPct val="106000"/>
              </a:lnSpc>
              <a:spcBef>
                <a:spcPts val="0"/>
              </a:spcBef>
              <a:spcAft>
                <a:spcPts val="0"/>
              </a:spcAft>
            </a:pPr>
            <a:r>
              <a:rPr sz="1300" b="0" i="0">
                <a:solidFill>
                  <a:srgbClr val="212529"/>
                </a:solidFill>
                <a:latin typeface="Trebuchet MS"/>
              </a:rPr>
              <a:t>Rédige vos campagnes et vos publications.</a:t>
            </a:r>
          </a:p>
        </p:txBody>
      </p:sp>
      <p:sp>
        <p:nvSpPr>
          <p:cNvPr id="9" name="Rounded Rectangle 8"/>
          <p:cNvSpPr/>
          <p:nvPr/>
        </p:nvSpPr>
        <p:spPr>
          <a:xfrm>
            <a:off x="4370831" y="1783080"/>
            <a:ext cx="3456432" cy="1719072"/>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00016" y="2148840"/>
            <a:ext cx="237744" cy="237744"/>
          </a:xfrm>
          <a:prstGeom prst="ellipse">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4064" y="2057400"/>
            <a:ext cx="2496311" cy="731520"/>
          </a:xfrm>
          <a:prstGeom prst="rect">
            <a:avLst/>
          </a:prstGeom>
          <a:noFill/>
        </p:spPr>
        <p:txBody>
          <a:bodyPr wrap="square" lIns="0" rIns="0" tIns="0" bIns="0" anchor="t">
            <a:spAutoFit/>
          </a:bodyPr>
          <a:lstStyle/>
          <a:p>
            <a:pPr algn="l">
              <a:spcBef>
                <a:spcPts val="0"/>
              </a:spcBef>
              <a:spcAft>
                <a:spcPts val="0"/>
              </a:spcAft>
            </a:pPr>
            <a:r>
              <a:rPr sz="1550" b="1" i="0">
                <a:solidFill>
                  <a:srgbClr val="212529"/>
                </a:solidFill>
                <a:latin typeface="Trebuchet MS"/>
              </a:rPr>
              <a:t>Jade</a:t>
            </a:r>
          </a:p>
          <a:p>
            <a:pPr algn="l">
              <a:spcBef>
                <a:spcPts val="100"/>
              </a:spcBef>
              <a:spcAft>
                <a:spcPts val="0"/>
              </a:spcAft>
            </a:pPr>
            <a:r>
              <a:rPr sz="1200" b="1" i="0">
                <a:solidFill>
                  <a:srgbClr val="BA131A"/>
                </a:solidFill>
                <a:latin typeface="Trebuchet MS"/>
              </a:rPr>
              <a:t>Vente</a:t>
            </a:r>
          </a:p>
        </p:txBody>
      </p:sp>
      <p:sp>
        <p:nvSpPr>
          <p:cNvPr id="12" name="TextBox 11"/>
          <p:cNvSpPr txBox="1"/>
          <p:nvPr/>
        </p:nvSpPr>
        <p:spPr>
          <a:xfrm>
            <a:off x="4718303" y="2843784"/>
            <a:ext cx="2798063" cy="548640"/>
          </a:xfrm>
          <a:prstGeom prst="rect">
            <a:avLst/>
          </a:prstGeom>
          <a:noFill/>
        </p:spPr>
        <p:txBody>
          <a:bodyPr wrap="square" lIns="0" rIns="0" tIns="0" bIns="0" anchor="t">
            <a:spAutoFit/>
          </a:bodyPr>
          <a:lstStyle/>
          <a:p>
            <a:pPr algn="l">
              <a:lnSpc>
                <a:spcPct val="106000"/>
              </a:lnSpc>
              <a:spcBef>
                <a:spcPts val="0"/>
              </a:spcBef>
              <a:spcAft>
                <a:spcPts val="0"/>
              </a:spcAft>
            </a:pPr>
            <a:r>
              <a:rPr sz="1300" b="0" i="0">
                <a:solidFill>
                  <a:srgbClr val="212529"/>
                </a:solidFill>
                <a:latin typeface="Trebuchet MS"/>
              </a:rPr>
              <a:t>Entraîne vos commerciaux, prépare vos rendez-vous.</a:t>
            </a:r>
          </a:p>
        </p:txBody>
      </p:sp>
      <p:sp>
        <p:nvSpPr>
          <p:cNvPr id="13" name="Rounded Rectangle 12"/>
          <p:cNvSpPr/>
          <p:nvPr/>
        </p:nvSpPr>
        <p:spPr>
          <a:xfrm>
            <a:off x="8193023" y="1783080"/>
            <a:ext cx="3456432" cy="1719072"/>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22207" y="2148840"/>
            <a:ext cx="237744" cy="237744"/>
          </a:xfrm>
          <a:prstGeom prst="ellipse">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06255" y="2057400"/>
            <a:ext cx="2496311" cy="731520"/>
          </a:xfrm>
          <a:prstGeom prst="rect">
            <a:avLst/>
          </a:prstGeom>
          <a:noFill/>
        </p:spPr>
        <p:txBody>
          <a:bodyPr wrap="square" lIns="0" rIns="0" tIns="0" bIns="0" anchor="t">
            <a:spAutoFit/>
          </a:bodyPr>
          <a:lstStyle/>
          <a:p>
            <a:pPr algn="l">
              <a:spcBef>
                <a:spcPts val="0"/>
              </a:spcBef>
              <a:spcAft>
                <a:spcPts val="0"/>
              </a:spcAft>
            </a:pPr>
            <a:r>
              <a:rPr sz="1550" b="1" i="0">
                <a:solidFill>
                  <a:srgbClr val="212529"/>
                </a:solidFill>
                <a:latin typeface="Trebuchet MS"/>
              </a:rPr>
              <a:t>Luna</a:t>
            </a:r>
          </a:p>
          <a:p>
            <a:pPr algn="l">
              <a:spcBef>
                <a:spcPts val="100"/>
              </a:spcBef>
              <a:spcAft>
                <a:spcPts val="0"/>
              </a:spcAft>
            </a:pPr>
            <a:r>
              <a:rPr sz="1200" b="1" i="0">
                <a:solidFill>
                  <a:srgbClr val="714B67"/>
                </a:solidFill>
                <a:latin typeface="Trebuchet MS"/>
              </a:rPr>
              <a:t>Vente en ligne</a:t>
            </a:r>
          </a:p>
        </p:txBody>
      </p:sp>
      <p:sp>
        <p:nvSpPr>
          <p:cNvPr id="16" name="TextBox 15"/>
          <p:cNvSpPr txBox="1"/>
          <p:nvPr/>
        </p:nvSpPr>
        <p:spPr>
          <a:xfrm>
            <a:off x="8540496" y="2843784"/>
            <a:ext cx="2798063" cy="548640"/>
          </a:xfrm>
          <a:prstGeom prst="rect">
            <a:avLst/>
          </a:prstGeom>
          <a:noFill/>
        </p:spPr>
        <p:txBody>
          <a:bodyPr wrap="square" lIns="0" rIns="0" tIns="0" bIns="0" anchor="t">
            <a:spAutoFit/>
          </a:bodyPr>
          <a:lstStyle/>
          <a:p>
            <a:pPr algn="l">
              <a:lnSpc>
                <a:spcPct val="106000"/>
              </a:lnSpc>
              <a:spcBef>
                <a:spcPts val="0"/>
              </a:spcBef>
              <a:spcAft>
                <a:spcPts val="0"/>
              </a:spcAft>
            </a:pPr>
            <a:r>
              <a:rPr sz="1300" b="0" i="0">
                <a:solidFill>
                  <a:srgbClr val="212529"/>
                </a:solidFill>
                <a:latin typeface="Trebuchet MS"/>
              </a:rPr>
              <a:t>Conseille et vend sur votre site, jour et nuit.</a:t>
            </a:r>
          </a:p>
        </p:txBody>
      </p:sp>
      <p:sp>
        <p:nvSpPr>
          <p:cNvPr id="17" name="Rounded Rectangle 16"/>
          <p:cNvSpPr/>
          <p:nvPr/>
        </p:nvSpPr>
        <p:spPr>
          <a:xfrm>
            <a:off x="548640" y="3776472"/>
            <a:ext cx="3456432" cy="1719072"/>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77824" y="4142232"/>
            <a:ext cx="237744" cy="237744"/>
          </a:xfrm>
          <a:prstGeom prst="ellipse">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 y="4050791"/>
            <a:ext cx="2496311" cy="731520"/>
          </a:xfrm>
          <a:prstGeom prst="rect">
            <a:avLst/>
          </a:prstGeom>
          <a:noFill/>
        </p:spPr>
        <p:txBody>
          <a:bodyPr wrap="square" lIns="0" rIns="0" tIns="0" bIns="0" anchor="t">
            <a:spAutoFit/>
          </a:bodyPr>
          <a:lstStyle/>
          <a:p>
            <a:pPr algn="l">
              <a:spcBef>
                <a:spcPts val="0"/>
              </a:spcBef>
              <a:spcAft>
                <a:spcPts val="0"/>
              </a:spcAft>
            </a:pPr>
            <a:r>
              <a:rPr sz="1550" b="1" i="0">
                <a:solidFill>
                  <a:srgbClr val="212529"/>
                </a:solidFill>
                <a:latin typeface="Trebuchet MS"/>
              </a:rPr>
              <a:t>Arthur</a:t>
            </a:r>
          </a:p>
          <a:p>
            <a:pPr algn="l">
              <a:spcBef>
                <a:spcPts val="100"/>
              </a:spcBef>
              <a:spcAft>
                <a:spcPts val="0"/>
              </a:spcAft>
            </a:pPr>
            <a:r>
              <a:rPr sz="1200" b="1" i="0">
                <a:solidFill>
                  <a:srgbClr val="BA131A"/>
                </a:solidFill>
                <a:latin typeface="Trebuchet MS"/>
              </a:rPr>
              <a:t>Gestion de projet</a:t>
            </a:r>
          </a:p>
        </p:txBody>
      </p:sp>
      <p:sp>
        <p:nvSpPr>
          <p:cNvPr id="20" name="TextBox 19"/>
          <p:cNvSpPr txBox="1"/>
          <p:nvPr/>
        </p:nvSpPr>
        <p:spPr>
          <a:xfrm>
            <a:off x="896112" y="4837176"/>
            <a:ext cx="2798063" cy="548640"/>
          </a:xfrm>
          <a:prstGeom prst="rect">
            <a:avLst/>
          </a:prstGeom>
          <a:noFill/>
        </p:spPr>
        <p:txBody>
          <a:bodyPr wrap="square" lIns="0" rIns="0" tIns="0" bIns="0" anchor="t">
            <a:spAutoFit/>
          </a:bodyPr>
          <a:lstStyle/>
          <a:p>
            <a:pPr algn="l">
              <a:lnSpc>
                <a:spcPct val="106000"/>
              </a:lnSpc>
              <a:spcBef>
                <a:spcPts val="0"/>
              </a:spcBef>
              <a:spcAft>
                <a:spcPts val="0"/>
              </a:spcAft>
            </a:pPr>
            <a:r>
              <a:rPr sz="1300" b="0" i="0">
                <a:solidFill>
                  <a:srgbClr val="212529"/>
                </a:solidFill>
                <a:latin typeface="Trebuchet MS"/>
              </a:rPr>
              <a:t>Sécurise et fait avancer vos projets.</a:t>
            </a:r>
          </a:p>
        </p:txBody>
      </p:sp>
      <p:sp>
        <p:nvSpPr>
          <p:cNvPr id="21" name="Rounded Rectangle 20"/>
          <p:cNvSpPr/>
          <p:nvPr/>
        </p:nvSpPr>
        <p:spPr>
          <a:xfrm>
            <a:off x="4370831" y="3776472"/>
            <a:ext cx="3456432" cy="1719072"/>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00016" y="4142232"/>
            <a:ext cx="237744" cy="237744"/>
          </a:xfrm>
          <a:prstGeom prst="ellipse">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4064" y="4050791"/>
            <a:ext cx="2496311" cy="731520"/>
          </a:xfrm>
          <a:prstGeom prst="rect">
            <a:avLst/>
          </a:prstGeom>
          <a:noFill/>
        </p:spPr>
        <p:txBody>
          <a:bodyPr wrap="square" lIns="0" rIns="0" tIns="0" bIns="0" anchor="t">
            <a:spAutoFit/>
          </a:bodyPr>
          <a:lstStyle/>
          <a:p>
            <a:pPr algn="l">
              <a:spcBef>
                <a:spcPts val="0"/>
              </a:spcBef>
              <a:spcAft>
                <a:spcPts val="0"/>
              </a:spcAft>
            </a:pPr>
            <a:r>
              <a:rPr sz="1550" b="1" i="0">
                <a:solidFill>
                  <a:srgbClr val="212529"/>
                </a:solidFill>
                <a:latin typeface="Trebuchet MS"/>
              </a:rPr>
              <a:t>Lou</a:t>
            </a:r>
          </a:p>
          <a:p>
            <a:pPr algn="l">
              <a:spcBef>
                <a:spcPts val="100"/>
              </a:spcBef>
              <a:spcAft>
                <a:spcPts val="0"/>
              </a:spcAft>
            </a:pPr>
            <a:r>
              <a:rPr sz="1200" b="1" i="0">
                <a:solidFill>
                  <a:srgbClr val="714B67"/>
                </a:solidFill>
                <a:latin typeface="Trebuchet MS"/>
              </a:rPr>
              <a:t>Juridique</a:t>
            </a:r>
          </a:p>
        </p:txBody>
      </p:sp>
      <p:sp>
        <p:nvSpPr>
          <p:cNvPr id="24" name="TextBox 23"/>
          <p:cNvSpPr txBox="1"/>
          <p:nvPr/>
        </p:nvSpPr>
        <p:spPr>
          <a:xfrm>
            <a:off x="4718303" y="4837176"/>
            <a:ext cx="2798063" cy="548640"/>
          </a:xfrm>
          <a:prstGeom prst="rect">
            <a:avLst/>
          </a:prstGeom>
          <a:noFill/>
        </p:spPr>
        <p:txBody>
          <a:bodyPr wrap="square" lIns="0" rIns="0" tIns="0" bIns="0" anchor="t">
            <a:spAutoFit/>
          </a:bodyPr>
          <a:lstStyle/>
          <a:p>
            <a:pPr algn="l">
              <a:lnSpc>
                <a:spcPct val="106000"/>
              </a:lnSpc>
              <a:spcBef>
                <a:spcPts val="0"/>
              </a:spcBef>
              <a:spcAft>
                <a:spcPts val="0"/>
              </a:spcAft>
            </a:pPr>
            <a:r>
              <a:rPr sz="1300" b="0" i="0">
                <a:solidFill>
                  <a:srgbClr val="212529"/>
                </a:solidFill>
                <a:latin typeface="Trebuchet MS"/>
              </a:rPr>
              <a:t>Vérifie vos contrats, surveille les échéances.</a:t>
            </a:r>
          </a:p>
        </p:txBody>
      </p:sp>
      <p:sp>
        <p:nvSpPr>
          <p:cNvPr id="25" name="Rounded Rectangle 24"/>
          <p:cNvSpPr/>
          <p:nvPr/>
        </p:nvSpPr>
        <p:spPr>
          <a:xfrm>
            <a:off x="8193023" y="3776472"/>
            <a:ext cx="3456432" cy="1719072"/>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22207" y="4142232"/>
            <a:ext cx="237744" cy="237744"/>
          </a:xfrm>
          <a:prstGeom prst="ellipse">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06255" y="4050791"/>
            <a:ext cx="2496311" cy="731520"/>
          </a:xfrm>
          <a:prstGeom prst="rect">
            <a:avLst/>
          </a:prstGeom>
          <a:noFill/>
        </p:spPr>
        <p:txBody>
          <a:bodyPr wrap="square" lIns="0" rIns="0" tIns="0" bIns="0" anchor="t">
            <a:spAutoFit/>
          </a:bodyPr>
          <a:lstStyle/>
          <a:p>
            <a:pPr algn="l">
              <a:spcBef>
                <a:spcPts val="0"/>
              </a:spcBef>
              <a:spcAft>
                <a:spcPts val="0"/>
              </a:spcAft>
            </a:pPr>
            <a:r>
              <a:rPr sz="1550" b="1" i="0">
                <a:solidFill>
                  <a:srgbClr val="212529"/>
                </a:solidFill>
                <a:latin typeface="Trebuchet MS"/>
              </a:rPr>
              <a:t>Captivea Connect</a:t>
            </a:r>
          </a:p>
          <a:p>
            <a:pPr algn="l">
              <a:spcBef>
                <a:spcPts val="100"/>
              </a:spcBef>
              <a:spcAft>
                <a:spcPts val="0"/>
              </a:spcAft>
            </a:pPr>
            <a:r>
              <a:rPr sz="1200" b="1" i="0">
                <a:solidFill>
                  <a:srgbClr val="CD5358"/>
                </a:solidFill>
                <a:latin typeface="Trebuchet MS"/>
              </a:rPr>
              <a:t>Inclus de base</a:t>
            </a:r>
          </a:p>
        </p:txBody>
      </p:sp>
      <p:sp>
        <p:nvSpPr>
          <p:cNvPr id="28" name="TextBox 27"/>
          <p:cNvSpPr txBox="1"/>
          <p:nvPr/>
        </p:nvSpPr>
        <p:spPr>
          <a:xfrm>
            <a:off x="8540496" y="4837176"/>
            <a:ext cx="2798063" cy="548640"/>
          </a:xfrm>
          <a:prstGeom prst="rect">
            <a:avLst/>
          </a:prstGeom>
          <a:noFill/>
        </p:spPr>
        <p:txBody>
          <a:bodyPr wrap="square" lIns="0" rIns="0" tIns="0" bIns="0" anchor="t">
            <a:spAutoFit/>
          </a:bodyPr>
          <a:lstStyle/>
          <a:p>
            <a:pPr algn="l">
              <a:lnSpc>
                <a:spcPct val="106000"/>
              </a:lnSpc>
              <a:spcBef>
                <a:spcPts val="0"/>
              </a:spcBef>
              <a:spcAft>
                <a:spcPts val="0"/>
              </a:spcAft>
            </a:pPr>
            <a:r>
              <a:rPr sz="1300" b="0" i="0">
                <a:solidFill>
                  <a:srgbClr val="212529"/>
                </a:solidFill>
                <a:latin typeface="Trebuchet MS"/>
              </a:rPr>
              <a:t>Votre lien direct avec l'équipe Captivea.</a:t>
            </a:r>
          </a:p>
        </p:txBody>
      </p:sp>
      <p:sp>
        <p:nvSpPr>
          <p:cNvPr id="29" name="TextBox 28"/>
          <p:cNvSpPr txBox="1"/>
          <p:nvPr/>
        </p:nvSpPr>
        <p:spPr>
          <a:xfrm>
            <a:off x="548640" y="5760720"/>
            <a:ext cx="11091672" cy="457200"/>
          </a:xfrm>
          <a:prstGeom prst="rect">
            <a:avLst/>
          </a:prstGeom>
          <a:noFill/>
        </p:spPr>
        <p:txBody>
          <a:bodyPr wrap="square" lIns="0" rIns="0" tIns="0" bIns="0" anchor="t">
            <a:spAutoFit/>
          </a:bodyPr>
          <a:lstStyle/>
          <a:p>
            <a:pPr algn="ctr">
              <a:spcBef>
                <a:spcPts val="0"/>
              </a:spcBef>
              <a:spcAft>
                <a:spcPts val="0"/>
              </a:spcAft>
            </a:pPr>
            <a:r>
              <a:rPr sz="1200" b="0" i="1">
                <a:solidFill>
                  <a:srgbClr val="8F8F8F"/>
                </a:solidFill>
                <a:latin typeface="Trebuchet MS"/>
              </a:rPr>
              <a:t>Tous directement dans votre Odoo (à partir de la V19) et 100% personnalisés : interviews Captivea et vos documents.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Léo, votre marketeur préféré</a:t>
            </a:r>
          </a:p>
        </p:txBody>
      </p:sp>
      <p:sp>
        <p:nvSpPr>
          <p:cNvPr id="4" name="TextBox 3"/>
          <p:cNvSpPr txBox="1"/>
          <p:nvPr/>
        </p:nvSpPr>
        <p:spPr>
          <a:xfrm>
            <a:off x="868680" y="1298448"/>
            <a:ext cx="6400800" cy="731520"/>
          </a:xfrm>
          <a:prstGeom prst="rect">
            <a:avLst/>
          </a:prstGeom>
          <a:noFill/>
        </p:spPr>
        <p:txBody>
          <a:bodyPr wrap="square" lIns="0" rIns="0" tIns="0" bIns="0" anchor="t">
            <a:spAutoFit/>
          </a:bodyPr>
          <a:lstStyle/>
          <a:p>
            <a:pPr algn="l">
              <a:lnSpc>
                <a:spcPct val="110000"/>
              </a:lnSpc>
              <a:spcBef>
                <a:spcPts val="0"/>
              </a:spcBef>
              <a:spcAft>
                <a:spcPts val="0"/>
              </a:spcAft>
            </a:pPr>
            <a:r>
              <a:rPr sz="1500" b="0" i="1">
                <a:solidFill>
                  <a:srgbClr val="212529"/>
                </a:solidFill>
                <a:latin typeface="Trebuchet MS"/>
              </a:rPr>
              <a:t>Produire du contenu de prospection et LinkedIn en continu, sans y laisser vos soirées.</a:t>
            </a:r>
          </a:p>
        </p:txBody>
      </p:sp>
      <p:sp>
        <p:nvSpPr>
          <p:cNvPr id="5" name="TextBox 4"/>
          <p:cNvSpPr txBox="1"/>
          <p:nvPr/>
        </p:nvSpPr>
        <p:spPr>
          <a:xfrm>
            <a:off x="868680" y="2240280"/>
            <a:ext cx="6355080" cy="2651760"/>
          </a:xfrm>
          <a:prstGeom prst="rect">
            <a:avLst/>
          </a:prstGeom>
          <a:noFill/>
        </p:spPr>
        <p:txBody>
          <a:bodyPr wrap="square" lIns="0" rIns="0" tIns="0" bIns="0" anchor="t">
            <a:spAutoFit/>
          </a:bodyPr>
          <a:lstStyle/>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Rédige vos emails de prospection ciblés par secteur, poste et offre, prêts à partir.</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Génère vos publications LinkedIn avec le visuel, à votre ton et votre marché.</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Planifie et publie, ou vous laisse valider avant l'envoi.</a:t>
            </a:r>
          </a:p>
        </p:txBody>
      </p:sp>
      <p:sp>
        <p:nvSpPr>
          <p:cNvPr id="6" name="TextBox 5"/>
          <p:cNvSpPr txBox="1"/>
          <p:nvPr/>
        </p:nvSpPr>
        <p:spPr>
          <a:xfrm>
            <a:off x="868680" y="4983480"/>
            <a:ext cx="6355080" cy="868680"/>
          </a:xfrm>
          <a:prstGeom prst="rect">
            <a:avLst/>
          </a:prstGeom>
          <a:noFill/>
        </p:spPr>
        <p:txBody>
          <a:bodyPr wrap="square" lIns="0" rIns="0" tIns="0" bIns="0" anchor="t">
            <a:spAutoFit/>
          </a:bodyPr>
          <a:lstStyle/>
          <a:p>
            <a:pPr algn="l">
              <a:lnSpc>
                <a:spcPct val="112000"/>
              </a:lnSpc>
              <a:spcBef>
                <a:spcPts val="0"/>
              </a:spcBef>
              <a:spcAft>
                <a:spcPts val="400"/>
              </a:spcAft>
            </a:pPr>
            <a:r>
              <a:rPr sz="1100" b="0" i="0">
                <a:solidFill>
                  <a:srgbClr val="8F8F8F"/>
                </a:solidFill>
                <a:latin typeface="Trebuchet MS"/>
              </a:rPr>
              <a:t>Directement dans votre Odoo, à partir de la V19   ·   Moteur IA au choix : Mistral, Claude, Gemini, ChatGPT</a:t>
            </a:r>
          </a:p>
          <a:p>
            <a:pPr algn="l">
              <a:lnSpc>
                <a:spcPct val="112000"/>
              </a:lnSpc>
              <a:spcBef>
                <a:spcPts val="0"/>
              </a:spcBef>
              <a:spcAft>
                <a:spcPts val="0"/>
              </a:spcAft>
            </a:pPr>
            <a:r>
              <a:rPr sz="1100" b="0" i="1">
                <a:solidFill>
                  <a:srgbClr val="8F8F8F"/>
                </a:solidFill>
                <a:latin typeface="Trebuchet MS"/>
              </a:rPr>
              <a:t>100% personnalisé : interviews menées par Captivea et vos documents métier.</a:t>
            </a:r>
          </a:p>
        </p:txBody>
      </p:sp>
      <p:sp>
        <p:nvSpPr>
          <p:cNvPr id="7" name="Rounded Rectangle 6"/>
          <p:cNvSpPr/>
          <p:nvPr/>
        </p:nvSpPr>
        <p:spPr>
          <a:xfrm>
            <a:off x="7498079" y="1371600"/>
            <a:ext cx="4160520" cy="4434840"/>
          </a:xfrm>
          <a:prstGeom prst="roundRect">
            <a:avLst>
              <a:gd name="adj" fmla="val 5000"/>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1783080"/>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29700" y="1783080"/>
            <a:ext cx="1097280" cy="1097280"/>
          </a:xfrm>
          <a:prstGeom prst="rect">
            <a:avLst/>
          </a:prstGeom>
          <a:noFill/>
        </p:spPr>
        <p:txBody>
          <a:bodyPr wrap="square" lIns="0" rIns="0" tIns="0" bIns="0" anchor="ctr">
            <a:spAutoFit/>
          </a:bodyPr>
          <a:lstStyle/>
          <a:p>
            <a:pPr algn="ctr">
              <a:spcBef>
                <a:spcPts val="0"/>
              </a:spcBef>
              <a:spcAft>
                <a:spcPts val="0"/>
              </a:spcAft>
            </a:pPr>
            <a:r>
              <a:rPr sz="3000" b="1" i="0">
                <a:solidFill>
                  <a:srgbClr val="CD5358"/>
                </a:solidFill>
                <a:latin typeface="Trebuchet MS"/>
              </a:rPr>
              <a:t>L</a:t>
            </a:r>
          </a:p>
        </p:txBody>
      </p:sp>
      <p:sp>
        <p:nvSpPr>
          <p:cNvPr id="10" name="TextBox 9"/>
          <p:cNvSpPr txBox="1"/>
          <p:nvPr/>
        </p:nvSpPr>
        <p:spPr>
          <a:xfrm>
            <a:off x="7863840" y="3154680"/>
            <a:ext cx="3429000" cy="914400"/>
          </a:xfrm>
          <a:prstGeom prst="rect">
            <a:avLst/>
          </a:prstGeom>
          <a:noFill/>
        </p:spPr>
        <p:txBody>
          <a:bodyPr wrap="square" lIns="0" rIns="0" tIns="0" bIns="0" anchor="ctr">
            <a:spAutoFit/>
          </a:bodyPr>
          <a:lstStyle/>
          <a:p>
            <a:pPr algn="ctr">
              <a:lnSpc>
                <a:spcPct val="105000"/>
              </a:lnSpc>
              <a:spcBef>
                <a:spcPts val="0"/>
              </a:spcBef>
              <a:spcAft>
                <a:spcPts val="0"/>
              </a:spcAft>
            </a:pPr>
            <a:r>
              <a:rPr sz="1800" b="1" i="0">
                <a:solidFill>
                  <a:srgbClr val="FFFFFF"/>
                </a:solidFill>
                <a:latin typeface="Trebuchet MS"/>
              </a:rPr>
              <a:t>Du contenu prêt en quelques minutes.</a:t>
            </a:r>
          </a:p>
        </p:txBody>
      </p:sp>
      <p:sp>
        <p:nvSpPr>
          <p:cNvPr id="11" name="TextBox 10"/>
          <p:cNvSpPr txBox="1"/>
          <p:nvPr/>
        </p:nvSpPr>
        <p:spPr>
          <a:xfrm>
            <a:off x="7863840" y="4160520"/>
            <a:ext cx="3429000" cy="1508760"/>
          </a:xfrm>
          <a:prstGeom prst="rect">
            <a:avLst/>
          </a:prstGeom>
          <a:noFill/>
        </p:spPr>
        <p:txBody>
          <a:bodyPr wrap="square" lIns="0" rIns="0" tIns="0" bIns="0" anchor="t">
            <a:spAutoFit/>
          </a:bodyPr>
          <a:lstStyle/>
          <a:p>
            <a:pPr algn="ctr">
              <a:lnSpc>
                <a:spcPct val="118000"/>
              </a:lnSpc>
              <a:spcBef>
                <a:spcPts val="0"/>
              </a:spcBef>
              <a:spcAft>
                <a:spcPts val="0"/>
              </a:spcAft>
            </a:pPr>
            <a:r>
              <a:rPr sz="1300" b="0" i="0">
                <a:solidFill>
                  <a:srgbClr val="FFFFFF"/>
                </a:solidFill>
                <a:latin typeface="Trebuchet MS"/>
              </a:rPr>
              <a:t>Vos équipes marketing et vos commerciaux se concentrent sur l'essentiel, pas sur la rédaction.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Jade, votre commerciale augmentée</a:t>
            </a:r>
          </a:p>
        </p:txBody>
      </p:sp>
      <p:sp>
        <p:nvSpPr>
          <p:cNvPr id="4" name="TextBox 3"/>
          <p:cNvSpPr txBox="1"/>
          <p:nvPr/>
        </p:nvSpPr>
        <p:spPr>
          <a:xfrm>
            <a:off x="868680" y="1298448"/>
            <a:ext cx="6400800" cy="731520"/>
          </a:xfrm>
          <a:prstGeom prst="rect">
            <a:avLst/>
          </a:prstGeom>
          <a:noFill/>
        </p:spPr>
        <p:txBody>
          <a:bodyPr wrap="square" lIns="0" rIns="0" tIns="0" bIns="0" anchor="t">
            <a:spAutoFit/>
          </a:bodyPr>
          <a:lstStyle/>
          <a:p>
            <a:pPr algn="l">
              <a:lnSpc>
                <a:spcPct val="110000"/>
              </a:lnSpc>
              <a:spcBef>
                <a:spcPts val="0"/>
              </a:spcBef>
              <a:spcAft>
                <a:spcPts val="0"/>
              </a:spcAft>
            </a:pPr>
            <a:r>
              <a:rPr sz="1500" b="0" i="1">
                <a:solidFill>
                  <a:srgbClr val="212529"/>
                </a:solidFill>
                <a:latin typeface="Trebuchet MS"/>
              </a:rPr>
              <a:t>Des commerciaux pas assez entraînés, et des rendez-vous préparés à la va-vite.</a:t>
            </a:r>
          </a:p>
        </p:txBody>
      </p:sp>
      <p:sp>
        <p:nvSpPr>
          <p:cNvPr id="5" name="TextBox 4"/>
          <p:cNvSpPr txBox="1"/>
          <p:nvPr/>
        </p:nvSpPr>
        <p:spPr>
          <a:xfrm>
            <a:off x="868680" y="2240280"/>
            <a:ext cx="6355080" cy="2651760"/>
          </a:xfrm>
          <a:prstGeom prst="rect">
            <a:avLst/>
          </a:prstGeom>
          <a:noFill/>
        </p:spPr>
        <p:txBody>
          <a:bodyPr wrap="square" lIns="0" rIns="0" tIns="0" bIns="0" anchor="t">
            <a:spAutoFit/>
          </a:bodyPr>
          <a:lstStyle/>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Entraîne vos commerciaux en simulation d'appel : Jade joue le client, sans risque.</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Coache en direct pendant l'appel : objections, qualification, débrief immédiat.</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Prépare chaque rendez-vous à partir de la fiche, du stade du contact et des échanges.</a:t>
            </a:r>
          </a:p>
        </p:txBody>
      </p:sp>
      <p:sp>
        <p:nvSpPr>
          <p:cNvPr id="6" name="TextBox 5"/>
          <p:cNvSpPr txBox="1"/>
          <p:nvPr/>
        </p:nvSpPr>
        <p:spPr>
          <a:xfrm>
            <a:off x="868680" y="4983480"/>
            <a:ext cx="6355080" cy="868680"/>
          </a:xfrm>
          <a:prstGeom prst="rect">
            <a:avLst/>
          </a:prstGeom>
          <a:noFill/>
        </p:spPr>
        <p:txBody>
          <a:bodyPr wrap="square" lIns="0" rIns="0" tIns="0" bIns="0" anchor="t">
            <a:spAutoFit/>
          </a:bodyPr>
          <a:lstStyle/>
          <a:p>
            <a:pPr algn="l">
              <a:lnSpc>
                <a:spcPct val="112000"/>
              </a:lnSpc>
              <a:spcBef>
                <a:spcPts val="0"/>
              </a:spcBef>
              <a:spcAft>
                <a:spcPts val="400"/>
              </a:spcAft>
            </a:pPr>
            <a:r>
              <a:rPr sz="1100" b="0" i="0">
                <a:solidFill>
                  <a:srgbClr val="8F8F8F"/>
                </a:solidFill>
                <a:latin typeface="Trebuchet MS"/>
              </a:rPr>
              <a:t>Directement dans votre Odoo, à partir de la V19   ·   Moteur IA au choix : Mistral, Claude, Gemini, ChatGPT</a:t>
            </a:r>
          </a:p>
          <a:p>
            <a:pPr algn="l">
              <a:lnSpc>
                <a:spcPct val="112000"/>
              </a:lnSpc>
              <a:spcBef>
                <a:spcPts val="0"/>
              </a:spcBef>
              <a:spcAft>
                <a:spcPts val="0"/>
              </a:spcAft>
            </a:pPr>
            <a:r>
              <a:rPr sz="1100" b="0" i="1">
                <a:solidFill>
                  <a:srgbClr val="8F8F8F"/>
                </a:solidFill>
                <a:latin typeface="Trebuchet MS"/>
              </a:rPr>
              <a:t>100% personnalisé : interviews menées par Captivea et vos documents métier.</a:t>
            </a:r>
          </a:p>
        </p:txBody>
      </p:sp>
      <p:sp>
        <p:nvSpPr>
          <p:cNvPr id="7" name="Rounded Rectangle 6"/>
          <p:cNvSpPr/>
          <p:nvPr/>
        </p:nvSpPr>
        <p:spPr>
          <a:xfrm>
            <a:off x="7498079" y="1371600"/>
            <a:ext cx="4160520" cy="4434840"/>
          </a:xfrm>
          <a:prstGeom prst="roundRect">
            <a:avLst>
              <a:gd name="adj" fmla="val 5000"/>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1783080"/>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29700" y="1783080"/>
            <a:ext cx="1097280" cy="1097280"/>
          </a:xfrm>
          <a:prstGeom prst="rect">
            <a:avLst/>
          </a:prstGeom>
          <a:noFill/>
        </p:spPr>
        <p:txBody>
          <a:bodyPr wrap="square" lIns="0" rIns="0" tIns="0" bIns="0" anchor="ctr">
            <a:spAutoFit/>
          </a:bodyPr>
          <a:lstStyle/>
          <a:p>
            <a:pPr algn="ctr">
              <a:spcBef>
                <a:spcPts val="0"/>
              </a:spcBef>
              <a:spcAft>
                <a:spcPts val="0"/>
              </a:spcAft>
            </a:pPr>
            <a:r>
              <a:rPr sz="3000" b="1" i="0">
                <a:solidFill>
                  <a:srgbClr val="BA131A"/>
                </a:solidFill>
                <a:latin typeface="Trebuchet MS"/>
              </a:rPr>
              <a:t>J</a:t>
            </a:r>
          </a:p>
        </p:txBody>
      </p:sp>
      <p:sp>
        <p:nvSpPr>
          <p:cNvPr id="10" name="TextBox 9"/>
          <p:cNvSpPr txBox="1"/>
          <p:nvPr/>
        </p:nvSpPr>
        <p:spPr>
          <a:xfrm>
            <a:off x="7863840" y="3154680"/>
            <a:ext cx="3429000" cy="914400"/>
          </a:xfrm>
          <a:prstGeom prst="rect">
            <a:avLst/>
          </a:prstGeom>
          <a:noFill/>
        </p:spPr>
        <p:txBody>
          <a:bodyPr wrap="square" lIns="0" rIns="0" tIns="0" bIns="0" anchor="ctr">
            <a:spAutoFit/>
          </a:bodyPr>
          <a:lstStyle/>
          <a:p>
            <a:pPr algn="ctr">
              <a:lnSpc>
                <a:spcPct val="105000"/>
              </a:lnSpc>
              <a:spcBef>
                <a:spcPts val="0"/>
              </a:spcBef>
              <a:spcAft>
                <a:spcPts val="0"/>
              </a:spcAft>
            </a:pPr>
            <a:r>
              <a:rPr sz="1800" b="1" i="0">
                <a:solidFill>
                  <a:srgbClr val="FFFFFF"/>
                </a:solidFill>
                <a:latin typeface="Trebuchet MS"/>
              </a:rPr>
              <a:t>Des commerciaux prêts à chaque appel.</a:t>
            </a:r>
          </a:p>
        </p:txBody>
      </p:sp>
      <p:sp>
        <p:nvSpPr>
          <p:cNvPr id="11" name="TextBox 10"/>
          <p:cNvSpPr txBox="1"/>
          <p:nvPr/>
        </p:nvSpPr>
        <p:spPr>
          <a:xfrm>
            <a:off x="7863840" y="4160520"/>
            <a:ext cx="3429000" cy="1508760"/>
          </a:xfrm>
          <a:prstGeom prst="rect">
            <a:avLst/>
          </a:prstGeom>
          <a:noFill/>
        </p:spPr>
        <p:txBody>
          <a:bodyPr wrap="square" lIns="0" rIns="0" tIns="0" bIns="0" anchor="t">
            <a:spAutoFit/>
          </a:bodyPr>
          <a:lstStyle/>
          <a:p>
            <a:pPr algn="ctr">
              <a:lnSpc>
                <a:spcPct val="118000"/>
              </a:lnSpc>
              <a:spcBef>
                <a:spcPts val="0"/>
              </a:spcBef>
              <a:spcAft>
                <a:spcPts val="0"/>
              </a:spcAft>
            </a:pPr>
            <a:r>
              <a:rPr sz="1300" b="0" i="0">
                <a:solidFill>
                  <a:srgbClr val="FFFFFF"/>
                </a:solidFill>
                <a:latin typeface="Trebuchet MS"/>
              </a:rPr>
              <a:t>L'entraînement et la préparation, en continu.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Luna, votre conseiller 24h/24, 7j/7</a:t>
            </a:r>
          </a:p>
        </p:txBody>
      </p:sp>
      <p:sp>
        <p:nvSpPr>
          <p:cNvPr id="4" name="TextBox 3"/>
          <p:cNvSpPr txBox="1"/>
          <p:nvPr/>
        </p:nvSpPr>
        <p:spPr>
          <a:xfrm>
            <a:off x="868680" y="1298448"/>
            <a:ext cx="6400800" cy="731520"/>
          </a:xfrm>
          <a:prstGeom prst="rect">
            <a:avLst/>
          </a:prstGeom>
          <a:noFill/>
        </p:spPr>
        <p:txBody>
          <a:bodyPr wrap="square" lIns="0" rIns="0" tIns="0" bIns="0" anchor="t">
            <a:spAutoFit/>
          </a:bodyPr>
          <a:lstStyle/>
          <a:p>
            <a:pPr algn="l">
              <a:lnSpc>
                <a:spcPct val="110000"/>
              </a:lnSpc>
              <a:spcBef>
                <a:spcPts val="0"/>
              </a:spcBef>
              <a:spcAft>
                <a:spcPts val="0"/>
              </a:spcAft>
            </a:pPr>
            <a:r>
              <a:rPr sz="1500" b="0" i="1">
                <a:solidFill>
                  <a:srgbClr val="212529"/>
                </a:solidFill>
                <a:latin typeface="Trebuchet MS"/>
              </a:rPr>
              <a:t>Des visiteurs qui quittent votre site faute de réponse immédiate.</a:t>
            </a:r>
          </a:p>
        </p:txBody>
      </p:sp>
      <p:sp>
        <p:nvSpPr>
          <p:cNvPr id="5" name="TextBox 4"/>
          <p:cNvSpPr txBox="1"/>
          <p:nvPr/>
        </p:nvSpPr>
        <p:spPr>
          <a:xfrm>
            <a:off x="868680" y="2240280"/>
            <a:ext cx="6355080" cy="2651760"/>
          </a:xfrm>
          <a:prstGeom prst="rect">
            <a:avLst/>
          </a:prstGeom>
          <a:noFill/>
        </p:spPr>
        <p:txBody>
          <a:bodyPr wrap="square" lIns="0" rIns="0" tIns="0" bIns="0" anchor="t">
            <a:spAutoFit/>
          </a:bodyPr>
          <a:lstStyle/>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Trouve, détaille et compare vos produits pour guider l'acheteur.</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Retrouve une commande après vérification de l'adresse e-mail du client.</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Crée une demande d'assistance quand elle n'a pas la réponse.</a:t>
            </a:r>
          </a:p>
        </p:txBody>
      </p:sp>
      <p:sp>
        <p:nvSpPr>
          <p:cNvPr id="6" name="TextBox 5"/>
          <p:cNvSpPr txBox="1"/>
          <p:nvPr/>
        </p:nvSpPr>
        <p:spPr>
          <a:xfrm>
            <a:off x="868680" y="4983480"/>
            <a:ext cx="6355080" cy="868680"/>
          </a:xfrm>
          <a:prstGeom prst="rect">
            <a:avLst/>
          </a:prstGeom>
          <a:noFill/>
        </p:spPr>
        <p:txBody>
          <a:bodyPr wrap="square" lIns="0" rIns="0" tIns="0" bIns="0" anchor="t">
            <a:spAutoFit/>
          </a:bodyPr>
          <a:lstStyle/>
          <a:p>
            <a:pPr algn="l">
              <a:lnSpc>
                <a:spcPct val="112000"/>
              </a:lnSpc>
              <a:spcBef>
                <a:spcPts val="0"/>
              </a:spcBef>
              <a:spcAft>
                <a:spcPts val="400"/>
              </a:spcAft>
            </a:pPr>
            <a:r>
              <a:rPr sz="1100" b="0" i="0">
                <a:solidFill>
                  <a:srgbClr val="8F8F8F"/>
                </a:solidFill>
                <a:latin typeface="Trebuchet MS"/>
              </a:rPr>
              <a:t>Directement dans votre Odoo, à partir de la V19   ·   Moteur IA au choix : Mistral, Claude, Gemini, ChatGPT</a:t>
            </a:r>
          </a:p>
          <a:p>
            <a:pPr algn="l">
              <a:lnSpc>
                <a:spcPct val="112000"/>
              </a:lnSpc>
              <a:spcBef>
                <a:spcPts val="0"/>
              </a:spcBef>
              <a:spcAft>
                <a:spcPts val="0"/>
              </a:spcAft>
            </a:pPr>
            <a:r>
              <a:rPr sz="1100" b="0" i="1">
                <a:solidFill>
                  <a:srgbClr val="8F8F8F"/>
                </a:solidFill>
                <a:latin typeface="Trebuchet MS"/>
              </a:rPr>
              <a:t>100% personnalisé : interviews menées par Captivea et vos documents métier.</a:t>
            </a:r>
          </a:p>
        </p:txBody>
      </p:sp>
      <p:sp>
        <p:nvSpPr>
          <p:cNvPr id="7" name="Rounded Rectangle 6"/>
          <p:cNvSpPr/>
          <p:nvPr/>
        </p:nvSpPr>
        <p:spPr>
          <a:xfrm>
            <a:off x="7498079" y="1371600"/>
            <a:ext cx="4160520" cy="4434840"/>
          </a:xfrm>
          <a:prstGeom prst="roundRect">
            <a:avLst>
              <a:gd name="adj" fmla="val 5000"/>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1783080"/>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29700" y="1783080"/>
            <a:ext cx="1097280" cy="1097280"/>
          </a:xfrm>
          <a:prstGeom prst="rect">
            <a:avLst/>
          </a:prstGeom>
          <a:noFill/>
        </p:spPr>
        <p:txBody>
          <a:bodyPr wrap="square" lIns="0" rIns="0" tIns="0" bIns="0" anchor="ctr">
            <a:spAutoFit/>
          </a:bodyPr>
          <a:lstStyle/>
          <a:p>
            <a:pPr algn="ctr">
              <a:spcBef>
                <a:spcPts val="0"/>
              </a:spcBef>
              <a:spcAft>
                <a:spcPts val="0"/>
              </a:spcAft>
            </a:pPr>
            <a:r>
              <a:rPr sz="3000" b="1" i="0">
                <a:solidFill>
                  <a:srgbClr val="714B67"/>
                </a:solidFill>
                <a:latin typeface="Trebuchet MS"/>
              </a:rPr>
              <a:t>L</a:t>
            </a:r>
          </a:p>
        </p:txBody>
      </p:sp>
      <p:sp>
        <p:nvSpPr>
          <p:cNvPr id="10" name="TextBox 9"/>
          <p:cNvSpPr txBox="1"/>
          <p:nvPr/>
        </p:nvSpPr>
        <p:spPr>
          <a:xfrm>
            <a:off x="7863840" y="3154680"/>
            <a:ext cx="3429000" cy="914400"/>
          </a:xfrm>
          <a:prstGeom prst="rect">
            <a:avLst/>
          </a:prstGeom>
          <a:noFill/>
        </p:spPr>
        <p:txBody>
          <a:bodyPr wrap="square" lIns="0" rIns="0" tIns="0" bIns="0" anchor="ctr">
            <a:spAutoFit/>
          </a:bodyPr>
          <a:lstStyle/>
          <a:p>
            <a:pPr algn="ctr">
              <a:lnSpc>
                <a:spcPct val="105000"/>
              </a:lnSpc>
              <a:spcBef>
                <a:spcPts val="0"/>
              </a:spcBef>
              <a:spcAft>
                <a:spcPts val="0"/>
              </a:spcAft>
            </a:pPr>
            <a:r>
              <a:rPr sz="1800" b="1" i="0">
                <a:solidFill>
                  <a:srgbClr val="FFFFFF"/>
                </a:solidFill>
                <a:latin typeface="Trebuchet MS"/>
              </a:rPr>
              <a:t>Toujours disponible pour vos clients.</a:t>
            </a:r>
          </a:p>
        </p:txBody>
      </p:sp>
      <p:sp>
        <p:nvSpPr>
          <p:cNvPr id="11" name="TextBox 10"/>
          <p:cNvSpPr txBox="1"/>
          <p:nvPr/>
        </p:nvSpPr>
        <p:spPr>
          <a:xfrm>
            <a:off x="7863840" y="4160520"/>
            <a:ext cx="3429000" cy="1508760"/>
          </a:xfrm>
          <a:prstGeom prst="rect">
            <a:avLst/>
          </a:prstGeom>
          <a:noFill/>
        </p:spPr>
        <p:txBody>
          <a:bodyPr wrap="square" lIns="0" rIns="0" tIns="0" bIns="0" anchor="t">
            <a:spAutoFit/>
          </a:bodyPr>
          <a:lstStyle/>
          <a:p>
            <a:pPr algn="ctr">
              <a:lnSpc>
                <a:spcPct val="118000"/>
              </a:lnSpc>
              <a:spcBef>
                <a:spcPts val="0"/>
              </a:spcBef>
              <a:spcAft>
                <a:spcPts val="0"/>
              </a:spcAft>
            </a:pPr>
            <a:r>
              <a:rPr sz="1300" b="0" i="0">
                <a:solidFill>
                  <a:srgbClr val="FFFFFF"/>
                </a:solidFill>
                <a:latin typeface="Trebuchet MS"/>
              </a:rPr>
              <a:t>Sur votre site, jour et nuit, sans jamais faire attendre.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Arthur, votre chef de projet augmenté</a:t>
            </a:r>
          </a:p>
        </p:txBody>
      </p:sp>
      <p:sp>
        <p:nvSpPr>
          <p:cNvPr id="4" name="TextBox 3"/>
          <p:cNvSpPr txBox="1"/>
          <p:nvPr/>
        </p:nvSpPr>
        <p:spPr>
          <a:xfrm>
            <a:off x="868680" y="1298448"/>
            <a:ext cx="6400800" cy="731520"/>
          </a:xfrm>
          <a:prstGeom prst="rect">
            <a:avLst/>
          </a:prstGeom>
          <a:noFill/>
        </p:spPr>
        <p:txBody>
          <a:bodyPr wrap="square" lIns="0" rIns="0" tIns="0" bIns="0" anchor="t">
            <a:spAutoFit/>
          </a:bodyPr>
          <a:lstStyle/>
          <a:p>
            <a:pPr algn="l">
              <a:lnSpc>
                <a:spcPct val="110000"/>
              </a:lnSpc>
              <a:spcBef>
                <a:spcPts val="0"/>
              </a:spcBef>
              <a:spcAft>
                <a:spcPts val="0"/>
              </a:spcAft>
            </a:pPr>
            <a:r>
              <a:rPr sz="1500" b="0" i="1">
                <a:solidFill>
                  <a:srgbClr val="212529"/>
                </a:solidFill>
                <a:latin typeface="Trebuchet MS"/>
              </a:rPr>
              <a:t>Des projets qui dérapent : étapes oubliées, écarts repérés trop tard.</a:t>
            </a:r>
          </a:p>
        </p:txBody>
      </p:sp>
      <p:sp>
        <p:nvSpPr>
          <p:cNvPr id="5" name="TextBox 4"/>
          <p:cNvSpPr txBox="1"/>
          <p:nvPr/>
        </p:nvSpPr>
        <p:spPr>
          <a:xfrm>
            <a:off x="868680" y="2240280"/>
            <a:ext cx="6355080" cy="2651760"/>
          </a:xfrm>
          <a:prstGeom prst="rect">
            <a:avLst/>
          </a:prstGeom>
          <a:noFill/>
        </p:spPr>
        <p:txBody>
          <a:bodyPr wrap="square" lIns="0" rIns="0" tIns="0" bIns="0" anchor="t">
            <a:spAutoFit/>
          </a:bodyPr>
          <a:lstStyle/>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Répond à vos équipes sur vos méthodes et vos procédures, en citant ses sources.</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Audite un projet en un clic : conformité, note, écarts et recommandations.</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Vérifie chaque étape : ce qui est attendu face à ce qui est livré, avec les risques.</a:t>
            </a:r>
          </a:p>
        </p:txBody>
      </p:sp>
      <p:sp>
        <p:nvSpPr>
          <p:cNvPr id="6" name="TextBox 5"/>
          <p:cNvSpPr txBox="1"/>
          <p:nvPr/>
        </p:nvSpPr>
        <p:spPr>
          <a:xfrm>
            <a:off x="868680" y="4983480"/>
            <a:ext cx="6355080" cy="868680"/>
          </a:xfrm>
          <a:prstGeom prst="rect">
            <a:avLst/>
          </a:prstGeom>
          <a:noFill/>
        </p:spPr>
        <p:txBody>
          <a:bodyPr wrap="square" lIns="0" rIns="0" tIns="0" bIns="0" anchor="t">
            <a:spAutoFit/>
          </a:bodyPr>
          <a:lstStyle/>
          <a:p>
            <a:pPr algn="l">
              <a:lnSpc>
                <a:spcPct val="112000"/>
              </a:lnSpc>
              <a:spcBef>
                <a:spcPts val="0"/>
              </a:spcBef>
              <a:spcAft>
                <a:spcPts val="400"/>
              </a:spcAft>
            </a:pPr>
            <a:r>
              <a:rPr sz="1100" b="0" i="0">
                <a:solidFill>
                  <a:srgbClr val="8F8F8F"/>
                </a:solidFill>
                <a:latin typeface="Trebuchet MS"/>
              </a:rPr>
              <a:t>Directement dans votre Odoo, à partir de la V19   ·   Moteur IA au choix : Mistral, Claude, Gemini, ChatGPT</a:t>
            </a:r>
          </a:p>
          <a:p>
            <a:pPr algn="l">
              <a:lnSpc>
                <a:spcPct val="112000"/>
              </a:lnSpc>
              <a:spcBef>
                <a:spcPts val="0"/>
              </a:spcBef>
              <a:spcAft>
                <a:spcPts val="0"/>
              </a:spcAft>
            </a:pPr>
            <a:r>
              <a:rPr sz="1100" b="0" i="1">
                <a:solidFill>
                  <a:srgbClr val="8F8F8F"/>
                </a:solidFill>
                <a:latin typeface="Trebuchet MS"/>
              </a:rPr>
              <a:t>100% personnalisé : interviews menées par Captivea et vos documents métier.</a:t>
            </a:r>
          </a:p>
        </p:txBody>
      </p:sp>
      <p:sp>
        <p:nvSpPr>
          <p:cNvPr id="7" name="Rounded Rectangle 6"/>
          <p:cNvSpPr/>
          <p:nvPr/>
        </p:nvSpPr>
        <p:spPr>
          <a:xfrm>
            <a:off x="7498079" y="1371600"/>
            <a:ext cx="4160520" cy="4434840"/>
          </a:xfrm>
          <a:prstGeom prst="roundRect">
            <a:avLst>
              <a:gd name="adj" fmla="val 5000"/>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1783080"/>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29700" y="1783080"/>
            <a:ext cx="1097280" cy="1097280"/>
          </a:xfrm>
          <a:prstGeom prst="rect">
            <a:avLst/>
          </a:prstGeom>
          <a:noFill/>
        </p:spPr>
        <p:txBody>
          <a:bodyPr wrap="square" lIns="0" rIns="0" tIns="0" bIns="0" anchor="ctr">
            <a:spAutoFit/>
          </a:bodyPr>
          <a:lstStyle/>
          <a:p>
            <a:pPr algn="ctr">
              <a:spcBef>
                <a:spcPts val="0"/>
              </a:spcBef>
              <a:spcAft>
                <a:spcPts val="0"/>
              </a:spcAft>
            </a:pPr>
            <a:r>
              <a:rPr sz="3000" b="1" i="0">
                <a:solidFill>
                  <a:srgbClr val="BA131A"/>
                </a:solidFill>
                <a:latin typeface="Trebuchet MS"/>
              </a:rPr>
              <a:t>A</a:t>
            </a:r>
          </a:p>
        </p:txBody>
      </p:sp>
      <p:sp>
        <p:nvSpPr>
          <p:cNvPr id="10" name="TextBox 9"/>
          <p:cNvSpPr txBox="1"/>
          <p:nvPr/>
        </p:nvSpPr>
        <p:spPr>
          <a:xfrm>
            <a:off x="7863840" y="3154680"/>
            <a:ext cx="3429000" cy="914400"/>
          </a:xfrm>
          <a:prstGeom prst="rect">
            <a:avLst/>
          </a:prstGeom>
          <a:noFill/>
        </p:spPr>
        <p:txBody>
          <a:bodyPr wrap="square" lIns="0" rIns="0" tIns="0" bIns="0" anchor="ctr">
            <a:spAutoFit/>
          </a:bodyPr>
          <a:lstStyle/>
          <a:p>
            <a:pPr algn="ctr">
              <a:lnSpc>
                <a:spcPct val="105000"/>
              </a:lnSpc>
              <a:spcBef>
                <a:spcPts val="0"/>
              </a:spcBef>
              <a:spcAft>
                <a:spcPts val="0"/>
              </a:spcAft>
            </a:pPr>
            <a:r>
              <a:rPr sz="1800" b="1" i="0">
                <a:solidFill>
                  <a:srgbClr val="FFFFFF"/>
                </a:solidFill>
                <a:latin typeface="Trebuchet MS"/>
              </a:rPr>
              <a:t>Vos projets sous contrôle.</a:t>
            </a:r>
          </a:p>
        </p:txBody>
      </p:sp>
      <p:sp>
        <p:nvSpPr>
          <p:cNvPr id="11" name="TextBox 10"/>
          <p:cNvSpPr txBox="1"/>
          <p:nvPr/>
        </p:nvSpPr>
        <p:spPr>
          <a:xfrm>
            <a:off x="7863840" y="4160520"/>
            <a:ext cx="3429000" cy="1508760"/>
          </a:xfrm>
          <a:prstGeom prst="rect">
            <a:avLst/>
          </a:prstGeom>
          <a:noFill/>
        </p:spPr>
        <p:txBody>
          <a:bodyPr wrap="square" lIns="0" rIns="0" tIns="0" bIns="0" anchor="t">
            <a:spAutoFit/>
          </a:bodyPr>
          <a:lstStyle/>
          <a:p>
            <a:pPr algn="ctr">
              <a:lnSpc>
                <a:spcPct val="118000"/>
              </a:lnSpc>
              <a:spcBef>
                <a:spcPts val="0"/>
              </a:spcBef>
              <a:spcAft>
                <a:spcPts val="0"/>
              </a:spcAft>
            </a:pPr>
            <a:r>
              <a:rPr sz="1300" b="0" i="0">
                <a:solidFill>
                  <a:srgbClr val="FFFFFF"/>
                </a:solidFill>
                <a:latin typeface="Trebuchet MS"/>
              </a:rPr>
              <a:t>Quel que soit le projet, plus rien ne passe à la trappe.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Lou, votre vigie juridique</a:t>
            </a:r>
          </a:p>
        </p:txBody>
      </p:sp>
      <p:sp>
        <p:nvSpPr>
          <p:cNvPr id="4" name="TextBox 3"/>
          <p:cNvSpPr txBox="1"/>
          <p:nvPr/>
        </p:nvSpPr>
        <p:spPr>
          <a:xfrm>
            <a:off x="868680" y="1298448"/>
            <a:ext cx="6400800" cy="731520"/>
          </a:xfrm>
          <a:prstGeom prst="rect">
            <a:avLst/>
          </a:prstGeom>
          <a:noFill/>
        </p:spPr>
        <p:txBody>
          <a:bodyPr wrap="square" lIns="0" rIns="0" tIns="0" bIns="0" anchor="t">
            <a:spAutoFit/>
          </a:bodyPr>
          <a:lstStyle/>
          <a:p>
            <a:pPr algn="l">
              <a:lnSpc>
                <a:spcPct val="110000"/>
              </a:lnSpc>
              <a:spcBef>
                <a:spcPts val="0"/>
              </a:spcBef>
              <a:spcAft>
                <a:spcPts val="0"/>
              </a:spcAft>
            </a:pPr>
            <a:r>
              <a:rPr sz="1500" b="0" i="1">
                <a:solidFill>
                  <a:srgbClr val="212529"/>
                </a:solidFill>
                <a:latin typeface="Trebuchet MS"/>
              </a:rPr>
              <a:t>Des contrats qui s'empilent, des échéances et des points de conformité qui passent à travers.</a:t>
            </a:r>
          </a:p>
        </p:txBody>
      </p:sp>
      <p:sp>
        <p:nvSpPr>
          <p:cNvPr id="5" name="TextBox 4"/>
          <p:cNvSpPr txBox="1"/>
          <p:nvPr/>
        </p:nvSpPr>
        <p:spPr>
          <a:xfrm>
            <a:off x="868680" y="2240280"/>
            <a:ext cx="6355080" cy="2651760"/>
          </a:xfrm>
          <a:prstGeom prst="rect">
            <a:avLst/>
          </a:prstGeom>
          <a:noFill/>
        </p:spPr>
        <p:txBody>
          <a:bodyPr wrap="square" lIns="0" rIns="0" tIns="0" bIns="0" anchor="t">
            <a:spAutoFit/>
          </a:bodyPr>
          <a:lstStyle/>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Analyse vos documents : conforme, non conforme ou à vérifier.</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Propose les corrections et ouvre la tâche au bon responsable.</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Alerte sur les dates d'expiration et prépare les signatures.</a:t>
            </a:r>
          </a:p>
        </p:txBody>
      </p:sp>
      <p:sp>
        <p:nvSpPr>
          <p:cNvPr id="6" name="TextBox 5"/>
          <p:cNvSpPr txBox="1"/>
          <p:nvPr/>
        </p:nvSpPr>
        <p:spPr>
          <a:xfrm>
            <a:off x="868680" y="4983480"/>
            <a:ext cx="6355080" cy="868680"/>
          </a:xfrm>
          <a:prstGeom prst="rect">
            <a:avLst/>
          </a:prstGeom>
          <a:noFill/>
        </p:spPr>
        <p:txBody>
          <a:bodyPr wrap="square" lIns="0" rIns="0" tIns="0" bIns="0" anchor="t">
            <a:spAutoFit/>
          </a:bodyPr>
          <a:lstStyle/>
          <a:p>
            <a:pPr algn="l">
              <a:lnSpc>
                <a:spcPct val="112000"/>
              </a:lnSpc>
              <a:spcBef>
                <a:spcPts val="0"/>
              </a:spcBef>
              <a:spcAft>
                <a:spcPts val="400"/>
              </a:spcAft>
            </a:pPr>
            <a:r>
              <a:rPr sz="1100" b="0" i="0">
                <a:solidFill>
                  <a:srgbClr val="8F8F8F"/>
                </a:solidFill>
                <a:latin typeface="Trebuchet MS"/>
              </a:rPr>
              <a:t>Directement dans votre Odoo, à partir de la V19   ·   Moteur IA au choix : Mistral, Claude, Gemini, ChatGPT</a:t>
            </a:r>
          </a:p>
          <a:p>
            <a:pPr algn="l">
              <a:lnSpc>
                <a:spcPct val="112000"/>
              </a:lnSpc>
              <a:spcBef>
                <a:spcPts val="0"/>
              </a:spcBef>
              <a:spcAft>
                <a:spcPts val="0"/>
              </a:spcAft>
            </a:pPr>
            <a:r>
              <a:rPr sz="1100" b="0" i="1">
                <a:solidFill>
                  <a:srgbClr val="8F8F8F"/>
                </a:solidFill>
                <a:latin typeface="Trebuchet MS"/>
              </a:rPr>
              <a:t>100% personnalisé : interviews menées par Captivea et vos documents métier.</a:t>
            </a:r>
          </a:p>
        </p:txBody>
      </p:sp>
      <p:sp>
        <p:nvSpPr>
          <p:cNvPr id="7" name="Rounded Rectangle 6"/>
          <p:cNvSpPr/>
          <p:nvPr/>
        </p:nvSpPr>
        <p:spPr>
          <a:xfrm>
            <a:off x="7498079" y="1371600"/>
            <a:ext cx="4160520" cy="4434840"/>
          </a:xfrm>
          <a:prstGeom prst="roundRect">
            <a:avLst>
              <a:gd name="adj" fmla="val 5000"/>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1783080"/>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29700" y="1783080"/>
            <a:ext cx="1097280" cy="1097280"/>
          </a:xfrm>
          <a:prstGeom prst="rect">
            <a:avLst/>
          </a:prstGeom>
          <a:noFill/>
        </p:spPr>
        <p:txBody>
          <a:bodyPr wrap="square" lIns="0" rIns="0" tIns="0" bIns="0" anchor="ctr">
            <a:spAutoFit/>
          </a:bodyPr>
          <a:lstStyle/>
          <a:p>
            <a:pPr algn="ctr">
              <a:spcBef>
                <a:spcPts val="0"/>
              </a:spcBef>
              <a:spcAft>
                <a:spcPts val="0"/>
              </a:spcAft>
            </a:pPr>
            <a:r>
              <a:rPr sz="3000" b="1" i="0">
                <a:solidFill>
                  <a:srgbClr val="714B67"/>
                </a:solidFill>
                <a:latin typeface="Trebuchet MS"/>
              </a:rPr>
              <a:t>L</a:t>
            </a:r>
          </a:p>
        </p:txBody>
      </p:sp>
      <p:sp>
        <p:nvSpPr>
          <p:cNvPr id="10" name="TextBox 9"/>
          <p:cNvSpPr txBox="1"/>
          <p:nvPr/>
        </p:nvSpPr>
        <p:spPr>
          <a:xfrm>
            <a:off x="7863840" y="3154680"/>
            <a:ext cx="3429000" cy="914400"/>
          </a:xfrm>
          <a:prstGeom prst="rect">
            <a:avLst/>
          </a:prstGeom>
          <a:noFill/>
        </p:spPr>
        <p:txBody>
          <a:bodyPr wrap="square" lIns="0" rIns="0" tIns="0" bIns="0" anchor="ctr">
            <a:spAutoFit/>
          </a:bodyPr>
          <a:lstStyle/>
          <a:p>
            <a:pPr algn="ctr">
              <a:lnSpc>
                <a:spcPct val="105000"/>
              </a:lnSpc>
              <a:spcBef>
                <a:spcPts val="0"/>
              </a:spcBef>
              <a:spcAft>
                <a:spcPts val="0"/>
              </a:spcAft>
            </a:pPr>
            <a:r>
              <a:rPr sz="1800" b="1" i="0">
                <a:solidFill>
                  <a:srgbClr val="FFFFFF"/>
                </a:solidFill>
                <a:latin typeface="Trebuchet MS"/>
              </a:rPr>
              <a:t>Vos contrats sous contrôle, RGPD inclus.</a:t>
            </a:r>
          </a:p>
        </p:txBody>
      </p:sp>
      <p:sp>
        <p:nvSpPr>
          <p:cNvPr id="11" name="TextBox 10"/>
          <p:cNvSpPr txBox="1"/>
          <p:nvPr/>
        </p:nvSpPr>
        <p:spPr>
          <a:xfrm>
            <a:off x="7863840" y="4160520"/>
            <a:ext cx="3429000" cy="1508760"/>
          </a:xfrm>
          <a:prstGeom prst="rect">
            <a:avLst/>
          </a:prstGeom>
          <a:noFill/>
        </p:spPr>
        <p:txBody>
          <a:bodyPr wrap="square" lIns="0" rIns="0" tIns="0" bIns="0" anchor="t">
            <a:spAutoFit/>
          </a:bodyPr>
          <a:lstStyle/>
          <a:p>
            <a:pPr algn="ctr">
              <a:lnSpc>
                <a:spcPct val="118000"/>
              </a:lnSpc>
              <a:spcBef>
                <a:spcPts val="0"/>
              </a:spcBef>
              <a:spcAft>
                <a:spcPts val="0"/>
              </a:spcAft>
            </a:pPr>
            <a:r>
              <a:rPr sz="1300" b="0" i="0">
                <a:solidFill>
                  <a:srgbClr val="FFFFFF"/>
                </a:solidFill>
                <a:latin typeface="Trebuchet MS"/>
              </a:rPr>
              <a:t>Plus rien ne passe entre les mailles.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Captivea Connect, on reste à votre écoute</a:t>
            </a:r>
          </a:p>
        </p:txBody>
      </p:sp>
      <p:sp>
        <p:nvSpPr>
          <p:cNvPr id="4" name="TextBox 3"/>
          <p:cNvSpPr txBox="1"/>
          <p:nvPr/>
        </p:nvSpPr>
        <p:spPr>
          <a:xfrm>
            <a:off x="868680" y="1298448"/>
            <a:ext cx="6400800" cy="731520"/>
          </a:xfrm>
          <a:prstGeom prst="rect">
            <a:avLst/>
          </a:prstGeom>
          <a:noFill/>
        </p:spPr>
        <p:txBody>
          <a:bodyPr wrap="square" lIns="0" rIns="0" tIns="0" bIns="0" anchor="t">
            <a:spAutoFit/>
          </a:bodyPr>
          <a:lstStyle/>
          <a:p>
            <a:pPr algn="l">
              <a:lnSpc>
                <a:spcPct val="110000"/>
              </a:lnSpc>
              <a:spcBef>
                <a:spcPts val="0"/>
              </a:spcBef>
              <a:spcAft>
                <a:spcPts val="0"/>
              </a:spcAft>
            </a:pPr>
            <a:r>
              <a:rPr sz="1500" b="0" i="1">
                <a:solidFill>
                  <a:srgbClr val="212529"/>
                </a:solidFill>
                <a:latin typeface="Trebuchet MS"/>
              </a:rPr>
              <a:t>Inclus de base avec vos agents : votre lien direct avec nos équipes.</a:t>
            </a:r>
          </a:p>
        </p:txBody>
      </p:sp>
      <p:sp>
        <p:nvSpPr>
          <p:cNvPr id="5" name="TextBox 4"/>
          <p:cNvSpPr txBox="1"/>
          <p:nvPr/>
        </p:nvSpPr>
        <p:spPr>
          <a:xfrm>
            <a:off x="868680" y="2240280"/>
            <a:ext cx="6355080" cy="2651760"/>
          </a:xfrm>
          <a:prstGeom prst="rect">
            <a:avLst/>
          </a:prstGeom>
          <a:noFill/>
        </p:spPr>
        <p:txBody>
          <a:bodyPr wrap="square" lIns="0" rIns="0" tIns="0" bIns="0" anchor="t">
            <a:spAutoFit/>
          </a:bodyPr>
          <a:lstStyle/>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Votre ligne directe avec nos équipes techniques.</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L'IA évolue et vos besoins aussi : on ajuste vos agents en continu.</a:t>
            </a:r>
          </a:p>
          <a:p>
            <a:pPr algn="l">
              <a:lnSpc>
                <a:spcPct val="105000"/>
              </a:lnSpc>
              <a:spcBef>
                <a:spcPts val="0"/>
              </a:spcBef>
              <a:spcAft>
                <a:spcPts val="1000"/>
              </a:spcAft>
            </a:pPr>
            <a:r>
              <a:rPr sz="1500" b="1" i="0">
                <a:solidFill>
                  <a:srgbClr val="BA131A"/>
                </a:solidFill>
                <a:latin typeface="Trebuchet MS"/>
              </a:rPr>
              <a:t>›  </a:t>
            </a:r>
            <a:r>
              <a:rPr sz="1400" b="0" i="0">
                <a:solidFill>
                  <a:srgbClr val="212529"/>
                </a:solidFill>
                <a:latin typeface="Trebuchet MS"/>
              </a:rPr>
              <a:t>Inclus de base, pour vous accompagner dans la durée.</a:t>
            </a:r>
          </a:p>
        </p:txBody>
      </p:sp>
      <p:sp>
        <p:nvSpPr>
          <p:cNvPr id="6" name="TextBox 5"/>
          <p:cNvSpPr txBox="1"/>
          <p:nvPr/>
        </p:nvSpPr>
        <p:spPr>
          <a:xfrm>
            <a:off x="868680" y="4983480"/>
            <a:ext cx="6355080" cy="868680"/>
          </a:xfrm>
          <a:prstGeom prst="rect">
            <a:avLst/>
          </a:prstGeom>
          <a:noFill/>
        </p:spPr>
        <p:txBody>
          <a:bodyPr wrap="square" lIns="0" rIns="0" tIns="0" bIns="0" anchor="t">
            <a:spAutoFit/>
          </a:bodyPr>
          <a:lstStyle/>
          <a:p>
            <a:pPr algn="l">
              <a:lnSpc>
                <a:spcPct val="112000"/>
              </a:lnSpc>
              <a:spcBef>
                <a:spcPts val="0"/>
              </a:spcBef>
              <a:spcAft>
                <a:spcPts val="400"/>
              </a:spcAft>
            </a:pPr>
            <a:r>
              <a:rPr sz="1100" b="0" i="0">
                <a:solidFill>
                  <a:srgbClr val="8F8F8F"/>
                </a:solidFill>
                <a:latin typeface="Trebuchet MS"/>
              </a:rPr>
              <a:t>Directement dans votre Odoo, à partir de la V19   ·   Moteur IA au choix : Mistral, Claude, Gemini, ChatGPT</a:t>
            </a:r>
          </a:p>
          <a:p>
            <a:pPr algn="l">
              <a:lnSpc>
                <a:spcPct val="112000"/>
              </a:lnSpc>
              <a:spcBef>
                <a:spcPts val="0"/>
              </a:spcBef>
              <a:spcAft>
                <a:spcPts val="0"/>
              </a:spcAft>
            </a:pPr>
            <a:r>
              <a:rPr sz="1100" b="0" i="1">
                <a:solidFill>
                  <a:srgbClr val="8F8F8F"/>
                </a:solidFill>
                <a:latin typeface="Trebuchet MS"/>
              </a:rPr>
              <a:t>Inclus de base dans votre accompagnement Captivea.</a:t>
            </a:r>
          </a:p>
        </p:txBody>
      </p:sp>
      <p:sp>
        <p:nvSpPr>
          <p:cNvPr id="7" name="Rounded Rectangle 6"/>
          <p:cNvSpPr/>
          <p:nvPr/>
        </p:nvSpPr>
        <p:spPr>
          <a:xfrm>
            <a:off x="7498079" y="1371600"/>
            <a:ext cx="4160520" cy="4434840"/>
          </a:xfrm>
          <a:prstGeom prst="roundRect">
            <a:avLst>
              <a:gd name="adj" fmla="val 5000"/>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29700" y="1783080"/>
            <a:ext cx="1097280" cy="10972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29700" y="1783080"/>
            <a:ext cx="1097280" cy="1097280"/>
          </a:xfrm>
          <a:prstGeom prst="rect">
            <a:avLst/>
          </a:prstGeom>
          <a:noFill/>
        </p:spPr>
        <p:txBody>
          <a:bodyPr wrap="square" lIns="0" rIns="0" tIns="0" bIns="0" anchor="ctr">
            <a:spAutoFit/>
          </a:bodyPr>
          <a:lstStyle/>
          <a:p>
            <a:pPr algn="ctr">
              <a:spcBef>
                <a:spcPts val="0"/>
              </a:spcBef>
              <a:spcAft>
                <a:spcPts val="0"/>
              </a:spcAft>
            </a:pPr>
            <a:r>
              <a:rPr sz="3000" b="1" i="0">
                <a:solidFill>
                  <a:srgbClr val="CD5358"/>
                </a:solidFill>
                <a:latin typeface="Trebuchet MS"/>
              </a:rPr>
              <a:t>C</a:t>
            </a:r>
          </a:p>
        </p:txBody>
      </p:sp>
      <p:sp>
        <p:nvSpPr>
          <p:cNvPr id="10" name="TextBox 9"/>
          <p:cNvSpPr txBox="1"/>
          <p:nvPr/>
        </p:nvSpPr>
        <p:spPr>
          <a:xfrm>
            <a:off x="7863840" y="3154680"/>
            <a:ext cx="3429000" cy="914400"/>
          </a:xfrm>
          <a:prstGeom prst="rect">
            <a:avLst/>
          </a:prstGeom>
          <a:noFill/>
        </p:spPr>
        <p:txBody>
          <a:bodyPr wrap="square" lIns="0" rIns="0" tIns="0" bIns="0" anchor="ctr">
            <a:spAutoFit/>
          </a:bodyPr>
          <a:lstStyle/>
          <a:p>
            <a:pPr algn="ctr">
              <a:lnSpc>
                <a:spcPct val="105000"/>
              </a:lnSpc>
              <a:spcBef>
                <a:spcPts val="0"/>
              </a:spcBef>
              <a:spcAft>
                <a:spcPts val="0"/>
              </a:spcAft>
            </a:pPr>
            <a:r>
              <a:rPr sz="1800" b="1" i="0">
                <a:solidFill>
                  <a:srgbClr val="FFFFFF"/>
                </a:solidFill>
                <a:latin typeface="Trebuchet MS"/>
              </a:rPr>
              <a:t>On reste à vos côtés.</a:t>
            </a:r>
          </a:p>
        </p:txBody>
      </p:sp>
      <p:sp>
        <p:nvSpPr>
          <p:cNvPr id="11" name="TextBox 10"/>
          <p:cNvSpPr txBox="1"/>
          <p:nvPr/>
        </p:nvSpPr>
        <p:spPr>
          <a:xfrm>
            <a:off x="7863840" y="4160520"/>
            <a:ext cx="3429000" cy="1508760"/>
          </a:xfrm>
          <a:prstGeom prst="rect">
            <a:avLst/>
          </a:prstGeom>
          <a:noFill/>
        </p:spPr>
        <p:txBody>
          <a:bodyPr wrap="square" lIns="0" rIns="0" tIns="0" bIns="0" anchor="t">
            <a:spAutoFit/>
          </a:bodyPr>
          <a:lstStyle/>
          <a:p>
            <a:pPr algn="ctr">
              <a:lnSpc>
                <a:spcPct val="118000"/>
              </a:lnSpc>
              <a:spcBef>
                <a:spcPts val="0"/>
              </a:spcBef>
              <a:spcAft>
                <a:spcPts val="0"/>
              </a:spcAft>
            </a:pPr>
            <a:r>
              <a:rPr sz="1300" b="0" i="0">
                <a:solidFill>
                  <a:srgbClr val="FFFFFF"/>
                </a:solidFill>
                <a:latin typeface="Trebuchet MS"/>
              </a:rPr>
              <a:t>Vos agents progressent avec vous, en continu.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Quand le catalogue ne suffit pas : le sur-mesure</a:t>
            </a:r>
          </a:p>
        </p:txBody>
      </p:sp>
      <p:sp>
        <p:nvSpPr>
          <p:cNvPr id="4" name="TextBox 3"/>
          <p:cNvSpPr txBox="1"/>
          <p:nvPr/>
        </p:nvSpPr>
        <p:spPr>
          <a:xfrm>
            <a:off x="868680" y="1188720"/>
            <a:ext cx="10789920" cy="548640"/>
          </a:xfrm>
          <a:prstGeom prst="rect">
            <a:avLst/>
          </a:prstGeom>
          <a:noFill/>
        </p:spPr>
        <p:txBody>
          <a:bodyPr wrap="square" lIns="0" rIns="0" tIns="0" bIns="0" anchor="t">
            <a:spAutoFit/>
          </a:bodyPr>
          <a:lstStyle/>
          <a:p>
            <a:pPr algn="l">
              <a:spcBef>
                <a:spcPts val="0"/>
              </a:spcBef>
              <a:spcAft>
                <a:spcPts val="0"/>
              </a:spcAft>
            </a:pPr>
            <a:r>
              <a:rPr sz="1500" b="0" i="0">
                <a:solidFill>
                  <a:srgbClr val="212529"/>
                </a:solidFill>
                <a:latin typeface="Trebuchet MS"/>
              </a:rPr>
              <a:t>Un besoin hors catalogue, ou pas encore sous Odoo ? On construit. Mais on cadre d'abord.</a:t>
            </a:r>
          </a:p>
        </p:txBody>
      </p:sp>
      <p:sp>
        <p:nvSpPr>
          <p:cNvPr id="5" name="Rounded Rectangle 4"/>
          <p:cNvSpPr/>
          <p:nvPr/>
        </p:nvSpPr>
        <p:spPr>
          <a:xfrm>
            <a:off x="548640" y="1874519"/>
            <a:ext cx="3456432" cy="25146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11095" y="2167127"/>
            <a:ext cx="731520" cy="731520"/>
          </a:xfrm>
          <a:prstGeom prst="ellipse">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11095" y="2167127"/>
            <a:ext cx="731520" cy="73152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Trebuchet MS"/>
              </a:rPr>
              <a:t>1</a:t>
            </a:r>
          </a:p>
        </p:txBody>
      </p:sp>
      <p:sp>
        <p:nvSpPr>
          <p:cNvPr id="8" name="TextBox 7"/>
          <p:cNvSpPr txBox="1"/>
          <p:nvPr/>
        </p:nvSpPr>
        <p:spPr>
          <a:xfrm>
            <a:off x="859536" y="3063239"/>
            <a:ext cx="2834639" cy="411480"/>
          </a:xfrm>
          <a:prstGeom prst="rect">
            <a:avLst/>
          </a:prstGeom>
          <a:noFill/>
        </p:spPr>
        <p:txBody>
          <a:bodyPr wrap="square" lIns="0" rIns="0" tIns="0" bIns="0" anchor="t">
            <a:spAutoFit/>
          </a:bodyPr>
          <a:lstStyle/>
          <a:p>
            <a:pPr algn="ctr">
              <a:spcBef>
                <a:spcPts val="0"/>
              </a:spcBef>
              <a:spcAft>
                <a:spcPts val="0"/>
              </a:spcAft>
            </a:pPr>
            <a:r>
              <a:rPr sz="1500" b="1" i="0">
                <a:solidFill>
                  <a:srgbClr val="BA131A"/>
                </a:solidFill>
                <a:latin typeface="Trebuchet MS"/>
              </a:rPr>
              <a:t>Cadrage payant</a:t>
            </a:r>
          </a:p>
        </p:txBody>
      </p:sp>
      <p:sp>
        <p:nvSpPr>
          <p:cNvPr id="9" name="TextBox 8"/>
          <p:cNvSpPr txBox="1"/>
          <p:nvPr/>
        </p:nvSpPr>
        <p:spPr>
          <a:xfrm>
            <a:off x="859536" y="3520439"/>
            <a:ext cx="2834639" cy="777240"/>
          </a:xfrm>
          <a:prstGeom prst="rect">
            <a:avLst/>
          </a:prstGeom>
          <a:noFill/>
        </p:spPr>
        <p:txBody>
          <a:bodyPr wrap="square" lIns="0" rIns="0" tIns="0" bIns="0" anchor="t">
            <a:spAutoFit/>
          </a:bodyPr>
          <a:lstStyle/>
          <a:p>
            <a:pPr algn="ctr">
              <a:lnSpc>
                <a:spcPct val="108000"/>
              </a:lnSpc>
              <a:spcBef>
                <a:spcPts val="0"/>
              </a:spcBef>
              <a:spcAft>
                <a:spcPts val="0"/>
              </a:spcAft>
            </a:pPr>
            <a:r>
              <a:rPr sz="1250" b="0" i="0">
                <a:solidFill>
                  <a:srgbClr val="212529"/>
                </a:solidFill>
                <a:latin typeface="Trebuchet MS"/>
              </a:rPr>
              <a:t>Une phase d'analyse obligatoire. C'est du conseil : on mesure le besoin et la faisabilité.</a:t>
            </a:r>
          </a:p>
        </p:txBody>
      </p:sp>
      <p:sp>
        <p:nvSpPr>
          <p:cNvPr id="10" name="Rounded Rectangle 9"/>
          <p:cNvSpPr/>
          <p:nvPr/>
        </p:nvSpPr>
        <p:spPr>
          <a:xfrm>
            <a:off x="4370831" y="1874519"/>
            <a:ext cx="3456432" cy="25146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33287" y="2167127"/>
            <a:ext cx="731520" cy="731520"/>
          </a:xfrm>
          <a:prstGeom prst="ellipse">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33287" y="2167127"/>
            <a:ext cx="731520" cy="73152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Trebuchet MS"/>
              </a:rPr>
              <a:t>2</a:t>
            </a:r>
          </a:p>
        </p:txBody>
      </p:sp>
      <p:sp>
        <p:nvSpPr>
          <p:cNvPr id="13" name="TextBox 12"/>
          <p:cNvSpPr txBox="1"/>
          <p:nvPr/>
        </p:nvSpPr>
        <p:spPr>
          <a:xfrm>
            <a:off x="4681727" y="3063239"/>
            <a:ext cx="2834639" cy="411480"/>
          </a:xfrm>
          <a:prstGeom prst="rect">
            <a:avLst/>
          </a:prstGeom>
          <a:noFill/>
        </p:spPr>
        <p:txBody>
          <a:bodyPr wrap="square" lIns="0" rIns="0" tIns="0" bIns="0" anchor="t">
            <a:spAutoFit/>
          </a:bodyPr>
          <a:lstStyle/>
          <a:p>
            <a:pPr algn="ctr">
              <a:spcBef>
                <a:spcPts val="0"/>
              </a:spcBef>
              <a:spcAft>
                <a:spcPts val="0"/>
              </a:spcAft>
            </a:pPr>
            <a:r>
              <a:rPr sz="1500" b="1" i="0">
                <a:solidFill>
                  <a:srgbClr val="714B67"/>
                </a:solidFill>
                <a:latin typeface="Trebuchet MS"/>
              </a:rPr>
              <a:t>Faisabilité validée</a:t>
            </a:r>
          </a:p>
        </p:txBody>
      </p:sp>
      <p:sp>
        <p:nvSpPr>
          <p:cNvPr id="14" name="TextBox 13"/>
          <p:cNvSpPr txBox="1"/>
          <p:nvPr/>
        </p:nvSpPr>
        <p:spPr>
          <a:xfrm>
            <a:off x="4681727" y="3520439"/>
            <a:ext cx="2834639" cy="777240"/>
          </a:xfrm>
          <a:prstGeom prst="rect">
            <a:avLst/>
          </a:prstGeom>
          <a:noFill/>
        </p:spPr>
        <p:txBody>
          <a:bodyPr wrap="square" lIns="0" rIns="0" tIns="0" bIns="0" anchor="t">
            <a:spAutoFit/>
          </a:bodyPr>
          <a:lstStyle/>
          <a:p>
            <a:pPr algn="ctr">
              <a:lnSpc>
                <a:spcPct val="108000"/>
              </a:lnSpc>
              <a:spcBef>
                <a:spcPts val="0"/>
              </a:spcBef>
              <a:spcAft>
                <a:spcPts val="0"/>
              </a:spcAft>
            </a:pPr>
            <a:r>
              <a:rPr sz="1250" b="0" i="0">
                <a:solidFill>
                  <a:srgbClr val="212529"/>
                </a:solidFill>
                <a:latin typeface="Trebuchet MS"/>
              </a:rPr>
              <a:t>On verrouille le périmètre et le ROI attendu avant de lancer le développement.</a:t>
            </a:r>
          </a:p>
        </p:txBody>
      </p:sp>
      <p:sp>
        <p:nvSpPr>
          <p:cNvPr id="15" name="Rounded Rectangle 14"/>
          <p:cNvSpPr/>
          <p:nvPr/>
        </p:nvSpPr>
        <p:spPr>
          <a:xfrm>
            <a:off x="8193023" y="1874519"/>
            <a:ext cx="3456432" cy="25146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55480" y="2167127"/>
            <a:ext cx="731520" cy="731520"/>
          </a:xfrm>
          <a:prstGeom prst="ellipse">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2167127"/>
            <a:ext cx="731520" cy="731520"/>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Trebuchet MS"/>
              </a:rPr>
              <a:t>3</a:t>
            </a:r>
          </a:p>
        </p:txBody>
      </p:sp>
      <p:sp>
        <p:nvSpPr>
          <p:cNvPr id="18" name="TextBox 17"/>
          <p:cNvSpPr txBox="1"/>
          <p:nvPr/>
        </p:nvSpPr>
        <p:spPr>
          <a:xfrm>
            <a:off x="8503919" y="3063239"/>
            <a:ext cx="2834639" cy="411480"/>
          </a:xfrm>
          <a:prstGeom prst="rect">
            <a:avLst/>
          </a:prstGeom>
          <a:noFill/>
        </p:spPr>
        <p:txBody>
          <a:bodyPr wrap="square" lIns="0" rIns="0" tIns="0" bIns="0" anchor="t">
            <a:spAutoFit/>
          </a:bodyPr>
          <a:lstStyle/>
          <a:p>
            <a:pPr algn="ctr">
              <a:spcBef>
                <a:spcPts val="0"/>
              </a:spcBef>
              <a:spcAft>
                <a:spcPts val="0"/>
              </a:spcAft>
            </a:pPr>
            <a:r>
              <a:rPr sz="1500" b="1" i="0">
                <a:solidFill>
                  <a:srgbClr val="CD5358"/>
                </a:solidFill>
                <a:latin typeface="Trebuchet MS"/>
              </a:rPr>
              <a:t>Déploiement</a:t>
            </a:r>
          </a:p>
        </p:txBody>
      </p:sp>
      <p:sp>
        <p:nvSpPr>
          <p:cNvPr id="19" name="TextBox 18"/>
          <p:cNvSpPr txBox="1"/>
          <p:nvPr/>
        </p:nvSpPr>
        <p:spPr>
          <a:xfrm>
            <a:off x="8503919" y="3520439"/>
            <a:ext cx="2834639" cy="777240"/>
          </a:xfrm>
          <a:prstGeom prst="rect">
            <a:avLst/>
          </a:prstGeom>
          <a:noFill/>
        </p:spPr>
        <p:txBody>
          <a:bodyPr wrap="square" lIns="0" rIns="0" tIns="0" bIns="0" anchor="t">
            <a:spAutoFit/>
          </a:bodyPr>
          <a:lstStyle/>
          <a:p>
            <a:pPr algn="ctr">
              <a:lnSpc>
                <a:spcPct val="108000"/>
              </a:lnSpc>
              <a:spcBef>
                <a:spcPts val="0"/>
              </a:spcBef>
              <a:spcAft>
                <a:spcPts val="0"/>
              </a:spcAft>
            </a:pPr>
            <a:r>
              <a:rPr sz="1250" b="0" i="0">
                <a:solidFill>
                  <a:srgbClr val="212529"/>
                </a:solidFill>
                <a:latin typeface="Trebuchet MS"/>
              </a:rPr>
              <a:t>On construit et on met en service, strictement dans le cadre défini ensemble.</a:t>
            </a:r>
          </a:p>
        </p:txBody>
      </p:sp>
      <p:sp>
        <p:nvSpPr>
          <p:cNvPr id="20" name="Rounded Rectangle 19"/>
          <p:cNvSpPr/>
          <p:nvPr/>
        </p:nvSpPr>
        <p:spPr>
          <a:xfrm>
            <a:off x="548640" y="4617720"/>
            <a:ext cx="11091672" cy="868680"/>
          </a:xfrm>
          <a:prstGeom prst="roundRect">
            <a:avLst>
              <a:gd name="adj" fmla="val 5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736592"/>
            <a:ext cx="10561320" cy="68580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BA131A"/>
                </a:solidFill>
                <a:latin typeface="Trebuchet MS"/>
              </a:rPr>
              <a:t>Exemples de projets   </a:t>
            </a:r>
            <a:r>
              <a:rPr sz="1300" b="0" i="0">
                <a:solidFill>
                  <a:srgbClr val="212529"/>
                </a:solidFill>
                <a:latin typeface="Trebuchet MS"/>
              </a:rPr>
              <a:t>filtrage et gestion de boîtes mail · automatisations complexes avec n8n · qualification automatique de prospects · rapports automatisés · agent vocal · connexion de vos logiciels</a:t>
            </a:r>
          </a:p>
        </p:txBody>
      </p:sp>
      <p:sp>
        <p:nvSpPr>
          <p:cNvPr id="22" name="TextBox 21"/>
          <p:cNvSpPr txBox="1"/>
          <p:nvPr/>
        </p:nvSpPr>
        <p:spPr>
          <a:xfrm>
            <a:off x="548640" y="5715000"/>
            <a:ext cx="11091672" cy="457200"/>
          </a:xfrm>
          <a:prstGeom prst="rect">
            <a:avLst/>
          </a:prstGeom>
          <a:noFill/>
        </p:spPr>
        <p:txBody>
          <a:bodyPr wrap="square" lIns="0" rIns="0" tIns="0" bIns="0" anchor="t">
            <a:spAutoFit/>
          </a:bodyPr>
          <a:lstStyle/>
          <a:p>
            <a:pPr algn="ctr">
              <a:spcBef>
                <a:spcPts val="0"/>
              </a:spcBef>
              <a:spcAft>
                <a:spcPts val="0"/>
              </a:spcAft>
            </a:pPr>
            <a:r>
              <a:rPr sz="1400" b="1" i="0">
                <a:solidFill>
                  <a:srgbClr val="BA131A"/>
                </a:solidFill>
                <a:latin typeface="Trebuchet MS"/>
              </a:rPr>
              <a:t>Du sur-mesure encadré, sans dérive du périmètre.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La formation : Captivea Academy</a:t>
            </a:r>
          </a:p>
        </p:txBody>
      </p:sp>
      <p:sp>
        <p:nvSpPr>
          <p:cNvPr id="4" name="TextBox 3"/>
          <p:cNvSpPr txBox="1"/>
          <p:nvPr/>
        </p:nvSpPr>
        <p:spPr>
          <a:xfrm>
            <a:off x="868680" y="1188720"/>
            <a:ext cx="10789920" cy="502920"/>
          </a:xfrm>
          <a:prstGeom prst="rect">
            <a:avLst/>
          </a:prstGeom>
          <a:noFill/>
        </p:spPr>
        <p:txBody>
          <a:bodyPr wrap="square" lIns="0" rIns="0" tIns="0" bIns="0" anchor="t">
            <a:spAutoFit/>
          </a:bodyPr>
          <a:lstStyle/>
          <a:p>
            <a:pPr algn="l">
              <a:spcBef>
                <a:spcPts val="0"/>
              </a:spcBef>
              <a:spcAft>
                <a:spcPts val="0"/>
              </a:spcAft>
            </a:pPr>
            <a:r>
              <a:rPr sz="1500" b="0" i="0">
                <a:solidFill>
                  <a:srgbClr val="212529"/>
                </a:solidFill>
                <a:latin typeface="Trebuchet MS"/>
              </a:rPr>
              <a:t>Qualiopi. Prise en charge OPCO possible. Sessions de 6 personnes maximum.</a:t>
            </a:r>
          </a:p>
        </p:txBody>
      </p:sp>
      <p:sp>
        <p:nvSpPr>
          <p:cNvPr id="5" name="Rounded Rectangle 4"/>
          <p:cNvSpPr/>
          <p:nvPr/>
        </p:nvSpPr>
        <p:spPr>
          <a:xfrm>
            <a:off x="548640" y="1828800"/>
            <a:ext cx="5358384" cy="3429000"/>
          </a:xfrm>
          <a:prstGeom prst="roundRect">
            <a:avLst>
              <a:gd name="adj" fmla="val 5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4626864" cy="822960"/>
          </a:xfrm>
          <a:prstGeom prst="rect">
            <a:avLst/>
          </a:prstGeom>
          <a:noFill/>
        </p:spPr>
        <p:txBody>
          <a:bodyPr wrap="square" lIns="0" rIns="0" tIns="0" bIns="0" anchor="t">
            <a:spAutoFit/>
          </a:bodyPr>
          <a:lstStyle/>
          <a:p>
            <a:pPr algn="l">
              <a:spcBef>
                <a:spcPts val="0"/>
              </a:spcBef>
              <a:spcAft>
                <a:spcPts val="0"/>
              </a:spcAft>
            </a:pPr>
            <a:r>
              <a:rPr sz="1900" b="1" i="0">
                <a:solidFill>
                  <a:srgbClr val="CD5358"/>
                </a:solidFill>
                <a:latin typeface="Trebuchet MS"/>
              </a:rPr>
              <a:t>Formation Adoption</a:t>
            </a:r>
          </a:p>
          <a:p>
            <a:pPr algn="l">
              <a:spcBef>
                <a:spcPts val="300"/>
              </a:spcBef>
              <a:spcAft>
                <a:spcPts val="0"/>
              </a:spcAft>
            </a:pPr>
            <a:r>
              <a:rPr sz="1200" b="0" i="0">
                <a:solidFill>
                  <a:srgbClr val="8F8F8F"/>
                </a:solidFill>
                <a:latin typeface="Trebuchet MS"/>
              </a:rPr>
              <a:t>L'Humain Augmenté · 1 jour (7 heures)</a:t>
            </a:r>
          </a:p>
        </p:txBody>
      </p:sp>
      <p:sp>
        <p:nvSpPr>
          <p:cNvPr id="7" name="TextBox 6"/>
          <p:cNvSpPr txBox="1"/>
          <p:nvPr/>
        </p:nvSpPr>
        <p:spPr>
          <a:xfrm>
            <a:off x="914400" y="3154680"/>
            <a:ext cx="4626864" cy="1554480"/>
          </a:xfrm>
          <a:prstGeom prst="rect">
            <a:avLst/>
          </a:prstGeom>
          <a:noFill/>
        </p:spPr>
        <p:txBody>
          <a:bodyPr wrap="square" lIns="0" rIns="0" tIns="0" bIns="0" anchor="t">
            <a:spAutoFit/>
          </a:bodyPr>
          <a:lstStyle/>
          <a:p>
            <a:pPr algn="l">
              <a:lnSpc>
                <a:spcPct val="106000"/>
              </a:lnSpc>
              <a:spcBef>
                <a:spcPts val="0"/>
              </a:spcBef>
              <a:spcAft>
                <a:spcPts val="900"/>
              </a:spcAft>
            </a:pPr>
            <a:r>
              <a:rPr sz="1400" b="1" i="0">
                <a:solidFill>
                  <a:srgbClr val="CD5358"/>
                </a:solidFill>
                <a:latin typeface="Trebuchet MS"/>
              </a:rPr>
              <a:t>›  </a:t>
            </a:r>
            <a:r>
              <a:rPr sz="1250" b="0" i="0">
                <a:solidFill>
                  <a:srgbClr val="212529"/>
                </a:solidFill>
                <a:latin typeface="Trebuchet MS"/>
              </a:rPr>
              <a:t>Comprendre l'IA, la sécurité et le RGPD</a:t>
            </a:r>
          </a:p>
          <a:p>
            <a:pPr algn="l">
              <a:lnSpc>
                <a:spcPct val="106000"/>
              </a:lnSpc>
              <a:spcBef>
                <a:spcPts val="0"/>
              </a:spcBef>
              <a:spcAft>
                <a:spcPts val="900"/>
              </a:spcAft>
            </a:pPr>
            <a:r>
              <a:rPr sz="1400" b="1" i="0">
                <a:solidFill>
                  <a:srgbClr val="CD5358"/>
                </a:solidFill>
                <a:latin typeface="Trebuchet MS"/>
              </a:rPr>
              <a:t>›  </a:t>
            </a:r>
            <a:r>
              <a:rPr sz="1250" b="0" i="0">
                <a:solidFill>
                  <a:srgbClr val="212529"/>
                </a:solidFill>
                <a:latin typeface="Trebuchet MS"/>
              </a:rPr>
              <a:t>Rédiger des consignes qui donnent de bons résultats</a:t>
            </a:r>
          </a:p>
          <a:p>
            <a:pPr algn="l">
              <a:lnSpc>
                <a:spcPct val="106000"/>
              </a:lnSpc>
              <a:spcBef>
                <a:spcPts val="0"/>
              </a:spcBef>
              <a:spcAft>
                <a:spcPts val="900"/>
              </a:spcAft>
            </a:pPr>
            <a:r>
              <a:rPr sz="1400" b="1" i="0">
                <a:solidFill>
                  <a:srgbClr val="CD5358"/>
                </a:solidFill>
                <a:latin typeface="Trebuchet MS"/>
              </a:rPr>
              <a:t>›  </a:t>
            </a:r>
            <a:r>
              <a:rPr sz="1250" b="0" i="0">
                <a:solidFill>
                  <a:srgbClr val="212529"/>
                </a:solidFill>
                <a:latin typeface="Trebuchet MS"/>
              </a:rPr>
              <a:t>Des cas d'usage par métier et votre premier agent</a:t>
            </a:r>
          </a:p>
        </p:txBody>
      </p:sp>
      <p:sp>
        <p:nvSpPr>
          <p:cNvPr id="8" name="TextBox 7"/>
          <p:cNvSpPr txBox="1"/>
          <p:nvPr/>
        </p:nvSpPr>
        <p:spPr>
          <a:xfrm>
            <a:off x="914400" y="4690872"/>
            <a:ext cx="4626864" cy="457200"/>
          </a:xfrm>
          <a:prstGeom prst="rect">
            <a:avLst/>
          </a:prstGeom>
          <a:noFill/>
        </p:spPr>
        <p:txBody>
          <a:bodyPr wrap="square" lIns="0" rIns="0" tIns="0" bIns="0" anchor="t">
            <a:spAutoFit/>
          </a:bodyPr>
          <a:lstStyle/>
          <a:p>
            <a:pPr algn="l">
              <a:lnSpc>
                <a:spcPct val="105000"/>
              </a:lnSpc>
              <a:spcBef>
                <a:spcPts val="0"/>
              </a:spcBef>
              <a:spcAft>
                <a:spcPts val="0"/>
              </a:spcAft>
            </a:pPr>
            <a:r>
              <a:rPr sz="1100" b="0" i="1">
                <a:solidFill>
                  <a:srgbClr val="8F8F8F"/>
                </a:solidFill>
                <a:latin typeface="Trebuchet MS"/>
              </a:rPr>
              <a:t>Pour : Dirigeants, managers et équipes opérationnelles.</a:t>
            </a:r>
          </a:p>
        </p:txBody>
      </p:sp>
      <p:sp>
        <p:nvSpPr>
          <p:cNvPr id="9" name="Rounded Rectangle 8"/>
          <p:cNvSpPr/>
          <p:nvPr/>
        </p:nvSpPr>
        <p:spPr>
          <a:xfrm>
            <a:off x="6272784" y="1828800"/>
            <a:ext cx="5358384" cy="3429000"/>
          </a:xfrm>
          <a:prstGeom prst="roundRect">
            <a:avLst>
              <a:gd name="adj" fmla="val 5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38544" y="2103120"/>
            <a:ext cx="4626864" cy="822960"/>
          </a:xfrm>
          <a:prstGeom prst="rect">
            <a:avLst/>
          </a:prstGeom>
          <a:noFill/>
        </p:spPr>
        <p:txBody>
          <a:bodyPr wrap="square" lIns="0" rIns="0" tIns="0" bIns="0" anchor="t">
            <a:spAutoFit/>
          </a:bodyPr>
          <a:lstStyle/>
          <a:p>
            <a:pPr algn="l">
              <a:spcBef>
                <a:spcPts val="0"/>
              </a:spcBef>
              <a:spcAft>
                <a:spcPts val="0"/>
              </a:spcAft>
            </a:pPr>
            <a:r>
              <a:rPr sz="1900" b="1" i="0">
                <a:solidFill>
                  <a:srgbClr val="714B67"/>
                </a:solidFill>
                <a:latin typeface="Trebuchet MS"/>
              </a:rPr>
              <a:t>Formation Automatisation</a:t>
            </a:r>
          </a:p>
          <a:p>
            <a:pPr algn="l">
              <a:spcBef>
                <a:spcPts val="300"/>
              </a:spcBef>
              <a:spcAft>
                <a:spcPts val="0"/>
              </a:spcAft>
            </a:pPr>
            <a:r>
              <a:rPr sz="1200" b="0" i="0">
                <a:solidFill>
                  <a:srgbClr val="8F8F8F"/>
                </a:solidFill>
                <a:latin typeface="Trebuchet MS"/>
              </a:rPr>
              <a:t>n8n, architecte de vos processus · 1 jour (7 heures)</a:t>
            </a:r>
          </a:p>
        </p:txBody>
      </p:sp>
      <p:sp>
        <p:nvSpPr>
          <p:cNvPr id="11" name="TextBox 10"/>
          <p:cNvSpPr txBox="1"/>
          <p:nvPr/>
        </p:nvSpPr>
        <p:spPr>
          <a:xfrm>
            <a:off x="6638544" y="3154680"/>
            <a:ext cx="4626864" cy="1554480"/>
          </a:xfrm>
          <a:prstGeom prst="rect">
            <a:avLst/>
          </a:prstGeom>
          <a:noFill/>
        </p:spPr>
        <p:txBody>
          <a:bodyPr wrap="square" lIns="0" rIns="0" tIns="0" bIns="0" anchor="t">
            <a:spAutoFit/>
          </a:bodyPr>
          <a:lstStyle/>
          <a:p>
            <a:pPr algn="l">
              <a:lnSpc>
                <a:spcPct val="106000"/>
              </a:lnSpc>
              <a:spcBef>
                <a:spcPts val="0"/>
              </a:spcBef>
              <a:spcAft>
                <a:spcPts val="900"/>
              </a:spcAft>
            </a:pPr>
            <a:r>
              <a:rPr sz="1400" b="1" i="0">
                <a:solidFill>
                  <a:srgbClr val="714B67"/>
                </a:solidFill>
                <a:latin typeface="Trebuchet MS"/>
              </a:rPr>
              <a:t>›  </a:t>
            </a:r>
            <a:r>
              <a:rPr sz="1250" b="0" i="0">
                <a:solidFill>
                  <a:srgbClr val="212529"/>
                </a:solidFill>
                <a:latin typeface="Trebuchet MS"/>
              </a:rPr>
              <a:t>Construire des automatisations fiables (conditions, boucles, erreurs)</a:t>
            </a:r>
          </a:p>
          <a:p>
            <a:pPr algn="l">
              <a:lnSpc>
                <a:spcPct val="106000"/>
              </a:lnSpc>
              <a:spcBef>
                <a:spcPts val="0"/>
              </a:spcBef>
              <a:spcAft>
                <a:spcPts val="900"/>
              </a:spcAft>
            </a:pPr>
            <a:r>
              <a:rPr sz="1400" b="1" i="0">
                <a:solidFill>
                  <a:srgbClr val="714B67"/>
                </a:solidFill>
                <a:latin typeface="Trebuchet MS"/>
              </a:rPr>
              <a:t>›  </a:t>
            </a:r>
            <a:r>
              <a:rPr sz="1250" b="0" i="0">
                <a:solidFill>
                  <a:srgbClr val="212529"/>
                </a:solidFill>
                <a:latin typeface="Trebuchet MS"/>
              </a:rPr>
              <a:t>Relier vos outils entre eux (interfaces, déclencheurs)</a:t>
            </a:r>
          </a:p>
          <a:p>
            <a:pPr algn="l">
              <a:lnSpc>
                <a:spcPct val="106000"/>
              </a:lnSpc>
              <a:spcBef>
                <a:spcPts val="0"/>
              </a:spcBef>
              <a:spcAft>
                <a:spcPts val="900"/>
              </a:spcAft>
            </a:pPr>
            <a:r>
              <a:rPr sz="1400" b="1" i="0">
                <a:solidFill>
                  <a:srgbClr val="714B67"/>
                </a:solidFill>
                <a:latin typeface="Trebuchet MS"/>
              </a:rPr>
              <a:t>›  </a:t>
            </a:r>
            <a:r>
              <a:rPr sz="1250" b="0" i="0">
                <a:solidFill>
                  <a:srgbClr val="212529"/>
                </a:solidFill>
                <a:latin typeface="Trebuchet MS"/>
              </a:rPr>
              <a:t>Intégrer un moteur IA dans un processus</a:t>
            </a:r>
          </a:p>
        </p:txBody>
      </p:sp>
      <p:sp>
        <p:nvSpPr>
          <p:cNvPr id="12" name="TextBox 11"/>
          <p:cNvSpPr txBox="1"/>
          <p:nvPr/>
        </p:nvSpPr>
        <p:spPr>
          <a:xfrm>
            <a:off x="6638544" y="4690872"/>
            <a:ext cx="4626864" cy="457200"/>
          </a:xfrm>
          <a:prstGeom prst="rect">
            <a:avLst/>
          </a:prstGeom>
          <a:noFill/>
        </p:spPr>
        <p:txBody>
          <a:bodyPr wrap="square" lIns="0" rIns="0" tIns="0" bIns="0" anchor="t">
            <a:spAutoFit/>
          </a:bodyPr>
          <a:lstStyle/>
          <a:p>
            <a:pPr algn="l">
              <a:lnSpc>
                <a:spcPct val="105000"/>
              </a:lnSpc>
              <a:spcBef>
                <a:spcPts val="0"/>
              </a:spcBef>
              <a:spcAft>
                <a:spcPts val="0"/>
              </a:spcAft>
            </a:pPr>
            <a:r>
              <a:rPr sz="1100" b="0" i="1">
                <a:solidFill>
                  <a:srgbClr val="8F8F8F"/>
                </a:solidFill>
                <a:latin typeface="Trebuchet MS"/>
              </a:rPr>
              <a:t>Pour : Chefs de projet, opérationnels, informatique et utilisateurs avancés.</a:t>
            </a:r>
          </a:p>
        </p:txBody>
      </p:sp>
      <p:sp>
        <p:nvSpPr>
          <p:cNvPr id="13" name="TextBox 12"/>
          <p:cNvSpPr txBox="1"/>
          <p:nvPr/>
        </p:nvSpPr>
        <p:spPr>
          <a:xfrm>
            <a:off x="548640" y="5852160"/>
            <a:ext cx="11091672" cy="411480"/>
          </a:xfrm>
          <a:prstGeom prst="rect">
            <a:avLst/>
          </a:prstGeom>
          <a:noFill/>
        </p:spPr>
        <p:txBody>
          <a:bodyPr wrap="square" lIns="0" rIns="0" tIns="0" bIns="0" anchor="t">
            <a:spAutoFit/>
          </a:bodyPr>
          <a:lstStyle/>
          <a:p>
            <a:pPr algn="ctr">
              <a:spcBef>
                <a:spcPts val="0"/>
              </a:spcBef>
              <a:spcAft>
                <a:spcPts val="0"/>
              </a:spcAft>
            </a:pPr>
            <a:r>
              <a:rPr sz="1200" b="0" i="1">
                <a:solidFill>
                  <a:srgbClr val="8F8F8F"/>
                </a:solidFill>
                <a:latin typeface="Trebuchet MS"/>
              </a:rPr>
              <a:t>En présentiel ou à distance · Attestation en fin de formation · Financement OPCO possible.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L'accompagnement : on reste à vos côtés</a:t>
            </a:r>
          </a:p>
        </p:txBody>
      </p:sp>
      <p:sp>
        <p:nvSpPr>
          <p:cNvPr id="4" name="Rounded Rectangle 3"/>
          <p:cNvSpPr/>
          <p:nvPr/>
        </p:nvSpPr>
        <p:spPr>
          <a:xfrm>
            <a:off x="548640" y="1965960"/>
            <a:ext cx="3456432" cy="27432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96112" y="2350008"/>
            <a:ext cx="502920" cy="502920"/>
          </a:xfrm>
          <a:prstGeom prst="roundRect">
            <a:avLst>
              <a:gd name="adj" fmla="val 30000"/>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3017520"/>
            <a:ext cx="2798063" cy="457200"/>
          </a:xfrm>
          <a:prstGeom prst="rect">
            <a:avLst/>
          </a:prstGeom>
          <a:noFill/>
        </p:spPr>
        <p:txBody>
          <a:bodyPr wrap="square" lIns="0" rIns="0" tIns="0" bIns="0" anchor="t">
            <a:spAutoFit/>
          </a:bodyPr>
          <a:lstStyle/>
          <a:p>
            <a:pPr algn="l">
              <a:spcBef>
                <a:spcPts val="0"/>
              </a:spcBef>
              <a:spcAft>
                <a:spcPts val="0"/>
              </a:spcAft>
            </a:pPr>
            <a:r>
              <a:rPr sz="1700" b="1" i="0">
                <a:solidFill>
                  <a:srgbClr val="BA131A"/>
                </a:solidFill>
                <a:latin typeface="Trebuchet MS"/>
              </a:rPr>
              <a:t>Maintenance</a:t>
            </a:r>
          </a:p>
        </p:txBody>
      </p:sp>
      <p:sp>
        <p:nvSpPr>
          <p:cNvPr id="7" name="TextBox 6"/>
          <p:cNvSpPr txBox="1"/>
          <p:nvPr/>
        </p:nvSpPr>
        <p:spPr>
          <a:xfrm>
            <a:off x="896112" y="3520439"/>
            <a:ext cx="2798063" cy="1097280"/>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212529"/>
                </a:solidFill>
                <a:latin typeface="Trebuchet MS"/>
              </a:rPr>
              <a:t>Mises à jour des consignes, adaptation aux nouveaux modèles, corrections. 3 heures de consultant incluses chaque mois.</a:t>
            </a:r>
          </a:p>
        </p:txBody>
      </p:sp>
      <p:sp>
        <p:nvSpPr>
          <p:cNvPr id="8" name="Rounded Rectangle 7"/>
          <p:cNvSpPr/>
          <p:nvPr/>
        </p:nvSpPr>
        <p:spPr>
          <a:xfrm>
            <a:off x="4370831" y="1965960"/>
            <a:ext cx="3456432" cy="27432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18303" y="2350008"/>
            <a:ext cx="502920" cy="502920"/>
          </a:xfrm>
          <a:prstGeom prst="roundRect">
            <a:avLst>
              <a:gd name="adj" fmla="val 30000"/>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18303" y="3017520"/>
            <a:ext cx="2798063" cy="457200"/>
          </a:xfrm>
          <a:prstGeom prst="rect">
            <a:avLst/>
          </a:prstGeom>
          <a:noFill/>
        </p:spPr>
        <p:txBody>
          <a:bodyPr wrap="square" lIns="0" rIns="0" tIns="0" bIns="0" anchor="t">
            <a:spAutoFit/>
          </a:bodyPr>
          <a:lstStyle/>
          <a:p>
            <a:pPr algn="l">
              <a:spcBef>
                <a:spcPts val="0"/>
              </a:spcBef>
              <a:spcAft>
                <a:spcPts val="0"/>
              </a:spcAft>
            </a:pPr>
            <a:r>
              <a:rPr sz="1700" b="1" i="0">
                <a:solidFill>
                  <a:srgbClr val="714B67"/>
                </a:solidFill>
                <a:latin typeface="Trebuchet MS"/>
              </a:rPr>
              <a:t>Sans engagement</a:t>
            </a:r>
          </a:p>
        </p:txBody>
      </p:sp>
      <p:sp>
        <p:nvSpPr>
          <p:cNvPr id="11" name="TextBox 10"/>
          <p:cNvSpPr txBox="1"/>
          <p:nvPr/>
        </p:nvSpPr>
        <p:spPr>
          <a:xfrm>
            <a:off x="4718303" y="3520439"/>
            <a:ext cx="2798063" cy="1097280"/>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212529"/>
                </a:solidFill>
                <a:latin typeface="Trebuchet MS"/>
              </a:rPr>
              <a:t>Aucune durée imposée. Vous restez libre, mois après mois.</a:t>
            </a:r>
          </a:p>
        </p:txBody>
      </p:sp>
      <p:sp>
        <p:nvSpPr>
          <p:cNvPr id="12" name="Rounded Rectangle 11"/>
          <p:cNvSpPr/>
          <p:nvPr/>
        </p:nvSpPr>
        <p:spPr>
          <a:xfrm>
            <a:off x="8193023" y="1965960"/>
            <a:ext cx="3456432" cy="27432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40496" y="2350008"/>
            <a:ext cx="502920" cy="502920"/>
          </a:xfrm>
          <a:prstGeom prst="roundRect">
            <a:avLst>
              <a:gd name="adj" fmla="val 30000"/>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0496" y="3017520"/>
            <a:ext cx="2798063" cy="457200"/>
          </a:xfrm>
          <a:prstGeom prst="rect">
            <a:avLst/>
          </a:prstGeom>
          <a:noFill/>
        </p:spPr>
        <p:txBody>
          <a:bodyPr wrap="square" lIns="0" rIns="0" tIns="0" bIns="0" anchor="t">
            <a:spAutoFit/>
          </a:bodyPr>
          <a:lstStyle/>
          <a:p>
            <a:pPr algn="l">
              <a:spcBef>
                <a:spcPts val="0"/>
              </a:spcBef>
              <a:spcAft>
                <a:spcPts val="0"/>
              </a:spcAft>
            </a:pPr>
            <a:r>
              <a:rPr sz="1700" b="1" i="0">
                <a:solidFill>
                  <a:srgbClr val="CD5358"/>
                </a:solidFill>
                <a:latin typeface="Trebuchet MS"/>
              </a:rPr>
              <a:t>Vous décidez</a:t>
            </a:r>
          </a:p>
        </p:txBody>
      </p:sp>
      <p:sp>
        <p:nvSpPr>
          <p:cNvPr id="15" name="TextBox 14"/>
          <p:cNvSpPr txBox="1"/>
          <p:nvPr/>
        </p:nvSpPr>
        <p:spPr>
          <a:xfrm>
            <a:off x="8540496" y="3520439"/>
            <a:ext cx="2798063" cy="1097280"/>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212529"/>
                </a:solidFill>
                <a:latin typeface="Trebuchet MS"/>
              </a:rPr>
              <a:t>On arrête un agent dès que vous le souhaitez. Sans justification.</a:t>
            </a:r>
          </a:p>
        </p:txBody>
      </p:sp>
      <p:sp>
        <p:nvSpPr>
          <p:cNvPr id="16" name="TextBox 15"/>
          <p:cNvSpPr txBox="1"/>
          <p:nvPr/>
        </p:nvSpPr>
        <p:spPr>
          <a:xfrm>
            <a:off x="548640" y="5715000"/>
            <a:ext cx="11091672" cy="457200"/>
          </a:xfrm>
          <a:prstGeom prst="rect">
            <a:avLst/>
          </a:prstGeom>
          <a:noFill/>
        </p:spPr>
        <p:txBody>
          <a:bodyPr wrap="square" lIns="0" rIns="0" tIns="0" bIns="0" anchor="t">
            <a:spAutoFit/>
          </a:bodyPr>
          <a:lstStyle/>
          <a:p>
            <a:pPr algn="ctr">
              <a:spcBef>
                <a:spcPts val="0"/>
              </a:spcBef>
              <a:spcAft>
                <a:spcPts val="0"/>
              </a:spcAft>
            </a:pPr>
            <a:r>
              <a:rPr sz="1400" b="1" i="0">
                <a:solidFill>
                  <a:srgbClr val="BA131A"/>
                </a:solidFill>
                <a:latin typeface="Trebuchet MS"/>
              </a:rPr>
              <a:t>On vend une solution adoptée, maintenue et ROI-positive. Pas juste du code livré.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Tarification claire, sans engagement de durée</a:t>
            </a:r>
          </a:p>
        </p:txBody>
      </p:sp>
      <p:sp>
        <p:nvSpPr>
          <p:cNvPr id="4" name="Rounded Rectangle 3"/>
          <p:cNvSpPr/>
          <p:nvPr/>
        </p:nvSpPr>
        <p:spPr>
          <a:xfrm>
            <a:off x="548640" y="1691640"/>
            <a:ext cx="5358384" cy="3703320"/>
          </a:xfrm>
          <a:prstGeom prst="roundRect">
            <a:avLst>
              <a:gd name="adj" fmla="val 5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4754880" cy="457200"/>
          </a:xfrm>
          <a:prstGeom prst="rect">
            <a:avLst/>
          </a:prstGeom>
          <a:noFill/>
        </p:spPr>
        <p:txBody>
          <a:bodyPr wrap="square" lIns="0" rIns="0" tIns="0" bIns="0" anchor="t">
            <a:spAutoFit/>
          </a:bodyPr>
          <a:lstStyle/>
          <a:p>
            <a:pPr algn="l">
              <a:spcBef>
                <a:spcPts val="0"/>
              </a:spcBef>
              <a:spcAft>
                <a:spcPts val="0"/>
              </a:spcAft>
            </a:pPr>
            <a:r>
              <a:rPr sz="1600" b="1" i="0">
                <a:solidFill>
                  <a:srgbClr val="BA131A"/>
                </a:solidFill>
                <a:latin typeface="Trebuchet MS"/>
              </a:rPr>
              <a:t>Setup et maintenance</a:t>
            </a:r>
          </a:p>
        </p:txBody>
      </p:sp>
      <p:sp>
        <p:nvSpPr>
          <p:cNvPr id="6" name="TextBox 5"/>
          <p:cNvSpPr txBox="1"/>
          <p:nvPr/>
        </p:nvSpPr>
        <p:spPr>
          <a:xfrm>
            <a:off x="868680" y="2514600"/>
            <a:ext cx="4754880" cy="777240"/>
          </a:xfrm>
          <a:prstGeom prst="rect">
            <a:avLst/>
          </a:prstGeom>
          <a:noFill/>
        </p:spPr>
        <p:txBody>
          <a:bodyPr wrap="square" lIns="0" rIns="0" tIns="0" bIns="0" anchor="t">
            <a:spAutoFit/>
          </a:bodyPr>
          <a:lstStyle/>
          <a:p>
            <a:pPr algn="l">
              <a:spcBef>
                <a:spcPts val="0"/>
              </a:spcBef>
              <a:spcAft>
                <a:spcPts val="0"/>
              </a:spcAft>
            </a:pPr>
            <a:r>
              <a:rPr sz="1300" b="1" i="0">
                <a:solidFill>
                  <a:srgbClr val="212529"/>
                </a:solidFill>
                <a:latin typeface="Trebuchet MS"/>
              </a:rPr>
              <a:t>Setup environnement</a:t>
            </a:r>
          </a:p>
          <a:p>
            <a:pPr algn="l">
              <a:lnSpc>
                <a:spcPct val="105000"/>
              </a:lnSpc>
              <a:spcBef>
                <a:spcPts val="200"/>
              </a:spcBef>
              <a:spcAft>
                <a:spcPts val="0"/>
              </a:spcAft>
            </a:pPr>
            <a:r>
              <a:rPr sz="1300" b="1" i="0">
                <a:solidFill>
                  <a:srgbClr val="BA131A"/>
                </a:solidFill>
                <a:latin typeface="Trebuchet MS"/>
              </a:rPr>
              <a:t>400 €  ·  une seule fois</a:t>
            </a:r>
          </a:p>
        </p:txBody>
      </p:sp>
      <p:sp>
        <p:nvSpPr>
          <p:cNvPr id="7" name="TextBox 6"/>
          <p:cNvSpPr txBox="1"/>
          <p:nvPr/>
        </p:nvSpPr>
        <p:spPr>
          <a:xfrm>
            <a:off x="868680" y="3429000"/>
            <a:ext cx="4754880" cy="777240"/>
          </a:xfrm>
          <a:prstGeom prst="rect">
            <a:avLst/>
          </a:prstGeom>
          <a:noFill/>
        </p:spPr>
        <p:txBody>
          <a:bodyPr wrap="square" lIns="0" rIns="0" tIns="0" bIns="0" anchor="t">
            <a:spAutoFit/>
          </a:bodyPr>
          <a:lstStyle/>
          <a:p>
            <a:pPr algn="l">
              <a:spcBef>
                <a:spcPts val="0"/>
              </a:spcBef>
              <a:spcAft>
                <a:spcPts val="0"/>
              </a:spcAft>
            </a:pPr>
            <a:r>
              <a:rPr sz="1300" b="1" i="0">
                <a:solidFill>
                  <a:srgbClr val="212529"/>
                </a:solidFill>
                <a:latin typeface="Trebuchet MS"/>
              </a:rPr>
              <a:t>Installation par agent</a:t>
            </a:r>
          </a:p>
          <a:p>
            <a:pPr algn="l">
              <a:lnSpc>
                <a:spcPct val="105000"/>
              </a:lnSpc>
              <a:spcBef>
                <a:spcPts val="200"/>
              </a:spcBef>
              <a:spcAft>
                <a:spcPts val="0"/>
              </a:spcAft>
            </a:pPr>
            <a:r>
              <a:rPr sz="1300" b="1" i="0">
                <a:solidFill>
                  <a:srgbClr val="BA131A"/>
                </a:solidFill>
                <a:latin typeface="Trebuchet MS"/>
              </a:rPr>
              <a:t>800 €  ·  une seule fois</a:t>
            </a:r>
          </a:p>
        </p:txBody>
      </p:sp>
      <p:sp>
        <p:nvSpPr>
          <p:cNvPr id="8" name="TextBox 7"/>
          <p:cNvSpPr txBox="1"/>
          <p:nvPr/>
        </p:nvSpPr>
        <p:spPr>
          <a:xfrm>
            <a:off x="868680" y="4343400"/>
            <a:ext cx="4754880" cy="777240"/>
          </a:xfrm>
          <a:prstGeom prst="rect">
            <a:avLst/>
          </a:prstGeom>
          <a:noFill/>
        </p:spPr>
        <p:txBody>
          <a:bodyPr wrap="square" lIns="0" rIns="0" tIns="0" bIns="0" anchor="t">
            <a:spAutoFit/>
          </a:bodyPr>
          <a:lstStyle/>
          <a:p>
            <a:pPr algn="l">
              <a:spcBef>
                <a:spcPts val="0"/>
              </a:spcBef>
              <a:spcAft>
                <a:spcPts val="0"/>
              </a:spcAft>
            </a:pPr>
            <a:r>
              <a:rPr sz="1300" b="1" i="0">
                <a:solidFill>
                  <a:srgbClr val="212529"/>
                </a:solidFill>
                <a:latin typeface="Trebuchet MS"/>
              </a:rPr>
              <a:t>Maintenance, par mois et par environnement</a:t>
            </a:r>
          </a:p>
          <a:p>
            <a:pPr algn="l">
              <a:lnSpc>
                <a:spcPct val="105000"/>
              </a:lnSpc>
              <a:spcBef>
                <a:spcPts val="200"/>
              </a:spcBef>
              <a:spcAft>
                <a:spcPts val="0"/>
              </a:spcAft>
            </a:pPr>
            <a:r>
              <a:rPr sz="1300" b="1" i="0">
                <a:solidFill>
                  <a:srgbClr val="BA131A"/>
                </a:solidFill>
                <a:latin typeface="Trebuchet MS"/>
              </a:rPr>
              <a:t>300 €  ·  3 heures de consultant incluses</a:t>
            </a:r>
          </a:p>
        </p:txBody>
      </p:sp>
      <p:sp>
        <p:nvSpPr>
          <p:cNvPr id="9" name="Rounded Rectangle 8"/>
          <p:cNvSpPr/>
          <p:nvPr/>
        </p:nvSpPr>
        <p:spPr>
          <a:xfrm>
            <a:off x="6272784" y="1691640"/>
            <a:ext cx="5358384" cy="3703320"/>
          </a:xfrm>
          <a:prstGeom prst="roundRect">
            <a:avLst>
              <a:gd name="adj" fmla="val 5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74519"/>
            <a:ext cx="4754880" cy="457200"/>
          </a:xfrm>
          <a:prstGeom prst="rect">
            <a:avLst/>
          </a:prstGeom>
          <a:noFill/>
        </p:spPr>
        <p:txBody>
          <a:bodyPr wrap="square" lIns="0" rIns="0" tIns="0" bIns="0" anchor="t">
            <a:spAutoFit/>
          </a:bodyPr>
          <a:lstStyle/>
          <a:p>
            <a:pPr algn="l">
              <a:spcBef>
                <a:spcPts val="0"/>
              </a:spcBef>
              <a:spcAft>
                <a:spcPts val="0"/>
              </a:spcAft>
            </a:pPr>
            <a:r>
              <a:rPr sz="1600" b="1" i="0">
                <a:solidFill>
                  <a:srgbClr val="714B67"/>
                </a:solidFill>
                <a:latin typeface="Trebuchet MS"/>
              </a:rPr>
              <a:t>À la demande et formation</a:t>
            </a:r>
          </a:p>
        </p:txBody>
      </p:sp>
      <p:sp>
        <p:nvSpPr>
          <p:cNvPr id="11" name="TextBox 10"/>
          <p:cNvSpPr txBox="1"/>
          <p:nvPr/>
        </p:nvSpPr>
        <p:spPr>
          <a:xfrm>
            <a:off x="6583680" y="2514600"/>
            <a:ext cx="4754880" cy="777240"/>
          </a:xfrm>
          <a:prstGeom prst="rect">
            <a:avLst/>
          </a:prstGeom>
          <a:noFill/>
        </p:spPr>
        <p:txBody>
          <a:bodyPr wrap="square" lIns="0" rIns="0" tIns="0" bIns="0" anchor="t">
            <a:spAutoFit/>
          </a:bodyPr>
          <a:lstStyle/>
          <a:p>
            <a:pPr algn="l">
              <a:spcBef>
                <a:spcPts val="0"/>
              </a:spcBef>
              <a:spcAft>
                <a:spcPts val="0"/>
              </a:spcAft>
            </a:pPr>
            <a:r>
              <a:rPr sz="1300" b="1" i="0">
                <a:solidFill>
                  <a:srgbClr val="212529"/>
                </a:solidFill>
                <a:latin typeface="Trebuchet MS"/>
              </a:rPr>
              <a:t>Consultant IA</a:t>
            </a:r>
          </a:p>
          <a:p>
            <a:pPr algn="l">
              <a:lnSpc>
                <a:spcPct val="105000"/>
              </a:lnSpc>
              <a:spcBef>
                <a:spcPts val="200"/>
              </a:spcBef>
              <a:spcAft>
                <a:spcPts val="0"/>
              </a:spcAft>
            </a:pPr>
            <a:r>
              <a:rPr sz="1300" b="1" i="0">
                <a:solidFill>
                  <a:srgbClr val="714B67"/>
                </a:solidFill>
                <a:latin typeface="Trebuchet MS"/>
              </a:rPr>
              <a:t>100 €  ·  l'heure</a:t>
            </a:r>
          </a:p>
        </p:txBody>
      </p:sp>
      <p:sp>
        <p:nvSpPr>
          <p:cNvPr id="12" name="TextBox 11"/>
          <p:cNvSpPr txBox="1"/>
          <p:nvPr/>
        </p:nvSpPr>
        <p:spPr>
          <a:xfrm>
            <a:off x="6583680" y="3429000"/>
            <a:ext cx="4754880" cy="777240"/>
          </a:xfrm>
          <a:prstGeom prst="rect">
            <a:avLst/>
          </a:prstGeom>
          <a:noFill/>
        </p:spPr>
        <p:txBody>
          <a:bodyPr wrap="square" lIns="0" rIns="0" tIns="0" bIns="0" anchor="t">
            <a:spAutoFit/>
          </a:bodyPr>
          <a:lstStyle/>
          <a:p>
            <a:pPr algn="l">
              <a:spcBef>
                <a:spcPts val="0"/>
              </a:spcBef>
              <a:spcAft>
                <a:spcPts val="0"/>
              </a:spcAft>
            </a:pPr>
            <a:r>
              <a:rPr sz="1300" b="1" i="0">
                <a:solidFill>
                  <a:srgbClr val="212529"/>
                </a:solidFill>
                <a:latin typeface="Trebuchet MS"/>
              </a:rPr>
              <a:t>Carnet de temps (évolutions hors périmètre)</a:t>
            </a:r>
          </a:p>
          <a:p>
            <a:pPr algn="l">
              <a:lnSpc>
                <a:spcPct val="105000"/>
              </a:lnSpc>
              <a:spcBef>
                <a:spcPts val="200"/>
              </a:spcBef>
              <a:spcAft>
                <a:spcPts val="0"/>
              </a:spcAft>
            </a:pPr>
            <a:r>
              <a:rPr sz="1300" b="1" i="0">
                <a:solidFill>
                  <a:srgbClr val="714B67"/>
                </a:solidFill>
                <a:latin typeface="Trebuchet MS"/>
              </a:rPr>
              <a:t>100 €  ·  l'heure</a:t>
            </a:r>
          </a:p>
        </p:txBody>
      </p:sp>
      <p:sp>
        <p:nvSpPr>
          <p:cNvPr id="13" name="TextBox 12"/>
          <p:cNvSpPr txBox="1"/>
          <p:nvPr/>
        </p:nvSpPr>
        <p:spPr>
          <a:xfrm>
            <a:off x="6583680" y="4343400"/>
            <a:ext cx="4754880" cy="777240"/>
          </a:xfrm>
          <a:prstGeom prst="rect">
            <a:avLst/>
          </a:prstGeom>
          <a:noFill/>
        </p:spPr>
        <p:txBody>
          <a:bodyPr wrap="square" lIns="0" rIns="0" tIns="0" bIns="0" anchor="t">
            <a:spAutoFit/>
          </a:bodyPr>
          <a:lstStyle/>
          <a:p>
            <a:pPr algn="l">
              <a:spcBef>
                <a:spcPts val="0"/>
              </a:spcBef>
              <a:spcAft>
                <a:spcPts val="0"/>
              </a:spcAft>
            </a:pPr>
            <a:r>
              <a:rPr sz="1300" b="1" i="0">
                <a:solidFill>
                  <a:srgbClr val="212529"/>
                </a:solidFill>
                <a:latin typeface="Trebuchet MS"/>
              </a:rPr>
              <a:t>Formation (6 personnes maximum)</a:t>
            </a:r>
          </a:p>
          <a:p>
            <a:pPr algn="l">
              <a:lnSpc>
                <a:spcPct val="105000"/>
              </a:lnSpc>
              <a:spcBef>
                <a:spcPts val="200"/>
              </a:spcBef>
              <a:spcAft>
                <a:spcPts val="0"/>
              </a:spcAft>
            </a:pPr>
            <a:r>
              <a:rPr sz="1300" b="1" i="0">
                <a:solidFill>
                  <a:srgbClr val="714B67"/>
                </a:solidFill>
                <a:latin typeface="Trebuchet MS"/>
              </a:rPr>
              <a:t>1 500 €  ·  la journée</a:t>
            </a:r>
          </a:p>
        </p:txBody>
      </p:sp>
      <p:sp>
        <p:nvSpPr>
          <p:cNvPr id="14" name="Rounded Rectangle 13"/>
          <p:cNvSpPr/>
          <p:nvPr/>
        </p:nvSpPr>
        <p:spPr>
          <a:xfrm>
            <a:off x="548640" y="5623560"/>
            <a:ext cx="11091672" cy="658368"/>
          </a:xfrm>
          <a:prstGeom prst="roundRect">
            <a:avLst>
              <a:gd name="adj" fmla="val 6000"/>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623560"/>
            <a:ext cx="10725912" cy="658368"/>
          </a:xfrm>
          <a:prstGeom prst="rect">
            <a:avLst/>
          </a:prstGeom>
          <a:noFill/>
        </p:spPr>
        <p:txBody>
          <a:bodyPr wrap="square" lIns="0" rIns="0" tIns="0" bIns="0" anchor="ctr">
            <a:spAutoFit/>
          </a:bodyPr>
          <a:lstStyle/>
          <a:p>
            <a:pPr algn="ctr">
              <a:spcBef>
                <a:spcPts val="0"/>
              </a:spcBef>
              <a:spcAft>
                <a:spcPts val="0"/>
              </a:spcAft>
            </a:pPr>
            <a:r>
              <a:rPr sz="1200" b="1" i="0">
                <a:solidFill>
                  <a:srgbClr val="FFFFFF"/>
                </a:solidFill>
                <a:latin typeface="Trebuchet MS"/>
              </a:rPr>
              <a:t>Licence du moteur IA à votre charge    ·    Qualiopi, financement OPCO possible    ·    Sans engagement de durée    ·    Prix en € HT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Un budget type, concret</a:t>
            </a:r>
          </a:p>
        </p:txBody>
      </p:sp>
      <p:sp>
        <p:nvSpPr>
          <p:cNvPr id="4" name="TextBox 3"/>
          <p:cNvSpPr txBox="1"/>
          <p:nvPr/>
        </p:nvSpPr>
        <p:spPr>
          <a:xfrm>
            <a:off x="868680" y="1188720"/>
            <a:ext cx="10789920" cy="502920"/>
          </a:xfrm>
          <a:prstGeom prst="rect">
            <a:avLst/>
          </a:prstGeom>
          <a:noFill/>
        </p:spPr>
        <p:txBody>
          <a:bodyPr wrap="square" lIns="0" rIns="0" tIns="0" bIns="0" anchor="t">
            <a:spAutoFit/>
          </a:bodyPr>
          <a:lstStyle/>
          <a:p>
            <a:pPr algn="l">
              <a:spcBef>
                <a:spcPts val="0"/>
              </a:spcBef>
              <a:spcAft>
                <a:spcPts val="0"/>
              </a:spcAft>
            </a:pPr>
            <a:r>
              <a:rPr sz="1500" b="0" i="0">
                <a:solidFill>
                  <a:srgbClr val="212529"/>
                </a:solidFill>
                <a:latin typeface="Trebuchet MS"/>
              </a:rPr>
              <a:t>Exemple : 1 environnement, 2 agents, 1 session de formation.</a:t>
            </a:r>
          </a:p>
        </p:txBody>
      </p:sp>
      <p:sp>
        <p:nvSpPr>
          <p:cNvPr id="5" name="Rounded Rectangle 4"/>
          <p:cNvSpPr/>
          <p:nvPr/>
        </p:nvSpPr>
        <p:spPr>
          <a:xfrm>
            <a:off x="548640" y="1874519"/>
            <a:ext cx="6355080" cy="3200400"/>
          </a:xfrm>
          <a:prstGeom prst="roundRect">
            <a:avLst>
              <a:gd name="adj" fmla="val 5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4114800" cy="365760"/>
          </a:xfrm>
          <a:prstGeom prst="rect">
            <a:avLst/>
          </a:prstGeom>
          <a:noFill/>
        </p:spPr>
        <p:txBody>
          <a:bodyPr wrap="square" lIns="0" rIns="0" tIns="0" bIns="0" anchor="t">
            <a:spAutoFit/>
          </a:bodyPr>
          <a:lstStyle/>
          <a:p>
            <a:pPr algn="l">
              <a:spcBef>
                <a:spcPts val="0"/>
              </a:spcBef>
              <a:spcAft>
                <a:spcPts val="0"/>
              </a:spcAft>
            </a:pPr>
            <a:r>
              <a:rPr sz="1300" b="0" i="0">
                <a:solidFill>
                  <a:srgbClr val="212529"/>
                </a:solidFill>
                <a:latin typeface="Trebuchet MS"/>
              </a:rPr>
              <a:t>Setup environnement</a:t>
            </a:r>
          </a:p>
        </p:txBody>
      </p:sp>
      <p:sp>
        <p:nvSpPr>
          <p:cNvPr id="7" name="TextBox 6"/>
          <p:cNvSpPr txBox="1"/>
          <p:nvPr/>
        </p:nvSpPr>
        <p:spPr>
          <a:xfrm>
            <a:off x="4846320" y="2194560"/>
            <a:ext cx="1783080" cy="365760"/>
          </a:xfrm>
          <a:prstGeom prst="rect">
            <a:avLst/>
          </a:prstGeom>
          <a:noFill/>
        </p:spPr>
        <p:txBody>
          <a:bodyPr wrap="square" lIns="0" rIns="0" tIns="0" bIns="0" anchor="t">
            <a:spAutoFit/>
          </a:bodyPr>
          <a:lstStyle/>
          <a:p>
            <a:pPr algn="r">
              <a:spcBef>
                <a:spcPts val="0"/>
              </a:spcBef>
              <a:spcAft>
                <a:spcPts val="0"/>
              </a:spcAft>
            </a:pPr>
            <a:r>
              <a:rPr sz="1350" b="1" i="0">
                <a:solidFill>
                  <a:srgbClr val="212529"/>
                </a:solidFill>
                <a:latin typeface="Trebuchet MS"/>
              </a:rPr>
              <a:t>400 €</a:t>
            </a:r>
          </a:p>
        </p:txBody>
      </p:sp>
      <p:sp>
        <p:nvSpPr>
          <p:cNvPr id="8" name="TextBox 7"/>
          <p:cNvSpPr txBox="1"/>
          <p:nvPr/>
        </p:nvSpPr>
        <p:spPr>
          <a:xfrm>
            <a:off x="914400" y="2761488"/>
            <a:ext cx="4114800" cy="365760"/>
          </a:xfrm>
          <a:prstGeom prst="rect">
            <a:avLst/>
          </a:prstGeom>
          <a:noFill/>
        </p:spPr>
        <p:txBody>
          <a:bodyPr wrap="square" lIns="0" rIns="0" tIns="0" bIns="0" anchor="t">
            <a:spAutoFit/>
          </a:bodyPr>
          <a:lstStyle/>
          <a:p>
            <a:pPr algn="l">
              <a:spcBef>
                <a:spcPts val="0"/>
              </a:spcBef>
              <a:spcAft>
                <a:spcPts val="0"/>
              </a:spcAft>
            </a:pPr>
            <a:r>
              <a:rPr sz="1300" b="0" i="0">
                <a:solidFill>
                  <a:srgbClr val="212529"/>
                </a:solidFill>
                <a:latin typeface="Trebuchet MS"/>
              </a:rPr>
              <a:t>2 agents (800 € chacun)</a:t>
            </a:r>
          </a:p>
        </p:txBody>
      </p:sp>
      <p:sp>
        <p:nvSpPr>
          <p:cNvPr id="9" name="TextBox 8"/>
          <p:cNvSpPr txBox="1"/>
          <p:nvPr/>
        </p:nvSpPr>
        <p:spPr>
          <a:xfrm>
            <a:off x="4846320" y="2761488"/>
            <a:ext cx="1783080" cy="365760"/>
          </a:xfrm>
          <a:prstGeom prst="rect">
            <a:avLst/>
          </a:prstGeom>
          <a:noFill/>
        </p:spPr>
        <p:txBody>
          <a:bodyPr wrap="square" lIns="0" rIns="0" tIns="0" bIns="0" anchor="t">
            <a:spAutoFit/>
          </a:bodyPr>
          <a:lstStyle/>
          <a:p>
            <a:pPr algn="r">
              <a:spcBef>
                <a:spcPts val="0"/>
              </a:spcBef>
              <a:spcAft>
                <a:spcPts val="0"/>
              </a:spcAft>
            </a:pPr>
            <a:r>
              <a:rPr sz="1350" b="1" i="0">
                <a:solidFill>
                  <a:srgbClr val="212529"/>
                </a:solidFill>
                <a:latin typeface="Trebuchet MS"/>
              </a:rPr>
              <a:t>1 600 €</a:t>
            </a:r>
          </a:p>
        </p:txBody>
      </p:sp>
      <p:sp>
        <p:nvSpPr>
          <p:cNvPr id="10" name="TextBox 9"/>
          <p:cNvSpPr txBox="1"/>
          <p:nvPr/>
        </p:nvSpPr>
        <p:spPr>
          <a:xfrm>
            <a:off x="914400" y="3328416"/>
            <a:ext cx="4114800" cy="365760"/>
          </a:xfrm>
          <a:prstGeom prst="rect">
            <a:avLst/>
          </a:prstGeom>
          <a:noFill/>
        </p:spPr>
        <p:txBody>
          <a:bodyPr wrap="square" lIns="0" rIns="0" tIns="0" bIns="0" anchor="t">
            <a:spAutoFit/>
          </a:bodyPr>
          <a:lstStyle/>
          <a:p>
            <a:pPr algn="l">
              <a:spcBef>
                <a:spcPts val="0"/>
              </a:spcBef>
              <a:spcAft>
                <a:spcPts val="0"/>
              </a:spcAft>
            </a:pPr>
            <a:r>
              <a:rPr sz="1300" b="0" i="0">
                <a:solidFill>
                  <a:srgbClr val="212529"/>
                </a:solidFill>
                <a:latin typeface="Trebuchet MS"/>
              </a:rPr>
              <a:t>Formation (1 session)</a:t>
            </a:r>
          </a:p>
        </p:txBody>
      </p:sp>
      <p:sp>
        <p:nvSpPr>
          <p:cNvPr id="11" name="TextBox 10"/>
          <p:cNvSpPr txBox="1"/>
          <p:nvPr/>
        </p:nvSpPr>
        <p:spPr>
          <a:xfrm>
            <a:off x="4846320" y="3328416"/>
            <a:ext cx="1783080" cy="365760"/>
          </a:xfrm>
          <a:prstGeom prst="rect">
            <a:avLst/>
          </a:prstGeom>
          <a:noFill/>
        </p:spPr>
        <p:txBody>
          <a:bodyPr wrap="square" lIns="0" rIns="0" tIns="0" bIns="0" anchor="t">
            <a:spAutoFit/>
          </a:bodyPr>
          <a:lstStyle/>
          <a:p>
            <a:pPr algn="r">
              <a:spcBef>
                <a:spcPts val="0"/>
              </a:spcBef>
              <a:spcAft>
                <a:spcPts val="0"/>
              </a:spcAft>
            </a:pPr>
            <a:r>
              <a:rPr sz="1350" b="1" i="0">
                <a:solidFill>
                  <a:srgbClr val="212529"/>
                </a:solidFill>
                <a:latin typeface="Trebuchet MS"/>
              </a:rPr>
              <a:t>1 500 €</a:t>
            </a:r>
          </a:p>
        </p:txBody>
      </p:sp>
      <p:sp>
        <p:nvSpPr>
          <p:cNvPr id="12" name="TextBox 11"/>
          <p:cNvSpPr txBox="1"/>
          <p:nvPr/>
        </p:nvSpPr>
        <p:spPr>
          <a:xfrm>
            <a:off x="914400" y="3986783"/>
            <a:ext cx="4114800" cy="411480"/>
          </a:xfrm>
          <a:prstGeom prst="rect">
            <a:avLst/>
          </a:prstGeom>
          <a:noFill/>
        </p:spPr>
        <p:txBody>
          <a:bodyPr wrap="square" lIns="0" rIns="0" tIns="0" bIns="0" anchor="t">
            <a:spAutoFit/>
          </a:bodyPr>
          <a:lstStyle/>
          <a:p>
            <a:pPr algn="l">
              <a:spcBef>
                <a:spcPts val="0"/>
              </a:spcBef>
              <a:spcAft>
                <a:spcPts val="0"/>
              </a:spcAft>
            </a:pPr>
            <a:r>
              <a:rPr sz="1450" b="1" i="0">
                <a:solidFill>
                  <a:srgbClr val="BA131A"/>
                </a:solidFill>
                <a:latin typeface="Trebuchet MS"/>
              </a:rPr>
              <a:t>Setup (une seule fois)</a:t>
            </a:r>
          </a:p>
        </p:txBody>
      </p:sp>
      <p:sp>
        <p:nvSpPr>
          <p:cNvPr id="13" name="TextBox 12"/>
          <p:cNvSpPr txBox="1"/>
          <p:nvPr/>
        </p:nvSpPr>
        <p:spPr>
          <a:xfrm>
            <a:off x="4572000" y="3986783"/>
            <a:ext cx="2057400" cy="411480"/>
          </a:xfrm>
          <a:prstGeom prst="rect">
            <a:avLst/>
          </a:prstGeom>
          <a:noFill/>
        </p:spPr>
        <p:txBody>
          <a:bodyPr wrap="square" lIns="0" rIns="0" tIns="0" bIns="0" anchor="t">
            <a:spAutoFit/>
          </a:bodyPr>
          <a:lstStyle/>
          <a:p>
            <a:pPr algn="r">
              <a:spcBef>
                <a:spcPts val="0"/>
              </a:spcBef>
              <a:spcAft>
                <a:spcPts val="0"/>
              </a:spcAft>
            </a:pPr>
            <a:r>
              <a:rPr sz="1550" b="1" i="0">
                <a:solidFill>
                  <a:srgbClr val="BA131A"/>
                </a:solidFill>
                <a:latin typeface="Trebuchet MS"/>
              </a:rPr>
              <a:t>3 500 € HT</a:t>
            </a:r>
          </a:p>
        </p:txBody>
      </p:sp>
      <p:sp>
        <p:nvSpPr>
          <p:cNvPr id="14" name="Rounded Rectangle 13"/>
          <p:cNvSpPr/>
          <p:nvPr/>
        </p:nvSpPr>
        <p:spPr>
          <a:xfrm>
            <a:off x="7178040" y="1874519"/>
            <a:ext cx="4462272" cy="3200400"/>
          </a:xfrm>
          <a:prstGeom prst="roundRect">
            <a:avLst>
              <a:gd name="adj" fmla="val 5000"/>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331720"/>
            <a:ext cx="3931920" cy="1097280"/>
          </a:xfrm>
          <a:prstGeom prst="rect">
            <a:avLst/>
          </a:prstGeom>
          <a:noFill/>
        </p:spPr>
        <p:txBody>
          <a:bodyPr wrap="square" lIns="0" rIns="0" tIns="0" bIns="0" anchor="t">
            <a:spAutoFit/>
          </a:bodyPr>
          <a:lstStyle/>
          <a:p>
            <a:pPr algn="ctr">
              <a:spcBef>
                <a:spcPts val="0"/>
              </a:spcBef>
              <a:spcAft>
                <a:spcPts val="0"/>
              </a:spcAft>
            </a:pPr>
            <a:r>
              <a:rPr sz="3200" b="1" i="0">
                <a:solidFill>
                  <a:srgbClr val="FFFFFF"/>
                </a:solidFill>
                <a:latin typeface="Trebuchet MS"/>
              </a:rPr>
              <a:t>3 500 € HT</a:t>
            </a:r>
          </a:p>
          <a:p>
            <a:pPr algn="ctr">
              <a:spcBef>
                <a:spcPts val="300"/>
              </a:spcBef>
              <a:spcAft>
                <a:spcPts val="0"/>
              </a:spcAft>
            </a:pPr>
            <a:r>
              <a:rPr sz="1300" b="0" i="0">
                <a:solidFill>
                  <a:srgbClr val="FFFFFF"/>
                </a:solidFill>
                <a:latin typeface="Trebuchet MS"/>
              </a:rPr>
              <a:t>à la mise en place</a:t>
            </a:r>
          </a:p>
        </p:txBody>
      </p:sp>
      <p:sp>
        <p:nvSpPr>
          <p:cNvPr id="16" name="TextBox 15"/>
          <p:cNvSpPr txBox="1"/>
          <p:nvPr/>
        </p:nvSpPr>
        <p:spPr>
          <a:xfrm>
            <a:off x="7452360" y="3703320"/>
            <a:ext cx="3931920" cy="1097280"/>
          </a:xfrm>
          <a:prstGeom prst="rect">
            <a:avLst/>
          </a:prstGeom>
          <a:noFill/>
        </p:spPr>
        <p:txBody>
          <a:bodyPr wrap="square" lIns="0" rIns="0" tIns="0" bIns="0" anchor="t">
            <a:spAutoFit/>
          </a:bodyPr>
          <a:lstStyle/>
          <a:p>
            <a:pPr algn="ctr">
              <a:spcBef>
                <a:spcPts val="0"/>
              </a:spcBef>
              <a:spcAft>
                <a:spcPts val="0"/>
              </a:spcAft>
            </a:pPr>
            <a:r>
              <a:rPr sz="2000" b="1" i="0">
                <a:solidFill>
                  <a:srgbClr val="FFFFFF"/>
                </a:solidFill>
                <a:latin typeface="Trebuchet MS"/>
              </a:rPr>
              <a:t>puis 300 € HT / mois</a:t>
            </a:r>
          </a:p>
          <a:p>
            <a:pPr algn="ctr">
              <a:spcBef>
                <a:spcPts val="300"/>
              </a:spcBef>
              <a:spcAft>
                <a:spcPts val="0"/>
              </a:spcAft>
            </a:pPr>
            <a:r>
              <a:rPr sz="1200" b="0" i="0">
                <a:solidFill>
                  <a:srgbClr val="FFFFFF"/>
                </a:solidFill>
                <a:latin typeface="Trebuchet MS"/>
              </a:rPr>
              <a:t>maintenance, 3 heures de consultant incluses</a:t>
            </a:r>
          </a:p>
        </p:txBody>
      </p:sp>
      <p:sp>
        <p:nvSpPr>
          <p:cNvPr id="17" name="TextBox 16"/>
          <p:cNvSpPr txBox="1"/>
          <p:nvPr/>
        </p:nvSpPr>
        <p:spPr>
          <a:xfrm>
            <a:off x="548640" y="5349240"/>
            <a:ext cx="11091672" cy="640080"/>
          </a:xfrm>
          <a:prstGeom prst="rect">
            <a:avLst/>
          </a:prstGeom>
          <a:noFill/>
        </p:spPr>
        <p:txBody>
          <a:bodyPr wrap="square" lIns="0" rIns="0" tIns="0" bIns="0" anchor="t">
            <a:spAutoFit/>
          </a:bodyPr>
          <a:lstStyle/>
          <a:p>
            <a:pPr algn="ctr">
              <a:spcBef>
                <a:spcPts val="0"/>
              </a:spcBef>
              <a:spcAft>
                <a:spcPts val="0"/>
              </a:spcAft>
            </a:pPr>
            <a:r>
              <a:rPr sz="1200" b="0" i="1">
                <a:solidFill>
                  <a:srgbClr val="8F8F8F"/>
                </a:solidFill>
                <a:latin typeface="Trebuchet MS"/>
              </a:rPr>
              <a:t>Licence du moteur IA à votre charge · Sans engagement de durée · Prix en € HT.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82880" cy="182880"/>
          </a:xfrm>
          <a:prstGeom prst="rect">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789920" cy="822960"/>
          </a:xfrm>
          <a:prstGeom prst="rect">
            <a:avLst/>
          </a:prstGeom>
          <a:noFill/>
        </p:spPr>
        <p:txBody>
          <a:bodyPr wrap="square" lIns="0" rIns="0" tIns="0" bIns="0" anchor="t">
            <a:spAutoFit/>
          </a:bodyPr>
          <a:lstStyle/>
          <a:p>
            <a:pPr algn="l">
              <a:spcBef>
                <a:spcPts val="0"/>
              </a:spcBef>
              <a:spcAft>
                <a:spcPts val="0"/>
              </a:spcAft>
            </a:pPr>
            <a:r>
              <a:rPr sz="3000" b="1" i="0">
                <a:solidFill>
                  <a:srgbClr val="BA131A"/>
                </a:solidFill>
                <a:latin typeface="Trebuchet MS"/>
              </a:rPr>
              <a:t>On démarre en 2 à 3 semaines</a:t>
            </a:r>
          </a:p>
        </p:txBody>
      </p:sp>
      <p:sp>
        <p:nvSpPr>
          <p:cNvPr id="4" name="TextBox 3"/>
          <p:cNvSpPr txBox="1"/>
          <p:nvPr/>
        </p:nvSpPr>
        <p:spPr>
          <a:xfrm>
            <a:off x="868680" y="1188720"/>
            <a:ext cx="10789920" cy="502920"/>
          </a:xfrm>
          <a:prstGeom prst="rect">
            <a:avLst/>
          </a:prstGeom>
          <a:noFill/>
        </p:spPr>
        <p:txBody>
          <a:bodyPr wrap="square" lIns="0" rIns="0" tIns="0" bIns="0" anchor="t">
            <a:spAutoFit/>
          </a:bodyPr>
          <a:lstStyle/>
          <a:p>
            <a:pPr algn="l">
              <a:spcBef>
                <a:spcPts val="0"/>
              </a:spcBef>
              <a:spcAft>
                <a:spcPts val="0"/>
              </a:spcAft>
            </a:pPr>
            <a:r>
              <a:rPr sz="1500" b="0" i="0">
                <a:solidFill>
                  <a:srgbClr val="212529"/>
                </a:solidFill>
                <a:latin typeface="Trebuchet MS"/>
              </a:rPr>
              <a:t>Un déploiement simple et balisé, du choix des agents à la formation de vos équipes.</a:t>
            </a:r>
          </a:p>
        </p:txBody>
      </p:sp>
      <p:sp>
        <p:nvSpPr>
          <p:cNvPr id="5" name="Rounded Rectangle 4"/>
          <p:cNvSpPr/>
          <p:nvPr/>
        </p:nvSpPr>
        <p:spPr>
          <a:xfrm>
            <a:off x="548640" y="2148840"/>
            <a:ext cx="2560320" cy="25146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27048" y="2441448"/>
            <a:ext cx="603504" cy="603504"/>
          </a:xfrm>
          <a:prstGeom prst="ellipse">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27048" y="2441448"/>
            <a:ext cx="603504" cy="603504"/>
          </a:xfrm>
          <a:prstGeom prst="rect">
            <a:avLst/>
          </a:prstGeom>
          <a:noFill/>
        </p:spPr>
        <p:txBody>
          <a:bodyPr wrap="square" lIns="0" rIns="0" tIns="0" bIns="0" anchor="ctr">
            <a:spAutoFit/>
          </a:bodyPr>
          <a:lstStyle/>
          <a:p>
            <a:pPr algn="ctr">
              <a:spcBef>
                <a:spcPts val="0"/>
              </a:spcBef>
              <a:spcAft>
                <a:spcPts val="0"/>
              </a:spcAft>
            </a:pPr>
            <a:r>
              <a:rPr sz="2000" b="1" i="0">
                <a:solidFill>
                  <a:srgbClr val="FFFFFF"/>
                </a:solidFill>
                <a:latin typeface="Trebuchet MS"/>
              </a:rPr>
              <a:t>1</a:t>
            </a:r>
          </a:p>
        </p:txBody>
      </p:sp>
      <p:sp>
        <p:nvSpPr>
          <p:cNvPr id="8" name="TextBox 7"/>
          <p:cNvSpPr txBox="1"/>
          <p:nvPr/>
        </p:nvSpPr>
        <p:spPr>
          <a:xfrm>
            <a:off x="713232" y="3246120"/>
            <a:ext cx="2231136" cy="548640"/>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BA131A"/>
                </a:solidFill>
                <a:latin typeface="Trebuchet MS"/>
              </a:rPr>
              <a:t>Choix des agents</a:t>
            </a:r>
          </a:p>
        </p:txBody>
      </p:sp>
      <p:sp>
        <p:nvSpPr>
          <p:cNvPr id="9" name="TextBox 8"/>
          <p:cNvSpPr txBox="1"/>
          <p:nvPr/>
        </p:nvSpPr>
        <p:spPr>
          <a:xfrm>
            <a:off x="749808" y="3813048"/>
            <a:ext cx="2157984" cy="777240"/>
          </a:xfrm>
          <a:prstGeom prst="rect">
            <a:avLst/>
          </a:prstGeom>
          <a:noFill/>
        </p:spPr>
        <p:txBody>
          <a:bodyPr wrap="square" lIns="0" rIns="0" tIns="0" bIns="0" anchor="t">
            <a:spAutoFit/>
          </a:bodyPr>
          <a:lstStyle/>
          <a:p>
            <a:pPr algn="ctr">
              <a:lnSpc>
                <a:spcPct val="110000"/>
              </a:lnSpc>
              <a:spcBef>
                <a:spcPts val="0"/>
              </a:spcBef>
              <a:spcAft>
                <a:spcPts val="0"/>
              </a:spcAft>
            </a:pPr>
            <a:r>
              <a:rPr sz="1150" b="0" i="0">
                <a:solidFill>
                  <a:srgbClr val="212529"/>
                </a:solidFill>
                <a:latin typeface="Trebuchet MS"/>
              </a:rPr>
              <a:t>On sélectionne le ou les agents prioritaires.</a:t>
            </a:r>
          </a:p>
        </p:txBody>
      </p:sp>
      <p:sp>
        <p:nvSpPr>
          <p:cNvPr id="10" name="Rounded Rectangle 9"/>
          <p:cNvSpPr/>
          <p:nvPr/>
        </p:nvSpPr>
        <p:spPr>
          <a:xfrm>
            <a:off x="3392424" y="2148840"/>
            <a:ext cx="2560320" cy="25146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70831" y="2441448"/>
            <a:ext cx="603504" cy="603504"/>
          </a:xfrm>
          <a:prstGeom prst="ellipse">
            <a:avLst/>
          </a:prstGeom>
          <a:solidFill>
            <a:srgbClr val="714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1" y="2441448"/>
            <a:ext cx="603504" cy="603504"/>
          </a:xfrm>
          <a:prstGeom prst="rect">
            <a:avLst/>
          </a:prstGeom>
          <a:noFill/>
        </p:spPr>
        <p:txBody>
          <a:bodyPr wrap="square" lIns="0" rIns="0" tIns="0" bIns="0" anchor="ctr">
            <a:spAutoFit/>
          </a:bodyPr>
          <a:lstStyle/>
          <a:p>
            <a:pPr algn="ctr">
              <a:spcBef>
                <a:spcPts val="0"/>
              </a:spcBef>
              <a:spcAft>
                <a:spcPts val="0"/>
              </a:spcAft>
            </a:pPr>
            <a:r>
              <a:rPr sz="2000" b="1" i="0">
                <a:solidFill>
                  <a:srgbClr val="FFFFFF"/>
                </a:solidFill>
                <a:latin typeface="Trebuchet MS"/>
              </a:rPr>
              <a:t>2</a:t>
            </a:r>
          </a:p>
        </p:txBody>
      </p:sp>
      <p:sp>
        <p:nvSpPr>
          <p:cNvPr id="13" name="TextBox 12"/>
          <p:cNvSpPr txBox="1"/>
          <p:nvPr/>
        </p:nvSpPr>
        <p:spPr>
          <a:xfrm>
            <a:off x="3557016" y="3246120"/>
            <a:ext cx="2231136" cy="548640"/>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714B67"/>
                </a:solidFill>
                <a:latin typeface="Trebuchet MS"/>
              </a:rPr>
              <a:t>Interviews et documentation</a:t>
            </a:r>
          </a:p>
        </p:txBody>
      </p:sp>
      <p:sp>
        <p:nvSpPr>
          <p:cNvPr id="14" name="TextBox 13"/>
          <p:cNvSpPr txBox="1"/>
          <p:nvPr/>
        </p:nvSpPr>
        <p:spPr>
          <a:xfrm>
            <a:off x="3593592" y="3813048"/>
            <a:ext cx="2157984" cy="777240"/>
          </a:xfrm>
          <a:prstGeom prst="rect">
            <a:avLst/>
          </a:prstGeom>
          <a:noFill/>
        </p:spPr>
        <p:txBody>
          <a:bodyPr wrap="square" lIns="0" rIns="0" tIns="0" bIns="0" anchor="t">
            <a:spAutoFit/>
          </a:bodyPr>
          <a:lstStyle/>
          <a:p>
            <a:pPr algn="ctr">
              <a:lnSpc>
                <a:spcPct val="110000"/>
              </a:lnSpc>
              <a:spcBef>
                <a:spcPts val="0"/>
              </a:spcBef>
              <a:spcAft>
                <a:spcPts val="0"/>
              </a:spcAft>
            </a:pPr>
            <a:r>
              <a:rPr sz="1150" b="0" i="0">
                <a:solidFill>
                  <a:srgbClr val="212529"/>
                </a:solidFill>
                <a:latin typeface="Trebuchet MS"/>
              </a:rPr>
              <a:t>On interroge vos utilisateurs clés et on récupère votre documentation.</a:t>
            </a:r>
          </a:p>
        </p:txBody>
      </p:sp>
      <p:sp>
        <p:nvSpPr>
          <p:cNvPr id="15" name="Rounded Rectangle 14"/>
          <p:cNvSpPr/>
          <p:nvPr/>
        </p:nvSpPr>
        <p:spPr>
          <a:xfrm>
            <a:off x="6236207" y="2148840"/>
            <a:ext cx="2560320" cy="25146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14615" y="2441448"/>
            <a:ext cx="603504" cy="603504"/>
          </a:xfrm>
          <a:prstGeom prst="ellipse">
            <a:avLst/>
          </a:prstGeom>
          <a:solidFill>
            <a:srgbClr val="CD5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14615" y="2441448"/>
            <a:ext cx="603504" cy="603504"/>
          </a:xfrm>
          <a:prstGeom prst="rect">
            <a:avLst/>
          </a:prstGeom>
          <a:noFill/>
        </p:spPr>
        <p:txBody>
          <a:bodyPr wrap="square" lIns="0" rIns="0" tIns="0" bIns="0" anchor="ctr">
            <a:spAutoFit/>
          </a:bodyPr>
          <a:lstStyle/>
          <a:p>
            <a:pPr algn="ctr">
              <a:spcBef>
                <a:spcPts val="0"/>
              </a:spcBef>
              <a:spcAft>
                <a:spcPts val="0"/>
              </a:spcAft>
            </a:pPr>
            <a:r>
              <a:rPr sz="2000" b="1" i="0">
                <a:solidFill>
                  <a:srgbClr val="FFFFFF"/>
                </a:solidFill>
                <a:latin typeface="Trebuchet MS"/>
              </a:rPr>
              <a:t>3</a:t>
            </a:r>
          </a:p>
        </p:txBody>
      </p:sp>
      <p:sp>
        <p:nvSpPr>
          <p:cNvPr id="18" name="TextBox 17"/>
          <p:cNvSpPr txBox="1"/>
          <p:nvPr/>
        </p:nvSpPr>
        <p:spPr>
          <a:xfrm>
            <a:off x="6400799" y="3246120"/>
            <a:ext cx="2231136" cy="548640"/>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CD5358"/>
                </a:solidFill>
                <a:latin typeface="Trebuchet MS"/>
              </a:rPr>
              <a:t>Mise en place</a:t>
            </a:r>
          </a:p>
        </p:txBody>
      </p:sp>
      <p:sp>
        <p:nvSpPr>
          <p:cNvPr id="19" name="TextBox 18"/>
          <p:cNvSpPr txBox="1"/>
          <p:nvPr/>
        </p:nvSpPr>
        <p:spPr>
          <a:xfrm>
            <a:off x="6437375" y="3813048"/>
            <a:ext cx="2157984" cy="777240"/>
          </a:xfrm>
          <a:prstGeom prst="rect">
            <a:avLst/>
          </a:prstGeom>
          <a:noFill/>
        </p:spPr>
        <p:txBody>
          <a:bodyPr wrap="square" lIns="0" rIns="0" tIns="0" bIns="0" anchor="t">
            <a:spAutoFit/>
          </a:bodyPr>
          <a:lstStyle/>
          <a:p>
            <a:pPr algn="ctr">
              <a:lnSpc>
                <a:spcPct val="110000"/>
              </a:lnSpc>
              <a:spcBef>
                <a:spcPts val="0"/>
              </a:spcBef>
              <a:spcAft>
                <a:spcPts val="0"/>
              </a:spcAft>
            </a:pPr>
            <a:r>
              <a:rPr sz="1150" b="0" i="0">
                <a:solidFill>
                  <a:srgbClr val="212529"/>
                </a:solidFill>
                <a:latin typeface="Trebuchet MS"/>
              </a:rPr>
              <a:t>On installe et on personnalise vos agents.</a:t>
            </a:r>
          </a:p>
        </p:txBody>
      </p:sp>
      <p:sp>
        <p:nvSpPr>
          <p:cNvPr id="20" name="Rounded Rectangle 19"/>
          <p:cNvSpPr/>
          <p:nvPr/>
        </p:nvSpPr>
        <p:spPr>
          <a:xfrm>
            <a:off x="9079992" y="2148840"/>
            <a:ext cx="2560320" cy="2514600"/>
          </a:xfrm>
          <a:prstGeom prst="roundRect">
            <a:avLst>
              <a:gd name="adj" fmla="val 6000"/>
            </a:avLst>
          </a:prstGeom>
          <a:solidFill>
            <a:srgbClr val="F4F5F6"/>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0" y="2441448"/>
            <a:ext cx="603504" cy="603504"/>
          </a:xfrm>
          <a:prstGeom prst="ellipse">
            <a:avLst/>
          </a:prstGeom>
          <a:solidFill>
            <a:srgbClr val="BA1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0" y="2441448"/>
            <a:ext cx="603504" cy="603504"/>
          </a:xfrm>
          <a:prstGeom prst="rect">
            <a:avLst/>
          </a:prstGeom>
          <a:noFill/>
        </p:spPr>
        <p:txBody>
          <a:bodyPr wrap="square" lIns="0" rIns="0" tIns="0" bIns="0" anchor="ctr">
            <a:spAutoFit/>
          </a:bodyPr>
          <a:lstStyle/>
          <a:p>
            <a:pPr algn="ctr">
              <a:spcBef>
                <a:spcPts val="0"/>
              </a:spcBef>
              <a:spcAft>
                <a:spcPts val="0"/>
              </a:spcAft>
            </a:pPr>
            <a:r>
              <a:rPr sz="2000" b="1" i="0">
                <a:solidFill>
                  <a:srgbClr val="FFFFFF"/>
                </a:solidFill>
                <a:latin typeface="Trebuchet MS"/>
              </a:rPr>
              <a:t>4</a:t>
            </a:r>
          </a:p>
        </p:txBody>
      </p:sp>
      <p:sp>
        <p:nvSpPr>
          <p:cNvPr id="23" name="TextBox 22"/>
          <p:cNvSpPr txBox="1"/>
          <p:nvPr/>
        </p:nvSpPr>
        <p:spPr>
          <a:xfrm>
            <a:off x="9244584" y="3246120"/>
            <a:ext cx="2231136" cy="548640"/>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BA131A"/>
                </a:solidFill>
                <a:latin typeface="Trebuchet MS"/>
              </a:rPr>
              <a:t>Formation</a:t>
            </a:r>
          </a:p>
        </p:txBody>
      </p:sp>
      <p:sp>
        <p:nvSpPr>
          <p:cNvPr id="24" name="TextBox 23"/>
          <p:cNvSpPr txBox="1"/>
          <p:nvPr/>
        </p:nvSpPr>
        <p:spPr>
          <a:xfrm>
            <a:off x="9281160" y="3813048"/>
            <a:ext cx="2157984" cy="777240"/>
          </a:xfrm>
          <a:prstGeom prst="rect">
            <a:avLst/>
          </a:prstGeom>
          <a:noFill/>
        </p:spPr>
        <p:txBody>
          <a:bodyPr wrap="square" lIns="0" rIns="0" tIns="0" bIns="0" anchor="t">
            <a:spAutoFit/>
          </a:bodyPr>
          <a:lstStyle/>
          <a:p>
            <a:pPr algn="ctr">
              <a:lnSpc>
                <a:spcPct val="110000"/>
              </a:lnSpc>
              <a:spcBef>
                <a:spcPts val="0"/>
              </a:spcBef>
              <a:spcAft>
                <a:spcPts val="0"/>
              </a:spcAft>
            </a:pPr>
            <a:r>
              <a:rPr sz="1150" b="0" i="0">
                <a:solidFill>
                  <a:srgbClr val="212529"/>
                </a:solidFill>
                <a:latin typeface="Trebuchet MS"/>
              </a:rPr>
              <a:t>On forme vos équipes pour une prise en main immédiate.</a:t>
            </a:r>
          </a:p>
        </p:txBody>
      </p:sp>
      <p:sp>
        <p:nvSpPr>
          <p:cNvPr id="25" name="TextBox 24"/>
          <p:cNvSpPr txBox="1"/>
          <p:nvPr/>
        </p:nvSpPr>
        <p:spPr>
          <a:xfrm>
            <a:off x="548640" y="4983480"/>
            <a:ext cx="11091672" cy="548640"/>
          </a:xfrm>
          <a:prstGeom prst="rect">
            <a:avLst/>
          </a:prstGeom>
          <a:noFill/>
        </p:spPr>
        <p:txBody>
          <a:bodyPr wrap="square" lIns="0" rIns="0" tIns="0" bIns="0" anchor="t">
            <a:spAutoFit/>
          </a:bodyPr>
          <a:lstStyle/>
          <a:p>
            <a:pPr algn="ctr">
              <a:spcBef>
                <a:spcPts val="0"/>
              </a:spcBef>
              <a:spcAft>
                <a:spcPts val="0"/>
              </a:spcAft>
            </a:pPr>
            <a:r>
              <a:rPr sz="1700" b="1" i="0">
                <a:solidFill>
                  <a:srgbClr val="BA131A"/>
                </a:solidFill>
                <a:latin typeface="Trebuchet MS"/>
              </a:rPr>
              <a:t>Le tout en 2 à 3 semaines maximum.</a:t>
            </a:r>
          </a:p>
        </p:txBody>
      </p:sp>
      <p:sp>
        <p:nvSpPr>
          <p:cNvPr id="26" name="TextBox 25"/>
          <p:cNvSpPr txBox="1"/>
          <p:nvPr/>
        </p:nvSpPr>
        <p:spPr>
          <a:xfrm>
            <a:off x="548640" y="5852160"/>
            <a:ext cx="11091672" cy="502920"/>
          </a:xfrm>
          <a:prstGeom prst="rect">
            <a:avLst/>
          </a:prstGeom>
          <a:noFill/>
        </p:spPr>
        <p:txBody>
          <a:bodyPr wrap="square" lIns="0" rIns="0" tIns="0" bIns="0" anchor="t">
            <a:spAutoFit/>
          </a:bodyPr>
          <a:lstStyle/>
          <a:p>
            <a:pPr algn="ctr">
              <a:spcBef>
                <a:spcPts val="0"/>
              </a:spcBef>
              <a:spcAft>
                <a:spcPts val="0"/>
              </a:spcAft>
            </a:pPr>
            <a:r>
              <a:rPr sz="2000" b="1" i="0">
                <a:solidFill>
                  <a:srgbClr val="212529"/>
                </a:solidFill>
                <a:latin typeface="Trebuchet MS"/>
              </a:rPr>
              <a:t>Des questions ?</a:t>
            </a:r>
          </a:p>
        </p:txBody>
      </p:sp>
    </p:spTree>
  </p:cSld>
  <p:clrMapOvr>
    <a:masterClrMapping/>
  </p:clrMapOvr>
</p:sld>
</file>

<file path=ppt/theme/theme1.xml><?xml version="1.0" encoding="utf-8"?>
<a:theme xmlns:a="http://schemas.openxmlformats.org/drawingml/2006/main" name="Document Title">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Package-offers-presentation.pptx" id="{DA179CB5-3D95-4D9B-B140-73419198631A}" vid="{16EEC3C2-7280-426A-BD80-14B0677741BD}"/>
    </a:ext>
  </a:extLst>
</a:theme>
</file>

<file path=ppt/theme/theme2.xml><?xml version="1.0" encoding="utf-8"?>
<a:theme xmlns:a="http://schemas.openxmlformats.org/drawingml/2006/main" name="With Gradient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Package-offers-presentation.pptx" id="{DA179CB5-3D95-4D9B-B140-73419198631A}" vid="{C77303E1-1D94-425B-8F54-6821E0F88497}"/>
    </a:ext>
  </a:extLst>
</a:theme>
</file>

<file path=ppt/theme/theme3.xml><?xml version="1.0" encoding="utf-8"?>
<a:theme xmlns:a="http://schemas.openxmlformats.org/drawingml/2006/main" name="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Package-offers-presentation.pptx" id="{DA179CB5-3D95-4D9B-B140-73419198631A}" vid="{B614AFE1-0D34-4222-B67C-76A4D396F776}"/>
    </a:ext>
  </a:extLst>
</a:theme>
</file>

<file path=ppt/theme/theme4.xml><?xml version="1.0" encoding="utf-8"?>
<a:theme xmlns:a="http://schemas.openxmlformats.org/drawingml/2006/main" name="Free Designe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Package-offers-presentation.pptx" id="{DA179CB5-3D95-4D9B-B140-73419198631A}" vid="{26C40AEF-8AC9-4506-BBF8-73FD6BC7221D}"/>
    </a:ext>
  </a:extLst>
</a:theme>
</file>

<file path=ppt/theme/theme5.xml><?xml version="1.0" encoding="utf-8"?>
<a:theme xmlns:a="http://schemas.openxmlformats.org/drawingml/2006/main" name="1_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Package-offers-presentation.pptx" id="{DA179CB5-3D95-4D9B-B140-73419198631A}" vid="{AF43E333-640A-48B1-A292-74F095A48DDB}"/>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eate a new document." ma:contentTypeScope="" ma:versionID="c9937ef98236318e69590d406fe99e08">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31c0fbf82f8a5cbe3aebebb0a82ffded"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documentManagement>
</p:properties>
</file>

<file path=customXml/itemProps1.xml><?xml version="1.0" encoding="utf-8"?>
<ds:datastoreItem xmlns:ds="http://schemas.openxmlformats.org/officeDocument/2006/customXml" ds:itemID="{A1832656-1705-40D9-82F2-C54183C761D8}">
  <ds:schemaRefs>
    <ds:schemaRef ds:uri="http://schemas.microsoft.com/sharepoint/v3/contenttype/forms"/>
  </ds:schemaRefs>
</ds:datastoreItem>
</file>

<file path=customXml/itemProps2.xml><?xml version="1.0" encoding="utf-8"?>
<ds:datastoreItem xmlns:ds="http://schemas.openxmlformats.org/officeDocument/2006/customXml" ds:itemID="{D484AA90-1DA6-49E9-A6DA-2D65D73321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4ce469-5547-4c0a-a384-c2eccd8050e9"/>
    <ds:schemaRef ds:uri="224913b6-04fa-4134-94cc-857def7f27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1DB151-F652-465C-AD8B-EF6348C1E285}">
  <ds:schemaRefs>
    <ds:schemaRef ds:uri="1b4ce469-5547-4c0a-a384-c2eccd8050e9"/>
    <ds:schemaRef ds:uri="224913b6-04fa-4134-94cc-857def7f27c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FR-Package-offers-presentation</Template>
  <Application>Microsoft Office PowerPoint</Application>
  <PresentationFormat>Grand écran</PresentationFormat>
  <Slides>22</Slides>
  <Notes>22</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Raphaël MOLES - Captivea</dc:creator>
  <cp:lastModifiedBy>Sebastien Riss</cp:lastModifiedBy>
  <cp:revision>1</cp:revision>
  <dcterms:created xsi:type="dcterms:W3CDTF">2025-12-23T14:54:15Z</dcterms:created>
  <dcterms:modified xsi:type="dcterms:W3CDTF">2026-03-02T15:47:36Z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ies>
</file>