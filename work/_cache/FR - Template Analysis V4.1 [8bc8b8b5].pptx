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Override1.xml" ContentType="application/vnd.openxmlformats-officedocument.themeOverrid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6.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 id="2147483677" r:id="rId6"/>
    <p:sldMasterId id="2147483699" r:id="rId7"/>
    <p:sldMasterId id="2147483702" r:id="rId8"/>
    <p:sldMasterId id="2147483717" r:id="rId9"/>
    <p:sldMasterId id="2147483739" r:id="rId10"/>
    <p:sldMasterId id="2147483782" r:id="rId11"/>
    <p:sldMasterId id="2147483797" r:id="rId12"/>
  </p:sldMasterIdLst>
  <p:notesMasterIdLst>
    <p:notesMasterId r:id="rId174"/>
  </p:notesMasterIdLst>
  <p:sldIdLst>
    <p:sldId id="654" r:id="rId13"/>
    <p:sldId id="670" r:id="rId14"/>
    <p:sldId id="262" r:id="rId15"/>
    <p:sldId id="263" r:id="rId16"/>
    <p:sldId id="717" r:id="rId17"/>
    <p:sldId id="656" r:id="rId18"/>
    <p:sldId id="326" r:id="rId19"/>
    <p:sldId id="327" r:id="rId20"/>
    <p:sldId id="625" r:id="rId21"/>
    <p:sldId id="650" r:id="rId22"/>
    <p:sldId id="627" r:id="rId23"/>
    <p:sldId id="628" r:id="rId24"/>
    <p:sldId id="651" r:id="rId25"/>
    <p:sldId id="632" r:id="rId26"/>
    <p:sldId id="257" r:id="rId27"/>
    <p:sldId id="258" r:id="rId28"/>
    <p:sldId id="328" r:id="rId29"/>
    <p:sldId id="329" r:id="rId30"/>
    <p:sldId id="342" r:id="rId31"/>
    <p:sldId id="341" r:id="rId32"/>
    <p:sldId id="441" r:id="rId33"/>
    <p:sldId id="343" r:id="rId34"/>
    <p:sldId id="438" r:id="rId35"/>
    <p:sldId id="439" r:id="rId36"/>
    <p:sldId id="276" r:id="rId37"/>
    <p:sldId id="440" r:id="rId38"/>
    <p:sldId id="487" r:id="rId39"/>
    <p:sldId id="486" r:id="rId40"/>
    <p:sldId id="442" r:id="rId41"/>
    <p:sldId id="488" r:id="rId42"/>
    <p:sldId id="444" r:id="rId43"/>
    <p:sldId id="489" r:id="rId44"/>
    <p:sldId id="445" r:id="rId45"/>
    <p:sldId id="490" r:id="rId46"/>
    <p:sldId id="446" r:id="rId47"/>
    <p:sldId id="491" r:id="rId48"/>
    <p:sldId id="374" r:id="rId49"/>
    <p:sldId id="492" r:id="rId50"/>
    <p:sldId id="448" r:id="rId51"/>
    <p:sldId id="493" r:id="rId52"/>
    <p:sldId id="449" r:id="rId53"/>
    <p:sldId id="494" r:id="rId54"/>
    <p:sldId id="450" r:id="rId55"/>
    <p:sldId id="495" r:id="rId56"/>
    <p:sldId id="451" r:id="rId57"/>
    <p:sldId id="496" r:id="rId58"/>
    <p:sldId id="452" r:id="rId59"/>
    <p:sldId id="497" r:id="rId60"/>
    <p:sldId id="453" r:id="rId61"/>
    <p:sldId id="498" r:id="rId62"/>
    <p:sldId id="455" r:id="rId63"/>
    <p:sldId id="499" r:id="rId64"/>
    <p:sldId id="456" r:id="rId65"/>
    <p:sldId id="500" r:id="rId66"/>
    <p:sldId id="457" r:id="rId67"/>
    <p:sldId id="501" r:id="rId68"/>
    <p:sldId id="458" r:id="rId69"/>
    <p:sldId id="734" r:id="rId70"/>
    <p:sldId id="735" r:id="rId71"/>
    <p:sldId id="381" r:id="rId72"/>
    <p:sldId id="459" r:id="rId73"/>
    <p:sldId id="502" r:id="rId74"/>
    <p:sldId id="460" r:id="rId75"/>
    <p:sldId id="503" r:id="rId76"/>
    <p:sldId id="461" r:id="rId77"/>
    <p:sldId id="504" r:id="rId78"/>
    <p:sldId id="462" r:id="rId79"/>
    <p:sldId id="505" r:id="rId80"/>
    <p:sldId id="463" r:id="rId81"/>
    <p:sldId id="506" r:id="rId82"/>
    <p:sldId id="464" r:id="rId83"/>
    <p:sldId id="507" r:id="rId84"/>
    <p:sldId id="465" r:id="rId85"/>
    <p:sldId id="508" r:id="rId86"/>
    <p:sldId id="467" r:id="rId87"/>
    <p:sldId id="730" r:id="rId88"/>
    <p:sldId id="731" r:id="rId89"/>
    <p:sldId id="509" r:id="rId90"/>
    <p:sldId id="466" r:id="rId91"/>
    <p:sldId id="510" r:id="rId92"/>
    <p:sldId id="468" r:id="rId93"/>
    <p:sldId id="511" r:id="rId94"/>
    <p:sldId id="469" r:id="rId95"/>
    <p:sldId id="512" r:id="rId96"/>
    <p:sldId id="470" r:id="rId97"/>
    <p:sldId id="513" r:id="rId98"/>
    <p:sldId id="657" r:id="rId99"/>
    <p:sldId id="514" r:id="rId100"/>
    <p:sldId id="472" r:id="rId101"/>
    <p:sldId id="726" r:id="rId102"/>
    <p:sldId id="727" r:id="rId103"/>
    <p:sldId id="515" r:id="rId104"/>
    <p:sldId id="473" r:id="rId105"/>
    <p:sldId id="516" r:id="rId106"/>
    <p:sldId id="658" r:id="rId107"/>
    <p:sldId id="728" r:id="rId108"/>
    <p:sldId id="729" r:id="rId109"/>
    <p:sldId id="517" r:id="rId110"/>
    <p:sldId id="659" r:id="rId111"/>
    <p:sldId id="518" r:id="rId112"/>
    <p:sldId id="660" r:id="rId113"/>
    <p:sldId id="519" r:id="rId114"/>
    <p:sldId id="661" r:id="rId115"/>
    <p:sldId id="520" r:id="rId116"/>
    <p:sldId id="662" r:id="rId117"/>
    <p:sldId id="521" r:id="rId118"/>
    <p:sldId id="663" r:id="rId119"/>
    <p:sldId id="522" r:id="rId120"/>
    <p:sldId id="664" r:id="rId121"/>
    <p:sldId id="523" r:id="rId122"/>
    <p:sldId id="665" r:id="rId123"/>
    <p:sldId id="524" r:id="rId124"/>
    <p:sldId id="666" r:id="rId125"/>
    <p:sldId id="525" r:id="rId126"/>
    <p:sldId id="667" r:id="rId127"/>
    <p:sldId id="526" r:id="rId128"/>
    <p:sldId id="668" r:id="rId129"/>
    <p:sldId id="724" r:id="rId130"/>
    <p:sldId id="725" r:id="rId131"/>
    <p:sldId id="732" r:id="rId132"/>
    <p:sldId id="733" r:id="rId133"/>
    <p:sldId id="736" r:id="rId134"/>
    <p:sldId id="737" r:id="rId135"/>
    <p:sldId id="399" r:id="rId136"/>
    <p:sldId id="485" r:id="rId137"/>
    <p:sldId id="357" r:id="rId138"/>
    <p:sldId id="409" r:id="rId139"/>
    <p:sldId id="410" r:id="rId140"/>
    <p:sldId id="359" r:id="rId141"/>
    <p:sldId id="639" r:id="rId142"/>
    <p:sldId id="673" r:id="rId143"/>
    <p:sldId id="640" r:id="rId144"/>
    <p:sldId id="641" r:id="rId145"/>
    <p:sldId id="674" r:id="rId146"/>
    <p:sldId id="675" r:id="rId147"/>
    <p:sldId id="676" r:id="rId148"/>
    <p:sldId id="677" r:id="rId149"/>
    <p:sldId id="678" r:id="rId150"/>
    <p:sldId id="680" r:id="rId151"/>
    <p:sldId id="693" r:id="rId152"/>
    <p:sldId id="699" r:id="rId153"/>
    <p:sldId id="365" r:id="rId154"/>
    <p:sldId id="647" r:id="rId155"/>
    <p:sldId id="648" r:id="rId156"/>
    <p:sldId id="360" r:id="rId157"/>
    <p:sldId id="671" r:id="rId158"/>
    <p:sldId id="672" r:id="rId159"/>
    <p:sldId id="719" r:id="rId160"/>
    <p:sldId id="720" r:id="rId161"/>
    <p:sldId id="721" r:id="rId162"/>
    <p:sldId id="722" r:id="rId163"/>
    <p:sldId id="723" r:id="rId164"/>
    <p:sldId id="361" r:id="rId165"/>
    <p:sldId id="411" r:id="rId166"/>
    <p:sldId id="436" r:id="rId167"/>
    <p:sldId id="435" r:id="rId168"/>
    <p:sldId id="415" r:id="rId169"/>
    <p:sldId id="416" r:id="rId170"/>
    <p:sldId id="417" r:id="rId171"/>
    <p:sldId id="363" r:id="rId172"/>
    <p:sldId id="653" r:id="rId1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722E66-5432-43D2-84D1-5F80C86E69B8}">
          <p14:sldIdLst>
            <p14:sldId id="654"/>
            <p14:sldId id="670"/>
            <p14:sldId id="262"/>
            <p14:sldId id="263"/>
            <p14:sldId id="717"/>
            <p14:sldId id="656"/>
            <p14:sldId id="326"/>
            <p14:sldId id="327"/>
            <p14:sldId id="625"/>
            <p14:sldId id="650"/>
            <p14:sldId id="627"/>
            <p14:sldId id="628"/>
            <p14:sldId id="651"/>
            <p14:sldId id="632"/>
          </p14:sldIdLst>
        </p14:section>
        <p14:section name="Odoo" id="{AC95CEFD-62E8-4177-8DD7-A7B03549E75A}">
          <p14:sldIdLst>
            <p14:sldId id="257"/>
            <p14:sldId id="258"/>
          </p14:sldIdLst>
        </p14:section>
        <p14:section name="Needs &amp; solutions" id="{7CC81502-383B-4782-A9A2-21C4C1FA7291}">
          <p14:sldIdLst>
            <p14:sldId id="328"/>
            <p14:sldId id="329"/>
            <p14:sldId id="342"/>
            <p14:sldId id="341"/>
            <p14:sldId id="441"/>
            <p14:sldId id="343"/>
            <p14:sldId id="438"/>
            <p14:sldId id="439"/>
            <p14:sldId id="276"/>
            <p14:sldId id="440"/>
            <p14:sldId id="487"/>
            <p14:sldId id="486"/>
            <p14:sldId id="442"/>
            <p14:sldId id="488"/>
            <p14:sldId id="444"/>
            <p14:sldId id="489"/>
            <p14:sldId id="445"/>
            <p14:sldId id="490"/>
            <p14:sldId id="446"/>
            <p14:sldId id="491"/>
            <p14:sldId id="374"/>
            <p14:sldId id="492"/>
            <p14:sldId id="448"/>
            <p14:sldId id="493"/>
            <p14:sldId id="449"/>
            <p14:sldId id="494"/>
            <p14:sldId id="450"/>
            <p14:sldId id="495"/>
            <p14:sldId id="451"/>
            <p14:sldId id="496"/>
            <p14:sldId id="452"/>
            <p14:sldId id="497"/>
            <p14:sldId id="453"/>
            <p14:sldId id="498"/>
            <p14:sldId id="455"/>
            <p14:sldId id="499"/>
            <p14:sldId id="456"/>
            <p14:sldId id="500"/>
            <p14:sldId id="457"/>
            <p14:sldId id="501"/>
            <p14:sldId id="458"/>
            <p14:sldId id="734"/>
            <p14:sldId id="735"/>
            <p14:sldId id="381"/>
            <p14:sldId id="459"/>
            <p14:sldId id="502"/>
            <p14:sldId id="460"/>
            <p14:sldId id="503"/>
            <p14:sldId id="461"/>
            <p14:sldId id="504"/>
            <p14:sldId id="462"/>
            <p14:sldId id="505"/>
            <p14:sldId id="463"/>
            <p14:sldId id="506"/>
            <p14:sldId id="464"/>
            <p14:sldId id="507"/>
            <p14:sldId id="465"/>
            <p14:sldId id="508"/>
            <p14:sldId id="467"/>
            <p14:sldId id="730"/>
            <p14:sldId id="731"/>
            <p14:sldId id="509"/>
            <p14:sldId id="466"/>
            <p14:sldId id="510"/>
            <p14:sldId id="468"/>
            <p14:sldId id="511"/>
            <p14:sldId id="469"/>
            <p14:sldId id="512"/>
            <p14:sldId id="470"/>
            <p14:sldId id="513"/>
            <p14:sldId id="657"/>
            <p14:sldId id="514"/>
            <p14:sldId id="472"/>
            <p14:sldId id="726"/>
            <p14:sldId id="727"/>
            <p14:sldId id="515"/>
            <p14:sldId id="473"/>
            <p14:sldId id="516"/>
            <p14:sldId id="658"/>
            <p14:sldId id="728"/>
            <p14:sldId id="729"/>
            <p14:sldId id="517"/>
            <p14:sldId id="659"/>
            <p14:sldId id="518"/>
            <p14:sldId id="660"/>
            <p14:sldId id="519"/>
            <p14:sldId id="661"/>
            <p14:sldId id="520"/>
            <p14:sldId id="662"/>
            <p14:sldId id="521"/>
            <p14:sldId id="663"/>
            <p14:sldId id="522"/>
            <p14:sldId id="664"/>
            <p14:sldId id="523"/>
            <p14:sldId id="665"/>
            <p14:sldId id="524"/>
            <p14:sldId id="666"/>
            <p14:sldId id="525"/>
            <p14:sldId id="667"/>
            <p14:sldId id="526"/>
            <p14:sldId id="668"/>
            <p14:sldId id="724"/>
            <p14:sldId id="725"/>
            <p14:sldId id="732"/>
            <p14:sldId id="733"/>
            <p14:sldId id="736"/>
            <p14:sldId id="737"/>
            <p14:sldId id="399"/>
            <p14:sldId id="485"/>
            <p14:sldId id="357"/>
            <p14:sldId id="409"/>
            <p14:sldId id="410"/>
          </p14:sldIdLst>
        </p14:section>
        <p14:section name="Offre" id="{31716E6F-7BFF-4EB9-9E91-9AEACEC17923}">
          <p14:sldIdLst>
            <p14:sldId id="359"/>
            <p14:sldId id="639"/>
            <p14:sldId id="673"/>
            <p14:sldId id="640"/>
            <p14:sldId id="641"/>
            <p14:sldId id="674"/>
            <p14:sldId id="675"/>
            <p14:sldId id="676"/>
            <p14:sldId id="677"/>
            <p14:sldId id="678"/>
            <p14:sldId id="680"/>
            <p14:sldId id="693"/>
            <p14:sldId id="699"/>
          </p14:sldIdLst>
        </p14:section>
        <p14:section name="Kickoff projet" id="{25BD386A-D789-4C65-9280-47CD67761203}">
          <p14:sldIdLst>
            <p14:sldId id="365"/>
            <p14:sldId id="647"/>
            <p14:sldId id="648"/>
            <p14:sldId id="360"/>
            <p14:sldId id="671"/>
            <p14:sldId id="672"/>
            <p14:sldId id="719"/>
            <p14:sldId id="720"/>
            <p14:sldId id="721"/>
            <p14:sldId id="722"/>
            <p14:sldId id="723"/>
            <p14:sldId id="361"/>
            <p14:sldId id="411"/>
            <p14:sldId id="436"/>
            <p14:sldId id="435"/>
            <p14:sldId id="415"/>
            <p14:sldId id="416"/>
            <p14:sldId id="417"/>
          </p14:sldIdLst>
        </p14:section>
        <p14:section name="Conclude" id="{B4A8431D-2A82-456B-BF74-38B079CE256F}">
          <p14:sldIdLst>
            <p14:sldId id="363"/>
            <p14:sldId id="653"/>
          </p14:sldIdLst>
        </p14:section>
      </p14:sectionLst>
    </p:ext>
    <p:ext uri="{EFAFB233-063F-42B5-8137-9DF3F51BA10A}">
      <p15:sldGuideLst xmlns:p15="http://schemas.microsoft.com/office/powerpoint/2012/main">
        <p15:guide id="4" pos="166" userDrawn="1">
          <p15:clr>
            <a:srgbClr val="A4A3A4"/>
          </p15:clr>
        </p15:guide>
        <p15:guide id="5" pos="4158" userDrawn="1">
          <p15:clr>
            <a:srgbClr val="A4A3A4"/>
          </p15:clr>
        </p15:guide>
        <p15:guide id="6" orient="horz" pos="2387" userDrawn="1">
          <p15:clr>
            <a:srgbClr val="A4A3A4"/>
          </p15:clr>
        </p15:guide>
        <p15:guide id="7" orient="horz" pos="1344" userDrawn="1">
          <p15:clr>
            <a:srgbClr val="A4A3A4"/>
          </p15:clr>
        </p15:guide>
        <p15:guide id="9" orient="horz" pos="4110" userDrawn="1">
          <p15:clr>
            <a:srgbClr val="A4A3A4"/>
          </p15:clr>
        </p15:guide>
        <p15:guide id="10" orient="horz" pos="3521" userDrawn="1">
          <p15:clr>
            <a:srgbClr val="A4A3A4"/>
          </p15:clr>
        </p15:guide>
        <p15:guide id="11" orient="horz" pos="15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1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FD0AB8-0050-4FE9-973E-8D89056D611B}" v="75" dt="2026-04-07T08:51:37.3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91" autoAdjust="0"/>
    <p:restoredTop sz="87288" autoAdjust="0"/>
  </p:normalViewPr>
  <p:slideViewPr>
    <p:cSldViewPr snapToGrid="0" showGuides="1">
      <p:cViewPr varScale="1">
        <p:scale>
          <a:sx n="72" d="100"/>
          <a:sy n="72" d="100"/>
        </p:scale>
        <p:origin x="821" y="58"/>
      </p:cViewPr>
      <p:guideLst>
        <p:guide pos="166"/>
        <p:guide pos="4158"/>
        <p:guide orient="horz" pos="2387"/>
        <p:guide orient="horz" pos="1344"/>
        <p:guide orient="horz" pos="4110"/>
        <p:guide orient="horz" pos="3521"/>
        <p:guide orient="horz" pos="152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5.xml"/><Relationship Id="rId21" Type="http://schemas.openxmlformats.org/officeDocument/2006/relationships/slide" Target="slides/slide9.xml"/><Relationship Id="rId42" Type="http://schemas.openxmlformats.org/officeDocument/2006/relationships/slide" Target="slides/slide30.xml"/><Relationship Id="rId63" Type="http://schemas.openxmlformats.org/officeDocument/2006/relationships/slide" Target="slides/slide51.xml"/><Relationship Id="rId84" Type="http://schemas.openxmlformats.org/officeDocument/2006/relationships/slide" Target="slides/slide72.xml"/><Relationship Id="rId138" Type="http://schemas.openxmlformats.org/officeDocument/2006/relationships/slide" Target="slides/slide126.xml"/><Relationship Id="rId159" Type="http://schemas.openxmlformats.org/officeDocument/2006/relationships/slide" Target="slides/slide147.xml"/><Relationship Id="rId170" Type="http://schemas.openxmlformats.org/officeDocument/2006/relationships/slide" Target="slides/slide158.xml"/><Relationship Id="rId107" Type="http://schemas.openxmlformats.org/officeDocument/2006/relationships/slide" Target="slides/slide95.xml"/><Relationship Id="rId11" Type="http://schemas.openxmlformats.org/officeDocument/2006/relationships/slideMaster" Target="slideMasters/slideMaster8.xml"/><Relationship Id="rId32" Type="http://schemas.openxmlformats.org/officeDocument/2006/relationships/slide" Target="slides/slide20.xml"/><Relationship Id="rId53" Type="http://schemas.openxmlformats.org/officeDocument/2006/relationships/slide" Target="slides/slide41.xml"/><Relationship Id="rId74" Type="http://schemas.openxmlformats.org/officeDocument/2006/relationships/slide" Target="slides/slide62.xml"/><Relationship Id="rId128" Type="http://schemas.openxmlformats.org/officeDocument/2006/relationships/slide" Target="slides/slide116.xml"/><Relationship Id="rId149" Type="http://schemas.openxmlformats.org/officeDocument/2006/relationships/slide" Target="slides/slide137.xml"/><Relationship Id="rId5" Type="http://schemas.openxmlformats.org/officeDocument/2006/relationships/slideMaster" Target="slideMasters/slideMaster2.xml"/><Relationship Id="rId95" Type="http://schemas.openxmlformats.org/officeDocument/2006/relationships/slide" Target="slides/slide83.xml"/><Relationship Id="rId160" Type="http://schemas.openxmlformats.org/officeDocument/2006/relationships/slide" Target="slides/slide148.xml"/><Relationship Id="rId22" Type="http://schemas.openxmlformats.org/officeDocument/2006/relationships/slide" Target="slides/slide10.xml"/><Relationship Id="rId43" Type="http://schemas.openxmlformats.org/officeDocument/2006/relationships/slide" Target="slides/slide31.xml"/><Relationship Id="rId64" Type="http://schemas.openxmlformats.org/officeDocument/2006/relationships/slide" Target="slides/slide52.xml"/><Relationship Id="rId118" Type="http://schemas.openxmlformats.org/officeDocument/2006/relationships/slide" Target="slides/slide106.xml"/><Relationship Id="rId139" Type="http://schemas.openxmlformats.org/officeDocument/2006/relationships/slide" Target="slides/slide127.xml"/><Relationship Id="rId85" Type="http://schemas.openxmlformats.org/officeDocument/2006/relationships/slide" Target="slides/slide73.xml"/><Relationship Id="rId150" Type="http://schemas.openxmlformats.org/officeDocument/2006/relationships/slide" Target="slides/slide138.xml"/><Relationship Id="rId171" Type="http://schemas.openxmlformats.org/officeDocument/2006/relationships/slide" Target="slides/slide159.xml"/><Relationship Id="rId12" Type="http://schemas.openxmlformats.org/officeDocument/2006/relationships/slideMaster" Target="slideMasters/slideMaster9.xml"/><Relationship Id="rId33" Type="http://schemas.openxmlformats.org/officeDocument/2006/relationships/slide" Target="slides/slide21.xml"/><Relationship Id="rId108" Type="http://schemas.openxmlformats.org/officeDocument/2006/relationships/slide" Target="slides/slide96.xml"/><Relationship Id="rId129" Type="http://schemas.openxmlformats.org/officeDocument/2006/relationships/slide" Target="slides/slide117.xml"/><Relationship Id="rId54" Type="http://schemas.openxmlformats.org/officeDocument/2006/relationships/slide" Target="slides/slide42.xml"/><Relationship Id="rId75" Type="http://schemas.openxmlformats.org/officeDocument/2006/relationships/slide" Target="slides/slide63.xml"/><Relationship Id="rId96" Type="http://schemas.openxmlformats.org/officeDocument/2006/relationships/slide" Target="slides/slide84.xml"/><Relationship Id="rId140" Type="http://schemas.openxmlformats.org/officeDocument/2006/relationships/slide" Target="slides/slide128.xml"/><Relationship Id="rId161" Type="http://schemas.openxmlformats.org/officeDocument/2006/relationships/slide" Target="slides/slide149.xml"/><Relationship Id="rId6" Type="http://schemas.openxmlformats.org/officeDocument/2006/relationships/slideMaster" Target="slideMasters/slideMaster3.xml"/><Relationship Id="rId23" Type="http://schemas.openxmlformats.org/officeDocument/2006/relationships/slide" Target="slides/slide1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slide" Target="slides/slide102.xml"/><Relationship Id="rId119" Type="http://schemas.openxmlformats.org/officeDocument/2006/relationships/slide" Target="slides/slide107.xml"/><Relationship Id="rId44" Type="http://schemas.openxmlformats.org/officeDocument/2006/relationships/slide" Target="slides/slide32.xml"/><Relationship Id="rId60" Type="http://schemas.openxmlformats.org/officeDocument/2006/relationships/slide" Target="slides/slide48.xml"/><Relationship Id="rId65" Type="http://schemas.openxmlformats.org/officeDocument/2006/relationships/slide" Target="slides/slide53.xml"/><Relationship Id="rId81" Type="http://schemas.openxmlformats.org/officeDocument/2006/relationships/slide" Target="slides/slide69.xml"/><Relationship Id="rId86" Type="http://schemas.openxmlformats.org/officeDocument/2006/relationships/slide" Target="slides/slide74.xml"/><Relationship Id="rId130" Type="http://schemas.openxmlformats.org/officeDocument/2006/relationships/slide" Target="slides/slide118.xml"/><Relationship Id="rId135" Type="http://schemas.openxmlformats.org/officeDocument/2006/relationships/slide" Target="slides/slide123.xml"/><Relationship Id="rId151" Type="http://schemas.openxmlformats.org/officeDocument/2006/relationships/slide" Target="slides/slide139.xml"/><Relationship Id="rId156" Type="http://schemas.openxmlformats.org/officeDocument/2006/relationships/slide" Target="slides/slide144.xml"/><Relationship Id="rId177" Type="http://schemas.openxmlformats.org/officeDocument/2006/relationships/theme" Target="theme/theme1.xml"/><Relationship Id="rId172" Type="http://schemas.openxmlformats.org/officeDocument/2006/relationships/slide" Target="slides/slide160.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slide" Target="slides/slide9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slide" Target="slides/slide92.xml"/><Relationship Id="rId120" Type="http://schemas.openxmlformats.org/officeDocument/2006/relationships/slide" Target="slides/slide108.xml"/><Relationship Id="rId125" Type="http://schemas.openxmlformats.org/officeDocument/2006/relationships/slide" Target="slides/slide113.xml"/><Relationship Id="rId141" Type="http://schemas.openxmlformats.org/officeDocument/2006/relationships/slide" Target="slides/slide129.xml"/><Relationship Id="rId146" Type="http://schemas.openxmlformats.org/officeDocument/2006/relationships/slide" Target="slides/slide134.xml"/><Relationship Id="rId167" Type="http://schemas.openxmlformats.org/officeDocument/2006/relationships/slide" Target="slides/slide155.xml"/><Relationship Id="rId7" Type="http://schemas.openxmlformats.org/officeDocument/2006/relationships/slideMaster" Target="slideMasters/slideMaster4.xml"/><Relationship Id="rId71" Type="http://schemas.openxmlformats.org/officeDocument/2006/relationships/slide" Target="slides/slide59.xml"/><Relationship Id="rId92" Type="http://schemas.openxmlformats.org/officeDocument/2006/relationships/slide" Target="slides/slide80.xml"/><Relationship Id="rId162" Type="http://schemas.openxmlformats.org/officeDocument/2006/relationships/slide" Target="slides/slide150.xml"/><Relationship Id="rId2" Type="http://schemas.openxmlformats.org/officeDocument/2006/relationships/customXml" Target="../customXml/item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slide" Target="slides/slide98.xml"/><Relationship Id="rId115" Type="http://schemas.openxmlformats.org/officeDocument/2006/relationships/slide" Target="slides/slide103.xml"/><Relationship Id="rId131" Type="http://schemas.openxmlformats.org/officeDocument/2006/relationships/slide" Target="slides/slide119.xml"/><Relationship Id="rId136" Type="http://schemas.openxmlformats.org/officeDocument/2006/relationships/slide" Target="slides/slide124.xml"/><Relationship Id="rId157" Type="http://schemas.openxmlformats.org/officeDocument/2006/relationships/slide" Target="slides/slide145.xml"/><Relationship Id="rId178" Type="http://schemas.openxmlformats.org/officeDocument/2006/relationships/tableStyles" Target="tableStyles.xml"/><Relationship Id="rId61" Type="http://schemas.openxmlformats.org/officeDocument/2006/relationships/slide" Target="slides/slide49.xml"/><Relationship Id="rId82" Type="http://schemas.openxmlformats.org/officeDocument/2006/relationships/slide" Target="slides/slide70.xml"/><Relationship Id="rId152" Type="http://schemas.openxmlformats.org/officeDocument/2006/relationships/slide" Target="slides/slide140.xml"/><Relationship Id="rId173" Type="http://schemas.openxmlformats.org/officeDocument/2006/relationships/slide" Target="slides/slide161.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slide" Target="slides/slide88.xml"/><Relationship Id="rId105" Type="http://schemas.openxmlformats.org/officeDocument/2006/relationships/slide" Target="slides/slide93.xml"/><Relationship Id="rId126" Type="http://schemas.openxmlformats.org/officeDocument/2006/relationships/slide" Target="slides/slide114.xml"/><Relationship Id="rId147" Type="http://schemas.openxmlformats.org/officeDocument/2006/relationships/slide" Target="slides/slide135.xml"/><Relationship Id="rId168" Type="http://schemas.openxmlformats.org/officeDocument/2006/relationships/slide" Target="slides/slide156.xml"/><Relationship Id="rId8" Type="http://schemas.openxmlformats.org/officeDocument/2006/relationships/slideMaster" Target="slideMasters/slideMaster5.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slide" Target="slides/slide86.xml"/><Relationship Id="rId121" Type="http://schemas.openxmlformats.org/officeDocument/2006/relationships/slide" Target="slides/slide109.xml"/><Relationship Id="rId142" Type="http://schemas.openxmlformats.org/officeDocument/2006/relationships/slide" Target="slides/slide130.xml"/><Relationship Id="rId163" Type="http://schemas.openxmlformats.org/officeDocument/2006/relationships/slide" Target="slides/slide151.xml"/><Relationship Id="rId3" Type="http://schemas.openxmlformats.org/officeDocument/2006/relationships/customXml" Target="../customXml/item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slide" Target="slides/slide104.xml"/><Relationship Id="rId137" Type="http://schemas.openxmlformats.org/officeDocument/2006/relationships/slide" Target="slides/slide125.xml"/><Relationship Id="rId158" Type="http://schemas.openxmlformats.org/officeDocument/2006/relationships/slide" Target="slides/slide146.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slide" Target="slides/slide99.xml"/><Relationship Id="rId132" Type="http://schemas.openxmlformats.org/officeDocument/2006/relationships/slide" Target="slides/slide120.xml"/><Relationship Id="rId153" Type="http://schemas.openxmlformats.org/officeDocument/2006/relationships/slide" Target="slides/slide141.xml"/><Relationship Id="rId174" Type="http://schemas.openxmlformats.org/officeDocument/2006/relationships/notesMaster" Target="notesMasters/notesMaster1.xml"/><Relationship Id="rId179" Type="http://schemas.microsoft.com/office/2015/10/relationships/revisionInfo" Target="revisionInfo.xml"/><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slide" Target="slides/slide94.xml"/><Relationship Id="rId127" Type="http://schemas.openxmlformats.org/officeDocument/2006/relationships/slide" Target="slides/slide115.xml"/><Relationship Id="rId10" Type="http://schemas.openxmlformats.org/officeDocument/2006/relationships/slideMaster" Target="slideMasters/slideMaster7.xml"/><Relationship Id="rId31" Type="http://schemas.openxmlformats.org/officeDocument/2006/relationships/slide" Target="slides/slide19.xml"/><Relationship Id="rId52" Type="http://schemas.openxmlformats.org/officeDocument/2006/relationships/slide" Target="slides/slide40.xml"/><Relationship Id="rId73" Type="http://schemas.openxmlformats.org/officeDocument/2006/relationships/slide" Target="slides/slide61.xml"/><Relationship Id="rId78" Type="http://schemas.openxmlformats.org/officeDocument/2006/relationships/slide" Target="slides/slide66.xml"/><Relationship Id="rId94" Type="http://schemas.openxmlformats.org/officeDocument/2006/relationships/slide" Target="slides/slide82.xml"/><Relationship Id="rId99" Type="http://schemas.openxmlformats.org/officeDocument/2006/relationships/slide" Target="slides/slide87.xml"/><Relationship Id="rId101" Type="http://schemas.openxmlformats.org/officeDocument/2006/relationships/slide" Target="slides/slide89.xml"/><Relationship Id="rId122" Type="http://schemas.openxmlformats.org/officeDocument/2006/relationships/slide" Target="slides/slide110.xml"/><Relationship Id="rId143" Type="http://schemas.openxmlformats.org/officeDocument/2006/relationships/slide" Target="slides/slide131.xml"/><Relationship Id="rId148" Type="http://schemas.openxmlformats.org/officeDocument/2006/relationships/slide" Target="slides/slide136.xml"/><Relationship Id="rId164" Type="http://schemas.openxmlformats.org/officeDocument/2006/relationships/slide" Target="slides/slide152.xml"/><Relationship Id="rId169" Type="http://schemas.openxmlformats.org/officeDocument/2006/relationships/slide" Target="slides/slide157.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4.xml"/><Relationship Id="rId47" Type="http://schemas.openxmlformats.org/officeDocument/2006/relationships/slide" Target="slides/slide35.xml"/><Relationship Id="rId68" Type="http://schemas.openxmlformats.org/officeDocument/2006/relationships/slide" Target="slides/slide56.xml"/><Relationship Id="rId89" Type="http://schemas.openxmlformats.org/officeDocument/2006/relationships/slide" Target="slides/slide77.xml"/><Relationship Id="rId112" Type="http://schemas.openxmlformats.org/officeDocument/2006/relationships/slide" Target="slides/slide100.xml"/><Relationship Id="rId133" Type="http://schemas.openxmlformats.org/officeDocument/2006/relationships/slide" Target="slides/slide121.xml"/><Relationship Id="rId154" Type="http://schemas.openxmlformats.org/officeDocument/2006/relationships/slide" Target="slides/slide142.xml"/><Relationship Id="rId175" Type="http://schemas.openxmlformats.org/officeDocument/2006/relationships/presProps" Target="presProps.xml"/><Relationship Id="rId16" Type="http://schemas.openxmlformats.org/officeDocument/2006/relationships/slide" Target="slides/slide4.xml"/><Relationship Id="rId37" Type="http://schemas.openxmlformats.org/officeDocument/2006/relationships/slide" Target="slides/slide25.xml"/><Relationship Id="rId58" Type="http://schemas.openxmlformats.org/officeDocument/2006/relationships/slide" Target="slides/slide46.xml"/><Relationship Id="rId79" Type="http://schemas.openxmlformats.org/officeDocument/2006/relationships/slide" Target="slides/slide67.xml"/><Relationship Id="rId102" Type="http://schemas.openxmlformats.org/officeDocument/2006/relationships/slide" Target="slides/slide90.xml"/><Relationship Id="rId123" Type="http://schemas.openxmlformats.org/officeDocument/2006/relationships/slide" Target="slides/slide111.xml"/><Relationship Id="rId144" Type="http://schemas.openxmlformats.org/officeDocument/2006/relationships/slide" Target="slides/slide132.xml"/><Relationship Id="rId90" Type="http://schemas.openxmlformats.org/officeDocument/2006/relationships/slide" Target="slides/slide78.xml"/><Relationship Id="rId165" Type="http://schemas.openxmlformats.org/officeDocument/2006/relationships/slide" Target="slides/slide153.xml"/><Relationship Id="rId27" Type="http://schemas.openxmlformats.org/officeDocument/2006/relationships/slide" Target="slides/slide15.xml"/><Relationship Id="rId48" Type="http://schemas.openxmlformats.org/officeDocument/2006/relationships/slide" Target="slides/slide36.xml"/><Relationship Id="rId69" Type="http://schemas.openxmlformats.org/officeDocument/2006/relationships/slide" Target="slides/slide57.xml"/><Relationship Id="rId113" Type="http://schemas.openxmlformats.org/officeDocument/2006/relationships/slide" Target="slides/slide101.xml"/><Relationship Id="rId134" Type="http://schemas.openxmlformats.org/officeDocument/2006/relationships/slide" Target="slides/slide122.xml"/><Relationship Id="rId80" Type="http://schemas.openxmlformats.org/officeDocument/2006/relationships/slide" Target="slides/slide68.xml"/><Relationship Id="rId155" Type="http://schemas.openxmlformats.org/officeDocument/2006/relationships/slide" Target="slides/slide143.xml"/><Relationship Id="rId176" Type="http://schemas.openxmlformats.org/officeDocument/2006/relationships/viewProps" Target="viewProps.xml"/><Relationship Id="rId17" Type="http://schemas.openxmlformats.org/officeDocument/2006/relationships/slide" Target="slides/slide5.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slide" Target="slides/slide91.xml"/><Relationship Id="rId124" Type="http://schemas.openxmlformats.org/officeDocument/2006/relationships/slide" Target="slides/slide112.xml"/><Relationship Id="rId70" Type="http://schemas.openxmlformats.org/officeDocument/2006/relationships/slide" Target="slides/slide58.xml"/><Relationship Id="rId91" Type="http://schemas.openxmlformats.org/officeDocument/2006/relationships/slide" Target="slides/slide79.xml"/><Relationship Id="rId145" Type="http://schemas.openxmlformats.org/officeDocument/2006/relationships/slide" Target="slides/slide133.xml"/><Relationship Id="rId166" Type="http://schemas.openxmlformats.org/officeDocument/2006/relationships/slide" Target="slides/slide154.xml"/><Relationship Id="rId1"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850817-9BBE-426F-9BC4-58E2B148E89A}" type="doc">
      <dgm:prSet loTypeId="urn:microsoft.com/office/officeart/2005/8/layout/chevron1" loCatId="process" qsTypeId="urn:microsoft.com/office/officeart/2005/8/quickstyle/simple1" qsCatId="simple" csTypeId="urn:microsoft.com/office/officeart/2005/8/colors/colorful1" csCatId="colorful" phldr="1"/>
      <dgm:spPr/>
    </dgm:pt>
    <dgm:pt modelId="{30F9F84A-0137-4426-8B37-E3B86F109118}">
      <dgm:prSet phldrT="[Text]"/>
      <dgm:spPr/>
      <dgm:t>
        <a:bodyPr/>
        <a:lstStyle/>
        <a:p>
          <a:r>
            <a:rPr lang="fr-FR" noProof="0" dirty="0"/>
            <a:t>Stop sur l’ancien système à ..:..</a:t>
          </a:r>
          <a:endParaRPr lang="en-US" dirty="0"/>
        </a:p>
      </dgm:t>
    </dgm:pt>
    <dgm:pt modelId="{CB713CA1-DB97-4160-8816-3DF648B46CCC}" type="parTrans" cxnId="{2A62C234-8FD3-497A-9B03-83CF189713B1}">
      <dgm:prSet/>
      <dgm:spPr/>
      <dgm:t>
        <a:bodyPr/>
        <a:lstStyle/>
        <a:p>
          <a:endParaRPr lang="en-US"/>
        </a:p>
      </dgm:t>
    </dgm:pt>
    <dgm:pt modelId="{D1E906B9-52F8-4F44-A4FD-1DF835E6C092}" type="sibTrans" cxnId="{2A62C234-8FD3-497A-9B03-83CF189713B1}">
      <dgm:prSet/>
      <dgm:spPr/>
      <dgm:t>
        <a:bodyPr/>
        <a:lstStyle/>
        <a:p>
          <a:endParaRPr lang="en-US"/>
        </a:p>
      </dgm:t>
    </dgm:pt>
    <dgm:pt modelId="{78F0A920-D4A0-45CA-8311-EDF0A4FD6C2F}">
      <dgm:prSet/>
      <dgm:spPr/>
      <dgm:t>
        <a:bodyPr/>
        <a:lstStyle/>
        <a:p>
          <a:r>
            <a:rPr lang="fr-FR" noProof="0"/>
            <a:t>Début de la migration</a:t>
          </a:r>
          <a:endParaRPr lang="fr-FR" noProof="0" dirty="0"/>
        </a:p>
      </dgm:t>
    </dgm:pt>
    <dgm:pt modelId="{00423CAE-FC75-4FB2-AF25-F6783C0AEECC}" type="parTrans" cxnId="{AAF22B10-8ACE-4770-AEC6-E0E497ED759C}">
      <dgm:prSet/>
      <dgm:spPr/>
      <dgm:t>
        <a:bodyPr/>
        <a:lstStyle/>
        <a:p>
          <a:endParaRPr lang="en-US"/>
        </a:p>
      </dgm:t>
    </dgm:pt>
    <dgm:pt modelId="{2C404558-9A28-4869-8217-3C77A76A8C55}" type="sibTrans" cxnId="{AAF22B10-8ACE-4770-AEC6-E0E497ED759C}">
      <dgm:prSet/>
      <dgm:spPr/>
      <dgm:t>
        <a:bodyPr/>
        <a:lstStyle/>
        <a:p>
          <a:endParaRPr lang="en-US"/>
        </a:p>
      </dgm:t>
    </dgm:pt>
    <dgm:pt modelId="{19926A6D-1CF8-4450-A11D-F23559F0AC87}">
      <dgm:prSet/>
      <dgm:spPr/>
      <dgm:t>
        <a:bodyPr/>
        <a:lstStyle/>
        <a:p>
          <a:r>
            <a:rPr lang="fr-FR"/>
            <a:t>Tests</a:t>
          </a:r>
          <a:endParaRPr lang="fr-FR" dirty="0"/>
        </a:p>
      </dgm:t>
    </dgm:pt>
    <dgm:pt modelId="{3ED81305-A529-4B69-8865-2805D20BD600}" type="parTrans" cxnId="{D4D2F449-365E-4EE2-9211-C51C50A750CB}">
      <dgm:prSet/>
      <dgm:spPr/>
      <dgm:t>
        <a:bodyPr/>
        <a:lstStyle/>
        <a:p>
          <a:endParaRPr lang="en-US"/>
        </a:p>
      </dgm:t>
    </dgm:pt>
    <dgm:pt modelId="{42C268D7-E39C-447A-9F73-7B0EF48FBEF3}" type="sibTrans" cxnId="{D4D2F449-365E-4EE2-9211-C51C50A750CB}">
      <dgm:prSet/>
      <dgm:spPr/>
      <dgm:t>
        <a:bodyPr/>
        <a:lstStyle/>
        <a:p>
          <a:endParaRPr lang="en-US"/>
        </a:p>
      </dgm:t>
    </dgm:pt>
    <dgm:pt modelId="{47351610-21D3-41BF-A1C8-E5A4366A0A77}">
      <dgm:prSet/>
      <dgm:spPr/>
      <dgm:t>
        <a:bodyPr/>
        <a:lstStyle/>
        <a:p>
          <a:r>
            <a:rPr lang="fr-FR" noProof="0"/>
            <a:t>Passage sur nouveau système</a:t>
          </a:r>
          <a:endParaRPr lang="fr-FR" noProof="0" dirty="0"/>
        </a:p>
      </dgm:t>
    </dgm:pt>
    <dgm:pt modelId="{54668329-4326-4048-A914-B2270C0FD2F3}" type="parTrans" cxnId="{9D426F9D-709A-4E74-B70E-BEEACBBD4D86}">
      <dgm:prSet/>
      <dgm:spPr/>
      <dgm:t>
        <a:bodyPr/>
        <a:lstStyle/>
        <a:p>
          <a:endParaRPr lang="en-US"/>
        </a:p>
      </dgm:t>
    </dgm:pt>
    <dgm:pt modelId="{85A51D2D-5535-482B-A094-F271655297F1}" type="sibTrans" cxnId="{9D426F9D-709A-4E74-B70E-BEEACBBD4D86}">
      <dgm:prSet/>
      <dgm:spPr/>
      <dgm:t>
        <a:bodyPr/>
        <a:lstStyle/>
        <a:p>
          <a:endParaRPr lang="en-US"/>
        </a:p>
      </dgm:t>
    </dgm:pt>
    <dgm:pt modelId="{CF7F3A54-9B39-40E0-A3C7-7A988716C64F}" type="pres">
      <dgm:prSet presAssocID="{99850817-9BBE-426F-9BC4-58E2B148E89A}" presName="Name0" presStyleCnt="0">
        <dgm:presLayoutVars>
          <dgm:dir/>
          <dgm:animLvl val="lvl"/>
          <dgm:resizeHandles val="exact"/>
        </dgm:presLayoutVars>
      </dgm:prSet>
      <dgm:spPr/>
    </dgm:pt>
    <dgm:pt modelId="{3D5196C6-EB8E-42E9-B72F-BE794FA2E659}" type="pres">
      <dgm:prSet presAssocID="{30F9F84A-0137-4426-8B37-E3B86F109118}" presName="parTxOnly" presStyleLbl="node1" presStyleIdx="0" presStyleCnt="4">
        <dgm:presLayoutVars>
          <dgm:chMax val="0"/>
          <dgm:chPref val="0"/>
          <dgm:bulletEnabled val="1"/>
        </dgm:presLayoutVars>
      </dgm:prSet>
      <dgm:spPr/>
    </dgm:pt>
    <dgm:pt modelId="{B9037A9F-99D4-4266-82C6-C89C6FDDD3AC}" type="pres">
      <dgm:prSet presAssocID="{D1E906B9-52F8-4F44-A4FD-1DF835E6C092}" presName="parTxOnlySpace" presStyleCnt="0"/>
      <dgm:spPr/>
    </dgm:pt>
    <dgm:pt modelId="{6492EBC1-5B6C-49B3-9742-E885879ED0E3}" type="pres">
      <dgm:prSet presAssocID="{78F0A920-D4A0-45CA-8311-EDF0A4FD6C2F}" presName="parTxOnly" presStyleLbl="node1" presStyleIdx="1" presStyleCnt="4">
        <dgm:presLayoutVars>
          <dgm:chMax val="0"/>
          <dgm:chPref val="0"/>
          <dgm:bulletEnabled val="1"/>
        </dgm:presLayoutVars>
      </dgm:prSet>
      <dgm:spPr/>
    </dgm:pt>
    <dgm:pt modelId="{FFC46793-C279-44DC-8D05-745BD0FF5E31}" type="pres">
      <dgm:prSet presAssocID="{2C404558-9A28-4869-8217-3C77A76A8C55}" presName="parTxOnlySpace" presStyleCnt="0"/>
      <dgm:spPr/>
    </dgm:pt>
    <dgm:pt modelId="{948373F2-4AB9-41F5-93E6-E811DA842659}" type="pres">
      <dgm:prSet presAssocID="{19926A6D-1CF8-4450-A11D-F23559F0AC87}" presName="parTxOnly" presStyleLbl="node1" presStyleIdx="2" presStyleCnt="4">
        <dgm:presLayoutVars>
          <dgm:chMax val="0"/>
          <dgm:chPref val="0"/>
          <dgm:bulletEnabled val="1"/>
        </dgm:presLayoutVars>
      </dgm:prSet>
      <dgm:spPr/>
    </dgm:pt>
    <dgm:pt modelId="{A73A9C3D-282A-4D6C-9AB1-3ECD870EFEB4}" type="pres">
      <dgm:prSet presAssocID="{42C268D7-E39C-447A-9F73-7B0EF48FBEF3}" presName="parTxOnlySpace" presStyleCnt="0"/>
      <dgm:spPr/>
    </dgm:pt>
    <dgm:pt modelId="{350B00D0-F5D5-4A79-A03D-6ADADCC49446}" type="pres">
      <dgm:prSet presAssocID="{47351610-21D3-41BF-A1C8-E5A4366A0A77}" presName="parTxOnly" presStyleLbl="node1" presStyleIdx="3" presStyleCnt="4">
        <dgm:presLayoutVars>
          <dgm:chMax val="0"/>
          <dgm:chPref val="0"/>
          <dgm:bulletEnabled val="1"/>
        </dgm:presLayoutVars>
      </dgm:prSet>
      <dgm:spPr/>
    </dgm:pt>
  </dgm:ptLst>
  <dgm:cxnLst>
    <dgm:cxn modelId="{AAF22B10-8ACE-4770-AEC6-E0E497ED759C}" srcId="{99850817-9BBE-426F-9BC4-58E2B148E89A}" destId="{78F0A920-D4A0-45CA-8311-EDF0A4FD6C2F}" srcOrd="1" destOrd="0" parTransId="{00423CAE-FC75-4FB2-AF25-F6783C0AEECC}" sibTransId="{2C404558-9A28-4869-8217-3C77A76A8C55}"/>
    <dgm:cxn modelId="{2A62C234-8FD3-497A-9B03-83CF189713B1}" srcId="{99850817-9BBE-426F-9BC4-58E2B148E89A}" destId="{30F9F84A-0137-4426-8B37-E3B86F109118}" srcOrd="0" destOrd="0" parTransId="{CB713CA1-DB97-4160-8816-3DF648B46CCC}" sibTransId="{D1E906B9-52F8-4F44-A4FD-1DF835E6C092}"/>
    <dgm:cxn modelId="{D4D2F449-365E-4EE2-9211-C51C50A750CB}" srcId="{99850817-9BBE-426F-9BC4-58E2B148E89A}" destId="{19926A6D-1CF8-4450-A11D-F23559F0AC87}" srcOrd="2" destOrd="0" parTransId="{3ED81305-A529-4B69-8865-2805D20BD600}" sibTransId="{42C268D7-E39C-447A-9F73-7B0EF48FBEF3}"/>
    <dgm:cxn modelId="{04D28B8F-A644-41E1-ABC7-9C21B4AEFC3E}" type="presOf" srcId="{30F9F84A-0137-4426-8B37-E3B86F109118}" destId="{3D5196C6-EB8E-42E9-B72F-BE794FA2E659}" srcOrd="0" destOrd="0" presId="urn:microsoft.com/office/officeart/2005/8/layout/chevron1"/>
    <dgm:cxn modelId="{DF09F399-295E-4553-9D8E-FC0129E239F0}" type="presOf" srcId="{78F0A920-D4A0-45CA-8311-EDF0A4FD6C2F}" destId="{6492EBC1-5B6C-49B3-9742-E885879ED0E3}" srcOrd="0" destOrd="0" presId="urn:microsoft.com/office/officeart/2005/8/layout/chevron1"/>
    <dgm:cxn modelId="{9D426F9D-709A-4E74-B70E-BEEACBBD4D86}" srcId="{99850817-9BBE-426F-9BC4-58E2B148E89A}" destId="{47351610-21D3-41BF-A1C8-E5A4366A0A77}" srcOrd="3" destOrd="0" parTransId="{54668329-4326-4048-A914-B2270C0FD2F3}" sibTransId="{85A51D2D-5535-482B-A094-F271655297F1}"/>
    <dgm:cxn modelId="{1D0E51A8-53B8-4893-BA20-9EE0D0456467}" type="presOf" srcId="{47351610-21D3-41BF-A1C8-E5A4366A0A77}" destId="{350B00D0-F5D5-4A79-A03D-6ADADCC49446}" srcOrd="0" destOrd="0" presId="urn:microsoft.com/office/officeart/2005/8/layout/chevron1"/>
    <dgm:cxn modelId="{B31538C8-84EE-4189-8229-E7284533AFB2}" type="presOf" srcId="{99850817-9BBE-426F-9BC4-58E2B148E89A}" destId="{CF7F3A54-9B39-40E0-A3C7-7A988716C64F}" srcOrd="0" destOrd="0" presId="urn:microsoft.com/office/officeart/2005/8/layout/chevron1"/>
    <dgm:cxn modelId="{7B805ED7-DC22-4964-B796-35464887B139}" type="presOf" srcId="{19926A6D-1CF8-4450-A11D-F23559F0AC87}" destId="{948373F2-4AB9-41F5-93E6-E811DA842659}" srcOrd="0" destOrd="0" presId="urn:microsoft.com/office/officeart/2005/8/layout/chevron1"/>
    <dgm:cxn modelId="{AAFAFAD2-C349-49D8-A544-9D6D6A658B4A}" type="presParOf" srcId="{CF7F3A54-9B39-40E0-A3C7-7A988716C64F}" destId="{3D5196C6-EB8E-42E9-B72F-BE794FA2E659}" srcOrd="0" destOrd="0" presId="urn:microsoft.com/office/officeart/2005/8/layout/chevron1"/>
    <dgm:cxn modelId="{F82035CB-BE6A-4698-8BEB-03A5715D883E}" type="presParOf" srcId="{CF7F3A54-9B39-40E0-A3C7-7A988716C64F}" destId="{B9037A9F-99D4-4266-82C6-C89C6FDDD3AC}" srcOrd="1" destOrd="0" presId="urn:microsoft.com/office/officeart/2005/8/layout/chevron1"/>
    <dgm:cxn modelId="{0BB227A6-39A0-4A64-B0C5-12BA9AF8BDE8}" type="presParOf" srcId="{CF7F3A54-9B39-40E0-A3C7-7A988716C64F}" destId="{6492EBC1-5B6C-49B3-9742-E885879ED0E3}" srcOrd="2" destOrd="0" presId="urn:microsoft.com/office/officeart/2005/8/layout/chevron1"/>
    <dgm:cxn modelId="{A0468144-444A-49AE-B533-C276B3A6565B}" type="presParOf" srcId="{CF7F3A54-9B39-40E0-A3C7-7A988716C64F}" destId="{FFC46793-C279-44DC-8D05-745BD0FF5E31}" srcOrd="3" destOrd="0" presId="urn:microsoft.com/office/officeart/2005/8/layout/chevron1"/>
    <dgm:cxn modelId="{3D049BAA-405B-4350-92FF-F502B70C5465}" type="presParOf" srcId="{CF7F3A54-9B39-40E0-A3C7-7A988716C64F}" destId="{948373F2-4AB9-41F5-93E6-E811DA842659}" srcOrd="4" destOrd="0" presId="urn:microsoft.com/office/officeart/2005/8/layout/chevron1"/>
    <dgm:cxn modelId="{9DC4912D-7B61-40CC-B627-DA2E6D1CEBA5}" type="presParOf" srcId="{CF7F3A54-9B39-40E0-A3C7-7A988716C64F}" destId="{A73A9C3D-282A-4D6C-9AB1-3ECD870EFEB4}" srcOrd="5" destOrd="0" presId="urn:microsoft.com/office/officeart/2005/8/layout/chevron1"/>
    <dgm:cxn modelId="{79980F1C-071E-45A2-867B-21D28BB6F651}" type="presParOf" srcId="{CF7F3A54-9B39-40E0-A3C7-7A988716C64F}" destId="{350B00D0-F5D5-4A79-A03D-6ADADCC49446}"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168BAB-02F3-4774-BD34-11BE75509F38}"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DCEB5D7B-F726-4004-A984-BA49721D923F}">
      <dgm:prSet phldrT="[Text]"/>
      <dgm:spPr/>
      <dgm:t>
        <a:bodyPr/>
        <a:lstStyle/>
        <a:p>
          <a:r>
            <a:rPr lang="fr-FR" noProof="0" dirty="0"/>
            <a:t>Réunion journalière </a:t>
          </a:r>
          <a:r>
            <a:rPr lang="fr-FR" noProof="0"/>
            <a:t>à ..:..</a:t>
          </a:r>
          <a:endParaRPr lang="en-US" dirty="0"/>
        </a:p>
      </dgm:t>
    </dgm:pt>
    <dgm:pt modelId="{AA2007CB-2F1D-4C77-8047-A04562540727}" type="parTrans" cxnId="{B57B3EA7-6873-423D-B4E7-D58221EDC14B}">
      <dgm:prSet/>
      <dgm:spPr/>
      <dgm:t>
        <a:bodyPr/>
        <a:lstStyle/>
        <a:p>
          <a:endParaRPr lang="en-US"/>
        </a:p>
      </dgm:t>
    </dgm:pt>
    <dgm:pt modelId="{1ED6037F-4F83-4AB6-BF62-BD7F6F51329A}" type="sibTrans" cxnId="{B57B3EA7-6873-423D-B4E7-D58221EDC14B}">
      <dgm:prSet/>
      <dgm:spPr/>
      <dgm:t>
        <a:bodyPr/>
        <a:lstStyle/>
        <a:p>
          <a:endParaRPr lang="en-US"/>
        </a:p>
      </dgm:t>
    </dgm:pt>
    <dgm:pt modelId="{A88EE3CF-4179-4551-B0F6-C9F156457DD2}">
      <dgm:prSet/>
      <dgm:spPr/>
      <dgm:t>
        <a:bodyPr/>
        <a:lstStyle/>
        <a:p>
          <a:r>
            <a:rPr lang="fr-FR"/>
            <a:t>Récupération des feedback et définition des priorités</a:t>
          </a:r>
          <a:endParaRPr lang="fr-FR" dirty="0"/>
        </a:p>
      </dgm:t>
    </dgm:pt>
    <dgm:pt modelId="{D1F961A0-AA62-47EC-93B3-066BBD5A1852}" type="parTrans" cxnId="{7F9A5522-9949-4915-A616-B4731FE6297E}">
      <dgm:prSet/>
      <dgm:spPr/>
      <dgm:t>
        <a:bodyPr/>
        <a:lstStyle/>
        <a:p>
          <a:endParaRPr lang="en-US"/>
        </a:p>
      </dgm:t>
    </dgm:pt>
    <dgm:pt modelId="{A2BCBC33-88D5-4A33-BDDF-C5529C963189}" type="sibTrans" cxnId="{7F9A5522-9949-4915-A616-B4731FE6297E}">
      <dgm:prSet/>
      <dgm:spPr/>
      <dgm:t>
        <a:bodyPr/>
        <a:lstStyle/>
        <a:p>
          <a:endParaRPr lang="en-US"/>
        </a:p>
      </dgm:t>
    </dgm:pt>
    <dgm:pt modelId="{431E7EE1-D67A-4F01-A5FD-8BF1493CAC15}">
      <dgm:prSet/>
      <dgm:spPr/>
      <dgm:t>
        <a:bodyPr/>
        <a:lstStyle/>
        <a:p>
          <a:r>
            <a:rPr lang="fr-FR"/>
            <a:t>Suivi de l’avancement</a:t>
          </a:r>
          <a:endParaRPr lang="fr-FR" noProof="0" dirty="0"/>
        </a:p>
      </dgm:t>
    </dgm:pt>
    <dgm:pt modelId="{CA82EC3C-5F70-47F8-8254-BEA6AD1F438C}" type="parTrans" cxnId="{BA5640C9-1B7D-4ABC-B424-B020C8DB7FD5}">
      <dgm:prSet/>
      <dgm:spPr/>
      <dgm:t>
        <a:bodyPr/>
        <a:lstStyle/>
        <a:p>
          <a:endParaRPr lang="en-US"/>
        </a:p>
      </dgm:t>
    </dgm:pt>
    <dgm:pt modelId="{BB11DB9C-C623-4A6B-A534-AA57D7FEB13D}" type="sibTrans" cxnId="{BA5640C9-1B7D-4ABC-B424-B020C8DB7FD5}">
      <dgm:prSet/>
      <dgm:spPr/>
      <dgm:t>
        <a:bodyPr/>
        <a:lstStyle/>
        <a:p>
          <a:endParaRPr lang="en-US"/>
        </a:p>
      </dgm:t>
    </dgm:pt>
    <dgm:pt modelId="{84401C51-3872-42F1-806E-CD8B9B7D3BF7}" type="pres">
      <dgm:prSet presAssocID="{A9168BAB-02F3-4774-BD34-11BE75509F38}" presName="Name0" presStyleCnt="0">
        <dgm:presLayoutVars>
          <dgm:chMax val="7"/>
          <dgm:chPref val="7"/>
          <dgm:dir/>
        </dgm:presLayoutVars>
      </dgm:prSet>
      <dgm:spPr/>
    </dgm:pt>
    <dgm:pt modelId="{2E3A738D-CD48-44E5-B493-7F3AE3223485}" type="pres">
      <dgm:prSet presAssocID="{A9168BAB-02F3-4774-BD34-11BE75509F38}" presName="Name1" presStyleCnt="0"/>
      <dgm:spPr/>
    </dgm:pt>
    <dgm:pt modelId="{22F9EADE-CED4-45D4-B239-4E42A22EDA2D}" type="pres">
      <dgm:prSet presAssocID="{A9168BAB-02F3-4774-BD34-11BE75509F38}" presName="cycle" presStyleCnt="0"/>
      <dgm:spPr/>
    </dgm:pt>
    <dgm:pt modelId="{391951F7-CD87-475A-8F89-589DC3ACD005}" type="pres">
      <dgm:prSet presAssocID="{A9168BAB-02F3-4774-BD34-11BE75509F38}" presName="srcNode" presStyleLbl="node1" presStyleIdx="0" presStyleCnt="3"/>
      <dgm:spPr/>
    </dgm:pt>
    <dgm:pt modelId="{37C2406F-D890-47A5-A8D4-5C668B3C7E78}" type="pres">
      <dgm:prSet presAssocID="{A9168BAB-02F3-4774-BD34-11BE75509F38}" presName="conn" presStyleLbl="parChTrans1D2" presStyleIdx="0" presStyleCnt="1"/>
      <dgm:spPr/>
    </dgm:pt>
    <dgm:pt modelId="{550D2509-929D-4242-ABCA-F867F1B483E0}" type="pres">
      <dgm:prSet presAssocID="{A9168BAB-02F3-4774-BD34-11BE75509F38}" presName="extraNode" presStyleLbl="node1" presStyleIdx="0" presStyleCnt="3"/>
      <dgm:spPr/>
    </dgm:pt>
    <dgm:pt modelId="{38C4BD92-BD8F-4BB6-B98F-632FD67221F7}" type="pres">
      <dgm:prSet presAssocID="{A9168BAB-02F3-4774-BD34-11BE75509F38}" presName="dstNode" presStyleLbl="node1" presStyleIdx="0" presStyleCnt="3"/>
      <dgm:spPr/>
    </dgm:pt>
    <dgm:pt modelId="{659E3B4D-2071-4B80-B344-F7920B6C3448}" type="pres">
      <dgm:prSet presAssocID="{DCEB5D7B-F726-4004-A984-BA49721D923F}" presName="text_1" presStyleLbl="node1" presStyleIdx="0" presStyleCnt="3">
        <dgm:presLayoutVars>
          <dgm:bulletEnabled val="1"/>
        </dgm:presLayoutVars>
      </dgm:prSet>
      <dgm:spPr/>
    </dgm:pt>
    <dgm:pt modelId="{8FF52082-4249-4739-907D-4BA37FB8FEFB}" type="pres">
      <dgm:prSet presAssocID="{DCEB5D7B-F726-4004-A984-BA49721D923F}" presName="accent_1" presStyleCnt="0"/>
      <dgm:spPr/>
    </dgm:pt>
    <dgm:pt modelId="{A724CAB9-52D6-4196-B5AA-3578FB8D1852}" type="pres">
      <dgm:prSet presAssocID="{DCEB5D7B-F726-4004-A984-BA49721D923F}" presName="accentRepeatNode" presStyleLbl="solidFgAcc1" presStyleIdx="0" presStyleCnt="3"/>
      <dgm:spPr/>
    </dgm:pt>
    <dgm:pt modelId="{4A0E9F36-9068-43D1-96A0-243BC3FC5A59}" type="pres">
      <dgm:prSet presAssocID="{A88EE3CF-4179-4551-B0F6-C9F156457DD2}" presName="text_2" presStyleLbl="node1" presStyleIdx="1" presStyleCnt="3">
        <dgm:presLayoutVars>
          <dgm:bulletEnabled val="1"/>
        </dgm:presLayoutVars>
      </dgm:prSet>
      <dgm:spPr/>
    </dgm:pt>
    <dgm:pt modelId="{24A802EF-E26F-487C-AD18-8D38734FBCCC}" type="pres">
      <dgm:prSet presAssocID="{A88EE3CF-4179-4551-B0F6-C9F156457DD2}" presName="accent_2" presStyleCnt="0"/>
      <dgm:spPr/>
    </dgm:pt>
    <dgm:pt modelId="{58F1A302-EFD9-498E-828D-D50A29E35DCF}" type="pres">
      <dgm:prSet presAssocID="{A88EE3CF-4179-4551-B0F6-C9F156457DD2}" presName="accentRepeatNode" presStyleLbl="solidFgAcc1" presStyleIdx="1" presStyleCnt="3"/>
      <dgm:spPr/>
    </dgm:pt>
    <dgm:pt modelId="{44AA0C31-4F94-46A1-81A1-EE4D240559C4}" type="pres">
      <dgm:prSet presAssocID="{431E7EE1-D67A-4F01-A5FD-8BF1493CAC15}" presName="text_3" presStyleLbl="node1" presStyleIdx="2" presStyleCnt="3">
        <dgm:presLayoutVars>
          <dgm:bulletEnabled val="1"/>
        </dgm:presLayoutVars>
      </dgm:prSet>
      <dgm:spPr/>
    </dgm:pt>
    <dgm:pt modelId="{4578B426-97A5-4EE3-9999-46DFF45A4F68}" type="pres">
      <dgm:prSet presAssocID="{431E7EE1-D67A-4F01-A5FD-8BF1493CAC15}" presName="accent_3" presStyleCnt="0"/>
      <dgm:spPr/>
    </dgm:pt>
    <dgm:pt modelId="{73F7E9A7-E64C-4177-876A-0D38A0D92123}" type="pres">
      <dgm:prSet presAssocID="{431E7EE1-D67A-4F01-A5FD-8BF1493CAC15}" presName="accentRepeatNode" presStyleLbl="solidFgAcc1" presStyleIdx="2" presStyleCnt="3"/>
      <dgm:spPr/>
    </dgm:pt>
  </dgm:ptLst>
  <dgm:cxnLst>
    <dgm:cxn modelId="{7F9A5522-9949-4915-A616-B4731FE6297E}" srcId="{A9168BAB-02F3-4774-BD34-11BE75509F38}" destId="{A88EE3CF-4179-4551-B0F6-C9F156457DD2}" srcOrd="1" destOrd="0" parTransId="{D1F961A0-AA62-47EC-93B3-066BBD5A1852}" sibTransId="{A2BCBC33-88D5-4A33-BDDF-C5529C963189}"/>
    <dgm:cxn modelId="{D185A541-67F4-41A1-87A6-9334F03A0C04}" type="presOf" srcId="{A88EE3CF-4179-4551-B0F6-C9F156457DD2}" destId="{4A0E9F36-9068-43D1-96A0-243BC3FC5A59}" srcOrd="0" destOrd="0" presId="urn:microsoft.com/office/officeart/2008/layout/VerticalCurvedList"/>
    <dgm:cxn modelId="{0264B74A-B9A5-42BD-8FA2-D9D0966DB76D}" type="presOf" srcId="{A9168BAB-02F3-4774-BD34-11BE75509F38}" destId="{84401C51-3872-42F1-806E-CD8B9B7D3BF7}" srcOrd="0" destOrd="0" presId="urn:microsoft.com/office/officeart/2008/layout/VerticalCurvedList"/>
    <dgm:cxn modelId="{17758F56-AAE1-4E09-B122-1D35FAF7C5F5}" type="presOf" srcId="{1ED6037F-4F83-4AB6-BF62-BD7F6F51329A}" destId="{37C2406F-D890-47A5-A8D4-5C668B3C7E78}" srcOrd="0" destOrd="0" presId="urn:microsoft.com/office/officeart/2008/layout/VerticalCurvedList"/>
    <dgm:cxn modelId="{B57B3EA7-6873-423D-B4E7-D58221EDC14B}" srcId="{A9168BAB-02F3-4774-BD34-11BE75509F38}" destId="{DCEB5D7B-F726-4004-A984-BA49721D923F}" srcOrd="0" destOrd="0" parTransId="{AA2007CB-2F1D-4C77-8047-A04562540727}" sibTransId="{1ED6037F-4F83-4AB6-BF62-BD7F6F51329A}"/>
    <dgm:cxn modelId="{BA5640C9-1B7D-4ABC-B424-B020C8DB7FD5}" srcId="{A9168BAB-02F3-4774-BD34-11BE75509F38}" destId="{431E7EE1-D67A-4F01-A5FD-8BF1493CAC15}" srcOrd="2" destOrd="0" parTransId="{CA82EC3C-5F70-47F8-8254-BEA6AD1F438C}" sibTransId="{BB11DB9C-C623-4A6B-A534-AA57D7FEB13D}"/>
    <dgm:cxn modelId="{FA7ACCD3-44BC-4D6D-BE2D-3B3A94379B1C}" type="presOf" srcId="{431E7EE1-D67A-4F01-A5FD-8BF1493CAC15}" destId="{44AA0C31-4F94-46A1-81A1-EE4D240559C4}" srcOrd="0" destOrd="0" presId="urn:microsoft.com/office/officeart/2008/layout/VerticalCurvedList"/>
    <dgm:cxn modelId="{9732D6F1-BDDF-47C6-8AA2-53EB5F1A900F}" type="presOf" srcId="{DCEB5D7B-F726-4004-A984-BA49721D923F}" destId="{659E3B4D-2071-4B80-B344-F7920B6C3448}" srcOrd="0" destOrd="0" presId="urn:microsoft.com/office/officeart/2008/layout/VerticalCurvedList"/>
    <dgm:cxn modelId="{ADF82549-343C-4541-913D-8F5491BF3357}" type="presParOf" srcId="{84401C51-3872-42F1-806E-CD8B9B7D3BF7}" destId="{2E3A738D-CD48-44E5-B493-7F3AE3223485}" srcOrd="0" destOrd="0" presId="urn:microsoft.com/office/officeart/2008/layout/VerticalCurvedList"/>
    <dgm:cxn modelId="{DB1E615C-8EBC-46BD-8A49-266C4F541395}" type="presParOf" srcId="{2E3A738D-CD48-44E5-B493-7F3AE3223485}" destId="{22F9EADE-CED4-45D4-B239-4E42A22EDA2D}" srcOrd="0" destOrd="0" presId="urn:microsoft.com/office/officeart/2008/layout/VerticalCurvedList"/>
    <dgm:cxn modelId="{FE759F1E-75AE-45CD-87FF-0B54C5722EED}" type="presParOf" srcId="{22F9EADE-CED4-45D4-B239-4E42A22EDA2D}" destId="{391951F7-CD87-475A-8F89-589DC3ACD005}" srcOrd="0" destOrd="0" presId="urn:microsoft.com/office/officeart/2008/layout/VerticalCurvedList"/>
    <dgm:cxn modelId="{51B97EB6-5DF2-4834-8C35-B289D4E517A5}" type="presParOf" srcId="{22F9EADE-CED4-45D4-B239-4E42A22EDA2D}" destId="{37C2406F-D890-47A5-A8D4-5C668B3C7E78}" srcOrd="1" destOrd="0" presId="urn:microsoft.com/office/officeart/2008/layout/VerticalCurvedList"/>
    <dgm:cxn modelId="{397DB8E5-9605-4F26-990C-19452064AC05}" type="presParOf" srcId="{22F9EADE-CED4-45D4-B239-4E42A22EDA2D}" destId="{550D2509-929D-4242-ABCA-F867F1B483E0}" srcOrd="2" destOrd="0" presId="urn:microsoft.com/office/officeart/2008/layout/VerticalCurvedList"/>
    <dgm:cxn modelId="{7444AC75-6151-401B-984A-BDFA39DCE51C}" type="presParOf" srcId="{22F9EADE-CED4-45D4-B239-4E42A22EDA2D}" destId="{38C4BD92-BD8F-4BB6-B98F-632FD67221F7}" srcOrd="3" destOrd="0" presId="urn:microsoft.com/office/officeart/2008/layout/VerticalCurvedList"/>
    <dgm:cxn modelId="{FA201646-4F06-4D7E-9C9D-49664FE86C3F}" type="presParOf" srcId="{2E3A738D-CD48-44E5-B493-7F3AE3223485}" destId="{659E3B4D-2071-4B80-B344-F7920B6C3448}" srcOrd="1" destOrd="0" presId="urn:microsoft.com/office/officeart/2008/layout/VerticalCurvedList"/>
    <dgm:cxn modelId="{2306CDAE-4602-4610-A78E-DD8B76105D5C}" type="presParOf" srcId="{2E3A738D-CD48-44E5-B493-7F3AE3223485}" destId="{8FF52082-4249-4739-907D-4BA37FB8FEFB}" srcOrd="2" destOrd="0" presId="urn:microsoft.com/office/officeart/2008/layout/VerticalCurvedList"/>
    <dgm:cxn modelId="{CEEC7B67-6810-4754-93EA-2E8BA347BE4C}" type="presParOf" srcId="{8FF52082-4249-4739-907D-4BA37FB8FEFB}" destId="{A724CAB9-52D6-4196-B5AA-3578FB8D1852}" srcOrd="0" destOrd="0" presId="urn:microsoft.com/office/officeart/2008/layout/VerticalCurvedList"/>
    <dgm:cxn modelId="{F6003F04-6DB2-4A14-AA7D-9F66E3302C83}" type="presParOf" srcId="{2E3A738D-CD48-44E5-B493-7F3AE3223485}" destId="{4A0E9F36-9068-43D1-96A0-243BC3FC5A59}" srcOrd="3" destOrd="0" presId="urn:microsoft.com/office/officeart/2008/layout/VerticalCurvedList"/>
    <dgm:cxn modelId="{58879848-0CAF-4C07-8393-852BAD4FE178}" type="presParOf" srcId="{2E3A738D-CD48-44E5-B493-7F3AE3223485}" destId="{24A802EF-E26F-487C-AD18-8D38734FBCCC}" srcOrd="4" destOrd="0" presId="urn:microsoft.com/office/officeart/2008/layout/VerticalCurvedList"/>
    <dgm:cxn modelId="{F778C437-3571-4039-824F-13C137ABCD44}" type="presParOf" srcId="{24A802EF-E26F-487C-AD18-8D38734FBCCC}" destId="{58F1A302-EFD9-498E-828D-D50A29E35DCF}" srcOrd="0" destOrd="0" presId="urn:microsoft.com/office/officeart/2008/layout/VerticalCurvedList"/>
    <dgm:cxn modelId="{CE96B2BE-C038-4E29-8BE1-6CB01ED064CA}" type="presParOf" srcId="{2E3A738D-CD48-44E5-B493-7F3AE3223485}" destId="{44AA0C31-4F94-46A1-81A1-EE4D240559C4}" srcOrd="5" destOrd="0" presId="urn:microsoft.com/office/officeart/2008/layout/VerticalCurvedList"/>
    <dgm:cxn modelId="{2178FB28-6217-49B0-9481-D8D8F6351763}" type="presParOf" srcId="{2E3A738D-CD48-44E5-B493-7F3AE3223485}" destId="{4578B426-97A5-4EE3-9999-46DFF45A4F68}" srcOrd="6" destOrd="0" presId="urn:microsoft.com/office/officeart/2008/layout/VerticalCurvedList"/>
    <dgm:cxn modelId="{AC9EE07D-E5ED-4AF0-88A8-C07A607A92E8}" type="presParOf" srcId="{4578B426-97A5-4EE3-9999-46DFF45A4F68}" destId="{73F7E9A7-E64C-4177-876A-0D38A0D9212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4E7DED-F4D7-41E7-B0B3-90DD651A9A96}"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US"/>
        </a:p>
      </dgm:t>
    </dgm:pt>
    <dgm:pt modelId="{F67697AC-7D4F-4236-B7BC-00C3362CAC28}">
      <dgm:prSet phldrT="[Text]"/>
      <dgm:spPr/>
      <dgm:t>
        <a:bodyPr/>
        <a:lstStyle/>
        <a:p>
          <a:r>
            <a:rPr lang="fr-FR" noProof="0" dirty="0"/>
            <a:t>Suite au copil de fin de mise en production</a:t>
          </a:r>
          <a:endParaRPr lang="en-US" dirty="0"/>
        </a:p>
      </dgm:t>
    </dgm:pt>
    <dgm:pt modelId="{575E173C-1416-43FD-AA2C-F74FB705E903}" type="parTrans" cxnId="{4525A947-353C-4A90-BDBC-179AC32D3102}">
      <dgm:prSet/>
      <dgm:spPr/>
      <dgm:t>
        <a:bodyPr/>
        <a:lstStyle/>
        <a:p>
          <a:endParaRPr lang="en-US"/>
        </a:p>
      </dgm:t>
    </dgm:pt>
    <dgm:pt modelId="{AD9AB256-ACBA-4086-BF2F-08F0BE3882EA}" type="sibTrans" cxnId="{4525A947-353C-4A90-BDBC-179AC32D3102}">
      <dgm:prSet/>
      <dgm:spPr/>
      <dgm:t>
        <a:bodyPr/>
        <a:lstStyle/>
        <a:p>
          <a:endParaRPr lang="en-US"/>
        </a:p>
      </dgm:t>
    </dgm:pt>
    <dgm:pt modelId="{6F9C5B93-DDEF-41A2-9998-7706342AE33F}">
      <dgm:prSet/>
      <dgm:spPr/>
      <dgm:t>
        <a:bodyPr/>
        <a:lstStyle/>
        <a:p>
          <a:r>
            <a:rPr lang="fr-FR"/>
            <a:t>Transfert progressif</a:t>
          </a:r>
          <a:endParaRPr lang="fr-FR" dirty="0"/>
        </a:p>
      </dgm:t>
    </dgm:pt>
    <dgm:pt modelId="{076F1410-55C4-43B6-BEF4-F753FB95BA64}" type="parTrans" cxnId="{802393BD-9DB8-44F4-88F8-BB80C1F84533}">
      <dgm:prSet/>
      <dgm:spPr/>
      <dgm:t>
        <a:bodyPr/>
        <a:lstStyle/>
        <a:p>
          <a:endParaRPr lang="en-US"/>
        </a:p>
      </dgm:t>
    </dgm:pt>
    <dgm:pt modelId="{B9C6F648-D7D4-4B9A-AF65-EAF36D81F221}" type="sibTrans" cxnId="{802393BD-9DB8-44F4-88F8-BB80C1F84533}">
      <dgm:prSet/>
      <dgm:spPr/>
      <dgm:t>
        <a:bodyPr/>
        <a:lstStyle/>
        <a:p>
          <a:endParaRPr lang="en-US"/>
        </a:p>
      </dgm:t>
    </dgm:pt>
    <dgm:pt modelId="{31B88D98-4661-441E-A403-A5A593D6D77F}">
      <dgm:prSet/>
      <dgm:spPr/>
      <dgm:t>
        <a:bodyPr/>
        <a:lstStyle/>
        <a:p>
          <a:r>
            <a:rPr lang="fr-FR"/>
            <a:t>Définition de la fréquence des Suivi projet</a:t>
          </a:r>
          <a:endParaRPr lang="en-US"/>
        </a:p>
      </dgm:t>
    </dgm:pt>
    <dgm:pt modelId="{74768C0C-B4E4-4A4D-863B-9AD6E21636ED}" type="parTrans" cxnId="{D244EE15-E8DB-4BB1-8E03-DD93A7FB4E3B}">
      <dgm:prSet/>
      <dgm:spPr/>
      <dgm:t>
        <a:bodyPr/>
        <a:lstStyle/>
        <a:p>
          <a:endParaRPr lang="en-US"/>
        </a:p>
      </dgm:t>
    </dgm:pt>
    <dgm:pt modelId="{550F0982-BD41-493C-A7DB-D068FC572C89}" type="sibTrans" cxnId="{D244EE15-E8DB-4BB1-8E03-DD93A7FB4E3B}">
      <dgm:prSet/>
      <dgm:spPr/>
      <dgm:t>
        <a:bodyPr/>
        <a:lstStyle/>
        <a:p>
          <a:endParaRPr lang="en-US"/>
        </a:p>
      </dgm:t>
    </dgm:pt>
    <dgm:pt modelId="{5139D567-6456-4414-ADCE-F63426CF9AC2}" type="pres">
      <dgm:prSet presAssocID="{504E7DED-F4D7-41E7-B0B3-90DD651A9A96}" presName="Name0" presStyleCnt="0">
        <dgm:presLayoutVars>
          <dgm:chMax val="7"/>
          <dgm:chPref val="7"/>
          <dgm:dir/>
        </dgm:presLayoutVars>
      </dgm:prSet>
      <dgm:spPr/>
    </dgm:pt>
    <dgm:pt modelId="{584CECD7-70AE-4C05-B020-E7758EA52716}" type="pres">
      <dgm:prSet presAssocID="{504E7DED-F4D7-41E7-B0B3-90DD651A9A96}" presName="Name1" presStyleCnt="0"/>
      <dgm:spPr/>
    </dgm:pt>
    <dgm:pt modelId="{CA4AAC26-8227-4E3B-83D5-2C36CC0AC88A}" type="pres">
      <dgm:prSet presAssocID="{504E7DED-F4D7-41E7-B0B3-90DD651A9A96}" presName="cycle" presStyleCnt="0"/>
      <dgm:spPr/>
    </dgm:pt>
    <dgm:pt modelId="{01FAB529-41AE-431F-8A71-08DB460F2363}" type="pres">
      <dgm:prSet presAssocID="{504E7DED-F4D7-41E7-B0B3-90DD651A9A96}" presName="srcNode" presStyleLbl="node1" presStyleIdx="0" presStyleCnt="3"/>
      <dgm:spPr/>
    </dgm:pt>
    <dgm:pt modelId="{BF991332-5BA1-4F44-9491-52CF3B4C3F7F}" type="pres">
      <dgm:prSet presAssocID="{504E7DED-F4D7-41E7-B0B3-90DD651A9A96}" presName="conn" presStyleLbl="parChTrans1D2" presStyleIdx="0" presStyleCnt="1"/>
      <dgm:spPr/>
    </dgm:pt>
    <dgm:pt modelId="{E5C0324B-4127-422B-AC4F-60A1727805DE}" type="pres">
      <dgm:prSet presAssocID="{504E7DED-F4D7-41E7-B0B3-90DD651A9A96}" presName="extraNode" presStyleLbl="node1" presStyleIdx="0" presStyleCnt="3"/>
      <dgm:spPr/>
    </dgm:pt>
    <dgm:pt modelId="{02468D47-E70F-4042-B9AF-EDB74E3776A2}" type="pres">
      <dgm:prSet presAssocID="{504E7DED-F4D7-41E7-B0B3-90DD651A9A96}" presName="dstNode" presStyleLbl="node1" presStyleIdx="0" presStyleCnt="3"/>
      <dgm:spPr/>
    </dgm:pt>
    <dgm:pt modelId="{806C7B68-CB0D-4E46-8BE9-0B08E7E25526}" type="pres">
      <dgm:prSet presAssocID="{F67697AC-7D4F-4236-B7BC-00C3362CAC28}" presName="text_1" presStyleLbl="node1" presStyleIdx="0" presStyleCnt="3">
        <dgm:presLayoutVars>
          <dgm:bulletEnabled val="1"/>
        </dgm:presLayoutVars>
      </dgm:prSet>
      <dgm:spPr/>
    </dgm:pt>
    <dgm:pt modelId="{69DB3A9F-184B-4B5F-8181-8F17CD15A74B}" type="pres">
      <dgm:prSet presAssocID="{F67697AC-7D4F-4236-B7BC-00C3362CAC28}" presName="accent_1" presStyleCnt="0"/>
      <dgm:spPr/>
    </dgm:pt>
    <dgm:pt modelId="{52B17895-C683-4FAF-A367-D9C9E65E41CE}" type="pres">
      <dgm:prSet presAssocID="{F67697AC-7D4F-4236-B7BC-00C3362CAC28}" presName="accentRepeatNode" presStyleLbl="solidFgAcc1" presStyleIdx="0" presStyleCnt="3"/>
      <dgm:spPr/>
    </dgm:pt>
    <dgm:pt modelId="{DA739D05-6928-43F4-ADE1-49F1FED1FB65}" type="pres">
      <dgm:prSet presAssocID="{6F9C5B93-DDEF-41A2-9998-7706342AE33F}" presName="text_2" presStyleLbl="node1" presStyleIdx="1" presStyleCnt="3">
        <dgm:presLayoutVars>
          <dgm:bulletEnabled val="1"/>
        </dgm:presLayoutVars>
      </dgm:prSet>
      <dgm:spPr/>
    </dgm:pt>
    <dgm:pt modelId="{3001D069-3144-4BBD-A636-9672D811F769}" type="pres">
      <dgm:prSet presAssocID="{6F9C5B93-DDEF-41A2-9998-7706342AE33F}" presName="accent_2" presStyleCnt="0"/>
      <dgm:spPr/>
    </dgm:pt>
    <dgm:pt modelId="{85E47004-B6F7-4784-975D-260E3322BD7F}" type="pres">
      <dgm:prSet presAssocID="{6F9C5B93-DDEF-41A2-9998-7706342AE33F}" presName="accentRepeatNode" presStyleLbl="solidFgAcc1" presStyleIdx="1" presStyleCnt="3"/>
      <dgm:spPr/>
    </dgm:pt>
    <dgm:pt modelId="{1313A0E1-D2F1-44C2-8531-09A0ADCADBE6}" type="pres">
      <dgm:prSet presAssocID="{31B88D98-4661-441E-A403-A5A593D6D77F}" presName="text_3" presStyleLbl="node1" presStyleIdx="2" presStyleCnt="3">
        <dgm:presLayoutVars>
          <dgm:bulletEnabled val="1"/>
        </dgm:presLayoutVars>
      </dgm:prSet>
      <dgm:spPr/>
    </dgm:pt>
    <dgm:pt modelId="{4D0F314A-4E18-45A1-98AE-D7DEDC81541B}" type="pres">
      <dgm:prSet presAssocID="{31B88D98-4661-441E-A403-A5A593D6D77F}" presName="accent_3" presStyleCnt="0"/>
      <dgm:spPr/>
    </dgm:pt>
    <dgm:pt modelId="{093777D7-8277-49B2-ACFD-952E88792DAD}" type="pres">
      <dgm:prSet presAssocID="{31B88D98-4661-441E-A403-A5A593D6D77F}" presName="accentRepeatNode" presStyleLbl="solidFgAcc1" presStyleIdx="2" presStyleCnt="3"/>
      <dgm:spPr/>
    </dgm:pt>
  </dgm:ptLst>
  <dgm:cxnLst>
    <dgm:cxn modelId="{D244EE15-E8DB-4BB1-8E03-DD93A7FB4E3B}" srcId="{504E7DED-F4D7-41E7-B0B3-90DD651A9A96}" destId="{31B88D98-4661-441E-A403-A5A593D6D77F}" srcOrd="2" destOrd="0" parTransId="{74768C0C-B4E4-4A4D-863B-9AD6E21636ED}" sibTransId="{550F0982-BD41-493C-A7DB-D068FC572C89}"/>
    <dgm:cxn modelId="{619A1541-CF38-4FCE-9494-A9AC4152EADE}" type="presOf" srcId="{AD9AB256-ACBA-4086-BF2F-08F0BE3882EA}" destId="{BF991332-5BA1-4F44-9491-52CF3B4C3F7F}" srcOrd="0" destOrd="0" presId="urn:microsoft.com/office/officeart/2008/layout/VerticalCurvedList"/>
    <dgm:cxn modelId="{5BC28942-7F76-40E8-9FEB-F4784A836ED2}" type="presOf" srcId="{504E7DED-F4D7-41E7-B0B3-90DD651A9A96}" destId="{5139D567-6456-4414-ADCE-F63426CF9AC2}" srcOrd="0" destOrd="0" presId="urn:microsoft.com/office/officeart/2008/layout/VerticalCurvedList"/>
    <dgm:cxn modelId="{4525A947-353C-4A90-BDBC-179AC32D3102}" srcId="{504E7DED-F4D7-41E7-B0B3-90DD651A9A96}" destId="{F67697AC-7D4F-4236-B7BC-00C3362CAC28}" srcOrd="0" destOrd="0" parTransId="{575E173C-1416-43FD-AA2C-F74FB705E903}" sibTransId="{AD9AB256-ACBA-4086-BF2F-08F0BE3882EA}"/>
    <dgm:cxn modelId="{70AE5352-1454-41BF-8B52-980CDDA04F61}" type="presOf" srcId="{F67697AC-7D4F-4236-B7BC-00C3362CAC28}" destId="{806C7B68-CB0D-4E46-8BE9-0B08E7E25526}" srcOrd="0" destOrd="0" presId="urn:microsoft.com/office/officeart/2008/layout/VerticalCurvedList"/>
    <dgm:cxn modelId="{90469080-94F4-435F-93E7-A1CEAE9E41C4}" type="presOf" srcId="{6F9C5B93-DDEF-41A2-9998-7706342AE33F}" destId="{DA739D05-6928-43F4-ADE1-49F1FED1FB65}" srcOrd="0" destOrd="0" presId="urn:microsoft.com/office/officeart/2008/layout/VerticalCurvedList"/>
    <dgm:cxn modelId="{802393BD-9DB8-44F4-88F8-BB80C1F84533}" srcId="{504E7DED-F4D7-41E7-B0B3-90DD651A9A96}" destId="{6F9C5B93-DDEF-41A2-9998-7706342AE33F}" srcOrd="1" destOrd="0" parTransId="{076F1410-55C4-43B6-BEF4-F753FB95BA64}" sibTransId="{B9C6F648-D7D4-4B9A-AF65-EAF36D81F221}"/>
    <dgm:cxn modelId="{01970CC1-20C9-4FDC-88FD-D55327B751B0}" type="presOf" srcId="{31B88D98-4661-441E-A403-A5A593D6D77F}" destId="{1313A0E1-D2F1-44C2-8531-09A0ADCADBE6}" srcOrd="0" destOrd="0" presId="urn:microsoft.com/office/officeart/2008/layout/VerticalCurvedList"/>
    <dgm:cxn modelId="{09147895-7501-4E45-941A-FBE25A40E876}" type="presParOf" srcId="{5139D567-6456-4414-ADCE-F63426CF9AC2}" destId="{584CECD7-70AE-4C05-B020-E7758EA52716}" srcOrd="0" destOrd="0" presId="urn:microsoft.com/office/officeart/2008/layout/VerticalCurvedList"/>
    <dgm:cxn modelId="{0ECED86A-978D-4D16-9E42-5569B273A947}" type="presParOf" srcId="{584CECD7-70AE-4C05-B020-E7758EA52716}" destId="{CA4AAC26-8227-4E3B-83D5-2C36CC0AC88A}" srcOrd="0" destOrd="0" presId="urn:microsoft.com/office/officeart/2008/layout/VerticalCurvedList"/>
    <dgm:cxn modelId="{26890EDA-E1F0-483B-B3DB-E5718E0E6CF9}" type="presParOf" srcId="{CA4AAC26-8227-4E3B-83D5-2C36CC0AC88A}" destId="{01FAB529-41AE-431F-8A71-08DB460F2363}" srcOrd="0" destOrd="0" presId="urn:microsoft.com/office/officeart/2008/layout/VerticalCurvedList"/>
    <dgm:cxn modelId="{AE705F2F-673E-4C3C-B7AF-780069BFA89B}" type="presParOf" srcId="{CA4AAC26-8227-4E3B-83D5-2C36CC0AC88A}" destId="{BF991332-5BA1-4F44-9491-52CF3B4C3F7F}" srcOrd="1" destOrd="0" presId="urn:microsoft.com/office/officeart/2008/layout/VerticalCurvedList"/>
    <dgm:cxn modelId="{D3EF8D75-0996-460B-9B5A-375391E4BFE6}" type="presParOf" srcId="{CA4AAC26-8227-4E3B-83D5-2C36CC0AC88A}" destId="{E5C0324B-4127-422B-AC4F-60A1727805DE}" srcOrd="2" destOrd="0" presId="urn:microsoft.com/office/officeart/2008/layout/VerticalCurvedList"/>
    <dgm:cxn modelId="{D6AE68C2-9714-4103-B73B-1437931AA616}" type="presParOf" srcId="{CA4AAC26-8227-4E3B-83D5-2C36CC0AC88A}" destId="{02468D47-E70F-4042-B9AF-EDB74E3776A2}" srcOrd="3" destOrd="0" presId="urn:microsoft.com/office/officeart/2008/layout/VerticalCurvedList"/>
    <dgm:cxn modelId="{53AE19DB-C88A-48B1-B45B-E02359C3836C}" type="presParOf" srcId="{584CECD7-70AE-4C05-B020-E7758EA52716}" destId="{806C7B68-CB0D-4E46-8BE9-0B08E7E25526}" srcOrd="1" destOrd="0" presId="urn:microsoft.com/office/officeart/2008/layout/VerticalCurvedList"/>
    <dgm:cxn modelId="{B7E1458E-A4CD-437A-B027-C81AC978BA9B}" type="presParOf" srcId="{584CECD7-70AE-4C05-B020-E7758EA52716}" destId="{69DB3A9F-184B-4B5F-8181-8F17CD15A74B}" srcOrd="2" destOrd="0" presId="urn:microsoft.com/office/officeart/2008/layout/VerticalCurvedList"/>
    <dgm:cxn modelId="{5E47F81A-3C6E-45F3-B9CD-C26147515811}" type="presParOf" srcId="{69DB3A9F-184B-4B5F-8181-8F17CD15A74B}" destId="{52B17895-C683-4FAF-A367-D9C9E65E41CE}" srcOrd="0" destOrd="0" presId="urn:microsoft.com/office/officeart/2008/layout/VerticalCurvedList"/>
    <dgm:cxn modelId="{B7FE5BE6-C255-4FEC-B0D9-5A6ED1EAEFAB}" type="presParOf" srcId="{584CECD7-70AE-4C05-B020-E7758EA52716}" destId="{DA739D05-6928-43F4-ADE1-49F1FED1FB65}" srcOrd="3" destOrd="0" presId="urn:microsoft.com/office/officeart/2008/layout/VerticalCurvedList"/>
    <dgm:cxn modelId="{61F6D788-628C-42F6-B05E-26605B0C5E6C}" type="presParOf" srcId="{584CECD7-70AE-4C05-B020-E7758EA52716}" destId="{3001D069-3144-4BBD-A636-9672D811F769}" srcOrd="4" destOrd="0" presId="urn:microsoft.com/office/officeart/2008/layout/VerticalCurvedList"/>
    <dgm:cxn modelId="{5ED64708-17A3-404C-ABE7-AAC6CD4E8EEA}" type="presParOf" srcId="{3001D069-3144-4BBD-A636-9672D811F769}" destId="{85E47004-B6F7-4784-975D-260E3322BD7F}" srcOrd="0" destOrd="0" presId="urn:microsoft.com/office/officeart/2008/layout/VerticalCurvedList"/>
    <dgm:cxn modelId="{FED10082-6E68-4BE1-901E-9AA7D312A944}" type="presParOf" srcId="{584CECD7-70AE-4C05-B020-E7758EA52716}" destId="{1313A0E1-D2F1-44C2-8531-09A0ADCADBE6}" srcOrd="5" destOrd="0" presId="urn:microsoft.com/office/officeart/2008/layout/VerticalCurvedList"/>
    <dgm:cxn modelId="{88768170-259D-4A99-94A0-4B2C552B3731}" type="presParOf" srcId="{584CECD7-70AE-4C05-B020-E7758EA52716}" destId="{4D0F314A-4E18-45A1-98AE-D7DEDC81541B}" srcOrd="6" destOrd="0" presId="urn:microsoft.com/office/officeart/2008/layout/VerticalCurvedList"/>
    <dgm:cxn modelId="{25BA949A-D4B5-41DE-BA6F-0D0679594ABD}" type="presParOf" srcId="{4D0F314A-4E18-45A1-98AE-D7DEDC81541B}" destId="{093777D7-8277-49B2-ACFD-952E88792DAD}"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196C6-EB8E-42E9-B72F-BE794FA2E659}">
      <dsp:nvSpPr>
        <dsp:cNvPr id="0" name=""/>
        <dsp:cNvSpPr/>
      </dsp:nvSpPr>
      <dsp:spPr>
        <a:xfrm>
          <a:off x="4415" y="2195282"/>
          <a:ext cx="2570253" cy="1028101"/>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noProof="0" dirty="0"/>
            <a:t>Stop sur l’ancien système à ..:..</a:t>
          </a:r>
          <a:endParaRPr lang="en-US" sz="1800" kern="1200" dirty="0"/>
        </a:p>
      </dsp:txBody>
      <dsp:txXfrm>
        <a:off x="518466" y="2195282"/>
        <a:ext cx="1542152" cy="1028101"/>
      </dsp:txXfrm>
    </dsp:sp>
    <dsp:sp modelId="{6492EBC1-5B6C-49B3-9742-E885879ED0E3}">
      <dsp:nvSpPr>
        <dsp:cNvPr id="0" name=""/>
        <dsp:cNvSpPr/>
      </dsp:nvSpPr>
      <dsp:spPr>
        <a:xfrm>
          <a:off x="2317643" y="2195282"/>
          <a:ext cx="2570253" cy="1028101"/>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noProof="0"/>
            <a:t>Début de la migration</a:t>
          </a:r>
          <a:endParaRPr lang="fr-FR" sz="1800" kern="1200" noProof="0" dirty="0"/>
        </a:p>
      </dsp:txBody>
      <dsp:txXfrm>
        <a:off x="2831694" y="2195282"/>
        <a:ext cx="1542152" cy="1028101"/>
      </dsp:txXfrm>
    </dsp:sp>
    <dsp:sp modelId="{948373F2-4AB9-41F5-93E6-E811DA842659}">
      <dsp:nvSpPr>
        <dsp:cNvPr id="0" name=""/>
        <dsp:cNvSpPr/>
      </dsp:nvSpPr>
      <dsp:spPr>
        <a:xfrm>
          <a:off x="4630872" y="2195282"/>
          <a:ext cx="2570253" cy="1028101"/>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a:t>Tests</a:t>
          </a:r>
          <a:endParaRPr lang="fr-FR" sz="1800" kern="1200" dirty="0"/>
        </a:p>
      </dsp:txBody>
      <dsp:txXfrm>
        <a:off x="5144923" y="2195282"/>
        <a:ext cx="1542152" cy="1028101"/>
      </dsp:txXfrm>
    </dsp:sp>
    <dsp:sp modelId="{350B00D0-F5D5-4A79-A03D-6ADADCC49446}">
      <dsp:nvSpPr>
        <dsp:cNvPr id="0" name=""/>
        <dsp:cNvSpPr/>
      </dsp:nvSpPr>
      <dsp:spPr>
        <a:xfrm>
          <a:off x="6944100" y="2195282"/>
          <a:ext cx="2570253" cy="1028101"/>
        </a:xfrm>
        <a:prstGeom prst="chevr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fr-FR" sz="1800" kern="1200" noProof="0"/>
            <a:t>Passage sur nouveau système</a:t>
          </a:r>
          <a:endParaRPr lang="fr-FR" sz="1800" kern="1200" noProof="0" dirty="0"/>
        </a:p>
      </dsp:txBody>
      <dsp:txXfrm>
        <a:off x="7458151" y="2195282"/>
        <a:ext cx="1542152" cy="1028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2406F-D890-47A5-A8D4-5C668B3C7E78}">
      <dsp:nvSpPr>
        <dsp:cNvPr id="0" name=""/>
        <dsp:cNvSpPr/>
      </dsp:nvSpPr>
      <dsp:spPr>
        <a:xfrm>
          <a:off x="-4759678" y="-729544"/>
          <a:ext cx="5669230" cy="5669230"/>
        </a:xfrm>
        <a:prstGeom prst="blockArc">
          <a:avLst>
            <a:gd name="adj1" fmla="val 18900000"/>
            <a:gd name="adj2" fmla="val 2700000"/>
            <a:gd name="adj3" fmla="val 381"/>
          </a:avLst>
        </a:pr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9E3B4D-2071-4B80-B344-F7920B6C3448}">
      <dsp:nvSpPr>
        <dsp:cNvPr id="0" name=""/>
        <dsp:cNvSpPr/>
      </dsp:nvSpPr>
      <dsp:spPr>
        <a:xfrm>
          <a:off x="584972" y="421014"/>
          <a:ext cx="8785349" cy="8420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8360" tIns="66040" rIns="66040" bIns="66040" numCol="1" spcCol="1270" anchor="ctr" anchorCtr="0">
          <a:noAutofit/>
        </a:bodyPr>
        <a:lstStyle/>
        <a:p>
          <a:pPr marL="0" lvl="0" indent="0" algn="l" defTabSz="1155700">
            <a:lnSpc>
              <a:spcPct val="90000"/>
            </a:lnSpc>
            <a:spcBef>
              <a:spcPct val="0"/>
            </a:spcBef>
            <a:spcAft>
              <a:spcPct val="35000"/>
            </a:spcAft>
            <a:buNone/>
          </a:pPr>
          <a:r>
            <a:rPr lang="fr-FR" sz="2600" kern="1200" noProof="0" dirty="0"/>
            <a:t>Réunion journalière </a:t>
          </a:r>
          <a:r>
            <a:rPr lang="fr-FR" sz="2600" kern="1200" noProof="0"/>
            <a:t>à ..:..</a:t>
          </a:r>
          <a:endParaRPr lang="en-US" sz="2600" kern="1200" dirty="0"/>
        </a:p>
      </dsp:txBody>
      <dsp:txXfrm>
        <a:off x="584972" y="421014"/>
        <a:ext cx="8785349" cy="842028"/>
      </dsp:txXfrm>
    </dsp:sp>
    <dsp:sp modelId="{A724CAB9-52D6-4196-B5AA-3578FB8D1852}">
      <dsp:nvSpPr>
        <dsp:cNvPr id="0" name=""/>
        <dsp:cNvSpPr/>
      </dsp:nvSpPr>
      <dsp:spPr>
        <a:xfrm>
          <a:off x="58705" y="315760"/>
          <a:ext cx="1052535" cy="1052535"/>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0E9F36-9068-43D1-96A0-243BC3FC5A59}">
      <dsp:nvSpPr>
        <dsp:cNvPr id="0" name=""/>
        <dsp:cNvSpPr/>
      </dsp:nvSpPr>
      <dsp:spPr>
        <a:xfrm>
          <a:off x="891050" y="1684056"/>
          <a:ext cx="8479272" cy="84202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8360" tIns="66040" rIns="66040" bIns="66040" numCol="1" spcCol="1270" anchor="ctr" anchorCtr="0">
          <a:noAutofit/>
        </a:bodyPr>
        <a:lstStyle/>
        <a:p>
          <a:pPr marL="0" lvl="0" indent="0" algn="l" defTabSz="1155700">
            <a:lnSpc>
              <a:spcPct val="90000"/>
            </a:lnSpc>
            <a:spcBef>
              <a:spcPct val="0"/>
            </a:spcBef>
            <a:spcAft>
              <a:spcPct val="35000"/>
            </a:spcAft>
            <a:buNone/>
          </a:pPr>
          <a:r>
            <a:rPr lang="fr-FR" sz="2600" kern="1200"/>
            <a:t>Récupération des feedback et définition des priorités</a:t>
          </a:r>
          <a:endParaRPr lang="fr-FR" sz="2600" kern="1200" dirty="0"/>
        </a:p>
      </dsp:txBody>
      <dsp:txXfrm>
        <a:off x="891050" y="1684056"/>
        <a:ext cx="8479272" cy="842028"/>
      </dsp:txXfrm>
    </dsp:sp>
    <dsp:sp modelId="{58F1A302-EFD9-498E-828D-D50A29E35DCF}">
      <dsp:nvSpPr>
        <dsp:cNvPr id="0" name=""/>
        <dsp:cNvSpPr/>
      </dsp:nvSpPr>
      <dsp:spPr>
        <a:xfrm>
          <a:off x="364782" y="1578803"/>
          <a:ext cx="1052535" cy="1052535"/>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AA0C31-4F94-46A1-81A1-EE4D240559C4}">
      <dsp:nvSpPr>
        <dsp:cNvPr id="0" name=""/>
        <dsp:cNvSpPr/>
      </dsp:nvSpPr>
      <dsp:spPr>
        <a:xfrm>
          <a:off x="584972" y="2947099"/>
          <a:ext cx="8785349" cy="84202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8360" tIns="66040" rIns="66040" bIns="66040" numCol="1" spcCol="1270" anchor="ctr" anchorCtr="0">
          <a:noAutofit/>
        </a:bodyPr>
        <a:lstStyle/>
        <a:p>
          <a:pPr marL="0" lvl="0" indent="0" algn="l" defTabSz="1155700">
            <a:lnSpc>
              <a:spcPct val="90000"/>
            </a:lnSpc>
            <a:spcBef>
              <a:spcPct val="0"/>
            </a:spcBef>
            <a:spcAft>
              <a:spcPct val="35000"/>
            </a:spcAft>
            <a:buNone/>
          </a:pPr>
          <a:r>
            <a:rPr lang="fr-FR" sz="2600" kern="1200"/>
            <a:t>Suivi de l’avancement</a:t>
          </a:r>
          <a:endParaRPr lang="fr-FR" sz="2600" kern="1200" noProof="0" dirty="0"/>
        </a:p>
      </dsp:txBody>
      <dsp:txXfrm>
        <a:off x="584972" y="2947099"/>
        <a:ext cx="8785349" cy="842028"/>
      </dsp:txXfrm>
    </dsp:sp>
    <dsp:sp modelId="{73F7E9A7-E64C-4177-876A-0D38A0D92123}">
      <dsp:nvSpPr>
        <dsp:cNvPr id="0" name=""/>
        <dsp:cNvSpPr/>
      </dsp:nvSpPr>
      <dsp:spPr>
        <a:xfrm>
          <a:off x="58705" y="2841845"/>
          <a:ext cx="1052535" cy="1052535"/>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91332-5BA1-4F44-9491-52CF3B4C3F7F}">
      <dsp:nvSpPr>
        <dsp:cNvPr id="0" name=""/>
        <dsp:cNvSpPr/>
      </dsp:nvSpPr>
      <dsp:spPr>
        <a:xfrm>
          <a:off x="-4488524" y="-688321"/>
          <a:ext cx="5347119" cy="5347119"/>
        </a:xfrm>
        <a:prstGeom prst="blockArc">
          <a:avLst>
            <a:gd name="adj1" fmla="val 18900000"/>
            <a:gd name="adj2" fmla="val 2700000"/>
            <a:gd name="adj3" fmla="val 404"/>
          </a:avLst>
        </a:pr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6C7B68-CB0D-4E46-8BE9-0B08E7E25526}">
      <dsp:nvSpPr>
        <dsp:cNvPr id="0" name=""/>
        <dsp:cNvSpPr/>
      </dsp:nvSpPr>
      <dsp:spPr>
        <a:xfrm>
          <a:off x="552185" y="397047"/>
          <a:ext cx="9505514" cy="79409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0313" tIns="88900" rIns="88900" bIns="88900" numCol="1" spcCol="1270" anchor="ctr" anchorCtr="0">
          <a:noAutofit/>
        </a:bodyPr>
        <a:lstStyle/>
        <a:p>
          <a:pPr marL="0" lvl="0" indent="0" algn="l" defTabSz="1555750">
            <a:lnSpc>
              <a:spcPct val="90000"/>
            </a:lnSpc>
            <a:spcBef>
              <a:spcPct val="0"/>
            </a:spcBef>
            <a:spcAft>
              <a:spcPct val="35000"/>
            </a:spcAft>
            <a:buNone/>
          </a:pPr>
          <a:r>
            <a:rPr lang="fr-FR" sz="3500" kern="1200" noProof="0" dirty="0"/>
            <a:t>Suite au copil de fin de mise en production</a:t>
          </a:r>
          <a:endParaRPr lang="en-US" sz="3500" kern="1200" dirty="0"/>
        </a:p>
      </dsp:txBody>
      <dsp:txXfrm>
        <a:off x="552185" y="397047"/>
        <a:ext cx="9505514" cy="794095"/>
      </dsp:txXfrm>
    </dsp:sp>
    <dsp:sp modelId="{52B17895-C683-4FAF-A367-D9C9E65E41CE}">
      <dsp:nvSpPr>
        <dsp:cNvPr id="0" name=""/>
        <dsp:cNvSpPr/>
      </dsp:nvSpPr>
      <dsp:spPr>
        <a:xfrm>
          <a:off x="55875" y="297785"/>
          <a:ext cx="992619" cy="992619"/>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739D05-6928-43F4-ADE1-49F1FED1FB65}">
      <dsp:nvSpPr>
        <dsp:cNvPr id="0" name=""/>
        <dsp:cNvSpPr/>
      </dsp:nvSpPr>
      <dsp:spPr>
        <a:xfrm>
          <a:off x="840838" y="1588190"/>
          <a:ext cx="9216860" cy="79409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0313" tIns="88900" rIns="88900" bIns="88900" numCol="1" spcCol="1270" anchor="ctr" anchorCtr="0">
          <a:noAutofit/>
        </a:bodyPr>
        <a:lstStyle/>
        <a:p>
          <a:pPr marL="0" lvl="0" indent="0" algn="l" defTabSz="1555750">
            <a:lnSpc>
              <a:spcPct val="90000"/>
            </a:lnSpc>
            <a:spcBef>
              <a:spcPct val="0"/>
            </a:spcBef>
            <a:spcAft>
              <a:spcPct val="35000"/>
            </a:spcAft>
            <a:buNone/>
          </a:pPr>
          <a:r>
            <a:rPr lang="fr-FR" sz="3500" kern="1200"/>
            <a:t>Transfert progressif</a:t>
          </a:r>
          <a:endParaRPr lang="fr-FR" sz="3500" kern="1200" dirty="0"/>
        </a:p>
      </dsp:txBody>
      <dsp:txXfrm>
        <a:off x="840838" y="1588190"/>
        <a:ext cx="9216860" cy="794095"/>
      </dsp:txXfrm>
    </dsp:sp>
    <dsp:sp modelId="{85E47004-B6F7-4784-975D-260E3322BD7F}">
      <dsp:nvSpPr>
        <dsp:cNvPr id="0" name=""/>
        <dsp:cNvSpPr/>
      </dsp:nvSpPr>
      <dsp:spPr>
        <a:xfrm>
          <a:off x="344529" y="1488928"/>
          <a:ext cx="992619" cy="992619"/>
        </a:xfrm>
        <a:prstGeom prst="ellipse">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13A0E1-D2F1-44C2-8531-09A0ADCADBE6}">
      <dsp:nvSpPr>
        <dsp:cNvPr id="0" name=""/>
        <dsp:cNvSpPr/>
      </dsp:nvSpPr>
      <dsp:spPr>
        <a:xfrm>
          <a:off x="552185" y="2779333"/>
          <a:ext cx="9505514" cy="79409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0313" tIns="88900" rIns="88900" bIns="88900" numCol="1" spcCol="1270" anchor="ctr" anchorCtr="0">
          <a:noAutofit/>
        </a:bodyPr>
        <a:lstStyle/>
        <a:p>
          <a:pPr marL="0" lvl="0" indent="0" algn="l" defTabSz="1555750">
            <a:lnSpc>
              <a:spcPct val="90000"/>
            </a:lnSpc>
            <a:spcBef>
              <a:spcPct val="0"/>
            </a:spcBef>
            <a:spcAft>
              <a:spcPct val="35000"/>
            </a:spcAft>
            <a:buNone/>
          </a:pPr>
          <a:r>
            <a:rPr lang="fr-FR" sz="3500" kern="1200"/>
            <a:t>Définition de la fréquence des Suivi projet</a:t>
          </a:r>
          <a:endParaRPr lang="en-US" sz="3500" kern="1200"/>
        </a:p>
      </dsp:txBody>
      <dsp:txXfrm>
        <a:off x="552185" y="2779333"/>
        <a:ext cx="9505514" cy="794095"/>
      </dsp:txXfrm>
    </dsp:sp>
    <dsp:sp modelId="{093777D7-8277-49B2-ACFD-952E88792DAD}">
      <dsp:nvSpPr>
        <dsp:cNvPr id="0" name=""/>
        <dsp:cNvSpPr/>
      </dsp:nvSpPr>
      <dsp:spPr>
        <a:xfrm>
          <a:off x="55875" y="2680071"/>
          <a:ext cx="992619" cy="992619"/>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rebuchet MS" panose="020B0603020202020204" pitchFamily="34" charset="0"/>
              </a:defRPr>
            </a:lvl1pPr>
          </a:lstStyle>
          <a:p>
            <a:endParaRPr lang="en-US"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rebuchet MS" panose="020B0603020202020204" pitchFamily="34" charset="0"/>
              </a:defRPr>
            </a:lvl1pPr>
          </a:lstStyle>
          <a:p>
            <a:fld id="{587B8CF8-7954-43EB-9C48-8768247D6AC7}" type="datetimeFigureOut">
              <a:rPr lang="en-US" smtClean="0"/>
              <a:pPr/>
              <a:t>4/15/2026</a:t>
            </a:fld>
            <a:endParaRPr lang="en-US"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rebuchet MS" panose="020B0603020202020204" pitchFamily="34" charset="0"/>
              </a:defRPr>
            </a:lvl1pPr>
          </a:lstStyle>
          <a:p>
            <a:endParaRPr lang="en-US"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rebuchet MS" panose="020B0603020202020204" pitchFamily="34" charset="0"/>
              </a:defRPr>
            </a:lvl1pPr>
          </a:lstStyle>
          <a:p>
            <a:fld id="{497E3E45-7047-42CC-A74F-EAAC0C8DB2CB}" type="slidenum">
              <a:rPr lang="en-US" smtClean="0"/>
              <a:pPr/>
              <a:t>‹N°›</a:t>
            </a:fld>
            <a:endParaRPr lang="en-US" dirty="0"/>
          </a:p>
        </p:txBody>
      </p:sp>
    </p:spTree>
    <p:extLst>
      <p:ext uri="{BB962C8B-B14F-4D97-AF65-F5344CB8AC3E}">
        <p14:creationId xmlns:p14="http://schemas.microsoft.com/office/powerpoint/2010/main" val="3886116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rebuchet MS" panose="020B0603020202020204" pitchFamily="34" charset="0"/>
        <a:ea typeface="+mn-ea"/>
        <a:cs typeface="+mn-cs"/>
      </a:defRPr>
    </a:lvl1pPr>
    <a:lvl2pPr marL="457200" algn="l" defTabSz="914400" rtl="0" eaLnBrk="1" latinLnBrk="0" hangingPunct="1">
      <a:defRPr sz="1200" kern="1200">
        <a:solidFill>
          <a:schemeClr val="tx1"/>
        </a:solidFill>
        <a:latin typeface="Trebuchet MS" panose="020B0603020202020204" pitchFamily="34" charset="0"/>
        <a:ea typeface="+mn-ea"/>
        <a:cs typeface="+mn-cs"/>
      </a:defRPr>
    </a:lvl2pPr>
    <a:lvl3pPr marL="914400" algn="l" defTabSz="914400" rtl="0" eaLnBrk="1" latinLnBrk="0" hangingPunct="1">
      <a:defRPr sz="1200" kern="1200">
        <a:solidFill>
          <a:schemeClr val="tx1"/>
        </a:solidFill>
        <a:latin typeface="Trebuchet MS" panose="020B0603020202020204" pitchFamily="34" charset="0"/>
        <a:ea typeface="+mn-ea"/>
        <a:cs typeface="+mn-cs"/>
      </a:defRPr>
    </a:lvl3pPr>
    <a:lvl4pPr marL="1371600" algn="l" defTabSz="914400" rtl="0" eaLnBrk="1" latinLnBrk="0" hangingPunct="1">
      <a:defRPr sz="1200" kern="1200">
        <a:solidFill>
          <a:schemeClr val="tx1"/>
        </a:solidFill>
        <a:latin typeface="Trebuchet MS" panose="020B0603020202020204" pitchFamily="34" charset="0"/>
        <a:ea typeface="+mn-ea"/>
        <a:cs typeface="+mn-cs"/>
      </a:defRPr>
    </a:lvl4pPr>
    <a:lvl5pPr marL="1828800" algn="l" defTabSz="914400" rtl="0" eaLnBrk="1" latinLnBrk="0" hangingPunct="1">
      <a:defRPr sz="1200" kern="1200">
        <a:solidFill>
          <a:schemeClr val="tx1"/>
        </a:solidFill>
        <a:latin typeface="Trebuchet MS" panose="020B0603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Je vais vous expliquer comment se déroule un projet chez Captivea.</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Actuellement, nous sommes dans la phase de consultation gratuite et d'estimation globale. Nous avons préparé une estimation initiale pour votre projet, que nous aborderons plus tard.</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La première étape de notre collaboration est une phase d'analyse. Durant cette phase, nous organiserons des ateliers de travail avec vos utilisateurs clés pour bien comprendre vos besoins et voir comment les intégrer avec Odoo. C'est un moment d'échange pour identifier comment vous pouvez vous adapter à Odoo et comment Odoo peut s'adapter à vous.</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À l'issue de cette phase d'analyse, nous vous fournirons une estimation détaillée de votre projet, incluant tout ce qu'il faut pour mettre en place le logiciel. Si vous validez cette estimation, nous démarrerons la phase de mise en œuvre.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Lors de la phase de mise en œuvre, nous installerons le logiciel, effectuerons les adaptations et configurations nécessaires, puis nous passerons en production. </a:t>
            </a:r>
          </a:p>
          <a:p>
            <a:pPr algn="l">
              <a:spcAft>
                <a:spcPts val="750"/>
              </a:spcAft>
              <a:buNone/>
            </a:pPr>
            <a:endParaRPr lang="fr-FR" b="0" i="0" dirty="0">
              <a:effectLst/>
            </a:endParaRPr>
          </a:p>
          <a:p>
            <a:endParaRPr lang="fr-FR" dirty="0"/>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3</a:t>
            </a:fld>
            <a:endParaRPr lang="en-US"/>
          </a:p>
        </p:txBody>
      </p:sp>
    </p:spTree>
    <p:extLst>
      <p:ext uri="{BB962C8B-B14F-4D97-AF65-F5344CB8AC3E}">
        <p14:creationId xmlns:p14="http://schemas.microsoft.com/office/powerpoint/2010/main" val="4081222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Après la mise en production, nous resterons très réactifs pour ajuster le système et répondre rapidement à vos attentes.</a:t>
            </a:r>
          </a:p>
          <a:p>
            <a:r>
              <a:rPr lang="fr-FR" sz="1200" b="0" i="0" kern="1200" dirty="0">
                <a:solidFill>
                  <a:schemeClr val="tx1"/>
                </a:solidFill>
                <a:effectLst/>
                <a:latin typeface="Trebuchet MS" panose="020B0603020202020204" pitchFamily="34" charset="0"/>
                <a:ea typeface="+mn-ea"/>
                <a:cs typeface="+mn-cs"/>
              </a:rPr>
              <a:t>Par la suite, nous évaluerons le projet et définirons les prochaines étapes pour construire une version 2, puis une version 3.</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4</a:t>
            </a:fld>
            <a:endParaRPr lang="en-US"/>
          </a:p>
        </p:txBody>
      </p:sp>
    </p:spTree>
    <p:extLst>
      <p:ext uri="{BB962C8B-B14F-4D97-AF65-F5344CB8AC3E}">
        <p14:creationId xmlns:p14="http://schemas.microsoft.com/office/powerpoint/2010/main" val="224488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5</a:t>
            </a:fld>
            <a:endParaRPr lang="en-US"/>
          </a:p>
        </p:txBody>
      </p:sp>
    </p:spTree>
    <p:extLst>
      <p:ext uri="{BB962C8B-B14F-4D97-AF65-F5344CB8AC3E}">
        <p14:creationId xmlns:p14="http://schemas.microsoft.com/office/powerpoint/2010/main" val="2602556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4">
          <a:extLst>
            <a:ext uri="{FF2B5EF4-FFF2-40B4-BE49-F238E27FC236}">
              <a16:creationId xmlns:a16="http://schemas.microsoft.com/office/drawing/2014/main" id="{363DB1C0-8F55-43F5-0AB3-E17AC1D80467}"/>
            </a:ext>
          </a:extLst>
        </p:cNvPr>
        <p:cNvGrpSpPr/>
        <p:nvPr/>
      </p:nvGrpSpPr>
      <p:grpSpPr>
        <a:xfrm>
          <a:off x="0" y="0"/>
          <a:ext cx="0" cy="0"/>
          <a:chOff x="0" y="0"/>
          <a:chExt cx="0" cy="0"/>
        </a:xfrm>
      </p:grpSpPr>
      <p:sp>
        <p:nvSpPr>
          <p:cNvPr id="2425" name="Google Shape;2425;p3:notes">
            <a:extLst>
              <a:ext uri="{FF2B5EF4-FFF2-40B4-BE49-F238E27FC236}">
                <a16:creationId xmlns:a16="http://schemas.microsoft.com/office/drawing/2014/main" id="{1BC3A781-D0BC-6551-33F1-9EBE4D0DB3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6" name="Google Shape;2426;p3:notes">
            <a:extLst>
              <a:ext uri="{FF2B5EF4-FFF2-40B4-BE49-F238E27FC236}">
                <a16:creationId xmlns:a16="http://schemas.microsoft.com/office/drawing/2014/main" id="{EC1023EC-EDDC-B9A0-DEB2-D9BBC4F11E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27" name="Google Shape;2427;p3:notes">
            <a:extLst>
              <a:ext uri="{FF2B5EF4-FFF2-40B4-BE49-F238E27FC236}">
                <a16:creationId xmlns:a16="http://schemas.microsoft.com/office/drawing/2014/main" id="{287B7281-5775-DA25-7762-5E07BB41794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6</a:t>
            </a:fld>
            <a:endParaRPr kumimoji="0"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861508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4"/>
        <p:cNvGrpSpPr/>
        <p:nvPr/>
      </p:nvGrpSpPr>
      <p:grpSpPr>
        <a:xfrm>
          <a:off x="0" y="0"/>
          <a:ext cx="0" cy="0"/>
          <a:chOff x="0" y="0"/>
          <a:chExt cx="0" cy="0"/>
        </a:xfrm>
      </p:grpSpPr>
      <p:sp>
        <p:nvSpPr>
          <p:cNvPr id="2425" name="Google Shape;24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6" name="Google Shape;24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7" name="Google Shape;24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7</a:t>
            </a:fld>
            <a:endParaRPr kumimoji="0"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429085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4"/>
        <p:cNvGrpSpPr/>
        <p:nvPr/>
      </p:nvGrpSpPr>
      <p:grpSpPr>
        <a:xfrm>
          <a:off x="0" y="0"/>
          <a:ext cx="0" cy="0"/>
          <a:chOff x="0" y="0"/>
          <a:chExt cx="0" cy="0"/>
        </a:xfrm>
      </p:grpSpPr>
      <p:sp>
        <p:nvSpPr>
          <p:cNvPr id="2425" name="Google Shape;24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6" name="Google Shape;24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7" name="Google Shape;24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8</a:t>
            </a:fld>
            <a:endParaRPr kumimoji="0"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322235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Parlons désormais de notre vision d’un projet réussi</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611344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Notre objectif principal est de lancer le produit aussi rapidement que possible.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Pour y parvenir, nous allons rester proche du standard.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Comme expliqué précédemment, nous effectuerons une analyse d’implémentation pour définir collaborativement le Produit Minimum Viable (MVP). Lors de cette analyse, nous explorerons comment intégrer vos processus actuels dans le cadre standard d'Odoo de la manière la plus fluide possible.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reporterons les améliorations et évolutions supplémentaires aux versions futures, telles que les versions 2 ou 3.</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La logique derrière cette approche est que vos retours seront plus précieux et pertinents une fois que vous utiliserez activement le logiciel, plutôt que d'anticiper comment vous pourriez l'utiliser.</a:t>
            </a:r>
          </a:p>
          <a:p>
            <a:endParaRPr lang="en-US" dirty="0"/>
          </a:p>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41066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Nous sommes enthousiastes à l'idée d'entreprendre ce projet avec vous et nous croyons fermement que travailler ensemble en tant qu'équipe soudée sera la clé de sa réussite.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Tout au long du projet, nous fournirons une formation continue aux utilisateurs clés afin de nous assurer qu'ils s’approprient le logiciel.</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nous engageons à maintenir une communication étroite et à effectuer des suivis hebdomadaires avec vous.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Notre objectif est de valider ensemble chaque étape du processus de mise en œuvre, garantissant ainsi que nous atteignons nos objectifs de manière efficace et efficiente.</a:t>
            </a:r>
          </a:p>
          <a:p>
            <a:endParaRPr lang="en-US" dirty="0"/>
          </a:p>
          <a:p>
            <a:endParaRPr lang="en-US"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F2203E-488A-4BD1-AF36-A5CA97881365}" type="slidenum">
              <a:rPr kumimoji="0" lang="fr-FR"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426394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Tout au long du projet, vous avez la liberté de changer d'avis selon vos besoins. Nous conservons une flexibilité maximale, vous permettant d'ajouter ou de supprimer des fonctionnalités et d'ajuster le calendrier en fonction de votre disponibilité.</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Notre rôle est de vous guider à travers ces changements et de vous expliquer leur impact sur le calendrier et la livraison du projet.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De plus, nous adapterons notre niveau de service en fonction de votre implication dans le projet. Par exemple, si des données doivent être importées, nous pouvons soit vous former pour gérer le processus d'importation dans Odoo, soit vous pouvez nous fournir les fichiers de données brutes, et nous nous chargerons de nettoyer et d'importer les données pour vous.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Les deux options sont réalisables, mais le temps et les efforts nécessaires varieront en conséquence.</a:t>
            </a:r>
          </a:p>
          <a:p>
            <a:endParaRPr lang="en-US" dirty="0"/>
          </a:p>
          <a:p>
            <a:endParaRPr lang="en-US"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F2203E-488A-4BD1-AF36-A5CA97881365}" type="slidenum">
              <a:rPr kumimoji="0" lang="fr-FR"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631197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200" b="0" i="0" kern="1200" dirty="0">
                <a:solidFill>
                  <a:schemeClr val="tx1"/>
                </a:solidFill>
                <a:effectLst/>
                <a:latin typeface="Trebuchet MS" panose="020B0603020202020204" pitchFamily="34" charset="0"/>
                <a:ea typeface="+mn-ea"/>
                <a:cs typeface="+mn-cs"/>
              </a:rPr>
              <a:t>Chez Captivea, nous sommes une équipe de consultants hautement expérimentés. Nous collaborons étroitement et pouvons déployer un consultant avec une expertise spécifique sur n'importe quel projet selon les besoins.</a:t>
            </a:r>
            <a:endParaRPr lang="en-US" dirty="0"/>
          </a:p>
          <a:p>
            <a:pPr algn="l"/>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4089566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Découvrez Odoo, un logiciel de gestion global complet conçu pour rationaliser toutes vos opérations au sein d'une plateforme centralisée.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Avec Odoo, vous gagnez en flexibilité en commençant par quelques modules essentiels et en intégrant de manière transparente des fonctionnalités supplémentaires au fur et à mesure que votre entreprise se développe.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Cette solution évolutive grandit avec vous, garantissant que les capacités de votre logiciel s'étendent avec les besoins de votre entreprise.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L'une des caractéristiques phares d'Odoo est sa conception centrée sur l'utilisateur. Odoo accorde la priorité à l'expérience utilisateur, offrant une interface intuitive et conviviale qui rend la navigation et l'opération un jeu d'enfant.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Odoo est plus qu'un simple logiciel ; c'est un outil conçu en pensant à l'utilisateur, permettant à votre équipe de travailler de manière plus efficace et efficiente.</a:t>
            </a:r>
          </a:p>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4023602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spcAft>
                <a:spcPts val="750"/>
              </a:spcAft>
              <a:buNone/>
            </a:pPr>
            <a:r>
              <a:rPr lang="fr-FR" sz="1200" b="0" i="0" kern="1200" dirty="0">
                <a:solidFill>
                  <a:schemeClr val="tx1"/>
                </a:solidFill>
                <a:effectLst/>
                <a:latin typeface="Trebuchet MS" panose="020B0603020202020204" pitchFamily="34" charset="0"/>
                <a:ea typeface="+mn-ea"/>
                <a:cs typeface="+mn-cs"/>
              </a:rPr>
              <a:t>Odoo compte plus de 12 millions d'utilisateurs et emploie plus de 5 000 employées. </a:t>
            </a:r>
          </a:p>
          <a:p>
            <a:pPr algn="l">
              <a:spcAft>
                <a:spcPts val="750"/>
              </a:spcAft>
              <a:buNone/>
            </a:pPr>
            <a:endParaRPr lang="fr-FR" sz="1200" b="0" i="0" kern="1200" dirty="0">
              <a:solidFill>
                <a:schemeClr val="tx1"/>
              </a:solidFill>
              <a:effectLst/>
              <a:latin typeface="Trebuchet MS" panose="020B0603020202020204" pitchFamily="34" charset="0"/>
              <a:ea typeface="+mn-ea"/>
              <a:cs typeface="+mn-cs"/>
            </a:endParaRPr>
          </a:p>
          <a:p>
            <a:pPr algn="l">
              <a:spcAft>
                <a:spcPts val="750"/>
              </a:spcAft>
              <a:buNone/>
            </a:pPr>
            <a:r>
              <a:rPr lang="fr-FR" sz="1200" b="0" i="0" kern="1200" dirty="0">
                <a:solidFill>
                  <a:schemeClr val="tx1"/>
                </a:solidFill>
                <a:effectLst/>
                <a:latin typeface="Trebuchet MS" panose="020B0603020202020204" pitchFamily="34" charset="0"/>
                <a:ea typeface="+mn-ea"/>
                <a:cs typeface="+mn-cs"/>
              </a:rPr>
              <a:t>L'un des plus grands atouts d'Odoo est sa flexibilité. En plus de la large gamme de modules standards, Odoo offre l'accès à une marketplace proposant plus de 47 000 modules supplémentaires. Cela vous permet d'adapter le logiciel précisément à vos besoins spécifiques.</a:t>
            </a:r>
            <a:endParaRPr lang="en-US" dirty="0"/>
          </a:p>
          <a:p>
            <a:endParaRPr lang="fr-FR" dirty="0"/>
          </a:p>
          <a:p>
            <a:pPr algn="l">
              <a:spcAft>
                <a:spcPts val="750"/>
              </a:spcAft>
              <a:buNone/>
            </a:pPr>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486010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5"/>
        <p:cNvGrpSpPr/>
        <p:nvPr/>
      </p:nvGrpSpPr>
      <p:grpSpPr>
        <a:xfrm>
          <a:off x="0" y="0"/>
          <a:ext cx="0" cy="0"/>
          <a:chOff x="0" y="0"/>
          <a:chExt cx="0" cy="0"/>
        </a:xfrm>
      </p:grpSpPr>
      <p:sp>
        <p:nvSpPr>
          <p:cNvPr id="2456" name="Google Shape;245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7" name="Google Shape;24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4"/>
        <p:cNvGrpSpPr/>
        <p:nvPr/>
      </p:nvGrpSpPr>
      <p:grpSpPr>
        <a:xfrm>
          <a:off x="0" y="0"/>
          <a:ext cx="0" cy="0"/>
          <a:chOff x="0" y="0"/>
          <a:chExt cx="0" cy="0"/>
        </a:xfrm>
      </p:grpSpPr>
      <p:sp>
        <p:nvSpPr>
          <p:cNvPr id="2425" name="Google Shape;24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6" name="Google Shape;24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7" name="Google Shape;24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18</a:t>
            </a:fld>
            <a:endParaRPr kumimoji="0"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502626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4"/>
        <p:cNvGrpSpPr/>
        <p:nvPr/>
      </p:nvGrpSpPr>
      <p:grpSpPr>
        <a:xfrm>
          <a:off x="0" y="0"/>
          <a:ext cx="0" cy="0"/>
          <a:chOff x="0" y="0"/>
          <a:chExt cx="0" cy="0"/>
        </a:xfrm>
      </p:grpSpPr>
      <p:sp>
        <p:nvSpPr>
          <p:cNvPr id="2425" name="Google Shape;24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6" name="Google Shape;24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27" name="Google Shape;24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19</a:t>
            </a:fld>
            <a:endParaRPr kumimoji="0"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760412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4"/>
        <p:cNvGrpSpPr/>
        <p:nvPr/>
      </p:nvGrpSpPr>
      <p:grpSpPr>
        <a:xfrm>
          <a:off x="0" y="0"/>
          <a:ext cx="0" cy="0"/>
          <a:chOff x="0" y="0"/>
          <a:chExt cx="0" cy="0"/>
        </a:xfrm>
      </p:grpSpPr>
      <p:sp>
        <p:nvSpPr>
          <p:cNvPr id="2425" name="Google Shape;24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6" name="Google Shape;24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27" name="Google Shape;24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20</a:t>
            </a:fld>
            <a:endParaRPr kumimoji="0"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711658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9362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23</a:t>
            </a:fld>
            <a:endParaRPr lang="en-US" dirty="0"/>
          </a:p>
        </p:txBody>
      </p:sp>
    </p:spTree>
    <p:extLst>
      <p:ext uri="{BB962C8B-B14F-4D97-AF65-F5344CB8AC3E}">
        <p14:creationId xmlns:p14="http://schemas.microsoft.com/office/powerpoint/2010/main" val="3437632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24</a:t>
            </a:fld>
            <a:endParaRPr lang="en-US" dirty="0"/>
          </a:p>
        </p:txBody>
      </p:sp>
    </p:spTree>
    <p:extLst>
      <p:ext uri="{BB962C8B-B14F-4D97-AF65-F5344CB8AC3E}">
        <p14:creationId xmlns:p14="http://schemas.microsoft.com/office/powerpoint/2010/main" val="2282242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9570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83BB680D-15A4-201C-E4FE-64F110DFCA40}"/>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0F691792-2C90-2CD8-DA1C-7C07A2758A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EA1309A2-E699-9978-5009-98D3BA6F0E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4017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2202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4168C25-5F8A-E3F7-924B-2BBDC1E81FF8}"/>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F09015DE-1C72-FA02-EBC7-BA48F265DD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9D254ACF-D1D0-1174-7229-71F232D36B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9615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7C837595-476F-DF21-4CE7-E462E29F2409}"/>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33B41E47-0E9A-BABA-F89F-FBF4441481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8B23FE7D-5705-A928-A690-F5A6E4F385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20917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88830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01C01D0E-A8B4-495C-9B31-CFD69841B568}"/>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0C9C68AE-72F4-3B8D-ED79-84A1323FDC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F86543BA-8044-31FD-55E7-73D5D8EB1D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534636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71269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A12F2270-C6BA-8F76-D770-8E3F2F4AB63D}"/>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00FC9A17-A8D7-1026-5BFF-832AC3E955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DDC6E6EF-3EE8-8EAD-92D8-3C0D562A9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0335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6133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37AF0E33-49D3-4144-B0AA-8EB48E76BCF1}"/>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F383EAD-48D9-F51A-95C5-8B5627B2F8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DE7EC5A8-4F57-CD74-AF97-3240D0DCD9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52824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B61F9D5C-803C-47C4-FB94-F041B3B6B67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23573BE1-1AF7-221A-A9A9-ECE5257114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FB540DDB-D5C5-85C3-BAA0-4A684C021E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29075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8344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04236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3441D0C3-CD3F-B2F5-5F9C-B3C0FCAF5EFF}"/>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227DFE15-3F34-2A58-8CFE-5DBF06F86A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E3F4B46B-2E9E-6EB4-1439-37A41C7716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1058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33814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9CC531D3-8594-9D63-448F-ADA739E6BEC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EA81C155-70BE-3A49-FA13-BFA71929CB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B1F5EAE5-1F05-CA76-C114-BA5E7BE22F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0260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1492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B09D694E-328F-BB83-5C33-8B07A9373DF5}"/>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C26945B0-5C2C-7E4E-3CA5-6A9CACCC5B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B4A1F70D-3B94-8011-F7DA-84138D1735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08176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65357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6198C5CF-68A2-A29D-121D-43A2212F266D}"/>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4339ABA3-09FE-8404-BE56-14318D35DF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3CE95CAA-051D-7657-A272-A5974BEAD0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31698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77933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EAC3156A-69DE-4881-4ADE-4B9257D57C70}"/>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DDB4EBF3-2C54-CEDC-3C13-BB8728E871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9D999C10-8DD6-7615-1503-E26E7A182F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1753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89018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6A061759-ED4F-5BE7-DABE-10F220C284D6}"/>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D3A03D54-6C3C-47AB-E166-51F78D77E1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7634D61A-C8E9-E44A-D7D4-E7AF71F014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43948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8D1D956B-5C3B-2B9C-56FB-BABF08BD162D}"/>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E82FC05-6B1B-43B4-91F3-9080591F30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EA20F448-F89A-E4BB-4893-6DD1B6E7FF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44813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AB5D38A7-8F94-9E97-3E65-193184DC0253}"/>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27743107-BA76-A3C9-D629-7300E68423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EAA72B33-9365-C974-06DC-954EB5C601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40665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66576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1371259B-CF2E-4E32-0E40-535DF6EBC52B}"/>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2E1161C4-EDB9-4F98-54B9-C14D20F28D4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03AA30D2-4852-0028-C872-4ED16FD3DB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34297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36998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7B0987E2-FE3A-FD7C-55A3-2CEA8CCCDC1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419F1850-BD13-5F77-40A7-0603FA7A85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460B1CBE-FFD5-905F-6FEC-656388A6B5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80052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43922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9EDE71A-7384-39DB-078B-AC788F375617}"/>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33F688AD-C2E7-C741-0028-1CBEDA6847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90F6B17E-F9C7-0884-9450-9141A9D77D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21194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E05D2AC9-5C04-105C-9EF8-8C36FC24B9F2}"/>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8B4EC19C-36CB-AA34-2749-A0EB5A50E8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52912AF9-2AE7-1056-0941-DDC5437BC8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9171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38FF61C2-CBEA-997A-62E7-029CEE2B9FA9}"/>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AE11816C-D50A-A0D0-0B1C-9A6FA40CD7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E8A4A39B-D338-BBF6-6DB3-CBA86FD135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83636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90010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FF3AE72C-62E6-E341-B0E3-94E102A06EA3}"/>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427477B5-96C3-26F2-9858-D341BAEC2C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FE4258F5-4DE2-43E6-600B-20D4CF6424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35762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39881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1397E3D8-0927-7AF8-5A45-66AB22F53F15}"/>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81698211-A443-586C-D179-B7ECB44D8A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C72D30FF-D50B-CBCA-4727-2D58A95ACF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57624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39935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503D9D10-FF71-659F-EB05-036B1D9FA76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33B60463-6D4B-120D-144A-EE52B50BFE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987A196B-ED0F-5761-1EF2-4B42C795EC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14821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6561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1AD16F59-36CE-1D20-F6F1-53A48A60BB1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457EF66-12DF-276C-5114-252E43B8E5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4D440AD7-FE22-1DFC-F36C-1D6FBB18EB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40410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61791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7BD6A324-2160-83A9-8600-9162757DB13A}"/>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93A2F4E3-DB94-BDA7-D920-261F380D36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5349067E-06AE-E7E3-E87E-924197AC03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18108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24083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76C508BA-CF60-18EB-D7E9-E95C79A4FCF0}"/>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44E4A503-3090-3373-2706-B19595CBA6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0B4958BC-04B3-5B28-0876-87C932E764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9687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79732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98BEB2DE-9626-04C0-2A41-0A2AAFA7B21E}"/>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793C51B8-A933-B91A-8E1A-1C856EB4C8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DFD74553-DDF0-4856-35E4-C02CAB2827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45075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31916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6707E225-6DC9-D524-338B-224D1D8EB94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F69916C-FE4E-191F-0748-76D4018F86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27FCC55A-1C0C-5EF2-D1BD-95CBFC02EB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77951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83D61AE0-7DC1-8B02-F90B-DE58B6D205D1}"/>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EC2AF9DD-A229-B3B0-8CB5-3D4BE8D348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EF781D76-395A-568E-6931-AEE0F9B963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97865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31258432-519E-7C2C-1766-52D8B44CAB80}"/>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FD154057-CDA2-B71E-6C82-F686026B02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6385D6BD-B085-6DC5-9139-2D60E54DBD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069167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0570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771D215C-5382-4CD8-90A3-9F0526838D33}"/>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7BBA727A-8D66-C859-F1B5-B1B1FAE429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53C4A513-D999-3CFB-E378-E753D0D60A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07531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56987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82CAD89B-3082-E2E7-738A-739C97B2DC76}"/>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6F5E07C2-7913-C17A-24B2-748BB355A9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03620A4A-FC6A-58E1-C47D-A35FFAD855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7809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599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4001F197-110A-6F7E-7F67-EB9955EBA67C}"/>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6B8FC321-0121-21E6-BA41-A1F8CA8C8F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B18CC371-519A-381F-2D2E-CE095650B4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704696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909595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636F5CA7-EA4D-63A0-7847-8EEB6F3AC2DB}"/>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219EB336-73CB-026C-91A5-F16BA94AE2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C77DF833-C650-761D-974C-6E6FF7902D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88281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85451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F58D01AC-44DA-B03B-70A0-FDAAF84E32FF}"/>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C4AF9F5D-A29A-EA2E-274D-B520B0B27E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7A56025F-0018-514D-059B-45746AC7DA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09850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96705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1BD89E10-E3B0-F5C1-BA08-94D07DB3E879}"/>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8E2EDC03-1EF7-9EFF-CEA8-70CD35A869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33102E85-9291-E4BA-67C5-25B921F978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547640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17816E2A-5161-4AB2-A717-82E4AD1F050C}"/>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10EEDEC0-662C-7D44-036B-02A955086A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78FDE6CD-C9CD-341B-5B5D-F3BD0A19D0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515845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4869E9B5-7BEA-0BC4-2343-F30F871741FD}"/>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3AB72A5C-D3AA-F951-7F33-A0FACBAAA7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CA5ECDFB-A0A3-0FA5-E2CD-AE9B1934AA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804761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813920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8CD608B3-BCC2-1A9F-5A67-335D98A58B96}"/>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35D46C6B-87D4-86CF-369C-0F3206D6C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202B0E4C-6812-6AB1-24D6-5C4D545AC8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548857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092180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915900C-7B1D-0585-D2C8-8F8AB472394E}"/>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1C97F352-B4DE-37DE-7B02-1936E4181F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A0BCEC42-8300-8C97-DCBA-3FA35CBEAA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228639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76A7AC8-B8A8-2AB9-64E1-918E4EBA2668}"/>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05B0983A-8ECA-1E49-3DE0-07C67C7058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480D64F8-89B8-F9E6-5EA0-4376266743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981609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97DA12C-F746-EC88-F3E8-1F94F4198674}"/>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05326124-33B1-C00C-941B-FEA2307D6D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55887A71-C954-B999-212B-407AD14306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893259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751837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041A8D07-1959-4E9F-AA0A-441BEA2647DD}"/>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7C442D53-35C0-7364-5877-3EBBDCC141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28E0C7B1-4211-5AFA-D063-8FB948A645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956522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034505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A00BEFBC-FAE1-63A4-193C-B4E7B4DD86B5}"/>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05D0E968-2D15-5D52-B40E-C01721A5B3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44DE017A-161B-DFA5-7F0D-1A49C31F1D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62388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731680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96F11F35-06E3-324A-05A5-B22E332975C9}"/>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1889BD2B-7D9B-11D6-CC89-5EE2CD8728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7F9F3176-1393-BA8B-88CB-335B058F09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678971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505BBC07-A88C-401F-DD28-64DE32912ECE}"/>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75138A96-CB41-D7C0-9AD7-B5540C3A544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C3CFF9E3-AC2E-9D63-64FE-3688AC0520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130441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9D2306A1-CDC1-326E-8176-7FFAC6399EAC}"/>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68812E4-CEFB-6FAE-6AF1-59A8FA437D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5F521B70-CD9E-6485-E992-1D6FC50425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545278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358543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B47A27D-433C-2F8F-8698-6FA10D145FA6}"/>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54169D0B-BE99-5973-CF88-C2C67CC4F6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002DD04C-99EB-AB95-57C7-D9BA62964C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06891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171620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AAABC917-3740-47F9-6258-DA4367590DD7}"/>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0A7A273-82D9-575A-0A03-F86B0D9630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5923E25C-BF84-9615-A808-E2B27020DB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945225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470112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9F795714-18A1-F008-1F28-992525D21D39}"/>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81364C35-CC5F-DE59-F3FC-E1373099FAD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B83373F6-3DCE-173E-2695-79375092B9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517299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08339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DA7E46E4-3AE6-FC04-DD3A-63A9B0312817}"/>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274120DF-7749-AB4C-6287-5FCB12F81C5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310F52EA-5AD6-5354-83DD-2011B29BE4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544143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21357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1A9C8AB6-F1B0-65D1-F221-BF6F67C80891}"/>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BBF62CA0-C5BF-B1EE-A557-F75347F294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B09404A8-DC89-749C-DBDD-D719144F7A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738933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539999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D64C6220-28B2-AF91-EAFD-185B5A545A0B}"/>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EDF5C174-9DE3-5844-BADE-551BEB49E2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5900786F-2C1D-66D9-E66F-B2462DAC1D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982671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DDEFB812-929A-DBEA-54A9-B3178B31F888}"/>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9831B5B5-BE95-04A0-2E75-0F280394A2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1D252BE6-764D-759C-DBF6-2E39C5F3C9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854368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04EA0AA2-EABA-E0D9-C990-4F1154F24597}"/>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785105EF-E669-26A7-3B57-4C61EEA671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D3A4CD24-A49C-7D40-6DDB-B4F69FDFF2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642708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AEAC441D-59C2-2F9E-6FA8-33531A2144E3}"/>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5ACCBDF3-7AF6-5C83-E4E7-99AB42F1F3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7990A6C1-BAB8-EF6F-604D-68234C8166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345768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C3CAE1C6-1878-1C1B-655B-12E36761078D}"/>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C7AE2C9C-D7EB-0DCE-EAAB-95901620BA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AB5D7892-C642-338C-6C69-FD3F71840A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676674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D3AAB780-3553-C563-48AB-31E5110B7E3A}"/>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48AE1FD7-B86E-FFF8-47C3-FB394D4589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95" name="Google Shape;2495;p10:notes">
            <a:extLst>
              <a:ext uri="{FF2B5EF4-FFF2-40B4-BE49-F238E27FC236}">
                <a16:creationId xmlns:a16="http://schemas.microsoft.com/office/drawing/2014/main" id="{D2C17977-DF85-40A7-2855-6A71BB9893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8517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2920AF9C-028B-562A-DE4E-0A1EEECACB85}"/>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3F17E9D5-6D7E-4238-0C7B-DF3D7C3D16D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DC66BB04-8165-4DDB-3CCE-B03036D7A2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974409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4683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a:extLst>
            <a:ext uri="{FF2B5EF4-FFF2-40B4-BE49-F238E27FC236}">
              <a16:creationId xmlns:a16="http://schemas.microsoft.com/office/drawing/2014/main" id="{321A47E6-B617-0E80-A480-FA9DC9FF2CE6}"/>
            </a:ext>
          </a:extLst>
        </p:cNvPr>
        <p:cNvGrpSpPr/>
        <p:nvPr/>
      </p:nvGrpSpPr>
      <p:grpSpPr>
        <a:xfrm>
          <a:off x="0" y="0"/>
          <a:ext cx="0" cy="0"/>
          <a:chOff x="0" y="0"/>
          <a:chExt cx="0" cy="0"/>
        </a:xfrm>
      </p:grpSpPr>
      <p:sp>
        <p:nvSpPr>
          <p:cNvPr id="2494" name="Google Shape;2494;p10:notes">
            <a:extLst>
              <a:ext uri="{FF2B5EF4-FFF2-40B4-BE49-F238E27FC236}">
                <a16:creationId xmlns:a16="http://schemas.microsoft.com/office/drawing/2014/main" id="{93AEC3DA-ACCE-3843-A210-79797AEAC2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5" name="Google Shape;2495;p10:notes">
            <a:extLst>
              <a:ext uri="{FF2B5EF4-FFF2-40B4-BE49-F238E27FC236}">
                <a16:creationId xmlns:a16="http://schemas.microsoft.com/office/drawing/2014/main" id="{5AFDD8D9-E5D4-B0DF-BB1D-EBB49124FD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152602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1"/>
        <p:cNvGrpSpPr/>
        <p:nvPr/>
      </p:nvGrpSpPr>
      <p:grpSpPr>
        <a:xfrm>
          <a:off x="0" y="0"/>
          <a:ext cx="0" cy="0"/>
          <a:chOff x="0" y="0"/>
          <a:chExt cx="0" cy="0"/>
        </a:xfrm>
      </p:grpSpPr>
      <p:sp>
        <p:nvSpPr>
          <p:cNvPr id="2532" name="Google Shape;253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3" name="Google Shape;253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128</a:t>
            </a:fld>
            <a:endParaRPr lang="en-US" dirty="0"/>
          </a:p>
        </p:txBody>
      </p:sp>
    </p:spTree>
    <p:extLst>
      <p:ext uri="{BB962C8B-B14F-4D97-AF65-F5344CB8AC3E}">
        <p14:creationId xmlns:p14="http://schemas.microsoft.com/office/powerpoint/2010/main" val="168652287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5"/>
        <p:cNvGrpSpPr/>
        <p:nvPr/>
      </p:nvGrpSpPr>
      <p:grpSpPr>
        <a:xfrm>
          <a:off x="0" y="0"/>
          <a:ext cx="0" cy="0"/>
          <a:chOff x="0" y="0"/>
          <a:chExt cx="0" cy="0"/>
        </a:xfrm>
      </p:grpSpPr>
      <p:sp>
        <p:nvSpPr>
          <p:cNvPr id="2506" name="Google Shape;25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7" name="Google Shape;25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spcBef>
                <a:spcPts val="600"/>
              </a:spcBef>
            </a:pPr>
            <a:r>
              <a:rPr lang="en-US" sz="800" b="1" kern="1200">
                <a:solidFill>
                  <a:srgbClr val="223843"/>
                </a:solidFill>
                <a:latin typeface="Trebuchet MS" panose="020B0603020202020204" pitchFamily="34" charset="0"/>
                <a:ea typeface="+mn-ea"/>
                <a:cs typeface="+mn-cs"/>
              </a:rPr>
              <a:t>Local</a:t>
            </a:r>
          </a:p>
          <a:p>
            <a:pPr marL="285750" indent="-285750">
              <a:spcBef>
                <a:spcPts val="600"/>
              </a:spcBef>
              <a:buFont typeface="Arial" panose="020B0604020202020204" pitchFamily="34" charset="0"/>
              <a:buChar char="•"/>
            </a:pPr>
            <a:r>
              <a:rPr lang="fr-FR" sz="800"/>
              <a:t>L'intégralité de l'équipe projet et commerciale est basée localement, c'est-à-dire dans le même pays ou la même région que votre entreprise. Les échanges et interactions se font en personne ou via des outils de communication, et des ressources peuvent être déployées sur place</a:t>
            </a:r>
            <a:endParaRPr lang="en-US" sz="800">
              <a:effectLst/>
            </a:endParaRPr>
          </a:p>
          <a:p>
            <a:pPr>
              <a:spcBef>
                <a:spcPts val="600"/>
              </a:spcBef>
            </a:pPr>
            <a:r>
              <a:rPr lang="en-US" sz="800" b="1" kern="1200" err="1">
                <a:solidFill>
                  <a:srgbClr val="223843"/>
                </a:solidFill>
                <a:latin typeface="Trebuchet MS" panose="020B0603020202020204" pitchFamily="34" charset="0"/>
                <a:ea typeface="+mn-ea"/>
                <a:cs typeface="+mn-cs"/>
              </a:rPr>
              <a:t>Hybride</a:t>
            </a:r>
            <a:endParaRPr lang="en-US" sz="800" b="1" kern="1200">
              <a:solidFill>
                <a:srgbClr val="223843"/>
              </a:solidFill>
              <a:latin typeface="Trebuchet MS" panose="020B0603020202020204" pitchFamily="34" charset="0"/>
              <a:ea typeface="+mn-ea"/>
              <a:cs typeface="+mn-cs"/>
            </a:endParaRPr>
          </a:p>
          <a:p>
            <a:pPr marL="285750" indent="-285750">
              <a:buClr>
                <a:srgbClr val="223843"/>
              </a:buClr>
              <a:buFont typeface="Arial" panose="020B0604020202020204" pitchFamily="34" charset="0"/>
              <a:buChar char="•"/>
            </a:pPr>
            <a:r>
              <a:rPr lang="fr-FR" sz="800" b="0" i="0" kern="1200">
                <a:solidFill>
                  <a:srgbClr val="223843"/>
                </a:solidFill>
                <a:effectLst/>
                <a:latin typeface="Trebuchet MS" panose="020B0603020202020204" pitchFamily="34" charset="0"/>
                <a:ea typeface="+mn-ea"/>
                <a:cs typeface="+mn-cs"/>
              </a:rPr>
              <a:t>Une combinaison de ressources locales (sur place) et distantes (à distance). Les rôles clés tels que chef de projet et analyste d'affaires sont basés localement, tandis que le développement et les tests sont effectués à distance</a:t>
            </a:r>
          </a:p>
          <a:p>
            <a:pPr marL="285750" indent="-285750">
              <a:buClr>
                <a:srgbClr val="223843"/>
              </a:buClr>
              <a:buFont typeface="Arial" panose="020B0604020202020204" pitchFamily="34" charset="0"/>
              <a:buChar char="•"/>
            </a:pPr>
            <a:r>
              <a:rPr lang="fr-FR" sz="800" kern="1200">
                <a:solidFill>
                  <a:srgbClr val="223843"/>
                </a:solidFill>
                <a:latin typeface="Trebuchet MS" panose="020B0603020202020204" pitchFamily="34" charset="0"/>
                <a:ea typeface="+mn-ea"/>
                <a:cs typeface="+mn-cs"/>
              </a:rPr>
              <a:t>La gestion de projet et l'analyse commerciale peuvent être effectuées sur site</a:t>
            </a:r>
          </a:p>
          <a:p>
            <a:pPr>
              <a:spcBef>
                <a:spcPts val="600"/>
              </a:spcBef>
            </a:pPr>
            <a:r>
              <a:rPr lang="en-US" sz="800" b="1" kern="1200">
                <a:solidFill>
                  <a:srgbClr val="223843"/>
                </a:solidFill>
                <a:latin typeface="Trebuchet MS" panose="020B0603020202020204" pitchFamily="34" charset="0"/>
                <a:ea typeface="+mn-ea"/>
                <a:cs typeface="+mn-cs"/>
              </a:rPr>
              <a:t>Offshore</a:t>
            </a:r>
          </a:p>
          <a:p>
            <a:pPr marL="285750" indent="-285750">
              <a:buFont typeface="Arial" panose="020B0604020202020204" pitchFamily="34" charset="0"/>
              <a:buChar char="•"/>
            </a:pPr>
            <a:r>
              <a:rPr lang="fr-FR" sz="800" b="0" i="0" kern="1200">
                <a:solidFill>
                  <a:srgbClr val="223843"/>
                </a:solidFill>
                <a:effectLst/>
                <a:latin typeface="Trebuchet MS" panose="020B0603020202020204" pitchFamily="34" charset="0"/>
                <a:ea typeface="+mn-ea"/>
                <a:cs typeface="+mn-cs"/>
              </a:rPr>
              <a:t>L'ensemble de l'équipe de projet est basé à l'étranger, visant des ressources économiques</a:t>
            </a:r>
          </a:p>
          <a:p>
            <a:pPr marL="285750" indent="-285750">
              <a:buFont typeface="Arial" panose="020B0604020202020204" pitchFamily="34" charset="0"/>
              <a:buChar char="•"/>
            </a:pPr>
            <a:r>
              <a:rPr lang="fr-FR" sz="800"/>
              <a:t>Les communications sont uniquement menées via des conférences vidéo et des outils de gestion de projet en ligne</a:t>
            </a:r>
          </a:p>
          <a:p>
            <a:pPr marL="285750" indent="-285750">
              <a:buFont typeface="Arial" panose="020B0604020202020204" pitchFamily="34" charset="0"/>
              <a:buChar char="•"/>
            </a:pPr>
            <a:r>
              <a:rPr lang="en-US" sz="800" b="0" i="0" kern="1200">
                <a:solidFill>
                  <a:srgbClr val="223843"/>
                </a:solidFill>
                <a:effectLst/>
                <a:latin typeface="Trebuchet MS" panose="020B0603020202020204" pitchFamily="34" charset="0"/>
                <a:ea typeface="+mn-ea"/>
                <a:cs typeface="+mn-cs"/>
              </a:rPr>
              <a:t>Disponible </a:t>
            </a:r>
            <a:r>
              <a:rPr lang="en-US" sz="800" b="0" i="0" kern="1200" err="1">
                <a:solidFill>
                  <a:srgbClr val="223843"/>
                </a:solidFill>
                <a:effectLst/>
                <a:latin typeface="Trebuchet MS" panose="020B0603020202020204" pitchFamily="34" charset="0"/>
                <a:ea typeface="+mn-ea"/>
                <a:cs typeface="+mn-cs"/>
              </a:rPr>
              <a:t>uniquement</a:t>
            </a:r>
            <a:r>
              <a:rPr lang="en-US" sz="800" b="0" i="0" kern="1200">
                <a:solidFill>
                  <a:srgbClr val="223843"/>
                </a:solidFill>
                <a:effectLst/>
                <a:latin typeface="Trebuchet MS" panose="020B0603020202020204" pitchFamily="34" charset="0"/>
                <a:ea typeface="+mn-ea"/>
                <a:cs typeface="+mn-cs"/>
              </a:rPr>
              <a:t> </a:t>
            </a:r>
            <a:r>
              <a:rPr lang="en-US" sz="800" b="0" i="0" kern="1200" err="1">
                <a:solidFill>
                  <a:srgbClr val="223843"/>
                </a:solidFill>
                <a:effectLst/>
                <a:latin typeface="Trebuchet MS" panose="020B0603020202020204" pitchFamily="34" charset="0"/>
                <a:ea typeface="+mn-ea"/>
                <a:cs typeface="+mn-cs"/>
              </a:rPr>
              <a:t>en</a:t>
            </a:r>
            <a:r>
              <a:rPr lang="en-US" sz="800" b="0" i="0" kern="1200">
                <a:solidFill>
                  <a:srgbClr val="223843"/>
                </a:solidFill>
                <a:effectLst/>
                <a:latin typeface="Trebuchet MS" panose="020B0603020202020204" pitchFamily="34" charset="0"/>
                <a:ea typeface="+mn-ea"/>
                <a:cs typeface="+mn-cs"/>
              </a:rPr>
              <a:t> </a:t>
            </a:r>
            <a:r>
              <a:rPr lang="en-US" sz="800" b="0" i="0" kern="1200" err="1">
                <a:solidFill>
                  <a:srgbClr val="223843"/>
                </a:solidFill>
                <a:effectLst/>
                <a:latin typeface="Trebuchet MS" panose="020B0603020202020204" pitchFamily="34" charset="0"/>
                <a:ea typeface="+mn-ea"/>
                <a:cs typeface="+mn-cs"/>
              </a:rPr>
              <a:t>anglais</a:t>
            </a:r>
            <a:endParaRPr lang="en-US" sz="800" b="0" i="0" kern="1200">
              <a:solidFill>
                <a:srgbClr val="223843"/>
              </a:solidFill>
              <a:effectLst/>
              <a:latin typeface="Trebuchet MS" panose="020B0603020202020204" pitchFamily="34" charset="0"/>
              <a:ea typeface="+mn-ea"/>
              <a:cs typeface="+mn-cs"/>
            </a:endParaRPr>
          </a:p>
          <a:p>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F2203E-488A-4BD1-AF36-A5CA97881365}" type="slidenum">
              <a:rPr kumimoji="0" lang="fr-FR"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fr-FR"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288916342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Dans cette section, nous allons détailler notre offre pour la phase d'analyse, fournir une estimation pour la mise en œuvre et détailler les tarifs pour les licences et l'hébergement.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Je tiens à souligner que vous n'aurez besoin d'acquérir la licence qu'après la finalisation de l'analyse. Cela signifie qu'en commençant par l'analyse, vous ne vous engagez pas sur la licence dès le départ. Cette approche garantit que vous pouvez avancer avec la licence uniquement lorsque vous êtes convaincu que le système répond pleinement à vos besoins.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81703024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3738-13AB-E896-A44D-CB0989C546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D51117-5A32-8039-F8B6-AA585D5A18A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BCDB31-5609-2101-8725-6F651206BA27}"/>
              </a:ext>
            </a:extLst>
          </p:cNvPr>
          <p:cNvSpPr>
            <a:spLocks noGrp="1"/>
          </p:cNvSpPr>
          <p:nvPr>
            <p:ph type="body" idx="1"/>
          </p:nvPr>
        </p:nvSpPr>
        <p:spPr/>
        <p:txBody>
          <a:bodyPr/>
          <a:lstStyle/>
          <a:p>
            <a:r>
              <a:rPr lang="fr-FR" dirty="0"/>
              <a:t>PRIX France EUR</a:t>
            </a:r>
          </a:p>
        </p:txBody>
      </p:sp>
      <p:sp>
        <p:nvSpPr>
          <p:cNvPr id="4" name="Espace réservé du numéro de diapositive 3">
            <a:extLst>
              <a:ext uri="{FF2B5EF4-FFF2-40B4-BE49-F238E27FC236}">
                <a16:creationId xmlns:a16="http://schemas.microsoft.com/office/drawing/2014/main" id="{741FE9F1-9D0F-41F0-995F-9802E99765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298377421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Prix LUXEMBOURG EUR</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96242297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D1FB-9353-7247-4264-5959AF041E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A2195E-E01E-2DE8-82C9-47B20018082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3431742-2405-DA01-41E8-2F5E186539BC}"/>
              </a:ext>
            </a:extLst>
          </p:cNvPr>
          <p:cNvSpPr>
            <a:spLocks noGrp="1"/>
          </p:cNvSpPr>
          <p:nvPr>
            <p:ph type="body" idx="1"/>
          </p:nvPr>
        </p:nvSpPr>
        <p:spPr/>
        <p:txBody>
          <a:bodyPr/>
          <a:lstStyle/>
          <a:p>
            <a:r>
              <a:rPr lang="fr-FR" dirty="0"/>
              <a:t>PRIX MADAGASCAR EUR - MGA</a:t>
            </a:r>
          </a:p>
        </p:txBody>
      </p:sp>
      <p:sp>
        <p:nvSpPr>
          <p:cNvPr id="4" name="Espace réservé du numéro de diapositive 3">
            <a:extLst>
              <a:ext uri="{FF2B5EF4-FFF2-40B4-BE49-F238E27FC236}">
                <a16:creationId xmlns:a16="http://schemas.microsoft.com/office/drawing/2014/main" id="{4227968F-CDC8-0EB0-790E-1C1CB325EF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98758825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PRIX CANADA CAD</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9728793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1"/>
        <p:cNvGrpSpPr/>
        <p:nvPr/>
      </p:nvGrpSpPr>
      <p:grpSpPr>
        <a:xfrm>
          <a:off x="0" y="0"/>
          <a:ext cx="0" cy="0"/>
          <a:chOff x="0" y="0"/>
          <a:chExt cx="0" cy="0"/>
        </a:xfrm>
      </p:grpSpPr>
      <p:sp>
        <p:nvSpPr>
          <p:cNvPr id="2532" name="Google Shape;253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3" name="Google Shape;253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708544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FF2203E-488A-4BD1-AF36-A5CA97881365}" type="slidenum">
              <a:rPr kumimoji="0" lang="fr-FR"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fr-FR"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77039567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5077030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9"/>
        <p:cNvGrpSpPr/>
        <p:nvPr/>
      </p:nvGrpSpPr>
      <p:grpSpPr>
        <a:xfrm>
          <a:off x="0" y="0"/>
          <a:ext cx="0" cy="0"/>
          <a:chOff x="0" y="0"/>
          <a:chExt cx="0" cy="0"/>
        </a:xfrm>
      </p:grpSpPr>
      <p:sp>
        <p:nvSpPr>
          <p:cNvPr id="2520" name="Google Shape;25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1" name="Google Shape;25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449987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5"/>
        <p:cNvGrpSpPr/>
        <p:nvPr/>
      </p:nvGrpSpPr>
      <p:grpSpPr>
        <a:xfrm>
          <a:off x="0" y="0"/>
          <a:ext cx="0" cy="0"/>
          <a:chOff x="0" y="0"/>
          <a:chExt cx="0" cy="0"/>
        </a:xfrm>
      </p:grpSpPr>
      <p:sp>
        <p:nvSpPr>
          <p:cNvPr id="2526" name="Google Shape;252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7" name="Google Shape;25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5"/>
        <p:cNvGrpSpPr/>
        <p:nvPr/>
      </p:nvGrpSpPr>
      <p:grpSpPr>
        <a:xfrm>
          <a:off x="0" y="0"/>
          <a:ext cx="0" cy="0"/>
          <a:chOff x="0" y="0"/>
          <a:chExt cx="0" cy="0"/>
        </a:xfrm>
      </p:grpSpPr>
      <p:sp>
        <p:nvSpPr>
          <p:cNvPr id="2526" name="Google Shape;252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800" b="0" i="0" u="none" strike="noStrike" dirty="0">
                <a:solidFill>
                  <a:srgbClr val="212529"/>
                </a:solidFill>
                <a:effectLst/>
              </a:rPr>
              <a:t>Calcul temps de test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conf</a:t>
            </a:r>
            <a:r>
              <a:rPr lang="fr-FR" dirty="0"/>
              <a:t> : </a:t>
            </a:r>
            <a:r>
              <a:rPr lang="fr-FR" sz="1800" b="0" i="0" u="none" strike="noStrike" dirty="0">
                <a:solidFill>
                  <a:srgbClr val="212529"/>
                </a:solidFill>
                <a:effectLst/>
              </a:rPr>
              <a:t>1670,51 *</a:t>
            </a:r>
            <a:r>
              <a:rPr lang="fr-FR" dirty="0"/>
              <a:t> </a:t>
            </a:r>
            <a:r>
              <a:rPr lang="fr-FR" sz="1800" b="0" i="0" u="none" strike="noStrike" dirty="0">
                <a:solidFill>
                  <a:srgbClr val="212529"/>
                </a:solidFill>
                <a:effectLst/>
              </a:rPr>
              <a:t>10%</a:t>
            </a:r>
            <a:r>
              <a:rPr lang="fr-FR" dirty="0"/>
              <a:t> = </a:t>
            </a:r>
            <a:r>
              <a:rPr lang="fr-FR" sz="1800" b="0" i="0" u="none" strike="noStrike" dirty="0">
                <a:solidFill>
                  <a:srgbClr val="212529"/>
                </a:solidFill>
                <a:effectLst/>
              </a:rPr>
              <a:t>167,051</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dev</a:t>
            </a:r>
            <a:r>
              <a:rPr lang="fr-FR" dirty="0"/>
              <a:t> : </a:t>
            </a:r>
            <a:r>
              <a:rPr lang="fr-FR" sz="1800" b="0" i="0" u="none" strike="noStrike" dirty="0">
                <a:solidFill>
                  <a:srgbClr val="212529"/>
                </a:solidFill>
                <a:effectLst/>
              </a:rPr>
              <a:t>1936 *</a:t>
            </a:r>
            <a:r>
              <a:rPr lang="fr-FR" dirty="0"/>
              <a:t> </a:t>
            </a:r>
            <a:r>
              <a:rPr lang="fr-FR" sz="1800" b="0" i="0" u="none" strike="noStrike" dirty="0">
                <a:solidFill>
                  <a:srgbClr val="212529"/>
                </a:solidFill>
                <a:effectLst/>
              </a:rPr>
              <a:t>20%</a:t>
            </a:r>
            <a:r>
              <a:rPr lang="fr-FR" dirty="0"/>
              <a:t> = </a:t>
            </a:r>
            <a:r>
              <a:rPr lang="fr-FR" sz="1800" b="0" i="0" u="none" strike="noStrike" dirty="0">
                <a:solidFill>
                  <a:srgbClr val="212529"/>
                </a:solidFill>
                <a:effectLst/>
              </a:rPr>
              <a:t>387,2</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total</a:t>
            </a:r>
            <a:r>
              <a:rPr lang="fr-FR" dirty="0"/>
              <a:t> </a:t>
            </a:r>
            <a:r>
              <a:rPr lang="fr-FR" sz="1800" b="0" i="0" u="none" strike="noStrike" dirty="0">
                <a:solidFill>
                  <a:srgbClr val="212529"/>
                </a:solidFill>
                <a:effectLst/>
              </a:rPr>
              <a:t>554,251 h</a:t>
            </a:r>
          </a:p>
          <a:p>
            <a:pPr marL="0" lvl="0" indent="0" algn="l" rtl="0">
              <a:lnSpc>
                <a:spcPct val="100000"/>
              </a:lnSpc>
              <a:spcBef>
                <a:spcPts val="0"/>
              </a:spcBef>
              <a:spcAft>
                <a:spcPts val="0"/>
              </a:spcAft>
              <a:buSzPts val="1400"/>
              <a:buNone/>
            </a:pPr>
            <a:endParaRPr lang="fr-FR" sz="1800" b="0" i="0" u="none" strike="noStrike" dirty="0">
              <a:solidFill>
                <a:srgbClr val="212529"/>
              </a:solidFill>
              <a:effectLst/>
            </a:endParaRP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1</a:t>
            </a:r>
            <a:r>
              <a:rPr lang="fr-FR" dirty="0"/>
              <a:t> : </a:t>
            </a:r>
            <a:r>
              <a:rPr lang="fr-FR" sz="1800" b="0" i="0" u="none" strike="noStrike" dirty="0">
                <a:solidFill>
                  <a:srgbClr val="212529"/>
                </a:solidFill>
                <a:effectLst/>
              </a:rPr>
              <a:t>47,8</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2</a:t>
            </a:r>
            <a:r>
              <a:rPr lang="fr-FR" dirty="0"/>
              <a:t> : </a:t>
            </a:r>
            <a:r>
              <a:rPr lang="fr-FR" sz="1800" b="0" i="0" u="none" strike="noStrike" dirty="0">
                <a:solidFill>
                  <a:srgbClr val="212529"/>
                </a:solidFill>
                <a:effectLst/>
              </a:rPr>
              <a:t>15,34</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3</a:t>
            </a:r>
            <a:r>
              <a:rPr lang="fr-FR" dirty="0"/>
              <a:t> : </a:t>
            </a:r>
            <a:r>
              <a:rPr lang="fr-FR" sz="1800" b="0" i="0" u="none" strike="noStrike" dirty="0">
                <a:solidFill>
                  <a:srgbClr val="212529"/>
                </a:solidFill>
                <a:effectLst/>
              </a:rPr>
              <a:t>6,02</a:t>
            </a:r>
          </a:p>
          <a:p>
            <a:pPr marL="0" lvl="0" indent="0" algn="l" rtl="0">
              <a:lnSpc>
                <a:spcPct val="100000"/>
              </a:lnSpc>
              <a:spcBef>
                <a:spcPts val="0"/>
              </a:spcBef>
              <a:spcAft>
                <a:spcPts val="0"/>
              </a:spcAft>
              <a:buSzPts val="1400"/>
              <a:buNone/>
            </a:pP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hebdo</a:t>
            </a:r>
            <a:r>
              <a:rPr lang="fr-FR" dirty="0"/>
              <a:t> </a:t>
            </a:r>
            <a:r>
              <a:rPr lang="fr-FR" sz="1800" b="0" i="0" u="none" strike="noStrike" dirty="0">
                <a:solidFill>
                  <a:srgbClr val="212529"/>
                </a:solidFill>
                <a:effectLst/>
              </a:rPr>
              <a:t>554,251 / 69,16 = 8,014039907</a:t>
            </a:r>
            <a:r>
              <a:rPr lang="fr-FR" dirty="0"/>
              <a:t> h/semaine</a:t>
            </a:r>
            <a:endParaRPr dirty="0"/>
          </a:p>
        </p:txBody>
      </p:sp>
      <p:sp>
        <p:nvSpPr>
          <p:cNvPr id="2527" name="Google Shape;25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142587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5"/>
        <p:cNvGrpSpPr/>
        <p:nvPr/>
      </p:nvGrpSpPr>
      <p:grpSpPr>
        <a:xfrm>
          <a:off x="0" y="0"/>
          <a:ext cx="0" cy="0"/>
          <a:chOff x="0" y="0"/>
          <a:chExt cx="0" cy="0"/>
        </a:xfrm>
      </p:grpSpPr>
      <p:sp>
        <p:nvSpPr>
          <p:cNvPr id="2526" name="Google Shape;252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800" b="0" i="0" u="none" strike="noStrike" dirty="0">
                <a:solidFill>
                  <a:srgbClr val="212529"/>
                </a:solidFill>
                <a:effectLst/>
              </a:rPr>
              <a:t>Calcul temps de test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conf</a:t>
            </a:r>
            <a:r>
              <a:rPr lang="fr-FR" dirty="0"/>
              <a:t> : </a:t>
            </a:r>
            <a:r>
              <a:rPr lang="fr-FR" sz="1800" b="0" i="0" u="none" strike="noStrike" dirty="0">
                <a:solidFill>
                  <a:srgbClr val="212529"/>
                </a:solidFill>
                <a:effectLst/>
              </a:rPr>
              <a:t>1670,51 *</a:t>
            </a:r>
            <a:r>
              <a:rPr lang="fr-FR" dirty="0"/>
              <a:t> </a:t>
            </a:r>
            <a:r>
              <a:rPr lang="fr-FR" sz="1800" b="0" i="0" u="none" strike="noStrike" dirty="0">
                <a:solidFill>
                  <a:srgbClr val="212529"/>
                </a:solidFill>
                <a:effectLst/>
              </a:rPr>
              <a:t>10%</a:t>
            </a:r>
            <a:r>
              <a:rPr lang="fr-FR" dirty="0"/>
              <a:t> = </a:t>
            </a:r>
            <a:r>
              <a:rPr lang="fr-FR" sz="1800" b="0" i="0" u="none" strike="noStrike" dirty="0">
                <a:solidFill>
                  <a:srgbClr val="212529"/>
                </a:solidFill>
                <a:effectLst/>
              </a:rPr>
              <a:t>167,051</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dev</a:t>
            </a:r>
            <a:r>
              <a:rPr lang="fr-FR" dirty="0"/>
              <a:t> : </a:t>
            </a:r>
            <a:r>
              <a:rPr lang="fr-FR" sz="1800" b="0" i="0" u="none" strike="noStrike" dirty="0">
                <a:solidFill>
                  <a:srgbClr val="212529"/>
                </a:solidFill>
                <a:effectLst/>
              </a:rPr>
              <a:t>1936 *</a:t>
            </a:r>
            <a:r>
              <a:rPr lang="fr-FR" dirty="0"/>
              <a:t> </a:t>
            </a:r>
            <a:r>
              <a:rPr lang="fr-FR" sz="1800" b="0" i="0" u="none" strike="noStrike" dirty="0">
                <a:solidFill>
                  <a:srgbClr val="212529"/>
                </a:solidFill>
                <a:effectLst/>
              </a:rPr>
              <a:t>20%</a:t>
            </a:r>
            <a:r>
              <a:rPr lang="fr-FR" dirty="0"/>
              <a:t> = </a:t>
            </a:r>
            <a:r>
              <a:rPr lang="fr-FR" sz="1800" b="0" i="0" u="none" strike="noStrike" dirty="0">
                <a:solidFill>
                  <a:srgbClr val="212529"/>
                </a:solidFill>
                <a:effectLst/>
              </a:rPr>
              <a:t>387,2</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total</a:t>
            </a:r>
            <a:r>
              <a:rPr lang="fr-FR" dirty="0"/>
              <a:t> </a:t>
            </a:r>
            <a:r>
              <a:rPr lang="fr-FR" sz="1800" b="0" i="0" u="none" strike="noStrike" dirty="0">
                <a:solidFill>
                  <a:srgbClr val="212529"/>
                </a:solidFill>
                <a:effectLst/>
              </a:rPr>
              <a:t>554,251 h</a:t>
            </a:r>
          </a:p>
          <a:p>
            <a:pPr marL="0" lvl="0" indent="0" algn="l" rtl="0">
              <a:lnSpc>
                <a:spcPct val="100000"/>
              </a:lnSpc>
              <a:spcBef>
                <a:spcPts val="0"/>
              </a:spcBef>
              <a:spcAft>
                <a:spcPts val="0"/>
              </a:spcAft>
              <a:buSzPts val="1400"/>
              <a:buNone/>
            </a:pPr>
            <a:endParaRPr lang="fr-FR" sz="1800" b="0" i="0" u="none" strike="noStrike" dirty="0">
              <a:solidFill>
                <a:srgbClr val="212529"/>
              </a:solidFill>
              <a:effectLst/>
            </a:endParaRP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1</a:t>
            </a:r>
            <a:r>
              <a:rPr lang="fr-FR" dirty="0"/>
              <a:t> : </a:t>
            </a:r>
            <a:r>
              <a:rPr lang="fr-FR" sz="1800" b="0" i="0" u="none" strike="noStrike" dirty="0">
                <a:solidFill>
                  <a:srgbClr val="212529"/>
                </a:solidFill>
                <a:effectLst/>
              </a:rPr>
              <a:t>47,8</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2</a:t>
            </a:r>
            <a:r>
              <a:rPr lang="fr-FR" dirty="0"/>
              <a:t> : </a:t>
            </a:r>
            <a:r>
              <a:rPr lang="fr-FR" sz="1800" b="0" i="0" u="none" strike="noStrike" dirty="0">
                <a:solidFill>
                  <a:srgbClr val="212529"/>
                </a:solidFill>
                <a:effectLst/>
              </a:rPr>
              <a:t>15,34</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3</a:t>
            </a:r>
            <a:r>
              <a:rPr lang="fr-FR" dirty="0"/>
              <a:t> : </a:t>
            </a:r>
            <a:r>
              <a:rPr lang="fr-FR" sz="1800" b="0" i="0" u="none" strike="noStrike" dirty="0">
                <a:solidFill>
                  <a:srgbClr val="212529"/>
                </a:solidFill>
                <a:effectLst/>
              </a:rPr>
              <a:t>6,02</a:t>
            </a:r>
          </a:p>
          <a:p>
            <a:pPr marL="0" lvl="0" indent="0" algn="l" rtl="0">
              <a:lnSpc>
                <a:spcPct val="100000"/>
              </a:lnSpc>
              <a:spcBef>
                <a:spcPts val="0"/>
              </a:spcBef>
              <a:spcAft>
                <a:spcPts val="0"/>
              </a:spcAft>
              <a:buSzPts val="1400"/>
              <a:buNone/>
            </a:pP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hebdo</a:t>
            </a:r>
            <a:r>
              <a:rPr lang="fr-FR" dirty="0"/>
              <a:t> </a:t>
            </a:r>
            <a:r>
              <a:rPr lang="fr-FR" sz="1800" b="0" i="0" u="none" strike="noStrike" dirty="0">
                <a:solidFill>
                  <a:srgbClr val="212529"/>
                </a:solidFill>
                <a:effectLst/>
              </a:rPr>
              <a:t>554,251 / 69,16 = 8,014039907</a:t>
            </a:r>
            <a:r>
              <a:rPr lang="fr-FR" dirty="0"/>
              <a:t> h/semaine</a:t>
            </a:r>
            <a:endParaRPr dirty="0"/>
          </a:p>
        </p:txBody>
      </p:sp>
      <p:sp>
        <p:nvSpPr>
          <p:cNvPr id="2527" name="Google Shape;25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4717057"/>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5"/>
        <p:cNvGrpSpPr/>
        <p:nvPr/>
      </p:nvGrpSpPr>
      <p:grpSpPr>
        <a:xfrm>
          <a:off x="0" y="0"/>
          <a:ext cx="0" cy="0"/>
          <a:chOff x="0" y="0"/>
          <a:chExt cx="0" cy="0"/>
        </a:xfrm>
      </p:grpSpPr>
      <p:sp>
        <p:nvSpPr>
          <p:cNvPr id="2526" name="Google Shape;252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800" b="0" i="0" u="none" strike="noStrike" dirty="0">
                <a:solidFill>
                  <a:srgbClr val="212529"/>
                </a:solidFill>
                <a:effectLst/>
              </a:rPr>
              <a:t>Calcul temps de test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conf</a:t>
            </a:r>
            <a:r>
              <a:rPr lang="fr-FR" dirty="0"/>
              <a:t> : </a:t>
            </a:r>
            <a:r>
              <a:rPr lang="fr-FR" sz="1800" b="0" i="0" u="none" strike="noStrike" dirty="0">
                <a:solidFill>
                  <a:srgbClr val="212529"/>
                </a:solidFill>
                <a:effectLst/>
              </a:rPr>
              <a:t>1670,51 *</a:t>
            </a:r>
            <a:r>
              <a:rPr lang="fr-FR" dirty="0"/>
              <a:t> </a:t>
            </a:r>
            <a:r>
              <a:rPr lang="fr-FR" sz="1800" b="0" i="0" u="none" strike="noStrike" dirty="0">
                <a:solidFill>
                  <a:srgbClr val="212529"/>
                </a:solidFill>
                <a:effectLst/>
              </a:rPr>
              <a:t>10%</a:t>
            </a:r>
            <a:r>
              <a:rPr lang="fr-FR" dirty="0"/>
              <a:t> = </a:t>
            </a:r>
            <a:r>
              <a:rPr lang="fr-FR" sz="1800" b="0" i="0" u="none" strike="noStrike" dirty="0">
                <a:solidFill>
                  <a:srgbClr val="212529"/>
                </a:solidFill>
                <a:effectLst/>
              </a:rPr>
              <a:t>167,051</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dev</a:t>
            </a:r>
            <a:r>
              <a:rPr lang="fr-FR" dirty="0"/>
              <a:t> : </a:t>
            </a:r>
            <a:r>
              <a:rPr lang="fr-FR" sz="1800" b="0" i="0" u="none" strike="noStrike" dirty="0">
                <a:solidFill>
                  <a:srgbClr val="212529"/>
                </a:solidFill>
                <a:effectLst/>
              </a:rPr>
              <a:t>1936 *</a:t>
            </a:r>
            <a:r>
              <a:rPr lang="fr-FR" dirty="0"/>
              <a:t> </a:t>
            </a:r>
            <a:r>
              <a:rPr lang="fr-FR" sz="1800" b="0" i="0" u="none" strike="noStrike" dirty="0">
                <a:solidFill>
                  <a:srgbClr val="212529"/>
                </a:solidFill>
                <a:effectLst/>
              </a:rPr>
              <a:t>20%</a:t>
            </a:r>
            <a:r>
              <a:rPr lang="fr-FR" dirty="0"/>
              <a:t> = </a:t>
            </a:r>
            <a:r>
              <a:rPr lang="fr-FR" sz="1800" b="0" i="0" u="none" strike="noStrike" dirty="0">
                <a:solidFill>
                  <a:srgbClr val="212529"/>
                </a:solidFill>
                <a:effectLst/>
              </a:rPr>
              <a:t>387,2</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total</a:t>
            </a:r>
            <a:r>
              <a:rPr lang="fr-FR" dirty="0"/>
              <a:t> </a:t>
            </a:r>
            <a:r>
              <a:rPr lang="fr-FR" sz="1800" b="0" i="0" u="none" strike="noStrike" dirty="0">
                <a:solidFill>
                  <a:srgbClr val="212529"/>
                </a:solidFill>
                <a:effectLst/>
              </a:rPr>
              <a:t>554,251 h</a:t>
            </a:r>
          </a:p>
          <a:p>
            <a:pPr marL="0" lvl="0" indent="0" algn="l" rtl="0">
              <a:lnSpc>
                <a:spcPct val="100000"/>
              </a:lnSpc>
              <a:spcBef>
                <a:spcPts val="0"/>
              </a:spcBef>
              <a:spcAft>
                <a:spcPts val="0"/>
              </a:spcAft>
              <a:buSzPts val="1400"/>
              <a:buNone/>
            </a:pPr>
            <a:endParaRPr lang="fr-FR" sz="1800" b="0" i="0" u="none" strike="noStrike" dirty="0">
              <a:solidFill>
                <a:srgbClr val="212529"/>
              </a:solidFill>
              <a:effectLst/>
            </a:endParaRP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1</a:t>
            </a:r>
            <a:r>
              <a:rPr lang="fr-FR" dirty="0"/>
              <a:t> : </a:t>
            </a:r>
            <a:r>
              <a:rPr lang="fr-FR" sz="1800" b="0" i="0" u="none" strike="noStrike" dirty="0">
                <a:solidFill>
                  <a:srgbClr val="212529"/>
                </a:solidFill>
                <a:effectLst/>
              </a:rPr>
              <a:t>47,8</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2</a:t>
            </a:r>
            <a:r>
              <a:rPr lang="fr-FR" dirty="0"/>
              <a:t> : </a:t>
            </a:r>
            <a:r>
              <a:rPr lang="fr-FR" sz="1800" b="0" i="0" u="none" strike="noStrike" dirty="0">
                <a:solidFill>
                  <a:srgbClr val="212529"/>
                </a:solidFill>
                <a:effectLst/>
              </a:rPr>
              <a:t>15,34</a:t>
            </a: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nb semaine 3</a:t>
            </a:r>
            <a:r>
              <a:rPr lang="fr-FR" dirty="0"/>
              <a:t> : </a:t>
            </a:r>
            <a:r>
              <a:rPr lang="fr-FR" sz="1800" b="0" i="0" u="none" strike="noStrike" dirty="0">
                <a:solidFill>
                  <a:srgbClr val="212529"/>
                </a:solidFill>
                <a:effectLst/>
              </a:rPr>
              <a:t>6,02</a:t>
            </a:r>
          </a:p>
          <a:p>
            <a:pPr marL="0" lvl="0" indent="0" algn="l" rtl="0">
              <a:lnSpc>
                <a:spcPct val="100000"/>
              </a:lnSpc>
              <a:spcBef>
                <a:spcPts val="0"/>
              </a:spcBef>
              <a:spcAft>
                <a:spcPts val="0"/>
              </a:spcAft>
              <a:buSzPts val="1400"/>
              <a:buNone/>
            </a:pPr>
            <a:r>
              <a:rPr lang="fr-FR" dirty="0"/>
              <a:t> </a:t>
            </a:r>
          </a:p>
          <a:p>
            <a:pPr marL="0" lvl="0" indent="0" algn="l" rtl="0">
              <a:lnSpc>
                <a:spcPct val="100000"/>
              </a:lnSpc>
              <a:spcBef>
                <a:spcPts val="0"/>
              </a:spcBef>
              <a:spcAft>
                <a:spcPts val="0"/>
              </a:spcAft>
              <a:buSzPts val="1400"/>
              <a:buNone/>
            </a:pPr>
            <a:r>
              <a:rPr lang="fr-FR" sz="1800" b="0" i="0" u="none" strike="noStrike" dirty="0">
                <a:solidFill>
                  <a:srgbClr val="212529"/>
                </a:solidFill>
                <a:effectLst/>
              </a:rPr>
              <a:t>hebdo</a:t>
            </a:r>
            <a:r>
              <a:rPr lang="fr-FR" dirty="0"/>
              <a:t> </a:t>
            </a:r>
            <a:r>
              <a:rPr lang="fr-FR" sz="1800" b="0" i="0" u="none" strike="noStrike" dirty="0">
                <a:solidFill>
                  <a:srgbClr val="212529"/>
                </a:solidFill>
                <a:effectLst/>
              </a:rPr>
              <a:t>554,251 / 69,16 = 8,014039907</a:t>
            </a:r>
            <a:r>
              <a:rPr lang="fr-FR" dirty="0"/>
              <a:t> h/semaine</a:t>
            </a:r>
            <a:endParaRPr dirty="0"/>
          </a:p>
        </p:txBody>
      </p:sp>
      <p:sp>
        <p:nvSpPr>
          <p:cNvPr id="2527" name="Google Shape;25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070974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157</a:t>
            </a:fld>
            <a:endParaRPr lang="en-US" dirty="0"/>
          </a:p>
        </p:txBody>
      </p:sp>
    </p:spTree>
    <p:extLst>
      <p:ext uri="{BB962C8B-B14F-4D97-AF65-F5344CB8AC3E}">
        <p14:creationId xmlns:p14="http://schemas.microsoft.com/office/powerpoint/2010/main" val="269193844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159</a:t>
            </a:fld>
            <a:endParaRPr lang="en-US" dirty="0"/>
          </a:p>
        </p:txBody>
      </p:sp>
    </p:spTree>
    <p:extLst>
      <p:ext uri="{BB962C8B-B14F-4D97-AF65-F5344CB8AC3E}">
        <p14:creationId xmlns:p14="http://schemas.microsoft.com/office/powerpoint/2010/main" val="293903619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4"/>
        <p:cNvGrpSpPr/>
        <p:nvPr/>
      </p:nvGrpSpPr>
      <p:grpSpPr>
        <a:xfrm>
          <a:off x="0" y="0"/>
          <a:ext cx="0" cy="0"/>
          <a:chOff x="0" y="0"/>
          <a:chExt cx="0" cy="0"/>
        </a:xfrm>
      </p:grpSpPr>
      <p:sp>
        <p:nvSpPr>
          <p:cNvPr id="2585" name="Google Shape;258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6" name="Google Shape;258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ECDEC3-219E-216B-4076-2B3C622A0AB8}"/>
              </a:ext>
            </a:extLst>
          </p:cNvPr>
          <p:cNvSpPr>
            <a:spLocks noGrp="1"/>
          </p:cNvSpPr>
          <p:nvPr>
            <p:ph type="title" hasCustomPrompt="1"/>
          </p:nvPr>
        </p:nvSpPr>
        <p:spPr/>
        <p:txBody>
          <a:bodyPr/>
          <a:lstStyle/>
          <a:p>
            <a:r>
              <a:rPr lang="fr-FR" dirty="0"/>
              <a:t>MODIFIEZ LE STYLE DU TITRE</a:t>
            </a:r>
            <a:endParaRPr lang="en-US" dirty="0"/>
          </a:p>
        </p:txBody>
      </p:sp>
    </p:spTree>
    <p:extLst>
      <p:ext uri="{BB962C8B-B14F-4D97-AF65-F5344CB8AC3E}">
        <p14:creationId xmlns:p14="http://schemas.microsoft.com/office/powerpoint/2010/main" val="1803806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First page - Logo &amp; Title">
    <p:bg>
      <p:bgPr>
        <a:gradFill flip="none" rotWithShape="1">
          <a:gsLst>
            <a:gs pos="35000">
              <a:srgbClr val="714B67"/>
            </a:gs>
            <a:gs pos="0">
              <a:srgbClr val="714B67"/>
            </a:gs>
            <a:gs pos="100000">
              <a:srgbClr val="BA131A"/>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693380-4D30-3780-EFC0-008DEFB06C99}"/>
              </a:ext>
            </a:extLst>
          </p:cNvPr>
          <p:cNvSpPr/>
          <p:nvPr userDrawn="1"/>
        </p:nvSpPr>
        <p:spPr>
          <a:xfrm>
            <a:off x="0" y="0"/>
            <a:ext cx="12192000" cy="6857999"/>
          </a:xfrm>
          <a:prstGeom prst="rect">
            <a:avLst/>
          </a:prstGeom>
          <a:gradFill flip="none" rotWithShape="1">
            <a:gsLst>
              <a:gs pos="35000">
                <a:srgbClr val="714B67"/>
              </a:gs>
              <a:gs pos="0">
                <a:srgbClr val="714B67"/>
              </a:gs>
              <a:gs pos="100000">
                <a:srgbClr val="BA131A"/>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ous-titre 2">
            <a:extLst>
              <a:ext uri="{FF2B5EF4-FFF2-40B4-BE49-F238E27FC236}">
                <a16:creationId xmlns:a16="http://schemas.microsoft.com/office/drawing/2014/main" id="{82058273-7F12-59B6-8916-1CAD8860B3B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pic>
        <p:nvPicPr>
          <p:cNvPr id="5" name="Image 4" descr="Une image contenant texte, clipart">
            <a:extLst>
              <a:ext uri="{FF2B5EF4-FFF2-40B4-BE49-F238E27FC236}">
                <a16:creationId xmlns:a16="http://schemas.microsoft.com/office/drawing/2014/main" id="{56C0223A-567E-54EA-3CD9-E52C2BBE07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0" y="1437709"/>
            <a:ext cx="9144000" cy="1991290"/>
          </a:xfrm>
          <a:prstGeom prst="rect">
            <a:avLst/>
          </a:prstGeom>
        </p:spPr>
      </p:pic>
    </p:spTree>
    <p:extLst>
      <p:ext uri="{BB962C8B-B14F-4D97-AF65-F5344CB8AC3E}">
        <p14:creationId xmlns:p14="http://schemas.microsoft.com/office/powerpoint/2010/main" val="171535179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6738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DD0BB-EA2F-36A7-7FD3-C20348C0E5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BDE80E8C-5FA4-AA4A-6D35-C743CC52C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5" name="Espace réservé du numéro de diapositive 4">
            <a:extLst>
              <a:ext uri="{FF2B5EF4-FFF2-40B4-BE49-F238E27FC236}">
                <a16:creationId xmlns:a16="http://schemas.microsoft.com/office/drawing/2014/main" id="{EA3A9B35-F77D-F695-3A75-447C3CC610A5}"/>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72161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431CC-972E-314C-31D8-39C61EC006E6}"/>
              </a:ext>
            </a:extLst>
          </p:cNvPr>
          <p:cNvSpPr>
            <a:spLocks noGrp="1"/>
          </p:cNvSpPr>
          <p:nvPr>
            <p:ph type="title"/>
          </p:nvPr>
        </p:nvSpPr>
        <p:spPr/>
        <p:txBody>
          <a:bodyPr/>
          <a:lstStyle>
            <a:lvl1pPr>
              <a:defRPr b="1"/>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E013790-14F8-57E9-79D5-B786DE111A9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6EC2A175-D1C2-1190-3F57-7062E193A9D3}"/>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66273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4" name="Titre 19">
            <a:extLst>
              <a:ext uri="{FF2B5EF4-FFF2-40B4-BE49-F238E27FC236}">
                <a16:creationId xmlns:a16="http://schemas.microsoft.com/office/drawing/2014/main" id="{3DFBBBEF-C15A-A51B-087C-882A4261D38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7"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dirty="0" err="1"/>
              <a:t>Text</a:t>
            </a:r>
            <a:endParaRPr lang="en-US" dirty="0"/>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dirty="0" err="1"/>
              <a:t>Text</a:t>
            </a:r>
            <a:endParaRPr lang="en-US" dirty="0"/>
          </a:p>
        </p:txBody>
      </p:sp>
      <p:sp>
        <p:nvSpPr>
          <p:cNvPr id="2" name="Espace réservé du numéro de diapositive 1">
            <a:extLst>
              <a:ext uri="{FF2B5EF4-FFF2-40B4-BE49-F238E27FC236}">
                <a16:creationId xmlns:a16="http://schemas.microsoft.com/office/drawing/2014/main" id="{4CAC0282-6A7E-3C43-CAC3-F8700A3FE426}"/>
              </a:ext>
            </a:extLst>
          </p:cNvPr>
          <p:cNvSpPr>
            <a:spLocks noGrp="1"/>
          </p:cNvSpPr>
          <p:nvPr>
            <p:ph type="sldNum" sz="quarter" idx="15"/>
          </p:nvPr>
        </p:nvSpPr>
        <p:spPr/>
        <p:txBody>
          <a:bodyPr/>
          <a:lstStyle/>
          <a:p>
            <a:fld id="{0C34F99C-3C47-4582-9518-8D365E9692AE}" type="slidenum">
              <a:rPr lang="en-US" smtClean="0"/>
              <a:pPr/>
              <a:t>‹N°›</a:t>
            </a:fld>
            <a:endParaRPr lang="en-US" dirty="0"/>
          </a:p>
        </p:txBody>
      </p:sp>
    </p:spTree>
    <p:extLst>
      <p:ext uri="{BB962C8B-B14F-4D97-AF65-F5344CB8AC3E}">
        <p14:creationId xmlns:p14="http://schemas.microsoft.com/office/powerpoint/2010/main" val="2355296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7E5790C1-BFF4-512C-7BCC-36285D348726}"/>
              </a:ext>
            </a:extLst>
          </p:cNvPr>
          <p:cNvSpPr/>
          <p:nvPr/>
        </p:nvSpPr>
        <p:spPr>
          <a:xfrm>
            <a:off x="8185266"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0" name="Ellipse 9">
            <a:extLst>
              <a:ext uri="{FF2B5EF4-FFF2-40B4-BE49-F238E27FC236}">
                <a16:creationId xmlns:a16="http://schemas.microsoft.com/office/drawing/2014/main" id="{FABCA34A-9E9A-CFA7-10CB-AB6CED1DCB7A}"/>
              </a:ext>
            </a:extLst>
          </p:cNvPr>
          <p:cNvSpPr/>
          <p:nvPr/>
        </p:nvSpPr>
        <p:spPr>
          <a:xfrm>
            <a:off x="5153654"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7" name="Ellipse 6">
            <a:extLst>
              <a:ext uri="{FF2B5EF4-FFF2-40B4-BE49-F238E27FC236}">
                <a16:creationId xmlns:a16="http://schemas.microsoft.com/office/drawing/2014/main" id="{C8201D78-B6D5-A1E0-A3EC-94725867D298}"/>
              </a:ext>
            </a:extLst>
          </p:cNvPr>
          <p:cNvSpPr/>
          <p:nvPr/>
        </p:nvSpPr>
        <p:spPr>
          <a:xfrm>
            <a:off x="2107069"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29694"/>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26315"/>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28129"/>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19" name="Titre 19">
            <a:extLst>
              <a:ext uri="{FF2B5EF4-FFF2-40B4-BE49-F238E27FC236}">
                <a16:creationId xmlns:a16="http://schemas.microsoft.com/office/drawing/2014/main" id="{99F6C8ED-FC1D-A1CA-9839-805AE101C3BB}"/>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09759"/>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06282"/>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06282"/>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dirty="0" err="1"/>
              <a:t>Text</a:t>
            </a:r>
            <a:endParaRPr lang="en-US" dirty="0"/>
          </a:p>
        </p:txBody>
      </p:sp>
      <p:sp>
        <p:nvSpPr>
          <p:cNvPr id="2" name="Espace réservé du numéro de diapositive 1">
            <a:extLst>
              <a:ext uri="{FF2B5EF4-FFF2-40B4-BE49-F238E27FC236}">
                <a16:creationId xmlns:a16="http://schemas.microsoft.com/office/drawing/2014/main" id="{46E21584-8852-2B2D-28B9-A82DC6E1F1C4}"/>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968778382"/>
      </p:ext>
    </p:extLst>
  </p:cSld>
  <p:clrMapOvr>
    <a:masterClrMapping/>
  </p:clrMapOvr>
  <p:extLst>
    <p:ext uri="{DCECCB84-F9BA-43D5-87BE-67443E8EF086}">
      <p15:sldGuideLst xmlns:p15="http://schemas.microsoft.com/office/powerpoint/2012/main">
        <p15:guide id="1" orient="horz" pos="2160">
          <p15:clr>
            <a:srgbClr val="FBAE40"/>
          </p15:clr>
        </p15:guide>
        <p15:guide id="2" pos="1920">
          <p15:clr>
            <a:srgbClr val="FBAE40"/>
          </p15:clr>
        </p15:guide>
        <p15:guide id="3" pos="57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Dots - Gri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32FB882C-37D7-B7E3-0E12-CA1DA4C6E0E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dirty="0"/>
              <a:t>%%</a:t>
            </a:r>
            <a:br>
              <a:rPr lang="fr-FR" dirty="0"/>
            </a:br>
            <a:r>
              <a:rPr lang="fr-FR" dirty="0" err="1"/>
              <a:t>Text</a:t>
            </a:r>
            <a:endParaRPr lang="en-US" dirty="0"/>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dirty="0"/>
              <a:t>%%</a:t>
            </a:r>
            <a:br>
              <a:rPr lang="fr-FR" dirty="0"/>
            </a:br>
            <a:r>
              <a:rPr lang="fr-FR" dirty="0" err="1"/>
              <a:t>Text</a:t>
            </a:r>
            <a:endParaRPr lang="en-US" dirty="0"/>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bg1"/>
                </a:solidFill>
                <a:latin typeface="+mn-lt"/>
              </a:defRPr>
            </a:lvl1pPr>
          </a:lstStyle>
          <a:p>
            <a:pPr lvl="0"/>
            <a:r>
              <a:rPr lang="fr-FR" dirty="0" err="1"/>
              <a:t>Text</a:t>
            </a:r>
            <a:endParaRPr lang="fr-FR" dirty="0"/>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space réservé du numéro de diapositive 8">
            <a:extLst>
              <a:ext uri="{FF2B5EF4-FFF2-40B4-BE49-F238E27FC236}">
                <a16:creationId xmlns:a16="http://schemas.microsoft.com/office/drawing/2014/main" id="{6931372D-7354-87DB-81D8-86A46CD064EE}"/>
              </a:ext>
            </a:extLst>
          </p:cNvPr>
          <p:cNvSpPr>
            <a:spLocks noGrp="1"/>
          </p:cNvSpPr>
          <p:nvPr>
            <p:ph type="sldNum" sz="quarter" idx="2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4201521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Dots - Aligne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Titre 19">
            <a:extLst>
              <a:ext uri="{FF2B5EF4-FFF2-40B4-BE49-F238E27FC236}">
                <a16:creationId xmlns:a16="http://schemas.microsoft.com/office/drawing/2014/main" id="{04B83D0E-956C-22C0-A28A-82581C3EE337}"/>
              </a:ext>
            </a:extLst>
          </p:cNvPr>
          <p:cNvSpPr>
            <a:spLocks noGrp="1"/>
          </p:cNvSpPr>
          <p:nvPr userDrawn="1">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dirty="0" err="1"/>
              <a:t>Text</a:t>
            </a:r>
            <a:endParaRPr lang="en-US" dirty="0"/>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dirty="0" err="1"/>
              <a:t>Text</a:t>
            </a:r>
            <a:endParaRPr lang="en-US" dirty="0"/>
          </a:p>
        </p:txBody>
      </p:sp>
      <p:sp>
        <p:nvSpPr>
          <p:cNvPr id="3" name="Espace réservé du numéro de diapositive 2">
            <a:extLst>
              <a:ext uri="{FF2B5EF4-FFF2-40B4-BE49-F238E27FC236}">
                <a16:creationId xmlns:a16="http://schemas.microsoft.com/office/drawing/2014/main" id="{7B60E07B-A379-7A53-D876-FAC8EADDE90F}"/>
              </a:ext>
            </a:extLst>
          </p:cNvPr>
          <p:cNvSpPr>
            <a:spLocks noGrp="1"/>
          </p:cNvSpPr>
          <p:nvPr>
            <p:ph type="sldNum" sz="quarter" idx="19"/>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76869782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dirty="0"/>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‹N°›</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dirty="0"/>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dirty="0"/>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dirty="0"/>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Tree>
    <p:extLst>
      <p:ext uri="{BB962C8B-B14F-4D97-AF65-F5344CB8AC3E}">
        <p14:creationId xmlns:p14="http://schemas.microsoft.com/office/powerpoint/2010/main" val="3077368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bg1"/>
                </a:solidFill>
                <a:latin typeface="+mn-lt"/>
              </a:defRPr>
            </a:lvl1pPr>
          </a:lstStyle>
          <a:p>
            <a:pPr lvl="0"/>
            <a:r>
              <a:rPr lang="fr-FR" dirty="0" err="1"/>
              <a:t>Text</a:t>
            </a:r>
            <a:endParaRPr lang="en-US" dirty="0"/>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 name="Titre 19">
            <a:extLst>
              <a:ext uri="{FF2B5EF4-FFF2-40B4-BE49-F238E27FC236}">
                <a16:creationId xmlns:a16="http://schemas.microsoft.com/office/drawing/2014/main" id="{A3FF87D3-EC7C-D5F0-3924-B7D6FDACD500}"/>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AE1342AE-4FE7-5D34-3968-4B0D3E7559AF}"/>
              </a:ext>
            </a:extLst>
          </p:cNvPr>
          <p:cNvSpPr>
            <a:spLocks noGrp="1"/>
          </p:cNvSpPr>
          <p:nvPr>
            <p:ph type="sldNum" sz="quarter" idx="3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553762670"/>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dirty="0"/>
              <a:t>%%</a:t>
            </a:r>
            <a:br>
              <a:rPr lang="fr-FR" dirty="0"/>
            </a:br>
            <a:r>
              <a:rPr lang="fr-FR" dirty="0" err="1"/>
              <a:t>Text</a:t>
            </a:r>
            <a:endParaRPr lang="en-US" dirty="0"/>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1" name="Titre 19">
            <a:extLst>
              <a:ext uri="{FF2B5EF4-FFF2-40B4-BE49-F238E27FC236}">
                <a16:creationId xmlns:a16="http://schemas.microsoft.com/office/drawing/2014/main" id="{DB712FA0-4E27-20A9-87B0-35A0456570FF}"/>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Espace réservé du numéro de diapositive 3">
            <a:extLst>
              <a:ext uri="{FF2B5EF4-FFF2-40B4-BE49-F238E27FC236}">
                <a16:creationId xmlns:a16="http://schemas.microsoft.com/office/drawing/2014/main" id="{6705C13F-C021-767C-1766-D9438EC0AF5D}"/>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28461408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4E7D9CAD-F323-B665-7F40-33140BBCCB2C}"/>
              </a:ext>
            </a:extLst>
          </p:cNvPr>
          <p:cNvSpPr>
            <a:spLocks noGrp="1"/>
          </p:cNvSpPr>
          <p:nvPr>
            <p:ph type="sldNum" sz="quarter" idx="12"/>
          </p:nvPr>
        </p:nvSpPr>
        <p:spPr/>
        <p:txBody>
          <a:bodyPr/>
          <a:lstStyle/>
          <a:p>
            <a:fld id="{0C34F99C-3C47-4582-9518-8D365E9692AE}" type="slidenum">
              <a:rPr lang="en-US" smtClean="0"/>
              <a:pPr/>
              <a:t>‹N°›</a:t>
            </a:fld>
            <a:endParaRPr lang="en-US"/>
          </a:p>
        </p:txBody>
      </p:sp>
      <p:pic>
        <p:nvPicPr>
          <p:cNvPr id="3" name="Image 2">
            <a:extLst>
              <a:ext uri="{FF2B5EF4-FFF2-40B4-BE49-F238E27FC236}">
                <a16:creationId xmlns:a16="http://schemas.microsoft.com/office/drawing/2014/main" id="{DC0C6AF1-6DFB-0F76-27FB-478D8020E0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Tree>
    <p:extLst>
      <p:ext uri="{BB962C8B-B14F-4D97-AF65-F5344CB8AC3E}">
        <p14:creationId xmlns:p14="http://schemas.microsoft.com/office/powerpoint/2010/main" val="1612449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ircle lef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tx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016AFA35-226C-CAB4-DEA5-91F4F57B0949}"/>
              </a:ext>
            </a:extLst>
          </p:cNvPr>
          <p:cNvSpPr>
            <a:spLocks noGrp="1"/>
          </p:cNvSpPr>
          <p:nvPr>
            <p:ph type="sldNum" sz="quarter" idx="12"/>
          </p:nvPr>
        </p:nvSpPr>
        <p:spPr/>
        <p:txBody>
          <a:bodyPr/>
          <a:lstStyle>
            <a:lvl1pPr>
              <a:defRPr>
                <a:solidFill>
                  <a:schemeClr val="tx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3744320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rrow Top to Down">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4" name="Espace réservé du numéro de diapositive 3">
            <a:extLst>
              <a:ext uri="{FF2B5EF4-FFF2-40B4-BE49-F238E27FC236}">
                <a16:creationId xmlns:a16="http://schemas.microsoft.com/office/drawing/2014/main" id="{134D21F2-A2B0-2046-BDCD-DC144E8F14AC}"/>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305401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rrow Left to Righ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3" name="Espace réservé du numéro de diapositive 2">
            <a:extLst>
              <a:ext uri="{FF2B5EF4-FFF2-40B4-BE49-F238E27FC236}">
                <a16:creationId xmlns:a16="http://schemas.microsoft.com/office/drawing/2014/main" id="{31721A8C-A37D-8EBF-3268-144A3CEA1DDA}"/>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451556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193041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210039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8963609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294575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669864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0001437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dirty="0"/>
              <a:t>%%</a:t>
            </a:r>
            <a:br>
              <a:rPr lang="fr-FR" dirty="0"/>
            </a:br>
            <a:r>
              <a:rPr lang="fr-FR" dirty="0" err="1"/>
              <a:t>Text</a:t>
            </a:r>
            <a:endParaRPr lang="en-US" dirty="0"/>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0486553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dirty="0"/>
              <a:t>%%</a:t>
            </a:r>
            <a:br>
              <a:rPr lang="fr-FR" dirty="0"/>
            </a:br>
            <a:r>
              <a:rPr lang="fr-FR" dirty="0" err="1"/>
              <a:t>Text</a:t>
            </a:r>
            <a:endParaRPr lang="en-US" dirty="0"/>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dirty="0" err="1"/>
              <a:t>Text</a:t>
            </a:r>
            <a:endParaRPr lang="en-US" dirty="0"/>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345813023"/>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dirty="0"/>
              <a:t>%%</a:t>
            </a:r>
            <a:br>
              <a:rPr lang="fr-FR" dirty="0"/>
            </a:br>
            <a:r>
              <a:rPr lang="fr-FR" dirty="0" err="1"/>
              <a:t>Text</a:t>
            </a:r>
            <a:endParaRPr lang="en-US" dirty="0"/>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‹N°›</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72221780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dirty="0"/>
              <a:t>%%</a:t>
            </a:r>
            <a:br>
              <a:rPr lang="fr-FR" dirty="0"/>
            </a:br>
            <a:r>
              <a:rPr lang="fr-FR" dirty="0" err="1"/>
              <a:t>Text</a:t>
            </a:r>
            <a:endParaRPr lang="en-US" dirty="0"/>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dirty="0" err="1"/>
              <a:t>Text</a:t>
            </a:r>
            <a:endParaRPr lang="en-US" dirty="0"/>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dirty="0" err="1"/>
              <a:t>Text</a:t>
            </a:r>
            <a:endParaRPr lang="en-US" dirty="0"/>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27320246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dirty="0"/>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‹N°›</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dirty="0"/>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dirty="0"/>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dirty="0"/>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dirty="0"/>
              <a:t>Cliquez pour modifier les styles du texte du masque</a:t>
            </a:r>
            <a:endParaRPr lang="en-US" dirty="0"/>
          </a:p>
        </p:txBody>
      </p:sp>
    </p:spTree>
    <p:extLst>
      <p:ext uri="{BB962C8B-B14F-4D97-AF65-F5344CB8AC3E}">
        <p14:creationId xmlns:p14="http://schemas.microsoft.com/office/powerpoint/2010/main" val="935874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dirty="0"/>
              <a:t>%%</a:t>
            </a:r>
            <a:br>
              <a:rPr lang="fr-FR" dirty="0"/>
            </a:br>
            <a:r>
              <a:rPr lang="fr-FR" dirty="0" err="1"/>
              <a:t>Text</a:t>
            </a:r>
            <a:endParaRPr lang="en-US" dirty="0"/>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619155813"/>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dirty="0"/>
              <a:t>%%</a:t>
            </a:r>
            <a:br>
              <a:rPr lang="fr-FR" dirty="0"/>
            </a:br>
            <a:r>
              <a:rPr lang="fr-FR" dirty="0" err="1"/>
              <a:t>Text</a:t>
            </a:r>
            <a:endParaRPr lang="en-US" dirty="0"/>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81685636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dirty="0"/>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9615020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dirty="0"/>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7100994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1824767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dirty="0"/>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41762606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5927547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427723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‹N°›</a:t>
            </a:fld>
            <a:endParaRPr lang="fr-FR" dirty="0"/>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5" name="Image 4">
            <a:extLst>
              <a:ext uri="{FF2B5EF4-FFF2-40B4-BE49-F238E27FC236}">
                <a16:creationId xmlns:a16="http://schemas.microsoft.com/office/drawing/2014/main" id="{7F8BB227-482A-9043-6A35-FB1798E305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Tree>
    <p:extLst>
      <p:ext uri="{BB962C8B-B14F-4D97-AF65-F5344CB8AC3E}">
        <p14:creationId xmlns:p14="http://schemas.microsoft.com/office/powerpoint/2010/main" val="21745431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686544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ptivea VS Odo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C740888-3B94-E6EB-C2EE-73A2187D57E1}"/>
              </a:ext>
            </a:extLst>
          </p:cNvPr>
          <p:cNvSpPr>
            <a:spLocks noGrp="1"/>
          </p:cNvSpPr>
          <p:nvPr>
            <p:ph type="sldNum" sz="quarter" idx="10"/>
          </p:nvPr>
        </p:nvSpPr>
        <p:spPr/>
        <p:txBody>
          <a:bodyPr/>
          <a:lstStyle>
            <a:lvl1pPr>
              <a:defRPr>
                <a:solidFill>
                  <a:schemeClr val="bg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24553488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amp; content - Basi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E8C88A-C2E6-92EB-C0D0-6BD18C6DD07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E8BDE46-CE1C-9B28-D7F5-11ABCD755DE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5">
            <a:extLst>
              <a:ext uri="{FF2B5EF4-FFF2-40B4-BE49-F238E27FC236}">
                <a16:creationId xmlns:a16="http://schemas.microsoft.com/office/drawing/2014/main" id="{DCF318ED-6B34-9F02-C24C-BD5B7E85F2D1}"/>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1">
                <a:solidFill>
                  <a:schemeClr val="accent1"/>
                </a:solidFill>
              </a:defRPr>
            </a:lvl1pPr>
          </a:lstStyle>
          <a:p>
            <a:fld id="{11061685-6496-4975-B02C-C44B14DBF38E}" type="slidenum">
              <a:rPr lang="fr-FR" smtClean="0"/>
              <a:pPr/>
              <a:t>‹N°›</a:t>
            </a:fld>
            <a:endParaRPr lang="fr-FR" dirty="0"/>
          </a:p>
        </p:txBody>
      </p:sp>
    </p:spTree>
    <p:extLst>
      <p:ext uri="{BB962C8B-B14F-4D97-AF65-F5344CB8AC3E}">
        <p14:creationId xmlns:p14="http://schemas.microsoft.com/office/powerpoint/2010/main" val="380767820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ection Title &amp; Sub title +image">
    <p:bg>
      <p:bgPr>
        <a:gradFill flip="none" rotWithShape="1">
          <a:gsLst>
            <a:gs pos="35000">
              <a:srgbClr val="714B67"/>
            </a:gs>
            <a:gs pos="0">
              <a:srgbClr val="714B67"/>
            </a:gs>
            <a:gs pos="100000">
              <a:srgbClr val="BA131A"/>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693380-4D30-3780-EFC0-008DEFB06C99}"/>
              </a:ext>
            </a:extLst>
          </p:cNvPr>
          <p:cNvSpPr/>
          <p:nvPr userDrawn="1"/>
        </p:nvSpPr>
        <p:spPr>
          <a:xfrm>
            <a:off x="0" y="0"/>
            <a:ext cx="7835900" cy="6857999"/>
          </a:xfrm>
          <a:prstGeom prst="rect">
            <a:avLst/>
          </a:prstGeom>
          <a:gradFill flip="none" rotWithShape="1">
            <a:gsLst>
              <a:gs pos="35000">
                <a:srgbClr val="714B67"/>
              </a:gs>
              <a:gs pos="0">
                <a:srgbClr val="714B67"/>
              </a:gs>
              <a:gs pos="100000">
                <a:srgbClr val="BA131A"/>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Titre 1">
            <a:extLst>
              <a:ext uri="{FF2B5EF4-FFF2-40B4-BE49-F238E27FC236}">
                <a16:creationId xmlns:a16="http://schemas.microsoft.com/office/drawing/2014/main" id="{E19E2202-BE43-DB0B-D336-A99C3B91CEED}"/>
              </a:ext>
            </a:extLst>
          </p:cNvPr>
          <p:cNvSpPr>
            <a:spLocks noGrp="1"/>
          </p:cNvSpPr>
          <p:nvPr>
            <p:ph type="ctrTitle"/>
          </p:nvPr>
        </p:nvSpPr>
        <p:spPr>
          <a:xfrm>
            <a:off x="215900" y="368300"/>
            <a:ext cx="6540500" cy="4064000"/>
          </a:xfrm>
        </p:spPr>
        <p:txBody>
          <a:bodyPr anchor="b"/>
          <a:lstStyle>
            <a:lvl1pPr algn="l">
              <a:defRPr sz="6000"/>
            </a:lvl1pPr>
          </a:lstStyle>
          <a:p>
            <a:r>
              <a:rPr lang="fr-FR"/>
              <a:t>Modifiez le style du titre</a:t>
            </a:r>
            <a:endParaRPr lang="fr-FR" dirty="0"/>
          </a:p>
        </p:txBody>
      </p:sp>
      <p:sp>
        <p:nvSpPr>
          <p:cNvPr id="3" name="Sous-titre 2">
            <a:extLst>
              <a:ext uri="{FF2B5EF4-FFF2-40B4-BE49-F238E27FC236}">
                <a16:creationId xmlns:a16="http://schemas.microsoft.com/office/drawing/2014/main" id="{82058273-7F12-59B6-8916-1CAD8860B3B9}"/>
              </a:ext>
            </a:extLst>
          </p:cNvPr>
          <p:cNvSpPr>
            <a:spLocks noGrp="1"/>
          </p:cNvSpPr>
          <p:nvPr>
            <p:ph type="subTitle" idx="1"/>
          </p:nvPr>
        </p:nvSpPr>
        <p:spPr>
          <a:xfrm>
            <a:off x="215900" y="4597400"/>
            <a:ext cx="6540500" cy="1986208"/>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pic>
        <p:nvPicPr>
          <p:cNvPr id="9" name="Image 8" descr="Une image contenant texte, clipart">
            <a:extLst>
              <a:ext uri="{FF2B5EF4-FFF2-40B4-BE49-F238E27FC236}">
                <a16:creationId xmlns:a16="http://schemas.microsoft.com/office/drawing/2014/main" id="{AF9FC17B-7E35-9D76-C7C2-3D6B63B700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2000" y="6583609"/>
            <a:ext cx="1260000" cy="274390"/>
          </a:xfrm>
          <a:prstGeom prst="rect">
            <a:avLst/>
          </a:prstGeom>
        </p:spPr>
      </p:pic>
      <p:sp>
        <p:nvSpPr>
          <p:cNvPr id="4" name="Organigramme : Connecteur page suivante 3">
            <a:extLst>
              <a:ext uri="{FF2B5EF4-FFF2-40B4-BE49-F238E27FC236}">
                <a16:creationId xmlns:a16="http://schemas.microsoft.com/office/drawing/2014/main" id="{1CA6DAE0-0854-B290-D1FE-6ECACE835952}"/>
              </a:ext>
            </a:extLst>
          </p:cNvPr>
          <p:cNvSpPr/>
          <p:nvPr userDrawn="1"/>
        </p:nvSpPr>
        <p:spPr>
          <a:xfrm rot="5400000">
            <a:off x="6045200" y="711202"/>
            <a:ext cx="6857999" cy="5435600"/>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graphique SmartArt 5">
            <a:extLst>
              <a:ext uri="{FF2B5EF4-FFF2-40B4-BE49-F238E27FC236}">
                <a16:creationId xmlns:a16="http://schemas.microsoft.com/office/drawing/2014/main" id="{2EF2908E-BAFD-D896-17B7-D515C81D3025}"/>
              </a:ext>
            </a:extLst>
          </p:cNvPr>
          <p:cNvSpPr>
            <a:spLocks noGrp="1"/>
          </p:cNvSpPr>
          <p:nvPr>
            <p:ph type="dgm" sz="quarter" idx="10"/>
          </p:nvPr>
        </p:nvSpPr>
        <p:spPr>
          <a:xfrm>
            <a:off x="7835900" y="457200"/>
            <a:ext cx="4140200" cy="5867400"/>
          </a:xfrm>
        </p:spPr>
        <p:txBody>
          <a:bodyPr/>
          <a:lstStyle/>
          <a:p>
            <a:r>
              <a:rPr lang="fr-FR"/>
              <a:t>Cliquez sur l'icône pour ajouter un graphique SmartArt</a:t>
            </a:r>
          </a:p>
        </p:txBody>
      </p:sp>
      <p:sp>
        <p:nvSpPr>
          <p:cNvPr id="5" name="Espace réservé du numéro de diapositive 5">
            <a:extLst>
              <a:ext uri="{FF2B5EF4-FFF2-40B4-BE49-F238E27FC236}">
                <a16:creationId xmlns:a16="http://schemas.microsoft.com/office/drawing/2014/main" id="{1524E963-4935-69FE-C8CD-6872EC3CBC77}"/>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1">
                <a:solidFill>
                  <a:schemeClr val="bg1"/>
                </a:solidFill>
              </a:defRPr>
            </a:lvl1pPr>
          </a:lstStyle>
          <a:p>
            <a:fld id="{11061685-6496-4975-B02C-C44B14DBF38E}" type="slidenum">
              <a:rPr lang="fr-FR" smtClean="0"/>
              <a:pPr/>
              <a:t>‹N°›</a:t>
            </a:fld>
            <a:endParaRPr lang="fr-FR" dirty="0"/>
          </a:p>
        </p:txBody>
      </p:sp>
    </p:spTree>
    <p:extLst>
      <p:ext uri="{BB962C8B-B14F-4D97-AF65-F5344CB8AC3E}">
        <p14:creationId xmlns:p14="http://schemas.microsoft.com/office/powerpoint/2010/main" val="293960420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Contents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7EF7DE-5CD3-07A8-2E52-3722A095220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FA9B31A-EFDF-010E-4B05-3686206FE232}"/>
              </a:ext>
            </a:extLst>
          </p:cNvPr>
          <p:cNvSpPr>
            <a:spLocks noGrp="1"/>
          </p:cNvSpPr>
          <p:nvPr>
            <p:ph sz="half" idx="1"/>
          </p:nvPr>
        </p:nvSpPr>
        <p:spPr>
          <a:xfrm>
            <a:off x="838200" y="1825624"/>
            <a:ext cx="5181600" cy="463003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C4A3869-8910-F158-E937-16FE6E0568F8}"/>
              </a:ext>
            </a:extLst>
          </p:cNvPr>
          <p:cNvSpPr>
            <a:spLocks noGrp="1"/>
          </p:cNvSpPr>
          <p:nvPr>
            <p:ph sz="half" idx="2"/>
          </p:nvPr>
        </p:nvSpPr>
        <p:spPr>
          <a:xfrm>
            <a:off x="6172200" y="1825624"/>
            <a:ext cx="5181600" cy="463003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numéro de diapositive 5">
            <a:extLst>
              <a:ext uri="{FF2B5EF4-FFF2-40B4-BE49-F238E27FC236}">
                <a16:creationId xmlns:a16="http://schemas.microsoft.com/office/drawing/2014/main" id="{5E8B4F1F-EC1A-AD67-9E02-BB2CFD07A174}"/>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1">
                <a:solidFill>
                  <a:schemeClr val="accent1"/>
                </a:solidFill>
              </a:defRPr>
            </a:lvl1pPr>
          </a:lstStyle>
          <a:p>
            <a:fld id="{11061685-6496-4975-B02C-C44B14DBF38E}" type="slidenum">
              <a:rPr lang="fr-FR" smtClean="0"/>
              <a:pPr/>
              <a:t>‹N°›</a:t>
            </a:fld>
            <a:endParaRPr lang="fr-FR" dirty="0"/>
          </a:p>
        </p:txBody>
      </p:sp>
    </p:spTree>
    <p:extLst>
      <p:ext uri="{BB962C8B-B14F-4D97-AF65-F5344CB8AC3E}">
        <p14:creationId xmlns:p14="http://schemas.microsoft.com/office/powerpoint/2010/main" val="189446976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mp; content - Basi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E8C88A-C2E6-92EB-C0D0-6BD18C6DD07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E8BDE46-CE1C-9B28-D7F5-11ABCD755DEE}"/>
              </a:ext>
            </a:extLst>
          </p:cNvPr>
          <p:cNvSpPr>
            <a:spLocks noGrp="1"/>
          </p:cNvSpPr>
          <p:nvPr>
            <p:ph idx="1"/>
          </p:nvPr>
        </p:nvSpPr>
        <p:spPr>
          <a:xfrm>
            <a:off x="838200" y="2505075"/>
            <a:ext cx="10515600" cy="398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numéro de diapositive 5">
            <a:extLst>
              <a:ext uri="{FF2B5EF4-FFF2-40B4-BE49-F238E27FC236}">
                <a16:creationId xmlns:a16="http://schemas.microsoft.com/office/drawing/2014/main" id="{DCF318ED-6B34-9F02-C24C-BD5B7E85F2D1}"/>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1">
                <a:solidFill>
                  <a:schemeClr val="accent1"/>
                </a:solidFill>
              </a:defRPr>
            </a:lvl1pPr>
          </a:lstStyle>
          <a:p>
            <a:fld id="{11061685-6496-4975-B02C-C44B14DBF38E}" type="slidenum">
              <a:rPr lang="fr-FR" smtClean="0"/>
              <a:pPr/>
              <a:t>‹N°›</a:t>
            </a:fld>
            <a:endParaRPr lang="fr-FR" dirty="0"/>
          </a:p>
        </p:txBody>
      </p:sp>
      <p:sp>
        <p:nvSpPr>
          <p:cNvPr id="5" name="Espace réservé du texte 2">
            <a:extLst>
              <a:ext uri="{FF2B5EF4-FFF2-40B4-BE49-F238E27FC236}">
                <a16:creationId xmlns:a16="http://schemas.microsoft.com/office/drawing/2014/main" id="{E5D3EE22-2BDD-5CFC-DEC3-D78787153588}"/>
              </a:ext>
            </a:extLst>
          </p:cNvPr>
          <p:cNvSpPr>
            <a:spLocks noGrp="1"/>
          </p:cNvSpPr>
          <p:nvPr>
            <p:ph type="body" idx="10"/>
          </p:nvPr>
        </p:nvSpPr>
        <p:spPr>
          <a:xfrm>
            <a:off x="839788" y="1681163"/>
            <a:ext cx="10514012" cy="823912"/>
          </a:xfrm>
        </p:spPr>
        <p:txBody>
          <a:bodyPr anchor="b">
            <a:noAutofit/>
          </a:bodyPr>
          <a:lstStyle>
            <a:lvl1pPr marL="0" indent="0">
              <a:buNone/>
              <a:defRPr sz="3200" b="1">
                <a:solidFill>
                  <a:srgbClr val="BA131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Tree>
    <p:extLst>
      <p:ext uri="{BB962C8B-B14F-4D97-AF65-F5344CB8AC3E}">
        <p14:creationId xmlns:p14="http://schemas.microsoft.com/office/powerpoint/2010/main" val="178327134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cSld name="Contenu avec légen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A15024-4317-438A-3644-1297AD9CE450}"/>
              </a:ext>
            </a:extLst>
          </p:cNvPr>
          <p:cNvSpPr/>
          <p:nvPr userDrawn="1"/>
        </p:nvSpPr>
        <p:spPr>
          <a:xfrm>
            <a:off x="0" y="8626"/>
            <a:ext cx="12192000" cy="5546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269ED8AB-50A8-3EC4-6D2B-188314455D5A}"/>
              </a:ext>
            </a:extLst>
          </p:cNvPr>
          <p:cNvSpPr/>
          <p:nvPr userDrawn="1"/>
        </p:nvSpPr>
        <p:spPr>
          <a:xfrm>
            <a:off x="0" y="0"/>
            <a:ext cx="5038344" cy="6857999"/>
          </a:xfrm>
          <a:prstGeom prst="rect">
            <a:avLst/>
          </a:prstGeom>
          <a:gradFill flip="none" rotWithShape="1">
            <a:gsLst>
              <a:gs pos="35000">
                <a:srgbClr val="714B67"/>
              </a:gs>
              <a:gs pos="0">
                <a:srgbClr val="714B67"/>
              </a:gs>
              <a:gs pos="100000">
                <a:srgbClr val="BA131A"/>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Titre 1">
            <a:extLst>
              <a:ext uri="{FF2B5EF4-FFF2-40B4-BE49-F238E27FC236}">
                <a16:creationId xmlns:a16="http://schemas.microsoft.com/office/drawing/2014/main" id="{33D999BE-4342-63F0-DD9D-6C8CEBF6B16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107A99E2-D787-C3B1-8231-2CC862C38C78}"/>
              </a:ext>
            </a:extLst>
          </p:cNvPr>
          <p:cNvSpPr>
            <a:spLocks noGrp="1"/>
          </p:cNvSpPr>
          <p:nvPr>
            <p:ph idx="1"/>
          </p:nvPr>
        </p:nvSpPr>
        <p:spPr>
          <a:xfrm>
            <a:off x="5183188" y="457200"/>
            <a:ext cx="6172200" cy="59054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texte 3">
            <a:extLst>
              <a:ext uri="{FF2B5EF4-FFF2-40B4-BE49-F238E27FC236}">
                <a16:creationId xmlns:a16="http://schemas.microsoft.com/office/drawing/2014/main" id="{5019E3D0-BF02-E7BE-31FD-486CD8750592}"/>
              </a:ext>
            </a:extLst>
          </p:cNvPr>
          <p:cNvSpPr>
            <a:spLocks noGrp="1"/>
          </p:cNvSpPr>
          <p:nvPr>
            <p:ph type="body" sz="half" idx="2"/>
          </p:nvPr>
        </p:nvSpPr>
        <p:spPr>
          <a:xfrm>
            <a:off x="839788" y="2057399"/>
            <a:ext cx="3932237" cy="4305299"/>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u numéro de diapositive 5">
            <a:extLst>
              <a:ext uri="{FF2B5EF4-FFF2-40B4-BE49-F238E27FC236}">
                <a16:creationId xmlns:a16="http://schemas.microsoft.com/office/drawing/2014/main" id="{1D2C5B8E-CD14-73C2-A966-3B94A3D054D2}"/>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1">
                <a:solidFill>
                  <a:schemeClr val="bg1"/>
                </a:solidFill>
              </a:defRPr>
            </a:lvl1pPr>
          </a:lstStyle>
          <a:p>
            <a:fld id="{11061685-6496-4975-B02C-C44B14DBF38E}" type="slidenum">
              <a:rPr lang="fr-FR" smtClean="0"/>
              <a:pPr/>
              <a:t>‹N°›</a:t>
            </a:fld>
            <a:endParaRPr lang="fr-FR" dirty="0"/>
          </a:p>
        </p:txBody>
      </p:sp>
    </p:spTree>
    <p:extLst>
      <p:ext uri="{BB962C8B-B14F-4D97-AF65-F5344CB8AC3E}">
        <p14:creationId xmlns:p14="http://schemas.microsoft.com/office/powerpoint/2010/main" val="105475145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amp; Contents - 2 columns">
    <p:bg>
      <p:bgRef idx="1001">
        <a:schemeClr val="bg1"/>
      </p:bgRef>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C6DE961-BF8C-1E9A-A514-E0F7CFB000C5}"/>
              </a:ext>
            </a:extLst>
          </p:cNvPr>
          <p:cNvSpPr>
            <a:spLocks noGrp="1"/>
          </p:cNvSpPr>
          <p:nvPr>
            <p:ph type="body" idx="1"/>
          </p:nvPr>
        </p:nvSpPr>
        <p:spPr>
          <a:xfrm>
            <a:off x="839788" y="1681163"/>
            <a:ext cx="5157787" cy="823912"/>
          </a:xfrm>
        </p:spPr>
        <p:txBody>
          <a:bodyPr anchor="b"/>
          <a:lstStyle>
            <a:lvl1pPr marL="0" indent="0">
              <a:buNone/>
              <a:defRPr sz="2400" b="1">
                <a:solidFill>
                  <a:srgbClr val="BA131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76C7283-6747-9F0B-02AF-7DB52BCEC24E}"/>
              </a:ext>
            </a:extLst>
          </p:cNvPr>
          <p:cNvSpPr>
            <a:spLocks noGrp="1"/>
          </p:cNvSpPr>
          <p:nvPr>
            <p:ph sz="half" idx="2"/>
          </p:nvPr>
        </p:nvSpPr>
        <p:spPr>
          <a:xfrm>
            <a:off x="839788" y="2505074"/>
            <a:ext cx="5157787" cy="3921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a:extLst>
              <a:ext uri="{FF2B5EF4-FFF2-40B4-BE49-F238E27FC236}">
                <a16:creationId xmlns:a16="http://schemas.microsoft.com/office/drawing/2014/main" id="{D1A3C140-0531-1383-CE56-C2DB009B1D41}"/>
              </a:ext>
            </a:extLst>
          </p:cNvPr>
          <p:cNvSpPr>
            <a:spLocks noGrp="1"/>
          </p:cNvSpPr>
          <p:nvPr>
            <p:ph type="body" sz="quarter" idx="3"/>
          </p:nvPr>
        </p:nvSpPr>
        <p:spPr>
          <a:xfrm>
            <a:off x="6172200" y="1681163"/>
            <a:ext cx="5183188" cy="823912"/>
          </a:xfrm>
        </p:spPr>
        <p:txBody>
          <a:bodyPr anchor="b"/>
          <a:lstStyle>
            <a:lvl1pPr marL="0" indent="0">
              <a:buNone/>
              <a:defRPr sz="2400" b="1">
                <a:solidFill>
                  <a:srgbClr val="BA131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05A58CF-090A-D533-2B2A-CA939B838915}"/>
              </a:ext>
            </a:extLst>
          </p:cNvPr>
          <p:cNvSpPr>
            <a:spLocks noGrp="1"/>
          </p:cNvSpPr>
          <p:nvPr>
            <p:ph sz="quarter" idx="4"/>
          </p:nvPr>
        </p:nvSpPr>
        <p:spPr>
          <a:xfrm>
            <a:off x="6172200" y="2505074"/>
            <a:ext cx="5183188" cy="3921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Titre 6">
            <a:extLst>
              <a:ext uri="{FF2B5EF4-FFF2-40B4-BE49-F238E27FC236}">
                <a16:creationId xmlns:a16="http://schemas.microsoft.com/office/drawing/2014/main" id="{79B515B9-1C2F-D0EA-1EB8-0B598603D29A}"/>
              </a:ext>
            </a:extLst>
          </p:cNvPr>
          <p:cNvSpPr>
            <a:spLocks noGrp="1"/>
          </p:cNvSpPr>
          <p:nvPr>
            <p:ph type="title"/>
          </p:nvPr>
        </p:nvSpPr>
        <p:spPr/>
        <p:txBody>
          <a:bodyPr/>
          <a:lstStyle/>
          <a:p>
            <a:r>
              <a:rPr lang="fr-FR"/>
              <a:t>Modifiez le style du titre</a:t>
            </a:r>
          </a:p>
        </p:txBody>
      </p:sp>
      <p:sp>
        <p:nvSpPr>
          <p:cNvPr id="2" name="Espace réservé du numéro de diapositive 5">
            <a:extLst>
              <a:ext uri="{FF2B5EF4-FFF2-40B4-BE49-F238E27FC236}">
                <a16:creationId xmlns:a16="http://schemas.microsoft.com/office/drawing/2014/main" id="{FF8A7F2D-E3C5-01CB-300D-97817BD3C8A5}"/>
              </a:ext>
            </a:extLst>
          </p:cNvPr>
          <p:cNvSpPr>
            <a:spLocks noGrp="1"/>
          </p:cNvSpPr>
          <p:nvPr>
            <p:ph type="sldNum" sz="quarter" idx="10"/>
          </p:nvPr>
        </p:nvSpPr>
        <p:spPr>
          <a:xfrm>
            <a:off x="0" y="6492875"/>
            <a:ext cx="543464" cy="365125"/>
          </a:xfrm>
          <a:prstGeom prst="rect">
            <a:avLst/>
          </a:prstGeom>
        </p:spPr>
        <p:txBody>
          <a:bodyPr vert="horz" lIns="91440" tIns="45720" rIns="91440" bIns="45720" rtlCol="0" anchor="ctr"/>
          <a:lstStyle>
            <a:lvl1pPr algn="l">
              <a:defRPr sz="1200" b="1">
                <a:solidFill>
                  <a:schemeClr val="accent1"/>
                </a:solidFill>
              </a:defRPr>
            </a:lvl1pPr>
          </a:lstStyle>
          <a:p>
            <a:fld id="{11061685-6496-4975-B02C-C44B14DBF38E}" type="slidenum">
              <a:rPr lang="fr-FR" smtClean="0"/>
              <a:pPr/>
              <a:t>‹N°›</a:t>
            </a:fld>
            <a:endParaRPr lang="fr-FR" dirty="0"/>
          </a:p>
        </p:txBody>
      </p:sp>
    </p:spTree>
    <p:extLst>
      <p:ext uri="{BB962C8B-B14F-4D97-AF65-F5344CB8AC3E}">
        <p14:creationId xmlns:p14="http://schemas.microsoft.com/office/powerpoint/2010/main" val="13036517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9381476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DD0BB-EA2F-36A7-7FD3-C20348C0E5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BDE80E8C-5FA4-AA4A-6D35-C743CC52C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5" name="Espace réservé du numéro de diapositive 4">
            <a:extLst>
              <a:ext uri="{FF2B5EF4-FFF2-40B4-BE49-F238E27FC236}">
                <a16:creationId xmlns:a16="http://schemas.microsoft.com/office/drawing/2014/main" id="{EA3A9B35-F77D-F695-3A75-447C3CC610A5}"/>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1369501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431CC-972E-314C-31D8-39C61EC006E6}"/>
              </a:ext>
            </a:extLst>
          </p:cNvPr>
          <p:cNvSpPr>
            <a:spLocks noGrp="1"/>
          </p:cNvSpPr>
          <p:nvPr>
            <p:ph type="title"/>
          </p:nvPr>
        </p:nvSpPr>
        <p:spPr/>
        <p:txBody>
          <a:bodyPr/>
          <a:lstStyle>
            <a:lvl1pPr>
              <a:defRPr b="1"/>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E013790-14F8-57E9-79D5-B786DE111A9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6EC2A175-D1C2-1190-3F57-7062E193A9D3}"/>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2724494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4" name="Titre 19">
            <a:extLst>
              <a:ext uri="{FF2B5EF4-FFF2-40B4-BE49-F238E27FC236}">
                <a16:creationId xmlns:a16="http://schemas.microsoft.com/office/drawing/2014/main" id="{3DFBBBEF-C15A-A51B-087C-882A4261D38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7"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CAC0282-6A7E-3C43-CAC3-F8700A3FE426}"/>
              </a:ext>
            </a:extLst>
          </p:cNvPr>
          <p:cNvSpPr>
            <a:spLocks noGrp="1"/>
          </p:cNvSpPr>
          <p:nvPr>
            <p:ph type="sldNum" sz="quarter" idx="15"/>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51741662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7E5790C1-BFF4-512C-7BCC-36285D348726}"/>
              </a:ext>
            </a:extLst>
          </p:cNvPr>
          <p:cNvSpPr/>
          <p:nvPr/>
        </p:nvSpPr>
        <p:spPr>
          <a:xfrm>
            <a:off x="8185266"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0" name="Ellipse 9">
            <a:extLst>
              <a:ext uri="{FF2B5EF4-FFF2-40B4-BE49-F238E27FC236}">
                <a16:creationId xmlns:a16="http://schemas.microsoft.com/office/drawing/2014/main" id="{FABCA34A-9E9A-CFA7-10CB-AB6CED1DCB7A}"/>
              </a:ext>
            </a:extLst>
          </p:cNvPr>
          <p:cNvSpPr/>
          <p:nvPr/>
        </p:nvSpPr>
        <p:spPr>
          <a:xfrm>
            <a:off x="5153654"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7" name="Ellipse 6">
            <a:extLst>
              <a:ext uri="{FF2B5EF4-FFF2-40B4-BE49-F238E27FC236}">
                <a16:creationId xmlns:a16="http://schemas.microsoft.com/office/drawing/2014/main" id="{C8201D78-B6D5-A1E0-A3EC-94725867D298}"/>
              </a:ext>
            </a:extLst>
          </p:cNvPr>
          <p:cNvSpPr/>
          <p:nvPr/>
        </p:nvSpPr>
        <p:spPr>
          <a:xfrm>
            <a:off x="2107069"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29694"/>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26315"/>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28129"/>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Titre 19">
            <a:extLst>
              <a:ext uri="{FF2B5EF4-FFF2-40B4-BE49-F238E27FC236}">
                <a16:creationId xmlns:a16="http://schemas.microsoft.com/office/drawing/2014/main" id="{99F6C8ED-FC1D-A1CA-9839-805AE101C3BB}"/>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09759"/>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06282"/>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06282"/>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6E21584-8852-2B2D-28B9-A82DC6E1F1C4}"/>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484348411"/>
      </p:ext>
    </p:extLst>
  </p:cSld>
  <p:clrMapOvr>
    <a:masterClrMapping/>
  </p:clrMapOvr>
  <p:extLst>
    <p:ext uri="{DCECCB84-F9BA-43D5-87BE-67443E8EF086}">
      <p15:sldGuideLst xmlns:p15="http://schemas.microsoft.com/office/powerpoint/2012/main">
        <p15:guide id="1" orient="horz" pos="2160">
          <p15:clr>
            <a:srgbClr val="FBAE40"/>
          </p15:clr>
        </p15:guide>
        <p15:guide id="2" pos="1920">
          <p15:clr>
            <a:srgbClr val="FBAE40"/>
          </p15:clr>
        </p15:guide>
        <p15:guide id="3" pos="57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 Dots - Gri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32FB882C-37D7-B7E3-0E12-CA1DA4C6E0E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space réservé du numéro de diapositive 8">
            <a:extLst>
              <a:ext uri="{FF2B5EF4-FFF2-40B4-BE49-F238E27FC236}">
                <a16:creationId xmlns:a16="http://schemas.microsoft.com/office/drawing/2014/main" id="{6931372D-7354-87DB-81D8-86A46CD064EE}"/>
              </a:ext>
            </a:extLst>
          </p:cNvPr>
          <p:cNvSpPr>
            <a:spLocks noGrp="1"/>
          </p:cNvSpPr>
          <p:nvPr>
            <p:ph type="sldNum" sz="quarter" idx="2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21201729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Dots - Aligne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Titre 19">
            <a:extLst>
              <a:ext uri="{FF2B5EF4-FFF2-40B4-BE49-F238E27FC236}">
                <a16:creationId xmlns:a16="http://schemas.microsoft.com/office/drawing/2014/main" id="{04B83D0E-956C-22C0-A28A-82581C3EE337}"/>
              </a:ext>
            </a:extLst>
          </p:cNvPr>
          <p:cNvSpPr>
            <a:spLocks noGrp="1"/>
          </p:cNvSpPr>
          <p:nvPr userDrawn="1">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 name="Espace réservé du numéro de diapositive 2">
            <a:extLst>
              <a:ext uri="{FF2B5EF4-FFF2-40B4-BE49-F238E27FC236}">
                <a16:creationId xmlns:a16="http://schemas.microsoft.com/office/drawing/2014/main" id="{7B60E07B-A379-7A53-D876-FAC8EADDE90F}"/>
              </a:ext>
            </a:extLst>
          </p:cNvPr>
          <p:cNvSpPr>
            <a:spLocks noGrp="1"/>
          </p:cNvSpPr>
          <p:nvPr>
            <p:ph type="sldNum" sz="quarter" idx="19"/>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4247485750"/>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‹N°›</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40452446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 name="Titre 19">
            <a:extLst>
              <a:ext uri="{FF2B5EF4-FFF2-40B4-BE49-F238E27FC236}">
                <a16:creationId xmlns:a16="http://schemas.microsoft.com/office/drawing/2014/main" id="{A3FF87D3-EC7C-D5F0-3924-B7D6FDACD500}"/>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AE1342AE-4FE7-5D34-3968-4B0D3E7559AF}"/>
              </a:ext>
            </a:extLst>
          </p:cNvPr>
          <p:cNvSpPr>
            <a:spLocks noGrp="1"/>
          </p:cNvSpPr>
          <p:nvPr>
            <p:ph type="sldNum" sz="quarter" idx="3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604316747"/>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1" name="Titre 19">
            <a:extLst>
              <a:ext uri="{FF2B5EF4-FFF2-40B4-BE49-F238E27FC236}">
                <a16:creationId xmlns:a16="http://schemas.microsoft.com/office/drawing/2014/main" id="{DB712FA0-4E27-20A9-87B0-35A0456570FF}"/>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Espace réservé du numéro de diapositive 3">
            <a:extLst>
              <a:ext uri="{FF2B5EF4-FFF2-40B4-BE49-F238E27FC236}">
                <a16:creationId xmlns:a16="http://schemas.microsoft.com/office/drawing/2014/main" id="{6705C13F-C021-767C-1766-D9438EC0AF5D}"/>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4156846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4E7D9CAD-F323-B665-7F40-33140BBCCB2C}"/>
              </a:ext>
            </a:extLst>
          </p:cNvPr>
          <p:cNvSpPr>
            <a:spLocks noGrp="1"/>
          </p:cNvSpPr>
          <p:nvPr>
            <p:ph type="sldNum" sz="quarter" idx="12"/>
          </p:nvPr>
        </p:nvSpPr>
        <p:spPr/>
        <p:txBody>
          <a:bodyPr/>
          <a:lstStyle/>
          <a:p>
            <a:fld id="{0C34F99C-3C47-4582-9518-8D365E9692AE}" type="slidenum">
              <a:rPr lang="en-US" smtClean="0"/>
              <a:pPr/>
              <a:t>‹N°›</a:t>
            </a:fld>
            <a:endParaRPr lang="en-US"/>
          </a:p>
        </p:txBody>
      </p:sp>
      <p:pic>
        <p:nvPicPr>
          <p:cNvPr id="3" name="Image 2">
            <a:extLst>
              <a:ext uri="{FF2B5EF4-FFF2-40B4-BE49-F238E27FC236}">
                <a16:creationId xmlns:a16="http://schemas.microsoft.com/office/drawing/2014/main" id="{21B864D8-4D79-E952-D921-BD49E0CE45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18765546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ircle lef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tx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016AFA35-226C-CAB4-DEA5-91F4F57B0949}"/>
              </a:ext>
            </a:extLst>
          </p:cNvPr>
          <p:cNvSpPr>
            <a:spLocks noGrp="1"/>
          </p:cNvSpPr>
          <p:nvPr>
            <p:ph type="sldNum" sz="quarter" idx="12"/>
          </p:nvPr>
        </p:nvSpPr>
        <p:spPr/>
        <p:txBody>
          <a:bodyPr/>
          <a:lstStyle>
            <a:lvl1pPr>
              <a:defRPr>
                <a:solidFill>
                  <a:schemeClr val="tx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16965335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rrow Top to Down">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4" name="Espace réservé du numéro de diapositive 3">
            <a:extLst>
              <a:ext uri="{FF2B5EF4-FFF2-40B4-BE49-F238E27FC236}">
                <a16:creationId xmlns:a16="http://schemas.microsoft.com/office/drawing/2014/main" id="{134D21F2-A2B0-2046-BDCD-DC144E8F14AC}"/>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6074218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Arrow Left to Righ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3" name="Espace réservé du numéro de diapositive 2">
            <a:extLst>
              <a:ext uri="{FF2B5EF4-FFF2-40B4-BE49-F238E27FC236}">
                <a16:creationId xmlns:a16="http://schemas.microsoft.com/office/drawing/2014/main" id="{31721A8C-A37D-8EBF-3268-144A3CEA1DDA}"/>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773347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6903711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9648023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7172952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5439616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6131910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3421416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5722481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739511458"/>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‹N°›</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4068647384"/>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624951837"/>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‹N°›</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33734058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948790203"/>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0141177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‹N°›</a:t>
            </a:fld>
            <a:endParaRPr lang="en-US"/>
          </a:p>
        </p:txBody>
      </p:sp>
      <p:pic>
        <p:nvPicPr>
          <p:cNvPr id="6" name="Image 5" descr="Une image contenant texte, clipart">
            <a:extLst>
              <a:ext uri="{FF2B5EF4-FFF2-40B4-BE49-F238E27FC236}">
                <a16:creationId xmlns:a16="http://schemas.microsoft.com/office/drawing/2014/main" id="{5871B689-B73C-FA32-0D01-36B9921553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33061"/>
            <a:ext cx="991873" cy="216000"/>
          </a:xfrm>
          <a:prstGeom prst="rect">
            <a:avLst/>
          </a:prstGeom>
        </p:spPr>
      </p:pic>
    </p:spTree>
    <p:extLst>
      <p:ext uri="{BB962C8B-B14F-4D97-AF65-F5344CB8AC3E}">
        <p14:creationId xmlns:p14="http://schemas.microsoft.com/office/powerpoint/2010/main" val="20271082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93005745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36053850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61396712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70713376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79520597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‹N°›</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5" name="Image 4">
            <a:extLst>
              <a:ext uri="{FF2B5EF4-FFF2-40B4-BE49-F238E27FC236}">
                <a16:creationId xmlns:a16="http://schemas.microsoft.com/office/drawing/2014/main" id="{3A60A342-E0B1-16E7-D2FD-EDFD3D90B1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147139903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59705629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89358589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aptivea VS Odo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C740888-3B94-E6EB-C2EE-73A2187D57E1}"/>
              </a:ext>
            </a:extLst>
          </p:cNvPr>
          <p:cNvSpPr>
            <a:spLocks noGrp="1"/>
          </p:cNvSpPr>
          <p:nvPr>
            <p:ph type="sldNum" sz="quarter" idx="10"/>
          </p:nvPr>
        </p:nvSpPr>
        <p:spPr/>
        <p:txBody>
          <a:bodyPr/>
          <a:lstStyle>
            <a:lvl1pPr>
              <a:defRPr>
                <a:solidFill>
                  <a:schemeClr val="bg1"/>
                </a:solidFill>
              </a:defRPr>
            </a:lvl1pPr>
          </a:lstStyle>
          <a:p>
            <a:fld id="{0C34F99C-3C47-4582-9518-8D365E9692AE}" type="slidenum">
              <a:rPr lang="en-US" smtClean="0"/>
              <a:pPr/>
              <a:t>‹N°›</a:t>
            </a:fld>
            <a:endParaRPr lang="en-US"/>
          </a:p>
        </p:txBody>
      </p:sp>
      <p:pic>
        <p:nvPicPr>
          <p:cNvPr id="3" name="Image 2" descr="Une image contenant texte, clipart">
            <a:extLst>
              <a:ext uri="{FF2B5EF4-FFF2-40B4-BE49-F238E27FC236}">
                <a16:creationId xmlns:a16="http://schemas.microsoft.com/office/drawing/2014/main" id="{73770B4B-0393-2241-D122-ABE2A09601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7333716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dirty="0"/>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14499163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13539936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DD0BB-EA2F-36A7-7FD3-C20348C0E5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BDE80E8C-5FA4-AA4A-6D35-C743CC52C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5" name="Espace réservé du numéro de diapositive 4">
            <a:extLst>
              <a:ext uri="{FF2B5EF4-FFF2-40B4-BE49-F238E27FC236}">
                <a16:creationId xmlns:a16="http://schemas.microsoft.com/office/drawing/2014/main" id="{EA3A9B35-F77D-F695-3A75-447C3CC610A5}"/>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02897450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431CC-972E-314C-31D8-39C61EC006E6}"/>
              </a:ext>
            </a:extLst>
          </p:cNvPr>
          <p:cNvSpPr>
            <a:spLocks noGrp="1"/>
          </p:cNvSpPr>
          <p:nvPr>
            <p:ph type="title"/>
          </p:nvPr>
        </p:nvSpPr>
        <p:spPr/>
        <p:txBody>
          <a:bodyPr/>
          <a:lstStyle>
            <a:lvl1pPr>
              <a:defRPr b="1"/>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E013790-14F8-57E9-79D5-B786DE111A9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6EC2A175-D1C2-1190-3F57-7062E193A9D3}"/>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75056090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4" name="Titre 19">
            <a:extLst>
              <a:ext uri="{FF2B5EF4-FFF2-40B4-BE49-F238E27FC236}">
                <a16:creationId xmlns:a16="http://schemas.microsoft.com/office/drawing/2014/main" id="{3DFBBBEF-C15A-A51B-087C-882A4261D38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7"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CAC0282-6A7E-3C43-CAC3-F8700A3FE426}"/>
              </a:ext>
            </a:extLst>
          </p:cNvPr>
          <p:cNvSpPr>
            <a:spLocks noGrp="1"/>
          </p:cNvSpPr>
          <p:nvPr>
            <p:ph type="sldNum" sz="quarter" idx="15"/>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60471316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7E5790C1-BFF4-512C-7BCC-36285D348726}"/>
              </a:ext>
            </a:extLst>
          </p:cNvPr>
          <p:cNvSpPr/>
          <p:nvPr/>
        </p:nvSpPr>
        <p:spPr>
          <a:xfrm>
            <a:off x="8185266"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0" name="Ellipse 9">
            <a:extLst>
              <a:ext uri="{FF2B5EF4-FFF2-40B4-BE49-F238E27FC236}">
                <a16:creationId xmlns:a16="http://schemas.microsoft.com/office/drawing/2014/main" id="{FABCA34A-9E9A-CFA7-10CB-AB6CED1DCB7A}"/>
              </a:ext>
            </a:extLst>
          </p:cNvPr>
          <p:cNvSpPr/>
          <p:nvPr/>
        </p:nvSpPr>
        <p:spPr>
          <a:xfrm>
            <a:off x="5153654"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7" name="Ellipse 6">
            <a:extLst>
              <a:ext uri="{FF2B5EF4-FFF2-40B4-BE49-F238E27FC236}">
                <a16:creationId xmlns:a16="http://schemas.microsoft.com/office/drawing/2014/main" id="{C8201D78-B6D5-A1E0-A3EC-94725867D298}"/>
              </a:ext>
            </a:extLst>
          </p:cNvPr>
          <p:cNvSpPr/>
          <p:nvPr/>
        </p:nvSpPr>
        <p:spPr>
          <a:xfrm>
            <a:off x="2107069"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29694"/>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26315"/>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28129"/>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Titre 19">
            <a:extLst>
              <a:ext uri="{FF2B5EF4-FFF2-40B4-BE49-F238E27FC236}">
                <a16:creationId xmlns:a16="http://schemas.microsoft.com/office/drawing/2014/main" id="{99F6C8ED-FC1D-A1CA-9839-805AE101C3BB}"/>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09759"/>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06282"/>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06282"/>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6E21584-8852-2B2D-28B9-A82DC6E1F1C4}"/>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633855763"/>
      </p:ext>
    </p:extLst>
  </p:cSld>
  <p:clrMapOvr>
    <a:masterClrMapping/>
  </p:clrMapOvr>
  <p:extLst>
    <p:ext uri="{DCECCB84-F9BA-43D5-87BE-67443E8EF086}">
      <p15:sldGuideLst xmlns:p15="http://schemas.microsoft.com/office/powerpoint/2012/main">
        <p15:guide id="1" orient="horz" pos="2160">
          <p15:clr>
            <a:srgbClr val="FBAE40"/>
          </p15:clr>
        </p15:guide>
        <p15:guide id="2" pos="1920">
          <p15:clr>
            <a:srgbClr val="FBAE40"/>
          </p15:clr>
        </p15:guide>
        <p15:guide id="3" pos="57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 Dots - Gri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32FB882C-37D7-B7E3-0E12-CA1DA4C6E0E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space réservé du numéro de diapositive 8">
            <a:extLst>
              <a:ext uri="{FF2B5EF4-FFF2-40B4-BE49-F238E27FC236}">
                <a16:creationId xmlns:a16="http://schemas.microsoft.com/office/drawing/2014/main" id="{6931372D-7354-87DB-81D8-86A46CD064EE}"/>
              </a:ext>
            </a:extLst>
          </p:cNvPr>
          <p:cNvSpPr>
            <a:spLocks noGrp="1"/>
          </p:cNvSpPr>
          <p:nvPr>
            <p:ph type="sldNum" sz="quarter" idx="2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57880249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Dots - Aligne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Titre 19">
            <a:extLst>
              <a:ext uri="{FF2B5EF4-FFF2-40B4-BE49-F238E27FC236}">
                <a16:creationId xmlns:a16="http://schemas.microsoft.com/office/drawing/2014/main" id="{04B83D0E-956C-22C0-A28A-82581C3EE337}"/>
              </a:ext>
            </a:extLst>
          </p:cNvPr>
          <p:cNvSpPr>
            <a:spLocks noGrp="1"/>
          </p:cNvSpPr>
          <p:nvPr userDrawn="1">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 name="Espace réservé du numéro de diapositive 2">
            <a:extLst>
              <a:ext uri="{FF2B5EF4-FFF2-40B4-BE49-F238E27FC236}">
                <a16:creationId xmlns:a16="http://schemas.microsoft.com/office/drawing/2014/main" id="{7B60E07B-A379-7A53-D876-FAC8EADDE90F}"/>
              </a:ext>
            </a:extLst>
          </p:cNvPr>
          <p:cNvSpPr>
            <a:spLocks noGrp="1"/>
          </p:cNvSpPr>
          <p:nvPr>
            <p:ph type="sldNum" sz="quarter" idx="19"/>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716676010"/>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‹N°›</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4132000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5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 name="Titre 19">
            <a:extLst>
              <a:ext uri="{FF2B5EF4-FFF2-40B4-BE49-F238E27FC236}">
                <a16:creationId xmlns:a16="http://schemas.microsoft.com/office/drawing/2014/main" id="{A3FF87D3-EC7C-D5F0-3924-B7D6FDACD500}"/>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AE1342AE-4FE7-5D34-3968-4B0D3E7559AF}"/>
              </a:ext>
            </a:extLst>
          </p:cNvPr>
          <p:cNvSpPr>
            <a:spLocks noGrp="1"/>
          </p:cNvSpPr>
          <p:nvPr>
            <p:ph type="sldNum" sz="quarter" idx="3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4141665876"/>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1" name="Titre 19">
            <a:extLst>
              <a:ext uri="{FF2B5EF4-FFF2-40B4-BE49-F238E27FC236}">
                <a16:creationId xmlns:a16="http://schemas.microsoft.com/office/drawing/2014/main" id="{DB712FA0-4E27-20A9-87B0-35A0456570FF}"/>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Espace réservé du numéro de diapositive 3">
            <a:extLst>
              <a:ext uri="{FF2B5EF4-FFF2-40B4-BE49-F238E27FC236}">
                <a16:creationId xmlns:a16="http://schemas.microsoft.com/office/drawing/2014/main" id="{6705C13F-C021-767C-1766-D9438EC0AF5D}"/>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46966673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4E7D9CAD-F323-B665-7F40-33140BBCCB2C}"/>
              </a:ext>
            </a:extLst>
          </p:cNvPr>
          <p:cNvSpPr>
            <a:spLocks noGrp="1"/>
          </p:cNvSpPr>
          <p:nvPr>
            <p:ph type="sldNum" sz="quarter" idx="12"/>
          </p:nvPr>
        </p:nvSpPr>
        <p:spPr/>
        <p:txBody>
          <a:bodyPr/>
          <a:lstStyle/>
          <a:p>
            <a:fld id="{0C34F99C-3C47-4582-9518-8D365E9692AE}" type="slidenum">
              <a:rPr lang="en-US" smtClean="0"/>
              <a:pPr/>
              <a:t>‹N°›</a:t>
            </a:fld>
            <a:endParaRPr lang="en-US"/>
          </a:p>
        </p:txBody>
      </p:sp>
      <p:pic>
        <p:nvPicPr>
          <p:cNvPr id="3" name="Image 2">
            <a:extLst>
              <a:ext uri="{FF2B5EF4-FFF2-40B4-BE49-F238E27FC236}">
                <a16:creationId xmlns:a16="http://schemas.microsoft.com/office/drawing/2014/main" id="{21B864D8-4D79-E952-D921-BD49E0CE45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230543240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ircle lef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tx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016AFA35-226C-CAB4-DEA5-91F4F57B0949}"/>
              </a:ext>
            </a:extLst>
          </p:cNvPr>
          <p:cNvSpPr>
            <a:spLocks noGrp="1"/>
          </p:cNvSpPr>
          <p:nvPr>
            <p:ph type="sldNum" sz="quarter" idx="12"/>
          </p:nvPr>
        </p:nvSpPr>
        <p:spPr/>
        <p:txBody>
          <a:bodyPr/>
          <a:lstStyle>
            <a:lvl1pPr>
              <a:defRPr>
                <a:solidFill>
                  <a:schemeClr val="tx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49310427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Arrow Top to Down">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4" name="Espace réservé du numéro de diapositive 3">
            <a:extLst>
              <a:ext uri="{FF2B5EF4-FFF2-40B4-BE49-F238E27FC236}">
                <a16:creationId xmlns:a16="http://schemas.microsoft.com/office/drawing/2014/main" id="{134D21F2-A2B0-2046-BDCD-DC144E8F14AC}"/>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89763606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Arrow Left to Righ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3" name="Espace réservé du numéro de diapositive 2">
            <a:extLst>
              <a:ext uri="{FF2B5EF4-FFF2-40B4-BE49-F238E27FC236}">
                <a16:creationId xmlns:a16="http://schemas.microsoft.com/office/drawing/2014/main" id="{31721A8C-A37D-8EBF-3268-144A3CEA1DDA}"/>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95102682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83529907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91803472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84454785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23030862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8008111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276132210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0868609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386654374"/>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‹N°›</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140158160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681479043"/>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‹N°›</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40800766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668571253"/>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12925170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‹N°›</a:t>
            </a:fld>
            <a:endParaRPr lang="en-US"/>
          </a:p>
        </p:txBody>
      </p:sp>
      <p:pic>
        <p:nvPicPr>
          <p:cNvPr id="6" name="Image 5" descr="Une image contenant texte, clipart">
            <a:extLst>
              <a:ext uri="{FF2B5EF4-FFF2-40B4-BE49-F238E27FC236}">
                <a16:creationId xmlns:a16="http://schemas.microsoft.com/office/drawing/2014/main" id="{5871B689-B73C-FA32-0D01-36B9921553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33061"/>
            <a:ext cx="991873" cy="216000"/>
          </a:xfrm>
          <a:prstGeom prst="rect">
            <a:avLst/>
          </a:prstGeom>
        </p:spPr>
      </p:pic>
    </p:spTree>
    <p:extLst>
      <p:ext uri="{BB962C8B-B14F-4D97-AF65-F5344CB8AC3E}">
        <p14:creationId xmlns:p14="http://schemas.microsoft.com/office/powerpoint/2010/main" val="3414645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162681770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04209765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428988493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1370537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‹N°›</a:t>
            </a:fld>
            <a:endParaRPr lang="en-US"/>
          </a:p>
        </p:txBody>
      </p:sp>
    </p:spTree>
    <p:extLst>
      <p:ext uri="{BB962C8B-B14F-4D97-AF65-F5344CB8AC3E}">
        <p14:creationId xmlns:p14="http://schemas.microsoft.com/office/powerpoint/2010/main" val="309323654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‹N°›</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5" name="Image 4">
            <a:extLst>
              <a:ext uri="{FF2B5EF4-FFF2-40B4-BE49-F238E27FC236}">
                <a16:creationId xmlns:a16="http://schemas.microsoft.com/office/drawing/2014/main" id="{3A60A342-E0B1-16E7-D2FD-EDFD3D90B1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184515253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0" name="Espace réservé du numéro de diapositive 5">
            <a:extLst>
              <a:ext uri="{FF2B5EF4-FFF2-40B4-BE49-F238E27FC236}">
                <a16:creationId xmlns:a16="http://schemas.microsoft.com/office/drawing/2014/main" id="{D4327D9C-5A0D-B8A2-8DDD-1241E193B4F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tx1"/>
                </a:solidFill>
                <a:latin typeface="+mn-lt"/>
              </a:defRPr>
            </a:lvl1pPr>
          </a:lstStyle>
          <a:p>
            <a:pPr defTabSz="914400">
              <a:defRPr/>
            </a:pPr>
            <a:fld id="{11061685-6496-4975-B02C-C44B14DBF38E}" type="slidenum">
              <a:rPr lang="fr-FR" smtClean="0"/>
              <a:pPr defTabSz="914400">
                <a:defRPr/>
              </a:pPr>
              <a:t>‹N°›</a:t>
            </a:fld>
            <a:endParaRPr lang="fr-FR"/>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latin typeface="+mj-lt"/>
              </a:defRPr>
            </a:lvl1pPr>
          </a:lstStyle>
          <a:p>
            <a:r>
              <a:rPr lang="fr-FR"/>
              <a:t>Modifiez le style du titre</a:t>
            </a:r>
          </a:p>
        </p:txBody>
      </p:sp>
    </p:spTree>
    <p:extLst>
      <p:ext uri="{BB962C8B-B14F-4D97-AF65-F5344CB8AC3E}">
        <p14:creationId xmlns:p14="http://schemas.microsoft.com/office/powerpoint/2010/main" val="237998707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6"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theme" Target="../theme/theme2.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21" Type="http://schemas.openxmlformats.org/officeDocument/2006/relationships/theme" Target="../theme/theme3.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image" Target="../media/image4.png"/><Relationship Id="rId4" Type="http://schemas.openxmlformats.org/officeDocument/2006/relationships/slideLayout" Target="../slideLayouts/slideLayout40.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6" Type="http://schemas.openxmlformats.org/officeDocument/2006/relationships/image" Target="../media/image2.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5.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3" Type="http://schemas.openxmlformats.org/officeDocument/2006/relationships/slideLayout" Target="../slideLayouts/slideLayout61.xml"/><Relationship Id="rId21" Type="http://schemas.openxmlformats.org/officeDocument/2006/relationships/slideLayout" Target="../slideLayouts/slideLayout79.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image" Target="../media/image4.png"/><Relationship Id="rId10" Type="http://schemas.openxmlformats.org/officeDocument/2006/relationships/slideLayout" Target="../slideLayouts/slideLayout68.xml"/><Relationship Id="rId19" Type="http://schemas.openxmlformats.org/officeDocument/2006/relationships/slideLayout" Target="../slideLayouts/slideLayout77.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82.xml"/><Relationship Id="rId2" Type="http://schemas.openxmlformats.org/officeDocument/2006/relationships/slideLayout" Target="../slideLayouts/slideLayout81.xml"/><Relationship Id="rId1" Type="http://schemas.openxmlformats.org/officeDocument/2006/relationships/slideLayout" Target="../slideLayouts/slideLayout80.xml"/><Relationship Id="rId5" Type="http://schemas.openxmlformats.org/officeDocument/2006/relationships/image" Target="../media/image4.pn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2" Type="http://schemas.openxmlformats.org/officeDocument/2006/relationships/slideLayout" Target="../slideLayouts/slideLayout84.xml"/><Relationship Id="rId16" Type="http://schemas.openxmlformats.org/officeDocument/2006/relationships/image" Target="../media/image2.png"/><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5" Type="http://schemas.openxmlformats.org/officeDocument/2006/relationships/theme" Target="../theme/theme8.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 Type="http://schemas.openxmlformats.org/officeDocument/2006/relationships/slideLayout" Target="../slideLayouts/slideLayout99.xml"/><Relationship Id="rId21" Type="http://schemas.openxmlformats.org/officeDocument/2006/relationships/slideLayout" Target="../slideLayouts/slideLayout117.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slideLayout" Target="../slideLayouts/slideLayout116.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23" Type="http://schemas.openxmlformats.org/officeDocument/2006/relationships/image" Target="../media/image4.png"/><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22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A8EEA29-EC33-E36C-B107-C064A9080A85}"/>
              </a:ext>
            </a:extLst>
          </p:cNvPr>
          <p:cNvSpPr>
            <a:spLocks noGrp="1"/>
          </p:cNvSpPr>
          <p:nvPr>
            <p:ph type="title"/>
          </p:nvPr>
        </p:nvSpPr>
        <p:spPr>
          <a:xfrm>
            <a:off x="838200" y="3429000"/>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pic>
        <p:nvPicPr>
          <p:cNvPr id="7" name="Graphique 6">
            <a:extLst>
              <a:ext uri="{FF2B5EF4-FFF2-40B4-BE49-F238E27FC236}">
                <a16:creationId xmlns:a16="http://schemas.microsoft.com/office/drawing/2014/main" id="{5A29C14F-5FFB-DE9B-2044-1D5C33CA66C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09870" y="2229000"/>
            <a:ext cx="5372260" cy="895377"/>
          </a:xfrm>
          <a:prstGeom prst="rect">
            <a:avLst/>
          </a:prstGeom>
        </p:spPr>
      </p:pic>
    </p:spTree>
    <p:extLst>
      <p:ext uri="{BB962C8B-B14F-4D97-AF65-F5344CB8AC3E}">
        <p14:creationId xmlns:p14="http://schemas.microsoft.com/office/powerpoint/2010/main" val="1494106921"/>
      </p:ext>
    </p:extLst>
  </p:cSld>
  <p:clrMap bg1="lt1" tx1="dk1" bg2="lt2" tx2="dk2" accent1="accent1" accent2="accent2" accent3="accent3" accent4="accent4" accent5="accent5" accent6="accent6" hlink="hlink" folHlink="folHlink"/>
  <p:sldLayoutIdLst>
    <p:sldLayoutId id="2147483661" r:id="rId1"/>
    <p:sldLayoutId id="2147483780" r:id="rId2"/>
  </p:sldLayoutIdLst>
  <p:hf hdr="0" ftr="0" dt="0"/>
  <p:txStyles>
    <p:titleStyle>
      <a:lvl1pPr algn="ctr" defTabSz="914400" rtl="0" eaLnBrk="1" latinLnBrk="0" hangingPunct="1">
        <a:lnSpc>
          <a:spcPct val="90000"/>
        </a:lnSpc>
        <a:spcBef>
          <a:spcPct val="0"/>
        </a:spcBef>
        <a:buNone/>
        <a:defRPr sz="4400" kern="1200" spc="3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ED0072-E027-08DF-76D9-B4F08E1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FEB9DAEB-28EA-395A-FB92-5E0C1A6B4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pic>
        <p:nvPicPr>
          <p:cNvPr id="7" name="Image 6" descr="Une image contenant texte, clipart">
            <a:extLst>
              <a:ext uri="{FF2B5EF4-FFF2-40B4-BE49-F238E27FC236}">
                <a16:creationId xmlns:a16="http://schemas.microsoft.com/office/drawing/2014/main" id="{D7601D00-6815-198A-5985-25582EE1C7B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515345" y="6490910"/>
            <a:ext cx="1676655" cy="365125"/>
          </a:xfrm>
          <a:prstGeom prst="rect">
            <a:avLst/>
          </a:prstGeom>
        </p:spPr>
      </p:pic>
      <p:sp>
        <p:nvSpPr>
          <p:cNvPr id="5" name="Espace réservé du numéro de diapositive 4">
            <a:extLst>
              <a:ext uri="{FF2B5EF4-FFF2-40B4-BE49-F238E27FC236}">
                <a16:creationId xmlns:a16="http://schemas.microsoft.com/office/drawing/2014/main" id="{DD67FB33-B7F0-A9F8-2B1E-488BEA6D6676}"/>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bg1"/>
                </a:solidFill>
                <a:latin typeface="+mj-lt"/>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11831780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a:extLst>
              <a:ext uri="{FF2B5EF4-FFF2-40B4-BE49-F238E27FC236}">
                <a16:creationId xmlns:a16="http://schemas.microsoft.com/office/drawing/2014/main" id="{4E235616-4349-C970-2C97-2D68E9FCDB7C}"/>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7903275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9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F5C57CC-B3BC-43F6-D7AE-AF3859A4BE1D}"/>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3" name="Espace réservé du numéro de diapositive 4">
            <a:extLst>
              <a:ext uri="{FF2B5EF4-FFF2-40B4-BE49-F238E27FC236}">
                <a16:creationId xmlns:a16="http://schemas.microsoft.com/office/drawing/2014/main" id="{A138721D-F502-0334-DC34-04EB3E3047CB}"/>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121448776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43" r:id="rId3"/>
    <p:sldLayoutId id="2147483744" r:id="rId4"/>
    <p:sldLayoutId id="2147483745" r:id="rId5"/>
    <p:sldLayoutId id="2147483746" r:id="rId6"/>
    <p:sldLayoutId id="2147483747" r:id="rId7"/>
    <p:sldLayoutId id="2147483749"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ED0072-E027-08DF-76D9-B4F08E1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EB9DAEB-28EA-395A-FB92-5E0C1A6B4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7" name="Image 6" descr="Une image contenant texte, clipart">
            <a:extLst>
              <a:ext uri="{FF2B5EF4-FFF2-40B4-BE49-F238E27FC236}">
                <a16:creationId xmlns:a16="http://schemas.microsoft.com/office/drawing/2014/main" id="{D7601D00-6815-198A-5985-25582EE1C7B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
        <p:nvSpPr>
          <p:cNvPr id="5" name="Espace réservé du numéro de diapositive 4">
            <a:extLst>
              <a:ext uri="{FF2B5EF4-FFF2-40B4-BE49-F238E27FC236}">
                <a16:creationId xmlns:a16="http://schemas.microsoft.com/office/drawing/2014/main" id="{DD67FB33-B7F0-A9F8-2B1E-488BEA6D6676}"/>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bg1"/>
                </a:solidFill>
                <a:latin typeface="+mj-lt"/>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90837256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‹N°›</a:t>
            </a:fld>
            <a:endParaRPr lang="en-US"/>
          </a:p>
        </p:txBody>
      </p:sp>
      <p:pic>
        <p:nvPicPr>
          <p:cNvPr id="5" name="Image 4">
            <a:extLst>
              <a:ext uri="{FF2B5EF4-FFF2-40B4-BE49-F238E27FC236}">
                <a16:creationId xmlns:a16="http://schemas.microsoft.com/office/drawing/2014/main" id="{3AC64E90-F7E6-A95D-A3F0-B7FE3797D799}"/>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Tree>
    <p:extLst>
      <p:ext uri="{BB962C8B-B14F-4D97-AF65-F5344CB8AC3E}">
        <p14:creationId xmlns:p14="http://schemas.microsoft.com/office/powerpoint/2010/main" val="1098093177"/>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81" r:id="rId21"/>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F5C57CC-B3BC-43F6-D7AE-AF3859A4BE1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
        <p:nvSpPr>
          <p:cNvPr id="3" name="Espace réservé du numéro de diapositive 4">
            <a:extLst>
              <a:ext uri="{FF2B5EF4-FFF2-40B4-BE49-F238E27FC236}">
                <a16:creationId xmlns:a16="http://schemas.microsoft.com/office/drawing/2014/main" id="{A138721D-F502-0334-DC34-04EB3E3047CB}"/>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14791369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ED0072-E027-08DF-76D9-B4F08E1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EB9DAEB-28EA-395A-FB92-5E0C1A6B4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7" name="Image 6" descr="Une image contenant texte, clipart">
            <a:extLst>
              <a:ext uri="{FF2B5EF4-FFF2-40B4-BE49-F238E27FC236}">
                <a16:creationId xmlns:a16="http://schemas.microsoft.com/office/drawing/2014/main" id="{D7601D00-6815-198A-5985-25582EE1C7B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
        <p:nvSpPr>
          <p:cNvPr id="5" name="Espace réservé du numéro de diapositive 4">
            <a:extLst>
              <a:ext uri="{FF2B5EF4-FFF2-40B4-BE49-F238E27FC236}">
                <a16:creationId xmlns:a16="http://schemas.microsoft.com/office/drawing/2014/main" id="{DD67FB33-B7F0-A9F8-2B1E-488BEA6D6676}"/>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bg1"/>
                </a:solidFill>
                <a:latin typeface="+mj-lt"/>
              </a:defRPr>
            </a:lvl1pPr>
          </a:lstStyle>
          <a:p>
            <a:fld id="{0C34F99C-3C47-4582-9518-8D365E9692AE}" type="slidenum">
              <a:rPr lang="en-US" smtClean="0"/>
              <a:pPr/>
              <a:t>‹N°›</a:t>
            </a:fld>
            <a:endParaRPr lang="en-US"/>
          </a:p>
        </p:txBody>
      </p:sp>
    </p:spTree>
    <p:extLst>
      <p:ext uri="{BB962C8B-B14F-4D97-AF65-F5344CB8AC3E}">
        <p14:creationId xmlns:p14="http://schemas.microsoft.com/office/powerpoint/2010/main" val="70770240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‹N°›</a:t>
            </a:fld>
            <a:endParaRPr lang="en-US"/>
          </a:p>
        </p:txBody>
      </p:sp>
      <p:pic>
        <p:nvPicPr>
          <p:cNvPr id="5" name="Image 4">
            <a:extLst>
              <a:ext uri="{FF2B5EF4-FFF2-40B4-BE49-F238E27FC236}">
                <a16:creationId xmlns:a16="http://schemas.microsoft.com/office/drawing/2014/main" id="{3AC64E90-F7E6-A95D-A3F0-B7FE3797D799}"/>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Tree>
    <p:extLst>
      <p:ext uri="{BB962C8B-B14F-4D97-AF65-F5344CB8AC3E}">
        <p14:creationId xmlns:p14="http://schemas.microsoft.com/office/powerpoint/2010/main" val="2435080062"/>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 id="2147483814" r:id="rId17"/>
    <p:sldLayoutId id="2147483815" r:id="rId18"/>
    <p:sldLayoutId id="2147483816" r:id="rId19"/>
    <p:sldLayoutId id="2147483817" r:id="rId20"/>
    <p:sldLayoutId id="2147483818" r:id="rId21"/>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59.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6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65.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59.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4.xml"/></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11.xml"/><Relationship Id="rId1" Type="http://schemas.openxmlformats.org/officeDocument/2006/relationships/slideLayout" Target="../slideLayouts/slideLayout97.xml"/><Relationship Id="rId6" Type="http://schemas.openxmlformats.org/officeDocument/2006/relationships/image" Target="../media/image23.sv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svg"/></Relationships>
</file>

<file path=ppt/slides/_rels/slide14.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97.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83.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87.xml"/><Relationship Id="rId4" Type="http://schemas.openxmlformats.org/officeDocument/2006/relationships/image" Target="../media/image32.svg"/></Relationships>
</file>

<file path=ppt/slides/_rels/slide1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18.sv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59.xml"/><Relationship Id="rId4" Type="http://schemas.openxmlformats.org/officeDocument/2006/relationships/image" Target="../media/image18.sv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18.svg"/></Relationships>
</file>

<file path=ppt/slides/_rels/slide21.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9.xml"/></Relationships>
</file>

<file path=ppt/slides/_rels/slide2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25.xml"/><Relationship Id="rId1" Type="http://schemas.openxmlformats.org/officeDocument/2006/relationships/slideLayout" Target="../slideLayouts/slideLayout59.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59.xml"/></Relationships>
</file>

<file path=ppt/slides/_rels/slide3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27.xml"/><Relationship Id="rId1" Type="http://schemas.openxmlformats.org/officeDocument/2006/relationships/slideLayout" Target="../slideLayouts/slideLayout59.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59.xml"/></Relationships>
</file>

<file path=ppt/slides/_rels/slide3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29.xml"/><Relationship Id="rId1" Type="http://schemas.openxmlformats.org/officeDocument/2006/relationships/slideLayout" Target="../slideLayouts/slideLayout59.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59.xml"/></Relationships>
</file>

<file path=ppt/slides/_rels/slide3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1.xml"/><Relationship Id="rId1" Type="http://schemas.openxmlformats.org/officeDocument/2006/relationships/slideLayout" Target="../slideLayouts/slideLayout59.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59.xml"/></Relationships>
</file>

<file path=ppt/slides/_rels/slide3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3.xml"/><Relationship Id="rId1" Type="http://schemas.openxmlformats.org/officeDocument/2006/relationships/slideLayout" Target="../slideLayouts/slideLayout59.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59.xml"/></Relationships>
</file>

<file path=ppt/slides/_rels/slide3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5.xml"/><Relationship Id="rId1" Type="http://schemas.openxmlformats.org/officeDocument/2006/relationships/slideLayout" Target="../slideLayouts/slideLayout59.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59.xml"/></Relationships>
</file>

<file path=ppt/slides/_rels/slide4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7.xml"/><Relationship Id="rId1" Type="http://schemas.openxmlformats.org/officeDocument/2006/relationships/slideLayout" Target="../slideLayouts/slideLayout59.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39.xml"/><Relationship Id="rId1" Type="http://schemas.openxmlformats.org/officeDocument/2006/relationships/slideLayout" Target="../slideLayouts/slideLayout59.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0.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1.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2.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3.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4.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5.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6.xml"/><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7.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8.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9.xml"/><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0.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1.xml"/><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2.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3.xml"/><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4.xml"/><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5.xml"/><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6.xml"/><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7.xml"/><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8.xml"/><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9.xml"/><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0.xml"/><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1.xml"/><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2.xml"/><Relationship Id="rId1" Type="http://schemas.openxmlformats.org/officeDocument/2006/relationships/slideLayout" Target="../slideLayouts/slideLayout20.xml"/></Relationships>
</file>

<file path=ppt/slides/_rels/slide9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3.xml"/><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4.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5.xml"/><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6.xml"/><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7.xml"/><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8.xml"/><Relationship Id="rId1" Type="http://schemas.openxmlformats.org/officeDocument/2006/relationships/slideLayout" Target="../slideLayouts/slideLayout17.xml"/></Relationships>
</file>

<file path=ppt/slides/_rels/slide10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9.xml"/><Relationship Id="rId1" Type="http://schemas.openxmlformats.org/officeDocument/2006/relationships/slideLayout" Target="../slideLayouts/slideLayout17.xml"/></Relationships>
</file>

<file path=ppt/slides/_rels/slide10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0.xml"/><Relationship Id="rId1" Type="http://schemas.openxmlformats.org/officeDocument/2006/relationships/slideLayout" Target="../slideLayouts/slideLayout17.xml"/></Relationships>
</file>

<file path=ppt/slides/_rels/slide10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1.xml"/><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02.xml"/><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3.xml"/><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04.xml"/><Relationship Id="rId1" Type="http://schemas.openxmlformats.org/officeDocument/2006/relationships/slideLayout" Target="../slideLayouts/slideLayout17.xml"/></Relationships>
</file>

<file path=ppt/slides/_rels/slide10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5.xml"/><Relationship Id="rId1" Type="http://schemas.openxmlformats.org/officeDocument/2006/relationships/slideLayout" Target="../slideLayouts/slideLayout17.xml"/></Relationships>
</file>

<file path=ppt/slides/_rels/slide11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6.xml"/><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7.xml"/><Relationship Id="rId1" Type="http://schemas.openxmlformats.org/officeDocument/2006/relationships/slideLayout" Target="../slideLayouts/slideLayout17.xml"/></Relationships>
</file>

<file path=ppt/slides/_rels/slide11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8.xml"/><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09.xml"/><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10.xml"/><Relationship Id="rId1" Type="http://schemas.openxmlformats.org/officeDocument/2006/relationships/slideLayout" Target="../slideLayouts/slideLayout17.xml"/></Relationships>
</file>

<file path=ppt/slides/_rels/slide1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1.xml"/><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12.xml"/><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3.xml"/><Relationship Id="rId1"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14.xml"/><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5.xml"/><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6.xml"/><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7.xml"/><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18.xml"/><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9.xml"/><Relationship Id="rId1" Type="http://schemas.openxmlformats.org/officeDocument/2006/relationships/slideLayout" Target="../slideLayouts/slideLayout1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7.xml"/></Relationships>
</file>

<file path=ppt/slides/_rels/slide12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21.xml"/><Relationship Id="rId1" Type="http://schemas.openxmlformats.org/officeDocument/2006/relationships/slideLayout" Target="../slideLayouts/slideLayout17.xml"/></Relationships>
</file>

<file path=ppt/slides/_rels/slide126.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notesSlide" Target="../notesSlides/notesSlide122.xml"/><Relationship Id="rId1" Type="http://schemas.openxmlformats.org/officeDocument/2006/relationships/slideLayout" Target="../slideLayouts/slideLayout5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7.xml"/></Relationships>
</file>

<file path=ppt/slides/_rels/slide129.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04.xml"/></Relationships>
</file>

<file path=ppt/slides/_rels/slide131.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notesSlide" Target="../notesSlides/notesSlide126.xml"/><Relationship Id="rId1" Type="http://schemas.openxmlformats.org/officeDocument/2006/relationships/slideLayout" Target="../slideLayouts/slideLayout106.xml"/><Relationship Id="rId4" Type="http://schemas.openxmlformats.org/officeDocument/2006/relationships/image" Target="../media/image32.svg"/></Relationships>
</file>

<file path=ppt/slides/_rels/slide132.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svg"/><Relationship Id="rId1" Type="http://schemas.openxmlformats.org/officeDocument/2006/relationships/slideLayout" Target="../slideLayouts/slideLayout97.xml"/><Relationship Id="rId6" Type="http://schemas.openxmlformats.org/officeDocument/2006/relationships/image" Target="../media/image92.svg"/><Relationship Id="rId5" Type="http://schemas.openxmlformats.org/officeDocument/2006/relationships/image" Target="../media/image91.svg"/><Relationship Id="rId4" Type="http://schemas.openxmlformats.org/officeDocument/2006/relationships/image" Target="../media/image90.sv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34.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notesSlide" Target="../notesSlides/notesSlide127.xml"/><Relationship Id="rId1" Type="http://schemas.openxmlformats.org/officeDocument/2006/relationships/slideLayout" Target="../slideLayouts/slideLayout97.xml"/><Relationship Id="rId6" Type="http://schemas.openxmlformats.org/officeDocument/2006/relationships/image" Target="../media/image96.svg"/><Relationship Id="rId5" Type="http://schemas.openxmlformats.org/officeDocument/2006/relationships/image" Target="../media/image95.svg"/><Relationship Id="rId4" Type="http://schemas.openxmlformats.org/officeDocument/2006/relationships/image" Target="../media/image94.svg"/></Relationships>
</file>

<file path=ppt/slides/_rels/slide135.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notesSlide" Target="../notesSlides/notesSlide128.xml"/><Relationship Id="rId1" Type="http://schemas.openxmlformats.org/officeDocument/2006/relationships/slideLayout" Target="../slideLayouts/slideLayout97.xml"/><Relationship Id="rId6" Type="http://schemas.openxmlformats.org/officeDocument/2006/relationships/image" Target="../media/image96.svg"/><Relationship Id="rId5" Type="http://schemas.openxmlformats.org/officeDocument/2006/relationships/image" Target="../media/image95.svg"/><Relationship Id="rId4" Type="http://schemas.openxmlformats.org/officeDocument/2006/relationships/image" Target="../media/image94.svg"/></Relationships>
</file>

<file path=ppt/slides/_rels/slide136.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notesSlide" Target="../notesSlides/notesSlide129.xml"/><Relationship Id="rId1" Type="http://schemas.openxmlformats.org/officeDocument/2006/relationships/slideLayout" Target="../slideLayouts/slideLayout97.xml"/><Relationship Id="rId6" Type="http://schemas.openxmlformats.org/officeDocument/2006/relationships/image" Target="../media/image96.svg"/><Relationship Id="rId5" Type="http://schemas.openxmlformats.org/officeDocument/2006/relationships/image" Target="../media/image95.svg"/><Relationship Id="rId4" Type="http://schemas.openxmlformats.org/officeDocument/2006/relationships/image" Target="../media/image94.svg"/></Relationships>
</file>

<file path=ppt/slides/_rels/slide137.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notesSlide" Target="../notesSlides/notesSlide130.xml"/><Relationship Id="rId1" Type="http://schemas.openxmlformats.org/officeDocument/2006/relationships/slideLayout" Target="../slideLayouts/slideLayout97.xml"/><Relationship Id="rId6" Type="http://schemas.openxmlformats.org/officeDocument/2006/relationships/image" Target="../media/image93.svg"/><Relationship Id="rId5" Type="http://schemas.openxmlformats.org/officeDocument/2006/relationships/image" Target="../media/image96.svg"/><Relationship Id="rId4" Type="http://schemas.openxmlformats.org/officeDocument/2006/relationships/image" Target="../media/image95.svg"/></Relationships>
</file>

<file path=ppt/slides/_rels/slide1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7.xml"/></Relationships>
</file>

<file path=ppt/slides/_rels/slide1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42.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notesSlide" Target="../notesSlides/notesSlide131.xml"/><Relationship Id="rId1" Type="http://schemas.openxmlformats.org/officeDocument/2006/relationships/slideLayout" Target="../slideLayouts/slideLayout55.xml"/></Relationships>
</file>

<file path=ppt/slides/_rels/slide143.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notesSlide" Target="../notesSlides/notesSlide132.xml"/><Relationship Id="rId1" Type="http://schemas.openxmlformats.org/officeDocument/2006/relationships/slideLayout" Target="../slideLayouts/slideLayout11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9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9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59.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59.xml"/></Relationships>
</file>

<file path=ppt/slides/_rels/slide15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37.xml"/><Relationship Id="rId1" Type="http://schemas.openxmlformats.org/officeDocument/2006/relationships/slideLayout" Target="../slideLayouts/slideLayout59.xml"/></Relationships>
</file>

<file path=ppt/slides/_rels/slide15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38.xml"/><Relationship Id="rId1" Type="http://schemas.openxmlformats.org/officeDocument/2006/relationships/slideLayout" Target="../slideLayouts/slideLayout59.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5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59.xml"/></Relationships>
</file>

<file path=ppt/slides/_rels/slide160.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A7404-477A-FE48-294E-0BB3172EBBA8}"/>
              </a:ext>
            </a:extLst>
          </p:cNvPr>
          <p:cNvSpPr>
            <a:spLocks noGrp="1"/>
          </p:cNvSpPr>
          <p:nvPr>
            <p:ph type="title"/>
          </p:nvPr>
        </p:nvSpPr>
        <p:spPr>
          <a:xfrm>
            <a:off x="0" y="3429000"/>
            <a:ext cx="12192000" cy="1325563"/>
          </a:xfrm>
        </p:spPr>
        <p:txBody>
          <a:bodyPr>
            <a:noAutofit/>
          </a:bodyPr>
          <a:lstStyle/>
          <a:p>
            <a:r>
              <a:rPr lang="fr-FR" sz="4000" b="1" noProof="0" dirty="0"/>
              <a:t>RAPPORT D’ANALYSE CLIENT</a:t>
            </a:r>
            <a:br>
              <a:rPr lang="fr-FR" sz="4000" b="1" noProof="0" dirty="0"/>
            </a:br>
            <a:endParaRPr lang="fr-FR" sz="4000" b="1" noProof="0" dirty="0"/>
          </a:p>
        </p:txBody>
      </p:sp>
      <p:pic>
        <p:nvPicPr>
          <p:cNvPr id="3" name="Picture 2">
            <a:extLst>
              <a:ext uri="{FF2B5EF4-FFF2-40B4-BE49-F238E27FC236}">
                <a16:creationId xmlns:a16="http://schemas.microsoft.com/office/drawing/2014/main" id="{26581AD2-87A6-E4C6-34A6-16BD848E6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2669" y="5257800"/>
            <a:ext cx="32004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031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2333E30-651D-81AA-C435-1E0435849EA7}"/>
              </a:ext>
            </a:extLst>
          </p:cNvPr>
          <p:cNvSpPr>
            <a:spLocks noGrp="1"/>
          </p:cNvSpPr>
          <p:nvPr>
            <p:ph type="body" sz="quarter" idx="20"/>
          </p:nvPr>
        </p:nvSpPr>
        <p:spPr/>
        <p:txBody>
          <a:bodyPr/>
          <a:lstStyle/>
          <a:p>
            <a:r>
              <a:rPr lang="fr-FR" noProof="0" dirty="0"/>
              <a:t>3</a:t>
            </a:r>
          </a:p>
        </p:txBody>
      </p:sp>
      <p:sp>
        <p:nvSpPr>
          <p:cNvPr id="18" name="Text Placeholder 17">
            <a:extLst>
              <a:ext uri="{FF2B5EF4-FFF2-40B4-BE49-F238E27FC236}">
                <a16:creationId xmlns:a16="http://schemas.microsoft.com/office/drawing/2014/main" id="{09D0A914-2531-42F8-D32B-AFE02275AEC8}"/>
              </a:ext>
            </a:extLst>
          </p:cNvPr>
          <p:cNvSpPr>
            <a:spLocks noGrp="1"/>
          </p:cNvSpPr>
          <p:nvPr>
            <p:ph type="body" sz="quarter" idx="21"/>
          </p:nvPr>
        </p:nvSpPr>
        <p:spPr>
          <a:xfrm>
            <a:off x="5298112" y="4580504"/>
            <a:ext cx="1626659" cy="712713"/>
          </a:xfrm>
        </p:spPr>
        <p:txBody>
          <a:bodyPr>
            <a:normAutofit/>
          </a:bodyPr>
          <a:lstStyle/>
          <a:p>
            <a:r>
              <a:rPr lang="fr-FR" sz="2000" noProof="0" dirty="0"/>
              <a:t>Besoins &amp; Solutions</a:t>
            </a:r>
          </a:p>
        </p:txBody>
      </p:sp>
      <p:sp>
        <p:nvSpPr>
          <p:cNvPr id="19" name="Text Placeholder 18">
            <a:extLst>
              <a:ext uri="{FF2B5EF4-FFF2-40B4-BE49-F238E27FC236}">
                <a16:creationId xmlns:a16="http://schemas.microsoft.com/office/drawing/2014/main" id="{AAD24766-BF6B-A4F1-C2BB-BEAB60C3CC83}"/>
              </a:ext>
            </a:extLst>
          </p:cNvPr>
          <p:cNvSpPr>
            <a:spLocks noGrp="1"/>
          </p:cNvSpPr>
          <p:nvPr>
            <p:ph type="body" sz="quarter" idx="22"/>
          </p:nvPr>
        </p:nvSpPr>
        <p:spPr/>
        <p:txBody>
          <a:bodyPr/>
          <a:lstStyle/>
          <a:p>
            <a:r>
              <a:rPr lang="fr-FR" noProof="0" dirty="0"/>
              <a:t>4</a:t>
            </a:r>
          </a:p>
        </p:txBody>
      </p:sp>
      <p:sp>
        <p:nvSpPr>
          <p:cNvPr id="20" name="Text Placeholder 19">
            <a:extLst>
              <a:ext uri="{FF2B5EF4-FFF2-40B4-BE49-F238E27FC236}">
                <a16:creationId xmlns:a16="http://schemas.microsoft.com/office/drawing/2014/main" id="{ED0D26D6-FE04-4921-B5EA-D3793EB2A21B}"/>
              </a:ext>
            </a:extLst>
          </p:cNvPr>
          <p:cNvSpPr>
            <a:spLocks noGrp="1"/>
          </p:cNvSpPr>
          <p:nvPr>
            <p:ph type="body" sz="quarter" idx="23"/>
          </p:nvPr>
        </p:nvSpPr>
        <p:spPr>
          <a:xfrm>
            <a:off x="7470198" y="4580427"/>
            <a:ext cx="1626659" cy="609759"/>
          </a:xfrm>
        </p:spPr>
        <p:txBody>
          <a:bodyPr>
            <a:noAutofit/>
          </a:bodyPr>
          <a:lstStyle/>
          <a:p>
            <a:r>
              <a:rPr lang="fr-FR" sz="2000" noProof="0" dirty="0" err="1"/>
              <a:t>Organisationprojet</a:t>
            </a:r>
            <a:endParaRPr lang="fr-FR" sz="2000" noProof="0" dirty="0"/>
          </a:p>
        </p:txBody>
      </p:sp>
      <p:sp>
        <p:nvSpPr>
          <p:cNvPr id="21" name="Text Placeholder 20">
            <a:extLst>
              <a:ext uri="{FF2B5EF4-FFF2-40B4-BE49-F238E27FC236}">
                <a16:creationId xmlns:a16="http://schemas.microsoft.com/office/drawing/2014/main" id="{EED6D779-A642-1251-4751-8E9F358B713C}"/>
              </a:ext>
            </a:extLst>
          </p:cNvPr>
          <p:cNvSpPr>
            <a:spLocks noGrp="1"/>
          </p:cNvSpPr>
          <p:nvPr>
            <p:ph type="body" sz="quarter" idx="24"/>
          </p:nvPr>
        </p:nvSpPr>
        <p:spPr/>
        <p:txBody>
          <a:bodyPr/>
          <a:lstStyle/>
          <a:p>
            <a:r>
              <a:rPr lang="fr-FR" noProof="0" dirty="0"/>
              <a:t>5</a:t>
            </a:r>
          </a:p>
        </p:txBody>
      </p:sp>
      <p:sp>
        <p:nvSpPr>
          <p:cNvPr id="22" name="Text Placeholder 21">
            <a:extLst>
              <a:ext uri="{FF2B5EF4-FFF2-40B4-BE49-F238E27FC236}">
                <a16:creationId xmlns:a16="http://schemas.microsoft.com/office/drawing/2014/main" id="{2560F559-1F81-F685-F73A-2BFCCDD6110C}"/>
              </a:ext>
            </a:extLst>
          </p:cNvPr>
          <p:cNvSpPr>
            <a:spLocks noGrp="1"/>
          </p:cNvSpPr>
          <p:nvPr>
            <p:ph type="body" sz="quarter" idx="25"/>
          </p:nvPr>
        </p:nvSpPr>
        <p:spPr/>
        <p:txBody>
          <a:bodyPr>
            <a:normAutofit/>
          </a:bodyPr>
          <a:lstStyle/>
          <a:p>
            <a:r>
              <a:rPr lang="fr-FR" sz="2000" noProof="0" dirty="0"/>
              <a:t>Offre</a:t>
            </a:r>
          </a:p>
        </p:txBody>
      </p:sp>
      <p:sp>
        <p:nvSpPr>
          <p:cNvPr id="23" name="Text Placeholder 22">
            <a:extLst>
              <a:ext uri="{FF2B5EF4-FFF2-40B4-BE49-F238E27FC236}">
                <a16:creationId xmlns:a16="http://schemas.microsoft.com/office/drawing/2014/main" id="{6158645E-1275-5CDC-0E29-61CED81BB300}"/>
              </a:ext>
            </a:extLst>
          </p:cNvPr>
          <p:cNvSpPr>
            <a:spLocks noGrp="1"/>
          </p:cNvSpPr>
          <p:nvPr>
            <p:ph type="body" sz="quarter" idx="26"/>
          </p:nvPr>
        </p:nvSpPr>
        <p:spPr/>
        <p:txBody>
          <a:bodyPr/>
          <a:lstStyle/>
          <a:p>
            <a:r>
              <a:rPr lang="fr-FR" noProof="0" dirty="0"/>
              <a:t>2</a:t>
            </a:r>
          </a:p>
        </p:txBody>
      </p:sp>
      <p:sp>
        <p:nvSpPr>
          <p:cNvPr id="24" name="Text Placeholder 23">
            <a:extLst>
              <a:ext uri="{FF2B5EF4-FFF2-40B4-BE49-F238E27FC236}">
                <a16:creationId xmlns:a16="http://schemas.microsoft.com/office/drawing/2014/main" id="{48E5FD76-DC4D-E27B-592B-E10A50C0C0A8}"/>
              </a:ext>
            </a:extLst>
          </p:cNvPr>
          <p:cNvSpPr>
            <a:spLocks noGrp="1"/>
          </p:cNvSpPr>
          <p:nvPr>
            <p:ph type="body" sz="quarter" idx="27"/>
          </p:nvPr>
        </p:nvSpPr>
        <p:spPr>
          <a:xfrm>
            <a:off x="3106979" y="4580348"/>
            <a:ext cx="1626659" cy="609838"/>
          </a:xfrm>
        </p:spPr>
        <p:txBody>
          <a:bodyPr>
            <a:noAutofit/>
          </a:bodyPr>
          <a:lstStyle/>
          <a:p>
            <a:r>
              <a:rPr lang="fr-FR" sz="2000" noProof="0" dirty="0"/>
              <a:t>Réussir votre projet</a:t>
            </a:r>
          </a:p>
        </p:txBody>
      </p:sp>
      <p:sp>
        <p:nvSpPr>
          <p:cNvPr id="25" name="Text Placeholder 24">
            <a:extLst>
              <a:ext uri="{FF2B5EF4-FFF2-40B4-BE49-F238E27FC236}">
                <a16:creationId xmlns:a16="http://schemas.microsoft.com/office/drawing/2014/main" id="{334BBB83-55E4-5D28-BF26-19035C192013}"/>
              </a:ext>
            </a:extLst>
          </p:cNvPr>
          <p:cNvSpPr>
            <a:spLocks noGrp="1"/>
          </p:cNvSpPr>
          <p:nvPr>
            <p:ph type="body" sz="quarter" idx="28"/>
          </p:nvPr>
        </p:nvSpPr>
        <p:spPr/>
        <p:txBody>
          <a:bodyPr/>
          <a:lstStyle/>
          <a:p>
            <a:r>
              <a:rPr lang="fr-FR" noProof="0" dirty="0"/>
              <a:t>1</a:t>
            </a:r>
          </a:p>
        </p:txBody>
      </p:sp>
      <p:sp>
        <p:nvSpPr>
          <p:cNvPr id="26" name="Text Placeholder 25">
            <a:extLst>
              <a:ext uri="{FF2B5EF4-FFF2-40B4-BE49-F238E27FC236}">
                <a16:creationId xmlns:a16="http://schemas.microsoft.com/office/drawing/2014/main" id="{0136B59A-1DE4-2F45-2B11-60536F97B50D}"/>
              </a:ext>
            </a:extLst>
          </p:cNvPr>
          <p:cNvSpPr>
            <a:spLocks noGrp="1"/>
          </p:cNvSpPr>
          <p:nvPr>
            <p:ph type="body" sz="quarter" idx="29"/>
          </p:nvPr>
        </p:nvSpPr>
        <p:spPr/>
        <p:txBody>
          <a:bodyPr>
            <a:normAutofit/>
          </a:bodyPr>
          <a:lstStyle/>
          <a:p>
            <a:r>
              <a:rPr lang="fr-FR" sz="2000" noProof="0" dirty="0"/>
              <a:t>Contexte</a:t>
            </a:r>
          </a:p>
        </p:txBody>
      </p:sp>
      <p:sp>
        <p:nvSpPr>
          <p:cNvPr id="16" name="Title 15">
            <a:extLst>
              <a:ext uri="{FF2B5EF4-FFF2-40B4-BE49-F238E27FC236}">
                <a16:creationId xmlns:a16="http://schemas.microsoft.com/office/drawing/2014/main" id="{FE7CF58D-77AD-0B4D-225C-18503E8DC9D7}"/>
              </a:ext>
            </a:extLst>
          </p:cNvPr>
          <p:cNvSpPr>
            <a:spLocks noGrp="1"/>
          </p:cNvSpPr>
          <p:nvPr>
            <p:ph type="title"/>
          </p:nvPr>
        </p:nvSpPr>
        <p:spPr/>
        <p:txBody>
          <a:bodyPr/>
          <a:lstStyle/>
          <a:p>
            <a:r>
              <a:rPr lang="fr-FR" noProof="0" dirty="0"/>
              <a:t>Sommaire</a:t>
            </a:r>
          </a:p>
        </p:txBody>
      </p:sp>
      <p:sp>
        <p:nvSpPr>
          <p:cNvPr id="5" name="Slide Number Placeholder 4">
            <a:extLst>
              <a:ext uri="{FF2B5EF4-FFF2-40B4-BE49-F238E27FC236}">
                <a16:creationId xmlns:a16="http://schemas.microsoft.com/office/drawing/2014/main" id="{A5DC6AE6-16CA-95AC-3379-85DB0CFF6C64}"/>
              </a:ext>
            </a:extLst>
          </p:cNvPr>
          <p:cNvSpPr>
            <a:spLocks noGrp="1"/>
          </p:cNvSpPr>
          <p:nvPr>
            <p:ph type="sldNum" sz="quarter" idx="30"/>
          </p:nvPr>
        </p:nvSpPr>
        <p:spPr/>
        <p:txBody>
          <a:bodyPr/>
          <a:lstStyle/>
          <a:p>
            <a:fld id="{0C34F99C-3C47-4582-9518-8D365E9692AE}" type="slidenum">
              <a:rPr lang="fr-FR" noProof="0" smtClean="0"/>
              <a:pPr/>
              <a:t>2</a:t>
            </a:fld>
            <a:endParaRPr lang="fr-FR" noProof="0" dirty="0"/>
          </a:p>
        </p:txBody>
      </p:sp>
    </p:spTree>
    <p:extLst>
      <p:ext uri="{BB962C8B-B14F-4D97-AF65-F5344CB8AC3E}">
        <p14:creationId xmlns:p14="http://schemas.microsoft.com/office/powerpoint/2010/main" val="1978309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4AA629C-AF3F-E701-E29D-476AD8005272}"/>
              </a:ext>
            </a:extLst>
          </p:cNvPr>
          <p:cNvSpPr>
            <a:spLocks noGrp="1"/>
          </p:cNvSpPr>
          <p:nvPr>
            <p:ph type="title"/>
          </p:nvPr>
        </p:nvSpPr>
        <p:spPr/>
        <p:txBody>
          <a:bodyPr/>
          <a:lstStyle/>
          <a:p>
            <a:r>
              <a:rPr lang="fr-FR" noProof="0" dirty="0"/>
              <a:t>CHRONOLOGIE DU PROJET CAPTIVEA</a:t>
            </a:r>
          </a:p>
        </p:txBody>
      </p:sp>
      <p:sp>
        <p:nvSpPr>
          <p:cNvPr id="3" name="Espace réservé du numéro de diapositive 2">
            <a:extLst>
              <a:ext uri="{FF2B5EF4-FFF2-40B4-BE49-F238E27FC236}">
                <a16:creationId xmlns:a16="http://schemas.microsoft.com/office/drawing/2014/main" id="{98713A22-5758-17F2-F916-379E77B4288E}"/>
              </a:ext>
            </a:extLst>
          </p:cNvPr>
          <p:cNvSpPr>
            <a:spLocks noGrp="1"/>
          </p:cNvSpPr>
          <p:nvPr>
            <p:ph type="sldNum" sz="quarter" idx="10"/>
          </p:nvPr>
        </p:nvSpPr>
        <p:spPr/>
        <p:txBody>
          <a:bodyPr/>
          <a:lstStyle/>
          <a:p>
            <a:pPr defTabSz="914400">
              <a:defRPr/>
            </a:pPr>
            <a:fld id="{11061685-6496-4975-B02C-C44B14DBF38E}" type="slidenum">
              <a:rPr lang="fr-FR" noProof="0" smtClean="0"/>
              <a:pPr defTabSz="914400">
                <a:defRPr/>
              </a:pPr>
              <a:t>3</a:t>
            </a:fld>
            <a:endParaRPr lang="fr-FR" noProof="0" dirty="0"/>
          </a:p>
        </p:txBody>
      </p:sp>
      <p:grpSp>
        <p:nvGrpSpPr>
          <p:cNvPr id="6" name="Groupe 5">
            <a:extLst>
              <a:ext uri="{FF2B5EF4-FFF2-40B4-BE49-F238E27FC236}">
                <a16:creationId xmlns:a16="http://schemas.microsoft.com/office/drawing/2014/main" id="{5F17D292-C4C2-A941-ABFE-FFDAC72CA839}"/>
              </a:ext>
            </a:extLst>
          </p:cNvPr>
          <p:cNvGrpSpPr/>
          <p:nvPr/>
        </p:nvGrpSpPr>
        <p:grpSpPr>
          <a:xfrm>
            <a:off x="7394850" y="4262110"/>
            <a:ext cx="461243" cy="559135"/>
            <a:chOff x="3418535" y="2309575"/>
            <a:chExt cx="461243" cy="559135"/>
          </a:xfrm>
        </p:grpSpPr>
        <p:grpSp>
          <p:nvGrpSpPr>
            <p:cNvPr id="7" name="Google Shape;1407;p36">
              <a:extLst>
                <a:ext uri="{FF2B5EF4-FFF2-40B4-BE49-F238E27FC236}">
                  <a16:creationId xmlns:a16="http://schemas.microsoft.com/office/drawing/2014/main" id="{6C3DF8FB-D452-B17E-35EC-18D34E68EACC}"/>
                </a:ext>
              </a:extLst>
            </p:cNvPr>
            <p:cNvGrpSpPr/>
            <p:nvPr/>
          </p:nvGrpSpPr>
          <p:grpSpPr>
            <a:xfrm rot="5400000">
              <a:off x="3369589" y="2358521"/>
              <a:ext cx="559135" cy="461243"/>
              <a:chOff x="4892107" y="893400"/>
              <a:chExt cx="610975" cy="504008"/>
            </a:xfrm>
          </p:grpSpPr>
          <p:sp>
            <p:nvSpPr>
              <p:cNvPr id="11" name="Google Shape;1408;p36">
                <a:extLst>
                  <a:ext uri="{FF2B5EF4-FFF2-40B4-BE49-F238E27FC236}">
                    <a16:creationId xmlns:a16="http://schemas.microsoft.com/office/drawing/2014/main" id="{95E707E0-1A05-892B-ADC3-3E77C0AF2A44}"/>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12" name="Google Shape;1409;p36">
                <a:extLst>
                  <a:ext uri="{FF2B5EF4-FFF2-40B4-BE49-F238E27FC236}">
                    <a16:creationId xmlns:a16="http://schemas.microsoft.com/office/drawing/2014/main" id="{C72838AC-357F-381C-FA07-A2F288050353}"/>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grpSp>
        <p:grpSp>
          <p:nvGrpSpPr>
            <p:cNvPr id="8" name="Groupe 7">
              <a:extLst>
                <a:ext uri="{FF2B5EF4-FFF2-40B4-BE49-F238E27FC236}">
                  <a16:creationId xmlns:a16="http://schemas.microsoft.com/office/drawing/2014/main" id="{4CA6D2F3-3FB1-7CB6-5D1C-7536A27174FD}"/>
                </a:ext>
              </a:extLst>
            </p:cNvPr>
            <p:cNvGrpSpPr/>
            <p:nvPr/>
          </p:nvGrpSpPr>
          <p:grpSpPr>
            <a:xfrm>
              <a:off x="3452841" y="2344375"/>
              <a:ext cx="392632" cy="393121"/>
              <a:chOff x="3249202" y="2135110"/>
              <a:chExt cx="506418" cy="507048"/>
            </a:xfrm>
          </p:grpSpPr>
          <p:sp>
            <p:nvSpPr>
              <p:cNvPr id="9" name="Google Shape;1409;p36">
                <a:extLst>
                  <a:ext uri="{FF2B5EF4-FFF2-40B4-BE49-F238E27FC236}">
                    <a16:creationId xmlns:a16="http://schemas.microsoft.com/office/drawing/2014/main" id="{B185E032-2DE6-21C4-E58E-E1DC3718789C}"/>
                  </a:ext>
                </a:extLst>
              </p:cNvPr>
              <p:cNvSpPr/>
              <p:nvPr/>
            </p:nvSpPr>
            <p:spPr>
              <a:xfrm rot="4375381">
                <a:off x="3248887" y="2135425"/>
                <a:ext cx="507048" cy="506418"/>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pic>
            <p:nvPicPr>
              <p:cNvPr id="10" name="Graphic 87">
                <a:extLst>
                  <a:ext uri="{FF2B5EF4-FFF2-40B4-BE49-F238E27FC236}">
                    <a16:creationId xmlns:a16="http://schemas.microsoft.com/office/drawing/2014/main" id="{F519DA44-46E3-493D-0F09-A1E9F943E2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3321455" y="2203097"/>
                <a:ext cx="344844" cy="344845"/>
              </a:xfrm>
              <a:prstGeom prst="rect">
                <a:avLst/>
              </a:prstGeom>
            </p:spPr>
          </p:pic>
        </p:grpSp>
      </p:grpSp>
      <p:sp>
        <p:nvSpPr>
          <p:cNvPr id="13" name="ZoneTexte 12">
            <a:extLst>
              <a:ext uri="{FF2B5EF4-FFF2-40B4-BE49-F238E27FC236}">
                <a16:creationId xmlns:a16="http://schemas.microsoft.com/office/drawing/2014/main" id="{2B0C965B-5DA5-93C4-333C-EAC875F54416}"/>
              </a:ext>
            </a:extLst>
          </p:cNvPr>
          <p:cNvSpPr txBox="1"/>
          <p:nvPr/>
        </p:nvSpPr>
        <p:spPr>
          <a:xfrm>
            <a:off x="6935627" y="3515159"/>
            <a:ext cx="1366458" cy="646331"/>
          </a:xfrm>
          <a:prstGeom prst="rect">
            <a:avLst/>
          </a:prstGeom>
          <a:noFill/>
        </p:spPr>
        <p:txBody>
          <a:bodyPr wrap="square">
            <a:spAutoFit/>
          </a:bodyPr>
          <a:lstStyle/>
          <a:p>
            <a:pPr marL="0" marR="0" lvl="0" indent="0" algn="ctr" defTabSz="685800" rtl="0" eaLnBrk="1" fontAlgn="auto" latinLnBrk="0" hangingPunct="1">
              <a:lnSpc>
                <a:spcPct val="100000"/>
              </a:lnSpc>
              <a:spcBef>
                <a:spcPts val="45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PHASE D'ANALYSE</a:t>
            </a:r>
          </a:p>
        </p:txBody>
      </p:sp>
      <p:grpSp>
        <p:nvGrpSpPr>
          <p:cNvPr id="14" name="Groupe 13">
            <a:extLst>
              <a:ext uri="{FF2B5EF4-FFF2-40B4-BE49-F238E27FC236}">
                <a16:creationId xmlns:a16="http://schemas.microsoft.com/office/drawing/2014/main" id="{F8111309-31D4-E5AD-E496-36AC0A476D35}"/>
              </a:ext>
            </a:extLst>
          </p:cNvPr>
          <p:cNvGrpSpPr/>
          <p:nvPr/>
        </p:nvGrpSpPr>
        <p:grpSpPr>
          <a:xfrm>
            <a:off x="1449334" y="4262110"/>
            <a:ext cx="461243" cy="559135"/>
            <a:chOff x="1356788" y="2424605"/>
            <a:chExt cx="461243" cy="559135"/>
          </a:xfrm>
        </p:grpSpPr>
        <p:grpSp>
          <p:nvGrpSpPr>
            <p:cNvPr id="15" name="Google Shape;1407;p36">
              <a:extLst>
                <a:ext uri="{FF2B5EF4-FFF2-40B4-BE49-F238E27FC236}">
                  <a16:creationId xmlns:a16="http://schemas.microsoft.com/office/drawing/2014/main" id="{E3F452A6-97AD-66A6-6FC7-CED7873FB40E}"/>
                </a:ext>
              </a:extLst>
            </p:cNvPr>
            <p:cNvGrpSpPr/>
            <p:nvPr/>
          </p:nvGrpSpPr>
          <p:grpSpPr>
            <a:xfrm rot="5400000">
              <a:off x="1307842" y="2473551"/>
              <a:ext cx="559135" cy="461243"/>
              <a:chOff x="4892107" y="893400"/>
              <a:chExt cx="610975" cy="504008"/>
            </a:xfrm>
          </p:grpSpPr>
          <p:sp>
            <p:nvSpPr>
              <p:cNvPr id="17" name="Google Shape;1408;p36">
                <a:extLst>
                  <a:ext uri="{FF2B5EF4-FFF2-40B4-BE49-F238E27FC236}">
                    <a16:creationId xmlns:a16="http://schemas.microsoft.com/office/drawing/2014/main" id="{E4AA291C-0607-E85D-CB7A-151A1283A489}"/>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18" name="Google Shape;1409;p36">
                <a:extLst>
                  <a:ext uri="{FF2B5EF4-FFF2-40B4-BE49-F238E27FC236}">
                    <a16:creationId xmlns:a16="http://schemas.microsoft.com/office/drawing/2014/main" id="{87849615-90D0-743B-52ED-0A3218BA9590}"/>
                  </a:ext>
                </a:extLst>
              </p:cNvPr>
              <p:cNvSpPr/>
              <p:nvPr/>
            </p:nvSpPr>
            <p:spPr>
              <a:xfrm>
                <a:off x="4929524"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grpSp>
        <p:pic>
          <p:nvPicPr>
            <p:cNvPr id="16" name="Graphic 105">
              <a:extLst>
                <a:ext uri="{FF2B5EF4-FFF2-40B4-BE49-F238E27FC236}">
                  <a16:creationId xmlns:a16="http://schemas.microsoft.com/office/drawing/2014/main" id="{66D82719-CFF6-5BDF-887C-837082717F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1450693" y="2518692"/>
              <a:ext cx="273431" cy="273432"/>
            </a:xfrm>
            <a:prstGeom prst="rect">
              <a:avLst/>
            </a:prstGeom>
          </p:spPr>
        </p:pic>
      </p:grpSp>
      <p:sp>
        <p:nvSpPr>
          <p:cNvPr id="19" name="ZoneTexte 18">
            <a:extLst>
              <a:ext uri="{FF2B5EF4-FFF2-40B4-BE49-F238E27FC236}">
                <a16:creationId xmlns:a16="http://schemas.microsoft.com/office/drawing/2014/main" id="{A2ECFBD1-1C4E-CD7F-4DEF-2090459EF8E4}"/>
              </a:ext>
            </a:extLst>
          </p:cNvPr>
          <p:cNvSpPr txBox="1"/>
          <p:nvPr/>
        </p:nvSpPr>
        <p:spPr>
          <a:xfrm>
            <a:off x="772009" y="3515159"/>
            <a:ext cx="1815889"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CONSULTATION GRATUITE</a:t>
            </a:r>
          </a:p>
        </p:txBody>
      </p:sp>
      <p:grpSp>
        <p:nvGrpSpPr>
          <p:cNvPr id="20" name="Groupe 19">
            <a:extLst>
              <a:ext uri="{FF2B5EF4-FFF2-40B4-BE49-F238E27FC236}">
                <a16:creationId xmlns:a16="http://schemas.microsoft.com/office/drawing/2014/main" id="{85203607-BC1C-F9EB-BCDD-0DCBCB529161}"/>
              </a:ext>
            </a:extLst>
          </p:cNvPr>
          <p:cNvGrpSpPr/>
          <p:nvPr/>
        </p:nvGrpSpPr>
        <p:grpSpPr>
          <a:xfrm>
            <a:off x="4335907" y="4262110"/>
            <a:ext cx="461243" cy="559135"/>
            <a:chOff x="3449807" y="5794147"/>
            <a:chExt cx="461243" cy="559135"/>
          </a:xfrm>
        </p:grpSpPr>
        <p:grpSp>
          <p:nvGrpSpPr>
            <p:cNvPr id="21" name="Google Shape;1407;p36">
              <a:extLst>
                <a:ext uri="{FF2B5EF4-FFF2-40B4-BE49-F238E27FC236}">
                  <a16:creationId xmlns:a16="http://schemas.microsoft.com/office/drawing/2014/main" id="{ABE002A8-1EAD-8622-1771-5AFB40334444}"/>
                </a:ext>
              </a:extLst>
            </p:cNvPr>
            <p:cNvGrpSpPr/>
            <p:nvPr/>
          </p:nvGrpSpPr>
          <p:grpSpPr>
            <a:xfrm rot="16200000">
              <a:off x="3400861" y="5843093"/>
              <a:ext cx="559135" cy="461243"/>
              <a:chOff x="4779516" y="893399"/>
              <a:chExt cx="610975" cy="504008"/>
            </a:xfrm>
          </p:grpSpPr>
          <p:sp>
            <p:nvSpPr>
              <p:cNvPr id="23" name="Google Shape;1408;p36">
                <a:extLst>
                  <a:ext uri="{FF2B5EF4-FFF2-40B4-BE49-F238E27FC236}">
                    <a16:creationId xmlns:a16="http://schemas.microsoft.com/office/drawing/2014/main" id="{F07D1765-A5C9-057B-C123-44342355E1AF}"/>
                  </a:ext>
                </a:extLst>
              </p:cNvPr>
              <p:cNvSpPr/>
              <p:nvPr/>
            </p:nvSpPr>
            <p:spPr>
              <a:xfrm rot="10800000">
                <a:off x="4779516" y="893399"/>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24" name="Google Shape;1409;p36">
                <a:extLst>
                  <a:ext uri="{FF2B5EF4-FFF2-40B4-BE49-F238E27FC236}">
                    <a16:creationId xmlns:a16="http://schemas.microsoft.com/office/drawing/2014/main" id="{14B39955-B1D2-6637-707B-7E45AE2F4B0F}"/>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grpSp>
        <p:pic>
          <p:nvPicPr>
            <p:cNvPr id="22" name="Graphic 100">
              <a:extLst>
                <a:ext uri="{FF2B5EF4-FFF2-40B4-BE49-F238E27FC236}">
                  <a16:creationId xmlns:a16="http://schemas.microsoft.com/office/drawing/2014/main" id="{5C973197-8E63-0E1A-7412-58E1A4D398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17206" y="5856628"/>
              <a:ext cx="326443" cy="323888"/>
            </a:xfrm>
            <a:prstGeom prst="rect">
              <a:avLst/>
            </a:prstGeom>
          </p:spPr>
        </p:pic>
      </p:grpSp>
      <p:sp>
        <p:nvSpPr>
          <p:cNvPr id="25" name="ZoneTexte 24">
            <a:extLst>
              <a:ext uri="{FF2B5EF4-FFF2-40B4-BE49-F238E27FC236}">
                <a16:creationId xmlns:a16="http://schemas.microsoft.com/office/drawing/2014/main" id="{22DC999A-DDFC-211F-259D-4072C90DC003}"/>
              </a:ext>
            </a:extLst>
          </p:cNvPr>
          <p:cNvSpPr txBox="1"/>
          <p:nvPr/>
        </p:nvSpPr>
        <p:spPr>
          <a:xfrm>
            <a:off x="3811735" y="3515159"/>
            <a:ext cx="1509575" cy="646331"/>
          </a:xfrm>
          <a:prstGeom prst="rect">
            <a:avLst/>
          </a:prstGeom>
          <a:noFill/>
        </p:spPr>
        <p:txBody>
          <a:bodyPr wrap="square">
            <a:spAutoFit/>
          </a:bodyPr>
          <a:lstStyle/>
          <a:p>
            <a:pPr marL="0" marR="0" lvl="0" indent="0" algn="ctr" defTabSz="685800" rtl="0" eaLnBrk="1" fontAlgn="auto" latinLnBrk="0" hangingPunct="1">
              <a:lnSpc>
                <a:spcPct val="100000"/>
              </a:lnSpc>
              <a:spcBef>
                <a:spcPts val="45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ESTIMATION GLOBALE</a:t>
            </a:r>
          </a:p>
        </p:txBody>
      </p:sp>
      <p:grpSp>
        <p:nvGrpSpPr>
          <p:cNvPr id="26" name="Groupe 25">
            <a:extLst>
              <a:ext uri="{FF2B5EF4-FFF2-40B4-BE49-F238E27FC236}">
                <a16:creationId xmlns:a16="http://schemas.microsoft.com/office/drawing/2014/main" id="{EEB81F1E-51E4-61E4-B361-806DB588AE53}"/>
              </a:ext>
            </a:extLst>
          </p:cNvPr>
          <p:cNvGrpSpPr/>
          <p:nvPr/>
        </p:nvGrpSpPr>
        <p:grpSpPr>
          <a:xfrm>
            <a:off x="10281423" y="4262110"/>
            <a:ext cx="461243" cy="559135"/>
            <a:chOff x="7578887" y="4065604"/>
            <a:chExt cx="461243" cy="559135"/>
          </a:xfrm>
        </p:grpSpPr>
        <p:sp>
          <p:nvSpPr>
            <p:cNvPr id="27" name="Google Shape;1408;p36">
              <a:extLst>
                <a:ext uri="{FF2B5EF4-FFF2-40B4-BE49-F238E27FC236}">
                  <a16:creationId xmlns:a16="http://schemas.microsoft.com/office/drawing/2014/main" id="{8C516C1C-6CC6-BF7A-8F7A-98B81E181CF7}"/>
                </a:ext>
              </a:extLst>
            </p:cNvPr>
            <p:cNvSpPr/>
            <p:nvPr/>
          </p:nvSpPr>
          <p:spPr>
            <a:xfrm rot="5400000">
              <a:off x="7529941" y="4114550"/>
              <a:ext cx="559135" cy="461243"/>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a:gsLst>
                <a:gs pos="0">
                  <a:schemeClr val="accent1"/>
                </a:gs>
                <a:gs pos="65000">
                  <a:schemeClr val="accent2"/>
                </a:gs>
              </a:gsLst>
              <a:lin ang="13500000" scaled="1"/>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sp>
          <p:nvSpPr>
            <p:cNvPr id="28" name="Google Shape;1409;p36">
              <a:extLst>
                <a:ext uri="{FF2B5EF4-FFF2-40B4-BE49-F238E27FC236}">
                  <a16:creationId xmlns:a16="http://schemas.microsoft.com/office/drawing/2014/main" id="{0B94D2AA-65E9-FFEF-4077-A859C54E75C1}"/>
                </a:ext>
              </a:extLst>
            </p:cNvPr>
            <p:cNvSpPr/>
            <p:nvPr/>
          </p:nvSpPr>
          <p:spPr>
            <a:xfrm rot="5400000">
              <a:off x="7612954" y="4100091"/>
              <a:ext cx="393121" cy="392632"/>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ea typeface="+mn-ea"/>
                <a:cs typeface="+mn-cs"/>
              </a:endParaRPr>
            </a:p>
          </p:txBody>
        </p:sp>
        <p:pic>
          <p:nvPicPr>
            <p:cNvPr id="29" name="Graphic 94">
              <a:extLst>
                <a:ext uri="{FF2B5EF4-FFF2-40B4-BE49-F238E27FC236}">
                  <a16:creationId xmlns:a16="http://schemas.microsoft.com/office/drawing/2014/main" id="{0D9B4E6B-B5A3-4C71-DC1E-237C2D9C45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7678447" y="4174333"/>
              <a:ext cx="251418" cy="251419"/>
            </a:xfrm>
            <a:prstGeom prst="rect">
              <a:avLst/>
            </a:prstGeom>
          </p:spPr>
        </p:pic>
      </p:grpSp>
      <p:sp>
        <p:nvSpPr>
          <p:cNvPr id="30" name="ZoneTexte 29">
            <a:extLst>
              <a:ext uri="{FF2B5EF4-FFF2-40B4-BE49-F238E27FC236}">
                <a16:creationId xmlns:a16="http://schemas.microsoft.com/office/drawing/2014/main" id="{6A1FDDBB-A17C-AFAA-D549-289E9CC6BE9C}"/>
              </a:ext>
            </a:extLst>
          </p:cNvPr>
          <p:cNvSpPr txBox="1"/>
          <p:nvPr/>
        </p:nvSpPr>
        <p:spPr>
          <a:xfrm>
            <a:off x="9367298" y="3515159"/>
            <a:ext cx="227878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ea typeface="+mn-ea"/>
                <a:cs typeface="+mn-cs"/>
              </a:rPr>
              <a:t>PHASE D'IMPLÉMENTATION</a:t>
            </a:r>
          </a:p>
        </p:txBody>
      </p:sp>
      <p:sp>
        <p:nvSpPr>
          <p:cNvPr id="31" name="Rectangle 30">
            <a:extLst>
              <a:ext uri="{FF2B5EF4-FFF2-40B4-BE49-F238E27FC236}">
                <a16:creationId xmlns:a16="http://schemas.microsoft.com/office/drawing/2014/main" id="{DE455D74-F4A2-68D3-026C-3FF34BEF1E9A}"/>
              </a:ext>
            </a:extLst>
          </p:cNvPr>
          <p:cNvSpPr/>
          <p:nvPr/>
        </p:nvSpPr>
        <p:spPr>
          <a:xfrm>
            <a:off x="0" y="5024437"/>
            <a:ext cx="12192000" cy="86400"/>
          </a:xfrm>
          <a:prstGeom prst="rect">
            <a:avLst/>
          </a:prstGeom>
          <a:gradFill flip="none" rotWithShape="1">
            <a:gsLst>
              <a:gs pos="100000">
                <a:srgbClr val="714B67">
                  <a:lumMod val="100000"/>
                </a:srgbClr>
              </a:gs>
              <a:gs pos="72000">
                <a:srgbClr val="714B67"/>
              </a:gs>
              <a:gs pos="0">
                <a:srgbClr val="BA131A"/>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Tree>
    <p:extLst>
      <p:ext uri="{BB962C8B-B14F-4D97-AF65-F5344CB8AC3E}">
        <p14:creationId xmlns:p14="http://schemas.microsoft.com/office/powerpoint/2010/main" val="2901935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3CA9032B-A852-331B-E0BE-778A921BA552}"/>
              </a:ext>
            </a:extLst>
          </p:cNvPr>
          <p:cNvGrpSpPr/>
          <p:nvPr/>
        </p:nvGrpSpPr>
        <p:grpSpPr>
          <a:xfrm rot="5400000">
            <a:off x="6295391" y="4322196"/>
            <a:ext cx="768378" cy="102093"/>
            <a:chOff x="1370008" y="2240347"/>
            <a:chExt cx="1739858" cy="231172"/>
          </a:xfrm>
          <a:solidFill>
            <a:schemeClr val="accent2"/>
          </a:solidFill>
        </p:grpSpPr>
        <p:cxnSp>
          <p:nvCxnSpPr>
            <p:cNvPr id="7" name="Connecteur droit 6">
              <a:extLst>
                <a:ext uri="{FF2B5EF4-FFF2-40B4-BE49-F238E27FC236}">
                  <a16:creationId xmlns:a16="http://schemas.microsoft.com/office/drawing/2014/main" id="{6ECC5D81-89A6-A6E9-93F8-3EBB4D4DB389}"/>
                </a:ext>
              </a:extLst>
            </p:cNvPr>
            <p:cNvCxnSpPr>
              <a:cxnSpLocks/>
              <a:endCxn id="8"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8" name="Ellipse 7">
              <a:extLst>
                <a:ext uri="{FF2B5EF4-FFF2-40B4-BE49-F238E27FC236}">
                  <a16:creationId xmlns:a16="http://schemas.microsoft.com/office/drawing/2014/main" id="{208DEFFF-C255-096F-2BFB-F0B3142092BD}"/>
                </a:ext>
              </a:extLst>
            </p:cNvPr>
            <p:cNvSpPr/>
            <p:nvPr/>
          </p:nvSpPr>
          <p:spPr>
            <a:xfrm>
              <a:off x="2878694" y="2240347"/>
              <a:ext cx="231172" cy="23117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chemeClr val="accent2"/>
                </a:solidFill>
                <a:effectLst/>
                <a:uLnTx/>
                <a:uFillTx/>
                <a:ea typeface="+mn-ea"/>
                <a:cs typeface="+mn-cs"/>
              </a:endParaRPr>
            </a:p>
          </p:txBody>
        </p:sp>
      </p:grpSp>
      <p:grpSp>
        <p:nvGrpSpPr>
          <p:cNvPr id="10" name="Groupe 9">
            <a:extLst>
              <a:ext uri="{FF2B5EF4-FFF2-40B4-BE49-F238E27FC236}">
                <a16:creationId xmlns:a16="http://schemas.microsoft.com/office/drawing/2014/main" id="{D02BAC71-B1FD-2A88-1DE7-26B1978FBD0B}"/>
              </a:ext>
            </a:extLst>
          </p:cNvPr>
          <p:cNvGrpSpPr/>
          <p:nvPr/>
        </p:nvGrpSpPr>
        <p:grpSpPr>
          <a:xfrm rot="5400000">
            <a:off x="2803002" y="5417714"/>
            <a:ext cx="768378" cy="102093"/>
            <a:chOff x="1370008" y="2240349"/>
            <a:chExt cx="1739856" cy="231172"/>
          </a:xfrm>
          <a:solidFill>
            <a:schemeClr val="accent2"/>
          </a:solidFill>
        </p:grpSpPr>
        <p:cxnSp>
          <p:nvCxnSpPr>
            <p:cNvPr id="11" name="Connecteur droit 10">
              <a:extLst>
                <a:ext uri="{FF2B5EF4-FFF2-40B4-BE49-F238E27FC236}">
                  <a16:creationId xmlns:a16="http://schemas.microsoft.com/office/drawing/2014/main" id="{D64DFD22-2336-C48C-78EC-68236F7E60D0}"/>
                </a:ext>
              </a:extLst>
            </p:cNvPr>
            <p:cNvCxnSpPr>
              <a:cxnSpLocks/>
              <a:endCxn id="12" idx="2"/>
            </p:cNvCxnSpPr>
            <p:nvPr/>
          </p:nvCxnSpPr>
          <p:spPr>
            <a:xfrm>
              <a:off x="1370008" y="2355934"/>
              <a:ext cx="1508684" cy="0"/>
            </a:xfrm>
            <a:prstGeom prst="line">
              <a:avLst/>
            </a:prstGeom>
            <a:grpFill/>
            <a:ln w="28575">
              <a:solidFill>
                <a:schemeClr val="accent1"/>
              </a:solidFill>
            </a:ln>
          </p:spPr>
          <p:style>
            <a:lnRef idx="3">
              <a:schemeClr val="dk1"/>
            </a:lnRef>
            <a:fillRef idx="0">
              <a:schemeClr val="dk1"/>
            </a:fillRef>
            <a:effectRef idx="2">
              <a:schemeClr val="dk1"/>
            </a:effectRef>
            <a:fontRef idx="minor">
              <a:schemeClr val="tx1"/>
            </a:fontRef>
          </p:style>
        </p:cxnSp>
        <p:sp>
          <p:nvSpPr>
            <p:cNvPr id="12" name="Ellipse 11">
              <a:extLst>
                <a:ext uri="{FF2B5EF4-FFF2-40B4-BE49-F238E27FC236}">
                  <a16:creationId xmlns:a16="http://schemas.microsoft.com/office/drawing/2014/main" id="{79E16252-F23A-0246-5EC2-FFE3FB0C80AA}"/>
                </a:ext>
              </a:extLst>
            </p:cNvPr>
            <p:cNvSpPr/>
            <p:nvPr/>
          </p:nvSpPr>
          <p:spPr>
            <a:xfrm>
              <a:off x="2878692" y="2240349"/>
              <a:ext cx="231172" cy="231172"/>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C00000"/>
                </a:solidFill>
                <a:effectLst/>
                <a:uLnTx/>
                <a:uFillTx/>
                <a:ea typeface="+mn-ea"/>
                <a:cs typeface="+mn-cs"/>
              </a:endParaRPr>
            </a:p>
          </p:txBody>
        </p:sp>
      </p:grpSp>
      <p:grpSp>
        <p:nvGrpSpPr>
          <p:cNvPr id="19" name="Groupe 18">
            <a:extLst>
              <a:ext uri="{FF2B5EF4-FFF2-40B4-BE49-F238E27FC236}">
                <a16:creationId xmlns:a16="http://schemas.microsoft.com/office/drawing/2014/main" id="{0CD0B869-92CF-A689-FB67-2ACFA4811B6E}"/>
              </a:ext>
            </a:extLst>
          </p:cNvPr>
          <p:cNvGrpSpPr/>
          <p:nvPr/>
        </p:nvGrpSpPr>
        <p:grpSpPr>
          <a:xfrm rot="5400000">
            <a:off x="8618801" y="2377293"/>
            <a:ext cx="768378" cy="102093"/>
            <a:chOff x="1370008" y="2240347"/>
            <a:chExt cx="1739858" cy="231172"/>
          </a:xfrm>
          <a:solidFill>
            <a:schemeClr val="accent2"/>
          </a:solidFill>
        </p:grpSpPr>
        <p:cxnSp>
          <p:nvCxnSpPr>
            <p:cNvPr id="20" name="Connecteur droit 19">
              <a:extLst>
                <a:ext uri="{FF2B5EF4-FFF2-40B4-BE49-F238E27FC236}">
                  <a16:creationId xmlns:a16="http://schemas.microsoft.com/office/drawing/2014/main" id="{9DDD5099-1750-F1C0-940F-5907D9B7DACC}"/>
                </a:ext>
              </a:extLst>
            </p:cNvPr>
            <p:cNvCxnSpPr>
              <a:cxnSpLocks/>
              <a:endCxn id="21"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21" name="Ellipse 20">
              <a:extLst>
                <a:ext uri="{FF2B5EF4-FFF2-40B4-BE49-F238E27FC236}">
                  <a16:creationId xmlns:a16="http://schemas.microsoft.com/office/drawing/2014/main" id="{6EDD8610-3F8A-AB93-2285-E7B1B6D20D9F}"/>
                </a:ext>
              </a:extLst>
            </p:cNvPr>
            <p:cNvSpPr/>
            <p:nvPr/>
          </p:nvSpPr>
          <p:spPr>
            <a:xfrm>
              <a:off x="2878694" y="2240347"/>
              <a:ext cx="231172" cy="231172"/>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C00000"/>
                </a:solidFill>
                <a:effectLst/>
                <a:uLnTx/>
                <a:uFillTx/>
                <a:ea typeface="+mn-ea"/>
                <a:cs typeface="+mn-cs"/>
              </a:endParaRPr>
            </a:p>
          </p:txBody>
        </p:sp>
      </p:grpSp>
      <p:sp>
        <p:nvSpPr>
          <p:cNvPr id="38" name="Forme libre : forme 37">
            <a:extLst>
              <a:ext uri="{FF2B5EF4-FFF2-40B4-BE49-F238E27FC236}">
                <a16:creationId xmlns:a16="http://schemas.microsoft.com/office/drawing/2014/main" id="{6479923A-AB57-B1F3-D823-023A82C289DB}"/>
              </a:ext>
            </a:extLst>
          </p:cNvPr>
          <p:cNvSpPr/>
          <p:nvPr/>
        </p:nvSpPr>
        <p:spPr>
          <a:xfrm>
            <a:off x="-2" y="1476859"/>
            <a:ext cx="9457150" cy="3587792"/>
          </a:xfrm>
          <a:custGeom>
            <a:avLst/>
            <a:gdLst>
              <a:gd name="connsiteX0" fmla="*/ 0 w 9582411"/>
              <a:gd name="connsiteY0" fmla="*/ 2693096 h 2725571"/>
              <a:gd name="connsiteX1" fmla="*/ 4296427 w 9582411"/>
              <a:gd name="connsiteY1" fmla="*/ 2693096 h 2725571"/>
              <a:gd name="connsiteX2" fmla="*/ 4860099 w 9582411"/>
              <a:gd name="connsiteY2" fmla="*/ 2693096 h 2725571"/>
              <a:gd name="connsiteX3" fmla="*/ 6839211 w 9582411"/>
              <a:gd name="connsiteY3" fmla="*/ 2254685 h 2725571"/>
              <a:gd name="connsiteX4" fmla="*/ 9469677 w 9582411"/>
              <a:gd name="connsiteY4" fmla="*/ 112734 h 2725571"/>
              <a:gd name="connsiteX5" fmla="*/ 9469677 w 9582411"/>
              <a:gd name="connsiteY5" fmla="*/ 112734 h 2725571"/>
              <a:gd name="connsiteX6" fmla="*/ 9582411 w 9582411"/>
              <a:gd name="connsiteY6" fmla="*/ 0 h 2725571"/>
              <a:gd name="connsiteX0" fmla="*/ 0 w 9582411"/>
              <a:gd name="connsiteY0" fmla="*/ 2693096 h 2721693"/>
              <a:gd name="connsiteX1" fmla="*/ 313150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721693"/>
              <a:gd name="connsiteX1" fmla="*/ 316992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693096"/>
              <a:gd name="connsiteX1" fmla="*/ 3169927 w 9582411"/>
              <a:gd name="connsiteY1" fmla="*/ 2680570 h 2693096"/>
              <a:gd name="connsiteX2" fmla="*/ 6839211 w 9582411"/>
              <a:gd name="connsiteY2" fmla="*/ 225468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24058 w 9582411"/>
              <a:gd name="connsiteY2" fmla="*/ 1586174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469677"/>
              <a:gd name="connsiteY0" fmla="*/ 3361606 h 3361606"/>
              <a:gd name="connsiteX1" fmla="*/ 3169927 w 9469677"/>
              <a:gd name="connsiteY1" fmla="*/ 3349080 h 3361606"/>
              <a:gd name="connsiteX2" fmla="*/ 6631742 w 9469677"/>
              <a:gd name="connsiteY2" fmla="*/ 2293105 h 3361606"/>
              <a:gd name="connsiteX3" fmla="*/ 9469677 w 9469677"/>
              <a:gd name="connsiteY3" fmla="*/ 781244 h 3361606"/>
              <a:gd name="connsiteX4" fmla="*/ 9469677 w 9469677"/>
              <a:gd name="connsiteY4" fmla="*/ 781244 h 3361606"/>
              <a:gd name="connsiteX5" fmla="*/ 9275050 w 9469677"/>
              <a:gd name="connsiteY5" fmla="*/ 0 h 3361606"/>
              <a:gd name="connsiteX0" fmla="*/ 0 w 9469677"/>
              <a:gd name="connsiteY0" fmla="*/ 2580362 h 2580362"/>
              <a:gd name="connsiteX1" fmla="*/ 3169927 w 9469677"/>
              <a:gd name="connsiteY1" fmla="*/ 2567836 h 2580362"/>
              <a:gd name="connsiteX2" fmla="*/ 6631742 w 9469677"/>
              <a:gd name="connsiteY2" fmla="*/ 1511861 h 2580362"/>
              <a:gd name="connsiteX3" fmla="*/ 9469677 w 9469677"/>
              <a:gd name="connsiteY3" fmla="*/ 0 h 2580362"/>
              <a:gd name="connsiteX4" fmla="*/ 9469677 w 9469677"/>
              <a:gd name="connsiteY4" fmla="*/ 0 h 2580362"/>
              <a:gd name="connsiteX0" fmla="*/ 0 w 9469677"/>
              <a:gd name="connsiteY0" fmla="*/ 3225821 h 3225821"/>
              <a:gd name="connsiteX1" fmla="*/ 3169927 w 9469677"/>
              <a:gd name="connsiteY1" fmla="*/ 3213295 h 3225821"/>
              <a:gd name="connsiteX2" fmla="*/ 6631742 w 9469677"/>
              <a:gd name="connsiteY2" fmla="*/ 2157320 h 3225821"/>
              <a:gd name="connsiteX3" fmla="*/ 9469677 w 9469677"/>
              <a:gd name="connsiteY3" fmla="*/ 645459 h 3225821"/>
              <a:gd name="connsiteX4" fmla="*/ 9116212 w 9469677"/>
              <a:gd name="connsiteY4"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85530 w 9116212"/>
              <a:gd name="connsiteY2" fmla="*/ 2149635 h 3225821"/>
              <a:gd name="connsiteX3" fmla="*/ 9116212 w 9116212"/>
              <a:gd name="connsiteY3" fmla="*/ 0 h 3225821"/>
              <a:gd name="connsiteX0" fmla="*/ 0 w 9485046"/>
              <a:gd name="connsiteY0" fmla="*/ 3533182 h 3533182"/>
              <a:gd name="connsiteX1" fmla="*/ 3169927 w 9485046"/>
              <a:gd name="connsiteY1" fmla="*/ 3520656 h 3533182"/>
              <a:gd name="connsiteX2" fmla="*/ 6685530 w 9485046"/>
              <a:gd name="connsiteY2" fmla="*/ 2456996 h 3533182"/>
              <a:gd name="connsiteX3" fmla="*/ 9485046 w 9485046"/>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Lst>
            <a:ahLst/>
            <a:cxnLst>
              <a:cxn ang="0">
                <a:pos x="connsiteX0" y="connsiteY0"/>
              </a:cxn>
              <a:cxn ang="0">
                <a:pos x="connsiteX1" y="connsiteY1"/>
              </a:cxn>
              <a:cxn ang="0">
                <a:pos x="connsiteX2" y="connsiteY2"/>
              </a:cxn>
              <a:cxn ang="0">
                <a:pos x="connsiteX3" y="connsiteY3"/>
              </a:cxn>
            </a:cxnLst>
            <a:rect l="l" t="t" r="r" b="b"/>
            <a:pathLst>
              <a:path w="9400521" h="3533182">
                <a:moveTo>
                  <a:pt x="0" y="3533182"/>
                </a:moveTo>
                <a:lnTo>
                  <a:pt x="3169927" y="3520656"/>
                </a:lnTo>
                <a:cubicBezTo>
                  <a:pt x="4284182" y="3341292"/>
                  <a:pt x="5647098" y="3043772"/>
                  <a:pt x="6685530" y="2456996"/>
                </a:cubicBezTo>
                <a:cubicBezTo>
                  <a:pt x="7723962" y="1870220"/>
                  <a:pt x="9075024" y="557019"/>
                  <a:pt x="9400521" y="0"/>
                </a:cubicBezTo>
              </a:path>
            </a:pathLst>
          </a:custGeom>
          <a:noFill/>
          <a:ln w="88900">
            <a:gradFill>
              <a:gsLst>
                <a:gs pos="100000">
                  <a:schemeClr val="accent1"/>
                </a:gs>
                <a:gs pos="65000">
                  <a:schemeClr val="accent2"/>
                </a:gs>
                <a:gs pos="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9" name="Forme libre : forme 38">
            <a:extLst>
              <a:ext uri="{FF2B5EF4-FFF2-40B4-BE49-F238E27FC236}">
                <a16:creationId xmlns:a16="http://schemas.microsoft.com/office/drawing/2014/main" id="{4567E284-8F26-8702-C35A-ADF8DA84DE2D}"/>
              </a:ext>
            </a:extLst>
          </p:cNvPr>
          <p:cNvSpPr/>
          <p:nvPr/>
        </p:nvSpPr>
        <p:spPr>
          <a:xfrm>
            <a:off x="0" y="-18746"/>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39"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 name="Espace réservé du numéro de diapositive 3">
            <a:extLst>
              <a:ext uri="{FF2B5EF4-FFF2-40B4-BE49-F238E27FC236}">
                <a16:creationId xmlns:a16="http://schemas.microsoft.com/office/drawing/2014/main" id="{28C19932-668B-C0D3-E504-B0B48675B1C8}"/>
              </a:ext>
            </a:extLst>
          </p:cNvPr>
          <p:cNvSpPr>
            <a:spLocks noGrp="1"/>
          </p:cNvSpPr>
          <p:nvPr>
            <p:ph type="sldNum" sz="quarter" idx="10"/>
          </p:nvPr>
        </p:nvSpPr>
        <p:spPr/>
        <p:txBody>
          <a:bodyPr/>
          <a:lstStyle/>
          <a:p>
            <a:fld id="{0C34F99C-3C47-4582-9518-8D365E9692AE}" type="slidenum">
              <a:rPr lang="fr-FR" noProof="0" smtClean="0"/>
              <a:pPr/>
              <a:t>4</a:t>
            </a:fld>
            <a:endParaRPr lang="fr-FR" noProof="0" dirty="0"/>
          </a:p>
        </p:txBody>
      </p:sp>
      <p:sp>
        <p:nvSpPr>
          <p:cNvPr id="13" name="ZoneTexte 12">
            <a:extLst>
              <a:ext uri="{FF2B5EF4-FFF2-40B4-BE49-F238E27FC236}">
                <a16:creationId xmlns:a16="http://schemas.microsoft.com/office/drawing/2014/main" id="{DA44DD5A-EFA2-BD58-68A9-7F5AD3DA8E3B}"/>
              </a:ext>
            </a:extLst>
          </p:cNvPr>
          <p:cNvSpPr txBox="1"/>
          <p:nvPr/>
        </p:nvSpPr>
        <p:spPr>
          <a:xfrm>
            <a:off x="1581864" y="2204183"/>
            <a:ext cx="26902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714B67"/>
                </a:solidFill>
                <a:effectLst/>
                <a:uLnTx/>
                <a:uFillTx/>
                <a:ea typeface="+mn-ea"/>
                <a:cs typeface="+mn-cs"/>
              </a:rPr>
              <a:t>CONFORT UTILISATEUR</a:t>
            </a:r>
          </a:p>
        </p:txBody>
      </p:sp>
      <p:sp>
        <p:nvSpPr>
          <p:cNvPr id="14" name="ZoneTexte 13">
            <a:extLst>
              <a:ext uri="{FF2B5EF4-FFF2-40B4-BE49-F238E27FC236}">
                <a16:creationId xmlns:a16="http://schemas.microsoft.com/office/drawing/2014/main" id="{5A5B68D6-0CBE-05C6-F336-BFCC094A62E9}"/>
              </a:ext>
            </a:extLst>
          </p:cNvPr>
          <p:cNvSpPr txBox="1"/>
          <p:nvPr/>
        </p:nvSpPr>
        <p:spPr>
          <a:xfrm>
            <a:off x="1581864" y="3155571"/>
            <a:ext cx="1771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714B67"/>
                </a:solidFill>
                <a:effectLst/>
                <a:uLnTx/>
                <a:uFillTx/>
                <a:ea typeface="+mn-ea"/>
                <a:cs typeface="+mn-cs"/>
              </a:rPr>
              <a:t>PRODUCTIVITÉ</a:t>
            </a:r>
          </a:p>
        </p:txBody>
      </p:sp>
      <p:sp>
        <p:nvSpPr>
          <p:cNvPr id="15" name="Forme libre : forme 14">
            <a:extLst>
              <a:ext uri="{FF2B5EF4-FFF2-40B4-BE49-F238E27FC236}">
                <a16:creationId xmlns:a16="http://schemas.microsoft.com/office/drawing/2014/main" id="{9360457A-7C9B-7C68-FE1D-8CBA5816A819}"/>
              </a:ext>
            </a:extLst>
          </p:cNvPr>
          <p:cNvSpPr/>
          <p:nvPr/>
        </p:nvSpPr>
        <p:spPr>
          <a:xfrm>
            <a:off x="1158367" y="2225974"/>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714B67">
                  <a:lumMod val="100000"/>
                </a:srgbClr>
              </a:gs>
              <a:gs pos="35000">
                <a:srgbClr val="714B67"/>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6" name="Forme libre : forme 15">
            <a:extLst>
              <a:ext uri="{FF2B5EF4-FFF2-40B4-BE49-F238E27FC236}">
                <a16:creationId xmlns:a16="http://schemas.microsoft.com/office/drawing/2014/main" id="{8511844E-8C93-2792-6D83-79FCC85569F5}"/>
              </a:ext>
            </a:extLst>
          </p:cNvPr>
          <p:cNvSpPr/>
          <p:nvPr/>
        </p:nvSpPr>
        <p:spPr>
          <a:xfrm>
            <a:off x="1162297" y="3175355"/>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714B67">
                  <a:lumMod val="100000"/>
                </a:srgbClr>
              </a:gs>
              <a:gs pos="35000">
                <a:srgbClr val="714B67"/>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ea typeface="+mn-ea"/>
              <a:cs typeface="+mn-cs"/>
            </a:endParaRPr>
          </a:p>
        </p:txBody>
      </p:sp>
      <p:sp>
        <p:nvSpPr>
          <p:cNvPr id="18" name="ZoneTexte 17">
            <a:extLst>
              <a:ext uri="{FF2B5EF4-FFF2-40B4-BE49-F238E27FC236}">
                <a16:creationId xmlns:a16="http://schemas.microsoft.com/office/drawing/2014/main" id="{8DE25F7D-912C-08C9-6D31-14443B319159}"/>
              </a:ext>
            </a:extLst>
          </p:cNvPr>
          <p:cNvSpPr txBox="1"/>
          <p:nvPr/>
        </p:nvSpPr>
        <p:spPr>
          <a:xfrm>
            <a:off x="3224241" y="5625808"/>
            <a:ext cx="22213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1"/>
                </a:solidFill>
                <a:effectLst/>
                <a:uLnTx/>
                <a:uFillTx/>
                <a:ea typeface="+mn-ea"/>
                <a:cs typeface="+mn-cs"/>
              </a:rPr>
              <a:t>MISE EN PRODUCTION</a:t>
            </a:r>
            <a:br>
              <a:rPr kumimoji="0" lang="fr-FR" sz="1600" b="1" i="0" u="none" strike="noStrike" kern="1200" cap="none" spc="0" normalizeH="0" baseline="0" noProof="0" dirty="0">
                <a:ln>
                  <a:noFill/>
                </a:ln>
                <a:solidFill>
                  <a:schemeClr val="accent1"/>
                </a:solidFill>
                <a:effectLst/>
                <a:uLnTx/>
                <a:uFillTx/>
                <a:ea typeface="+mn-ea"/>
                <a:cs typeface="+mn-cs"/>
              </a:rPr>
            </a:br>
            <a:r>
              <a:rPr kumimoji="0" lang="fr-FR" sz="1600" b="1" i="0" u="none" strike="noStrike" kern="1200" cap="none" spc="0" normalizeH="0" baseline="0" noProof="0" dirty="0">
                <a:ln>
                  <a:noFill/>
                </a:ln>
                <a:solidFill>
                  <a:schemeClr val="accent1"/>
                </a:solidFill>
                <a:effectLst/>
                <a:uLnTx/>
                <a:uFillTx/>
                <a:ea typeface="+mn-ea"/>
                <a:cs typeface="+mn-cs"/>
              </a:rPr>
              <a:t>VERSION 1</a:t>
            </a:r>
            <a:endParaRPr kumimoji="0" lang="fr-FR" sz="2800" b="1" i="0" u="none" strike="noStrike" kern="1200" cap="none" spc="0" normalizeH="0" baseline="0" noProof="0" dirty="0">
              <a:ln>
                <a:noFill/>
              </a:ln>
              <a:solidFill>
                <a:schemeClr val="accent1"/>
              </a:solidFill>
              <a:effectLst/>
              <a:uLnTx/>
              <a:uFillTx/>
              <a:ea typeface="+mn-ea"/>
              <a:cs typeface="+mn-cs"/>
            </a:endParaRPr>
          </a:p>
        </p:txBody>
      </p:sp>
      <p:sp>
        <p:nvSpPr>
          <p:cNvPr id="22" name="ZoneTexte 21">
            <a:extLst>
              <a:ext uri="{FF2B5EF4-FFF2-40B4-BE49-F238E27FC236}">
                <a16:creationId xmlns:a16="http://schemas.microsoft.com/office/drawing/2014/main" id="{BEB8365B-FE4C-5DC8-C69F-ED533DC1A09E}"/>
              </a:ext>
            </a:extLst>
          </p:cNvPr>
          <p:cNvSpPr txBox="1"/>
          <p:nvPr/>
        </p:nvSpPr>
        <p:spPr>
          <a:xfrm>
            <a:off x="6730626" y="4512855"/>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2"/>
                </a:solidFill>
                <a:effectLst/>
                <a:uLnTx/>
                <a:uFillTx/>
                <a:ea typeface="+mn-ea"/>
                <a:cs typeface="+mn-cs"/>
              </a:rPr>
              <a:t>VERSION 2</a:t>
            </a:r>
            <a:endParaRPr kumimoji="0" lang="fr-FR" sz="2800" b="1" i="0" u="none" strike="noStrike" kern="1200" cap="none" spc="0" normalizeH="0" baseline="0" noProof="0" dirty="0">
              <a:ln>
                <a:noFill/>
              </a:ln>
              <a:solidFill>
                <a:schemeClr val="accent2"/>
              </a:solidFill>
              <a:effectLst/>
              <a:uLnTx/>
              <a:uFillTx/>
              <a:ea typeface="+mn-ea"/>
              <a:cs typeface="+mn-cs"/>
            </a:endParaRPr>
          </a:p>
        </p:txBody>
      </p:sp>
      <p:sp>
        <p:nvSpPr>
          <p:cNvPr id="23" name="ZoneTexte 22">
            <a:extLst>
              <a:ext uri="{FF2B5EF4-FFF2-40B4-BE49-F238E27FC236}">
                <a16:creationId xmlns:a16="http://schemas.microsoft.com/office/drawing/2014/main" id="{EACF84BE-131C-35DC-9C5F-71AE2259FDC6}"/>
              </a:ext>
            </a:extLst>
          </p:cNvPr>
          <p:cNvSpPr txBox="1"/>
          <p:nvPr/>
        </p:nvSpPr>
        <p:spPr>
          <a:xfrm>
            <a:off x="9054330" y="2574984"/>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chemeClr val="accent2"/>
                </a:solidFill>
                <a:effectLst/>
                <a:uLnTx/>
                <a:uFillTx/>
                <a:ea typeface="+mn-ea"/>
                <a:cs typeface="+mn-cs"/>
              </a:rPr>
              <a:t>VERSION 3</a:t>
            </a:r>
            <a:endParaRPr kumimoji="0" lang="fr-FR" sz="2800" b="1" i="0" u="none" strike="noStrike" kern="1200" cap="none" spc="0" normalizeH="0" baseline="0" noProof="0" dirty="0">
              <a:ln>
                <a:noFill/>
              </a:ln>
              <a:solidFill>
                <a:schemeClr val="accent2"/>
              </a:solidFill>
              <a:effectLst/>
              <a:uLnTx/>
              <a:uFillTx/>
              <a:ea typeface="+mn-ea"/>
              <a:cs typeface="+mn-cs"/>
            </a:endParaRPr>
          </a:p>
        </p:txBody>
      </p:sp>
      <p:sp>
        <p:nvSpPr>
          <p:cNvPr id="2" name="Titre 4">
            <a:extLst>
              <a:ext uri="{FF2B5EF4-FFF2-40B4-BE49-F238E27FC236}">
                <a16:creationId xmlns:a16="http://schemas.microsoft.com/office/drawing/2014/main" id="{7809A5ED-8C95-75F7-55C1-8F3535EFCF3E}"/>
              </a:ext>
            </a:extLst>
          </p:cNvPr>
          <p:cNvSpPr txBox="1">
            <a:spLocks/>
          </p:cNvSpPr>
          <p:nvPr/>
        </p:nvSpPr>
        <p:spPr>
          <a:xfrm>
            <a:off x="838200" y="182826"/>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noProof="0" dirty="0">
                <a:solidFill>
                  <a:schemeClr val="bg1"/>
                </a:solidFill>
              </a:rPr>
              <a:t>EVOLUEZ AVEC ODOO</a:t>
            </a:r>
          </a:p>
        </p:txBody>
      </p:sp>
    </p:spTree>
    <p:extLst>
      <p:ext uri="{BB962C8B-B14F-4D97-AF65-F5344CB8AC3E}">
        <p14:creationId xmlns:p14="http://schemas.microsoft.com/office/powerpoint/2010/main" val="3561037633"/>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9074736-CA7E-2FF8-18E4-82B8F0ACD2DA}"/>
              </a:ext>
            </a:extLst>
          </p:cNvPr>
          <p:cNvSpPr/>
          <p:nvPr/>
        </p:nvSpPr>
        <p:spPr>
          <a:xfrm rot="10800000">
            <a:off x="-3" y="5776920"/>
            <a:ext cx="12191993" cy="1082711"/>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27" name="Rectangle 26">
            <a:extLst>
              <a:ext uri="{FF2B5EF4-FFF2-40B4-BE49-F238E27FC236}">
                <a16:creationId xmlns:a16="http://schemas.microsoft.com/office/drawing/2014/main" id="{B0D883B0-BB87-3867-92C4-13FF810843E5}"/>
              </a:ext>
            </a:extLst>
          </p:cNvPr>
          <p:cNvSpPr/>
          <p:nvPr/>
        </p:nvSpPr>
        <p:spPr>
          <a:xfrm rot="10800000">
            <a:off x="0" y="2130051"/>
            <a:ext cx="12191999" cy="1832580"/>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127" name="Titre 126">
            <a:extLst>
              <a:ext uri="{FF2B5EF4-FFF2-40B4-BE49-F238E27FC236}">
                <a16:creationId xmlns:a16="http://schemas.microsoft.com/office/drawing/2014/main" id="{86562610-282A-4AE5-1B80-931630A35000}"/>
              </a:ext>
            </a:extLst>
          </p:cNvPr>
          <p:cNvSpPr>
            <a:spLocks noGrp="1"/>
          </p:cNvSpPr>
          <p:nvPr>
            <p:ph type="title"/>
          </p:nvPr>
        </p:nvSpPr>
        <p:spPr/>
        <p:txBody>
          <a:bodyPr/>
          <a:lstStyle/>
          <a:p>
            <a:r>
              <a:rPr lang="en-US" dirty="0"/>
              <a:t>Vos </a:t>
            </a:r>
            <a:r>
              <a:rPr lang="en-US" dirty="0" err="1"/>
              <a:t>interlocuteurs</a:t>
            </a:r>
            <a:endParaRPr lang="en-US" b="0" dirty="0"/>
          </a:p>
        </p:txBody>
      </p:sp>
      <p:sp>
        <p:nvSpPr>
          <p:cNvPr id="4" name="Espace réservé du numéro de diapositive 3">
            <a:extLst>
              <a:ext uri="{FF2B5EF4-FFF2-40B4-BE49-F238E27FC236}">
                <a16:creationId xmlns:a16="http://schemas.microsoft.com/office/drawing/2014/main" id="{227CF30D-1873-8F69-7F0A-E055BBB0B76E}"/>
              </a:ext>
            </a:extLst>
          </p:cNvPr>
          <p:cNvSpPr>
            <a:spLocks noGrp="1"/>
          </p:cNvSpPr>
          <p:nvPr>
            <p:ph type="sldNum" sz="quarter" idx="10"/>
          </p:nvPr>
        </p:nvSpPr>
        <p:spPr/>
        <p:txBody>
          <a:bodyPr/>
          <a:lstStyle/>
          <a:p>
            <a:fld id="{0C34F99C-3C47-4582-9518-8D365E9692AE}" type="slidenum">
              <a:rPr lang="en-US" smtClean="0"/>
              <a:pPr/>
              <a:t>5</a:t>
            </a:fld>
            <a:endParaRPr lang="en-US"/>
          </a:p>
        </p:txBody>
      </p:sp>
      <p:pic>
        <p:nvPicPr>
          <p:cNvPr id="10" name="Graphique 9">
            <a:extLst>
              <a:ext uri="{FF2B5EF4-FFF2-40B4-BE49-F238E27FC236}">
                <a16:creationId xmlns:a16="http://schemas.microsoft.com/office/drawing/2014/main" id="{3B50CEE6-9828-F5AC-BE53-8A59D4F3FF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666" y="2160052"/>
            <a:ext cx="2712824" cy="797590"/>
          </a:xfrm>
          <a:prstGeom prst="rect">
            <a:avLst/>
          </a:prstGeom>
        </p:spPr>
      </p:pic>
      <p:pic>
        <p:nvPicPr>
          <p:cNvPr id="16" name="Graphique 15">
            <a:extLst>
              <a:ext uri="{FF2B5EF4-FFF2-40B4-BE49-F238E27FC236}">
                <a16:creationId xmlns:a16="http://schemas.microsoft.com/office/drawing/2014/main" id="{81EBA3B8-B467-4806-A869-7D3E3B8AC8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5754" y="5911861"/>
            <a:ext cx="1158284" cy="812831"/>
          </a:xfrm>
          <a:prstGeom prst="rect">
            <a:avLst/>
          </a:prstGeom>
        </p:spPr>
      </p:pic>
      <p:pic>
        <p:nvPicPr>
          <p:cNvPr id="20" name="Graphique 19">
            <a:extLst>
              <a:ext uri="{FF2B5EF4-FFF2-40B4-BE49-F238E27FC236}">
                <a16:creationId xmlns:a16="http://schemas.microsoft.com/office/drawing/2014/main" id="{EDDA54FA-B9C4-BB8C-F059-F2E8CACC2A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5754" y="4012531"/>
            <a:ext cx="1158284" cy="812831"/>
          </a:xfrm>
          <a:prstGeom prst="rect">
            <a:avLst/>
          </a:prstGeom>
        </p:spPr>
      </p:pic>
      <p:sp>
        <p:nvSpPr>
          <p:cNvPr id="26" name="ZoneTexte 25">
            <a:extLst>
              <a:ext uri="{FF2B5EF4-FFF2-40B4-BE49-F238E27FC236}">
                <a16:creationId xmlns:a16="http://schemas.microsoft.com/office/drawing/2014/main" id="{CBB1B394-9483-7751-001C-8DC3E19925B4}"/>
              </a:ext>
            </a:extLst>
          </p:cNvPr>
          <p:cNvSpPr txBox="1"/>
          <p:nvPr/>
        </p:nvSpPr>
        <p:spPr>
          <a:xfrm rot="16200000">
            <a:off x="-463547" y="2896885"/>
            <a:ext cx="1810664" cy="276999"/>
          </a:xfrm>
          <a:prstGeom prst="rect">
            <a:avLst/>
          </a:prstGeom>
          <a:noFill/>
        </p:spPr>
        <p:txBody>
          <a:bodyPr wrap="square" rtlCol="0">
            <a:spAutoFit/>
          </a:bodyPr>
          <a:lstStyle/>
          <a:p>
            <a:pPr algn="ctr"/>
            <a:r>
              <a:rPr lang="fr-FR" sz="1200" b="1" dirty="0">
                <a:solidFill>
                  <a:schemeClr val="accent1"/>
                </a:solidFill>
                <a:latin typeface="+mj-lt"/>
              </a:rPr>
              <a:t>OPERATIONS</a:t>
            </a:r>
          </a:p>
        </p:txBody>
      </p:sp>
      <p:sp>
        <p:nvSpPr>
          <p:cNvPr id="34" name="ZoneTexte 33">
            <a:extLst>
              <a:ext uri="{FF2B5EF4-FFF2-40B4-BE49-F238E27FC236}">
                <a16:creationId xmlns:a16="http://schemas.microsoft.com/office/drawing/2014/main" id="{23DEFDCA-45A2-4B1E-BDC7-58E062FA9F0F}"/>
              </a:ext>
            </a:extLst>
          </p:cNvPr>
          <p:cNvSpPr txBox="1"/>
          <p:nvPr/>
        </p:nvSpPr>
        <p:spPr>
          <a:xfrm rot="16200000">
            <a:off x="-515821" y="4729463"/>
            <a:ext cx="1810664" cy="276999"/>
          </a:xfrm>
          <a:prstGeom prst="rect">
            <a:avLst/>
          </a:prstGeom>
          <a:noFill/>
        </p:spPr>
        <p:txBody>
          <a:bodyPr wrap="square" rtlCol="0">
            <a:spAutoFit/>
          </a:bodyPr>
          <a:lstStyle/>
          <a:p>
            <a:pPr algn="ctr"/>
            <a:r>
              <a:rPr lang="fr-FR" sz="1200" b="1" dirty="0">
                <a:solidFill>
                  <a:schemeClr val="accent2"/>
                </a:solidFill>
                <a:latin typeface="+mj-lt"/>
              </a:rPr>
              <a:t>SALES</a:t>
            </a:r>
          </a:p>
        </p:txBody>
      </p:sp>
      <p:pic>
        <p:nvPicPr>
          <p:cNvPr id="36" name="Graphique 35">
            <a:extLst>
              <a:ext uri="{FF2B5EF4-FFF2-40B4-BE49-F238E27FC236}">
                <a16:creationId xmlns:a16="http://schemas.microsoft.com/office/drawing/2014/main" id="{0E81F360-B1E3-E09C-C6F1-EA9C53EC5D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2666" y="3048812"/>
            <a:ext cx="2724180" cy="872549"/>
          </a:xfrm>
          <a:prstGeom prst="rect">
            <a:avLst/>
          </a:prstGeom>
        </p:spPr>
      </p:pic>
      <p:pic>
        <p:nvPicPr>
          <p:cNvPr id="38" name="Graphique 37">
            <a:extLst>
              <a:ext uri="{FF2B5EF4-FFF2-40B4-BE49-F238E27FC236}">
                <a16:creationId xmlns:a16="http://schemas.microsoft.com/office/drawing/2014/main" id="{9EE50CFA-BCE2-E7D3-463C-5924004F3F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5754" y="4916532"/>
            <a:ext cx="1158521" cy="807916"/>
          </a:xfrm>
          <a:prstGeom prst="rect">
            <a:avLst/>
          </a:prstGeom>
        </p:spPr>
      </p:pic>
      <p:sp>
        <p:nvSpPr>
          <p:cNvPr id="101" name="ZoneTexte 100">
            <a:extLst>
              <a:ext uri="{FF2B5EF4-FFF2-40B4-BE49-F238E27FC236}">
                <a16:creationId xmlns:a16="http://schemas.microsoft.com/office/drawing/2014/main" id="{8E777381-D376-CF0A-6D83-1C052025FD73}"/>
              </a:ext>
            </a:extLst>
          </p:cNvPr>
          <p:cNvSpPr txBox="1"/>
          <p:nvPr/>
        </p:nvSpPr>
        <p:spPr>
          <a:xfrm>
            <a:off x="3933902" y="1807298"/>
            <a:ext cx="760029" cy="276999"/>
          </a:xfrm>
          <a:prstGeom prst="rect">
            <a:avLst/>
          </a:prstGeom>
          <a:noFill/>
        </p:spPr>
        <p:txBody>
          <a:bodyPr wrap="square" rtlCol="0">
            <a:spAutoFit/>
          </a:bodyPr>
          <a:lstStyle/>
          <a:p>
            <a:pPr algn="ctr"/>
            <a:r>
              <a:rPr lang="fr-FR" sz="1200" b="1" dirty="0">
                <a:latin typeface="+mj-lt"/>
              </a:rPr>
              <a:t>Kick off</a:t>
            </a:r>
          </a:p>
        </p:txBody>
      </p:sp>
      <p:grpSp>
        <p:nvGrpSpPr>
          <p:cNvPr id="102" name="Groupe 101">
            <a:extLst>
              <a:ext uri="{FF2B5EF4-FFF2-40B4-BE49-F238E27FC236}">
                <a16:creationId xmlns:a16="http://schemas.microsoft.com/office/drawing/2014/main" id="{A991A30B-432E-39D6-E184-BBA60B2185DC}"/>
              </a:ext>
            </a:extLst>
          </p:cNvPr>
          <p:cNvGrpSpPr/>
          <p:nvPr/>
        </p:nvGrpSpPr>
        <p:grpSpPr>
          <a:xfrm>
            <a:off x="3665725" y="1783797"/>
            <a:ext cx="324000" cy="324000"/>
            <a:chOff x="2745040" y="2428028"/>
            <a:chExt cx="425863" cy="432188"/>
          </a:xfrm>
        </p:grpSpPr>
        <p:sp>
          <p:nvSpPr>
            <p:cNvPr id="103" name="Ellipse 102">
              <a:extLst>
                <a:ext uri="{FF2B5EF4-FFF2-40B4-BE49-F238E27FC236}">
                  <a16:creationId xmlns:a16="http://schemas.microsoft.com/office/drawing/2014/main" id="{920F5C5A-6104-09C1-DD83-B80CB8708E3A}"/>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04" name="Google Shape;11660;p77">
              <a:extLst>
                <a:ext uri="{FF2B5EF4-FFF2-40B4-BE49-F238E27FC236}">
                  <a16:creationId xmlns:a16="http://schemas.microsoft.com/office/drawing/2014/main" id="{533582CA-BC43-31BA-CFF0-A7953B89DF5D}"/>
                </a:ext>
              </a:extLst>
            </p:cNvPr>
            <p:cNvGrpSpPr/>
            <p:nvPr/>
          </p:nvGrpSpPr>
          <p:grpSpPr>
            <a:xfrm>
              <a:off x="2836084" y="2523531"/>
              <a:ext cx="243774" cy="241182"/>
              <a:chOff x="4263657" y="3963700"/>
              <a:chExt cx="298551" cy="295375"/>
            </a:xfrm>
            <a:solidFill>
              <a:schemeClr val="bg1"/>
            </a:solidFill>
          </p:grpSpPr>
          <p:sp>
            <p:nvSpPr>
              <p:cNvPr id="105" name="Google Shape;11661;p77">
                <a:extLst>
                  <a:ext uri="{FF2B5EF4-FFF2-40B4-BE49-F238E27FC236}">
                    <a16:creationId xmlns:a16="http://schemas.microsoft.com/office/drawing/2014/main" id="{20987676-ABBF-BEC3-B7A3-CAB940C2490E}"/>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06" name="Google Shape;11662;p77">
                <a:extLst>
                  <a:ext uri="{FF2B5EF4-FFF2-40B4-BE49-F238E27FC236}">
                    <a16:creationId xmlns:a16="http://schemas.microsoft.com/office/drawing/2014/main" id="{756519DC-FFE2-C0FA-D06C-A021ACD9302E}"/>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07" name="Google Shape;11663;p77">
                <a:extLst>
                  <a:ext uri="{FF2B5EF4-FFF2-40B4-BE49-F238E27FC236}">
                    <a16:creationId xmlns:a16="http://schemas.microsoft.com/office/drawing/2014/main" id="{3F70BBB1-C6BE-74FA-3EFE-3B5F96598CF9}"/>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08" name="Google Shape;11664;p77">
                <a:extLst>
                  <a:ext uri="{FF2B5EF4-FFF2-40B4-BE49-F238E27FC236}">
                    <a16:creationId xmlns:a16="http://schemas.microsoft.com/office/drawing/2014/main" id="{58F5C720-6721-656A-0FC2-68EE5D6F23B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09" name="Google Shape;11665;p77">
                <a:extLst>
                  <a:ext uri="{FF2B5EF4-FFF2-40B4-BE49-F238E27FC236}">
                    <a16:creationId xmlns:a16="http://schemas.microsoft.com/office/drawing/2014/main" id="{6EEB1524-2E12-BDE1-3025-AA07AD441FE2}"/>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10" name="Google Shape;11666;p77">
                <a:extLst>
                  <a:ext uri="{FF2B5EF4-FFF2-40B4-BE49-F238E27FC236}">
                    <a16:creationId xmlns:a16="http://schemas.microsoft.com/office/drawing/2014/main" id="{75F704E9-E541-4282-3DD6-5F1573CE922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11" name="Google Shape;11667;p77">
                <a:extLst>
                  <a:ext uri="{FF2B5EF4-FFF2-40B4-BE49-F238E27FC236}">
                    <a16:creationId xmlns:a16="http://schemas.microsoft.com/office/drawing/2014/main" id="{8A9E1EFA-A1C6-A963-2B39-CEBAA962D5D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sp>
        <p:nvSpPr>
          <p:cNvPr id="116" name="ZoneTexte 115">
            <a:extLst>
              <a:ext uri="{FF2B5EF4-FFF2-40B4-BE49-F238E27FC236}">
                <a16:creationId xmlns:a16="http://schemas.microsoft.com/office/drawing/2014/main" id="{EDFA8827-7F85-7DE3-A433-755745465D0B}"/>
              </a:ext>
            </a:extLst>
          </p:cNvPr>
          <p:cNvSpPr txBox="1"/>
          <p:nvPr/>
        </p:nvSpPr>
        <p:spPr>
          <a:xfrm>
            <a:off x="5161097" y="1807298"/>
            <a:ext cx="1636660" cy="276999"/>
          </a:xfrm>
          <a:prstGeom prst="rect">
            <a:avLst/>
          </a:prstGeom>
          <a:noFill/>
        </p:spPr>
        <p:txBody>
          <a:bodyPr wrap="square" rtlCol="0">
            <a:spAutoFit/>
          </a:bodyPr>
          <a:lstStyle/>
          <a:p>
            <a:pPr algn="ctr"/>
            <a:r>
              <a:rPr lang="fr-FR" sz="1200" b="1" dirty="0" err="1">
                <a:latin typeface="+mj-lt"/>
              </a:rPr>
              <a:t>Analysis</a:t>
            </a:r>
            <a:r>
              <a:rPr lang="fr-FR" sz="1200" b="1" dirty="0">
                <a:latin typeface="+mj-lt"/>
              </a:rPr>
              <a:t> Restitution</a:t>
            </a:r>
          </a:p>
        </p:txBody>
      </p:sp>
      <p:sp>
        <p:nvSpPr>
          <p:cNvPr id="129" name="ZoneTexte 128">
            <a:extLst>
              <a:ext uri="{FF2B5EF4-FFF2-40B4-BE49-F238E27FC236}">
                <a16:creationId xmlns:a16="http://schemas.microsoft.com/office/drawing/2014/main" id="{8EB5A14B-4B0A-33D6-EBD9-776ED5332B49}"/>
              </a:ext>
            </a:extLst>
          </p:cNvPr>
          <p:cNvSpPr txBox="1"/>
          <p:nvPr/>
        </p:nvSpPr>
        <p:spPr>
          <a:xfrm rot="16200000">
            <a:off x="-16722" y="6087444"/>
            <a:ext cx="997130" cy="461665"/>
          </a:xfrm>
          <a:prstGeom prst="rect">
            <a:avLst/>
          </a:prstGeom>
          <a:noFill/>
        </p:spPr>
        <p:txBody>
          <a:bodyPr wrap="square" rtlCol="0">
            <a:spAutoFit/>
          </a:bodyPr>
          <a:lstStyle/>
          <a:p>
            <a:pPr algn="ctr"/>
            <a:r>
              <a:rPr lang="fr-FR" sz="1200" b="1" dirty="0">
                <a:solidFill>
                  <a:schemeClr val="tx2"/>
                </a:solidFill>
                <a:latin typeface="+mj-lt"/>
              </a:rPr>
              <a:t>CUSTOMER SUCCESS</a:t>
            </a:r>
          </a:p>
        </p:txBody>
      </p:sp>
      <p:sp>
        <p:nvSpPr>
          <p:cNvPr id="130" name="ZoneTexte 129">
            <a:extLst>
              <a:ext uri="{FF2B5EF4-FFF2-40B4-BE49-F238E27FC236}">
                <a16:creationId xmlns:a16="http://schemas.microsoft.com/office/drawing/2014/main" id="{38A4A9A4-828D-D57C-3F33-A95B13B2A8DF}"/>
              </a:ext>
            </a:extLst>
          </p:cNvPr>
          <p:cNvSpPr txBox="1"/>
          <p:nvPr/>
        </p:nvSpPr>
        <p:spPr>
          <a:xfrm>
            <a:off x="7210586" y="1807298"/>
            <a:ext cx="1074617" cy="276999"/>
          </a:xfrm>
          <a:prstGeom prst="rect">
            <a:avLst/>
          </a:prstGeom>
          <a:noFill/>
        </p:spPr>
        <p:txBody>
          <a:bodyPr wrap="square" rtlCol="0">
            <a:spAutoFit/>
          </a:bodyPr>
          <a:lstStyle/>
          <a:p>
            <a:pPr algn="ctr"/>
            <a:r>
              <a:rPr lang="fr-FR" sz="1200" b="1" dirty="0">
                <a:latin typeface="+mj-lt"/>
              </a:rPr>
              <a:t>Pre Go Live</a:t>
            </a:r>
          </a:p>
        </p:txBody>
      </p:sp>
      <p:sp>
        <p:nvSpPr>
          <p:cNvPr id="131" name="ZoneTexte 130">
            <a:extLst>
              <a:ext uri="{FF2B5EF4-FFF2-40B4-BE49-F238E27FC236}">
                <a16:creationId xmlns:a16="http://schemas.microsoft.com/office/drawing/2014/main" id="{BEA26D4A-69B6-7ACF-B7FA-87601B30BFD4}"/>
              </a:ext>
            </a:extLst>
          </p:cNvPr>
          <p:cNvSpPr txBox="1"/>
          <p:nvPr/>
        </p:nvSpPr>
        <p:spPr>
          <a:xfrm>
            <a:off x="8698033" y="1807298"/>
            <a:ext cx="1074617" cy="276999"/>
          </a:xfrm>
          <a:prstGeom prst="rect">
            <a:avLst/>
          </a:prstGeom>
          <a:noFill/>
        </p:spPr>
        <p:txBody>
          <a:bodyPr wrap="square" rtlCol="0">
            <a:spAutoFit/>
          </a:bodyPr>
          <a:lstStyle/>
          <a:p>
            <a:pPr algn="ctr"/>
            <a:r>
              <a:rPr lang="fr-FR" sz="1200" b="1" dirty="0">
                <a:latin typeface="+mj-lt"/>
              </a:rPr>
              <a:t>Post Go Live</a:t>
            </a:r>
          </a:p>
        </p:txBody>
      </p:sp>
      <p:grpSp>
        <p:nvGrpSpPr>
          <p:cNvPr id="132" name="Groupe 131">
            <a:extLst>
              <a:ext uri="{FF2B5EF4-FFF2-40B4-BE49-F238E27FC236}">
                <a16:creationId xmlns:a16="http://schemas.microsoft.com/office/drawing/2014/main" id="{B67C8BCE-9ECD-35B0-FBEF-B43D04629296}"/>
              </a:ext>
            </a:extLst>
          </p:cNvPr>
          <p:cNvGrpSpPr/>
          <p:nvPr/>
        </p:nvGrpSpPr>
        <p:grpSpPr>
          <a:xfrm>
            <a:off x="4920761" y="1783797"/>
            <a:ext cx="324000" cy="324000"/>
            <a:chOff x="2745040" y="2428028"/>
            <a:chExt cx="425863" cy="432188"/>
          </a:xfrm>
        </p:grpSpPr>
        <p:sp>
          <p:nvSpPr>
            <p:cNvPr id="133" name="Ellipse 132">
              <a:extLst>
                <a:ext uri="{FF2B5EF4-FFF2-40B4-BE49-F238E27FC236}">
                  <a16:creationId xmlns:a16="http://schemas.microsoft.com/office/drawing/2014/main" id="{5B6AB38D-9325-3094-D533-DAE67D4FF7C3}"/>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34" name="Google Shape;11660;p77">
              <a:extLst>
                <a:ext uri="{FF2B5EF4-FFF2-40B4-BE49-F238E27FC236}">
                  <a16:creationId xmlns:a16="http://schemas.microsoft.com/office/drawing/2014/main" id="{16E2D220-5440-7EBE-DDCD-35A5EEACFE47}"/>
                </a:ext>
              </a:extLst>
            </p:cNvPr>
            <p:cNvGrpSpPr/>
            <p:nvPr/>
          </p:nvGrpSpPr>
          <p:grpSpPr>
            <a:xfrm>
              <a:off x="2836084" y="2523531"/>
              <a:ext cx="243774" cy="241182"/>
              <a:chOff x="4263657" y="3963700"/>
              <a:chExt cx="298551" cy="295375"/>
            </a:xfrm>
            <a:solidFill>
              <a:schemeClr val="bg1"/>
            </a:solidFill>
          </p:grpSpPr>
          <p:sp>
            <p:nvSpPr>
              <p:cNvPr id="135" name="Google Shape;11661;p77">
                <a:extLst>
                  <a:ext uri="{FF2B5EF4-FFF2-40B4-BE49-F238E27FC236}">
                    <a16:creationId xmlns:a16="http://schemas.microsoft.com/office/drawing/2014/main" id="{B32C5A64-6773-847B-F73E-C5A8EC4D458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36" name="Google Shape;11662;p77">
                <a:extLst>
                  <a:ext uri="{FF2B5EF4-FFF2-40B4-BE49-F238E27FC236}">
                    <a16:creationId xmlns:a16="http://schemas.microsoft.com/office/drawing/2014/main" id="{6903EEF8-2E81-A3AA-E700-0590A0FFB98A}"/>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37" name="Google Shape;11663;p77">
                <a:extLst>
                  <a:ext uri="{FF2B5EF4-FFF2-40B4-BE49-F238E27FC236}">
                    <a16:creationId xmlns:a16="http://schemas.microsoft.com/office/drawing/2014/main" id="{4A456CFE-71A4-F29F-E764-ECCB57F6642F}"/>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38" name="Google Shape;11664;p77">
                <a:extLst>
                  <a:ext uri="{FF2B5EF4-FFF2-40B4-BE49-F238E27FC236}">
                    <a16:creationId xmlns:a16="http://schemas.microsoft.com/office/drawing/2014/main" id="{BC366AD2-434A-C8C2-E005-D937618A382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39" name="Google Shape;11665;p77">
                <a:extLst>
                  <a:ext uri="{FF2B5EF4-FFF2-40B4-BE49-F238E27FC236}">
                    <a16:creationId xmlns:a16="http://schemas.microsoft.com/office/drawing/2014/main" id="{49525A25-6557-9DE7-7AB8-218B02A1387B}"/>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0" name="Google Shape;11666;p77">
                <a:extLst>
                  <a:ext uri="{FF2B5EF4-FFF2-40B4-BE49-F238E27FC236}">
                    <a16:creationId xmlns:a16="http://schemas.microsoft.com/office/drawing/2014/main" id="{30468BF1-7A4C-08BF-7B55-1234460D2D1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41" name="Google Shape;11667;p77">
                <a:extLst>
                  <a:ext uri="{FF2B5EF4-FFF2-40B4-BE49-F238E27FC236}">
                    <a16:creationId xmlns:a16="http://schemas.microsoft.com/office/drawing/2014/main" id="{9E97C213-96A4-7451-92F4-054A7D1BB6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grpSp>
        <p:nvGrpSpPr>
          <p:cNvPr id="142" name="Groupe 141">
            <a:extLst>
              <a:ext uri="{FF2B5EF4-FFF2-40B4-BE49-F238E27FC236}">
                <a16:creationId xmlns:a16="http://schemas.microsoft.com/office/drawing/2014/main" id="{E99029D5-43E9-9DEE-F647-545E673178A6}"/>
              </a:ext>
            </a:extLst>
          </p:cNvPr>
          <p:cNvGrpSpPr/>
          <p:nvPr/>
        </p:nvGrpSpPr>
        <p:grpSpPr>
          <a:xfrm>
            <a:off x="6968826" y="1783797"/>
            <a:ext cx="324000" cy="324000"/>
            <a:chOff x="2745040" y="2428028"/>
            <a:chExt cx="425863" cy="432188"/>
          </a:xfrm>
        </p:grpSpPr>
        <p:sp>
          <p:nvSpPr>
            <p:cNvPr id="143" name="Ellipse 142">
              <a:extLst>
                <a:ext uri="{FF2B5EF4-FFF2-40B4-BE49-F238E27FC236}">
                  <a16:creationId xmlns:a16="http://schemas.microsoft.com/office/drawing/2014/main" id="{A32C4ACA-118B-93D9-DAB9-4568578BF201}"/>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44" name="Google Shape;11660;p77">
              <a:extLst>
                <a:ext uri="{FF2B5EF4-FFF2-40B4-BE49-F238E27FC236}">
                  <a16:creationId xmlns:a16="http://schemas.microsoft.com/office/drawing/2014/main" id="{5FC50376-8268-A877-50F2-0894D7413147}"/>
                </a:ext>
              </a:extLst>
            </p:cNvPr>
            <p:cNvGrpSpPr/>
            <p:nvPr/>
          </p:nvGrpSpPr>
          <p:grpSpPr>
            <a:xfrm>
              <a:off x="2836084" y="2523531"/>
              <a:ext cx="243774" cy="241182"/>
              <a:chOff x="4263657" y="3963700"/>
              <a:chExt cx="298551" cy="295375"/>
            </a:xfrm>
            <a:solidFill>
              <a:schemeClr val="bg1"/>
            </a:solidFill>
          </p:grpSpPr>
          <p:sp>
            <p:nvSpPr>
              <p:cNvPr id="145" name="Google Shape;11661;p77">
                <a:extLst>
                  <a:ext uri="{FF2B5EF4-FFF2-40B4-BE49-F238E27FC236}">
                    <a16:creationId xmlns:a16="http://schemas.microsoft.com/office/drawing/2014/main" id="{0029DC5D-12E4-F3C6-8DC0-7024FD328268}"/>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6" name="Google Shape;11662;p77">
                <a:extLst>
                  <a:ext uri="{FF2B5EF4-FFF2-40B4-BE49-F238E27FC236}">
                    <a16:creationId xmlns:a16="http://schemas.microsoft.com/office/drawing/2014/main" id="{EEBB9CFE-89CE-A042-DF2D-5A6CD6AD4275}"/>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7" name="Google Shape;11663;p77">
                <a:extLst>
                  <a:ext uri="{FF2B5EF4-FFF2-40B4-BE49-F238E27FC236}">
                    <a16:creationId xmlns:a16="http://schemas.microsoft.com/office/drawing/2014/main" id="{F017C8E1-21A9-8923-A3A9-AA8483CC3937}"/>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8" name="Google Shape;11664;p77">
                <a:extLst>
                  <a:ext uri="{FF2B5EF4-FFF2-40B4-BE49-F238E27FC236}">
                    <a16:creationId xmlns:a16="http://schemas.microsoft.com/office/drawing/2014/main" id="{37D7BC74-6505-F798-8E82-A6A07F1496DA}"/>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49" name="Google Shape;11665;p77">
                <a:extLst>
                  <a:ext uri="{FF2B5EF4-FFF2-40B4-BE49-F238E27FC236}">
                    <a16:creationId xmlns:a16="http://schemas.microsoft.com/office/drawing/2014/main" id="{1747CA1F-1539-7099-565F-7A5C3EF94BF6}"/>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0" name="Google Shape;11666;p77">
                <a:extLst>
                  <a:ext uri="{FF2B5EF4-FFF2-40B4-BE49-F238E27FC236}">
                    <a16:creationId xmlns:a16="http://schemas.microsoft.com/office/drawing/2014/main" id="{3007E72E-884A-B776-EBB4-4491A7C63BC2}"/>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51" name="Google Shape;11667;p77">
                <a:extLst>
                  <a:ext uri="{FF2B5EF4-FFF2-40B4-BE49-F238E27FC236}">
                    <a16:creationId xmlns:a16="http://schemas.microsoft.com/office/drawing/2014/main" id="{12F4B455-FE10-9CF5-2BFE-E53B56C704C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grpSp>
        <p:nvGrpSpPr>
          <p:cNvPr id="152" name="Groupe 151">
            <a:extLst>
              <a:ext uri="{FF2B5EF4-FFF2-40B4-BE49-F238E27FC236}">
                <a16:creationId xmlns:a16="http://schemas.microsoft.com/office/drawing/2014/main" id="{7043898F-DB89-CA9E-F9AD-13467FDA0EC2}"/>
              </a:ext>
            </a:extLst>
          </p:cNvPr>
          <p:cNvGrpSpPr/>
          <p:nvPr/>
        </p:nvGrpSpPr>
        <p:grpSpPr>
          <a:xfrm>
            <a:off x="8457696" y="1783797"/>
            <a:ext cx="324000" cy="324000"/>
            <a:chOff x="2745040" y="2428028"/>
            <a:chExt cx="425863" cy="432188"/>
          </a:xfrm>
        </p:grpSpPr>
        <p:sp>
          <p:nvSpPr>
            <p:cNvPr id="153" name="Ellipse 152">
              <a:extLst>
                <a:ext uri="{FF2B5EF4-FFF2-40B4-BE49-F238E27FC236}">
                  <a16:creationId xmlns:a16="http://schemas.microsoft.com/office/drawing/2014/main" id="{8A022532-67AB-BFBA-62AE-4A33E3DF674D}"/>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54" name="Google Shape;11660;p77">
              <a:extLst>
                <a:ext uri="{FF2B5EF4-FFF2-40B4-BE49-F238E27FC236}">
                  <a16:creationId xmlns:a16="http://schemas.microsoft.com/office/drawing/2014/main" id="{A3EAC7E7-43A4-18EA-82C0-745D5EA0E09B}"/>
                </a:ext>
              </a:extLst>
            </p:cNvPr>
            <p:cNvGrpSpPr/>
            <p:nvPr/>
          </p:nvGrpSpPr>
          <p:grpSpPr>
            <a:xfrm>
              <a:off x="2836084" y="2523531"/>
              <a:ext cx="243774" cy="241182"/>
              <a:chOff x="4263657" y="3963700"/>
              <a:chExt cx="298551" cy="295375"/>
            </a:xfrm>
            <a:solidFill>
              <a:schemeClr val="bg1"/>
            </a:solidFill>
          </p:grpSpPr>
          <p:sp>
            <p:nvSpPr>
              <p:cNvPr id="155" name="Google Shape;11661;p77">
                <a:extLst>
                  <a:ext uri="{FF2B5EF4-FFF2-40B4-BE49-F238E27FC236}">
                    <a16:creationId xmlns:a16="http://schemas.microsoft.com/office/drawing/2014/main" id="{30F9A07E-C79C-240A-7F87-E61CD54F7CD5}"/>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6" name="Google Shape;11662;p77">
                <a:extLst>
                  <a:ext uri="{FF2B5EF4-FFF2-40B4-BE49-F238E27FC236}">
                    <a16:creationId xmlns:a16="http://schemas.microsoft.com/office/drawing/2014/main" id="{D100F2F9-C795-45A8-440F-65BC90A8191D}"/>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7" name="Google Shape;11663;p77">
                <a:extLst>
                  <a:ext uri="{FF2B5EF4-FFF2-40B4-BE49-F238E27FC236}">
                    <a16:creationId xmlns:a16="http://schemas.microsoft.com/office/drawing/2014/main" id="{6C803831-AB25-2787-AEBB-29F0CEC9B12D}"/>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8" name="Google Shape;11664;p77">
                <a:extLst>
                  <a:ext uri="{FF2B5EF4-FFF2-40B4-BE49-F238E27FC236}">
                    <a16:creationId xmlns:a16="http://schemas.microsoft.com/office/drawing/2014/main" id="{C6925EE0-DF3F-6B1F-3EF4-23515E9027CC}"/>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59" name="Google Shape;11665;p77">
                <a:extLst>
                  <a:ext uri="{FF2B5EF4-FFF2-40B4-BE49-F238E27FC236}">
                    <a16:creationId xmlns:a16="http://schemas.microsoft.com/office/drawing/2014/main" id="{92FB1E39-EAC2-8471-4D1A-457349180245}"/>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60" name="Google Shape;11666;p77">
                <a:extLst>
                  <a:ext uri="{FF2B5EF4-FFF2-40B4-BE49-F238E27FC236}">
                    <a16:creationId xmlns:a16="http://schemas.microsoft.com/office/drawing/2014/main" id="{6ECA0656-596E-2388-9E93-125877921FBF}"/>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61" name="Google Shape;11667;p77">
                <a:extLst>
                  <a:ext uri="{FF2B5EF4-FFF2-40B4-BE49-F238E27FC236}">
                    <a16:creationId xmlns:a16="http://schemas.microsoft.com/office/drawing/2014/main" id="{C50037FE-35DB-5C13-2796-CA04F76D60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cxnSp>
        <p:nvCxnSpPr>
          <p:cNvPr id="162" name="Connecteur droit 161">
            <a:extLst>
              <a:ext uri="{FF2B5EF4-FFF2-40B4-BE49-F238E27FC236}">
                <a16:creationId xmlns:a16="http://schemas.microsoft.com/office/drawing/2014/main" id="{9EA66194-1439-8985-84B1-A0588DB7F818}"/>
              </a:ext>
            </a:extLst>
          </p:cNvPr>
          <p:cNvCxnSpPr>
            <a:cxnSpLocks/>
          </p:cNvCxnSpPr>
          <p:nvPr/>
        </p:nvCxnSpPr>
        <p:spPr>
          <a:xfrm>
            <a:off x="3826982" y="2107797"/>
            <a:ext cx="0"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Connecteur droit 163">
            <a:extLst>
              <a:ext uri="{FF2B5EF4-FFF2-40B4-BE49-F238E27FC236}">
                <a16:creationId xmlns:a16="http://schemas.microsoft.com/office/drawing/2014/main" id="{C74C0D56-B433-D117-13C7-C2B50E28BFD4}"/>
              </a:ext>
            </a:extLst>
          </p:cNvPr>
          <p:cNvCxnSpPr>
            <a:cxnSpLocks/>
          </p:cNvCxnSpPr>
          <p:nvPr/>
        </p:nvCxnSpPr>
        <p:spPr>
          <a:xfrm flipH="1">
            <a:off x="5065377"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Connecteur droit 164">
            <a:extLst>
              <a:ext uri="{FF2B5EF4-FFF2-40B4-BE49-F238E27FC236}">
                <a16:creationId xmlns:a16="http://schemas.microsoft.com/office/drawing/2014/main" id="{63D33EAF-9C15-62B4-2916-D5919ACD412F}"/>
              </a:ext>
            </a:extLst>
          </p:cNvPr>
          <p:cNvCxnSpPr>
            <a:cxnSpLocks/>
          </p:cNvCxnSpPr>
          <p:nvPr/>
        </p:nvCxnSpPr>
        <p:spPr>
          <a:xfrm flipH="1">
            <a:off x="7113442"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Connecteur droit 165">
            <a:extLst>
              <a:ext uri="{FF2B5EF4-FFF2-40B4-BE49-F238E27FC236}">
                <a16:creationId xmlns:a16="http://schemas.microsoft.com/office/drawing/2014/main" id="{A81ACB69-C99E-77FD-989A-ADA7F7C8F2C2}"/>
              </a:ext>
            </a:extLst>
          </p:cNvPr>
          <p:cNvCxnSpPr>
            <a:cxnSpLocks/>
          </p:cNvCxnSpPr>
          <p:nvPr/>
        </p:nvCxnSpPr>
        <p:spPr>
          <a:xfrm>
            <a:off x="8618953" y="2107797"/>
            <a:ext cx="0" cy="47502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Connecteur droit 166">
            <a:extLst>
              <a:ext uri="{FF2B5EF4-FFF2-40B4-BE49-F238E27FC236}">
                <a16:creationId xmlns:a16="http://schemas.microsoft.com/office/drawing/2014/main" id="{6A1DC53A-A645-26BA-D724-F6D51B485977}"/>
              </a:ext>
            </a:extLst>
          </p:cNvPr>
          <p:cNvCxnSpPr>
            <a:cxnSpLocks/>
          </p:cNvCxnSpPr>
          <p:nvPr/>
        </p:nvCxnSpPr>
        <p:spPr>
          <a:xfrm>
            <a:off x="8602312" y="2558848"/>
            <a:ext cx="3569835" cy="0"/>
          </a:xfrm>
          <a:prstGeom prst="line">
            <a:avLst/>
          </a:prstGeom>
          <a:ln w="254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eur droit 167">
            <a:extLst>
              <a:ext uri="{FF2B5EF4-FFF2-40B4-BE49-F238E27FC236}">
                <a16:creationId xmlns:a16="http://schemas.microsoft.com/office/drawing/2014/main" id="{BE07DB50-1541-43E4-926F-24B7AB6FB723}"/>
              </a:ext>
            </a:extLst>
          </p:cNvPr>
          <p:cNvCxnSpPr>
            <a:cxnSpLocks/>
          </p:cNvCxnSpPr>
          <p:nvPr/>
        </p:nvCxnSpPr>
        <p:spPr>
          <a:xfrm>
            <a:off x="3835066" y="2563520"/>
            <a:ext cx="4783887" cy="0"/>
          </a:xfrm>
          <a:prstGeom prst="line">
            <a:avLst/>
          </a:prstGeom>
          <a:ln w="2540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79" name="Connecteur droit 178">
            <a:extLst>
              <a:ext uri="{FF2B5EF4-FFF2-40B4-BE49-F238E27FC236}">
                <a16:creationId xmlns:a16="http://schemas.microsoft.com/office/drawing/2014/main" id="{EB93BC03-F31A-F0FE-D7D4-2D278E204CF8}"/>
              </a:ext>
            </a:extLst>
          </p:cNvPr>
          <p:cNvCxnSpPr>
            <a:cxnSpLocks/>
          </p:cNvCxnSpPr>
          <p:nvPr/>
        </p:nvCxnSpPr>
        <p:spPr>
          <a:xfrm>
            <a:off x="8631183" y="3485086"/>
            <a:ext cx="3560807" cy="0"/>
          </a:xfrm>
          <a:prstGeom prst="line">
            <a:avLst/>
          </a:prstGeom>
          <a:ln w="2540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82" name="Connecteur droit 181">
            <a:extLst>
              <a:ext uri="{FF2B5EF4-FFF2-40B4-BE49-F238E27FC236}">
                <a16:creationId xmlns:a16="http://schemas.microsoft.com/office/drawing/2014/main" id="{F6D792B8-F669-8A78-D141-4B5FAC8AFDCC}"/>
              </a:ext>
            </a:extLst>
          </p:cNvPr>
          <p:cNvCxnSpPr>
            <a:cxnSpLocks/>
          </p:cNvCxnSpPr>
          <p:nvPr/>
        </p:nvCxnSpPr>
        <p:spPr>
          <a:xfrm>
            <a:off x="8582469" y="4418946"/>
            <a:ext cx="3569835" cy="0"/>
          </a:xfrm>
          <a:prstGeom prst="line">
            <a:avLst/>
          </a:prstGeom>
          <a:ln w="2540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eur droit 182">
            <a:extLst>
              <a:ext uri="{FF2B5EF4-FFF2-40B4-BE49-F238E27FC236}">
                <a16:creationId xmlns:a16="http://schemas.microsoft.com/office/drawing/2014/main" id="{03E990D8-4270-68FB-C94B-6F013F86CD3B}"/>
              </a:ext>
            </a:extLst>
          </p:cNvPr>
          <p:cNvCxnSpPr>
            <a:cxnSpLocks/>
          </p:cNvCxnSpPr>
          <p:nvPr/>
        </p:nvCxnSpPr>
        <p:spPr>
          <a:xfrm>
            <a:off x="3815223" y="4418946"/>
            <a:ext cx="4783887" cy="0"/>
          </a:xfrm>
          <a:prstGeom prst="line">
            <a:avLst/>
          </a:prstGeom>
          <a:ln w="2540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Connecteur droit 183">
            <a:extLst>
              <a:ext uri="{FF2B5EF4-FFF2-40B4-BE49-F238E27FC236}">
                <a16:creationId xmlns:a16="http://schemas.microsoft.com/office/drawing/2014/main" id="{E40788AF-8F48-5530-E4F7-8574706C5F91}"/>
              </a:ext>
            </a:extLst>
          </p:cNvPr>
          <p:cNvCxnSpPr>
            <a:cxnSpLocks/>
          </p:cNvCxnSpPr>
          <p:nvPr/>
        </p:nvCxnSpPr>
        <p:spPr>
          <a:xfrm>
            <a:off x="8611340" y="5320490"/>
            <a:ext cx="3560807" cy="0"/>
          </a:xfrm>
          <a:prstGeom prst="line">
            <a:avLst/>
          </a:prstGeom>
          <a:ln w="254000">
            <a:solidFill>
              <a:schemeClr val="accent2">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85" name="Connecteur droit 184">
            <a:extLst>
              <a:ext uri="{FF2B5EF4-FFF2-40B4-BE49-F238E27FC236}">
                <a16:creationId xmlns:a16="http://schemas.microsoft.com/office/drawing/2014/main" id="{64E631FD-9366-D7B6-89A9-877C8AC0FFB0}"/>
              </a:ext>
            </a:extLst>
          </p:cNvPr>
          <p:cNvCxnSpPr>
            <a:cxnSpLocks/>
            <a:endCxn id="33" idx="1"/>
          </p:cNvCxnSpPr>
          <p:nvPr/>
        </p:nvCxnSpPr>
        <p:spPr>
          <a:xfrm flipV="1">
            <a:off x="3815223" y="6318275"/>
            <a:ext cx="8376767" cy="1"/>
          </a:xfrm>
          <a:prstGeom prst="line">
            <a:avLst/>
          </a:prstGeom>
          <a:ln w="254000">
            <a:solidFill>
              <a:schemeClr val="tx2"/>
            </a:solidFill>
          </a:ln>
        </p:spPr>
        <p:style>
          <a:lnRef idx="2">
            <a:schemeClr val="accent1"/>
          </a:lnRef>
          <a:fillRef idx="0">
            <a:schemeClr val="accent1"/>
          </a:fillRef>
          <a:effectRef idx="1">
            <a:schemeClr val="accent1"/>
          </a:effectRef>
          <a:fontRef idx="minor">
            <a:schemeClr val="tx1"/>
          </a:fontRef>
        </p:style>
      </p:cxnSp>
      <p:sp>
        <p:nvSpPr>
          <p:cNvPr id="187" name="Ellipse 186">
            <a:extLst>
              <a:ext uri="{FF2B5EF4-FFF2-40B4-BE49-F238E27FC236}">
                <a16:creationId xmlns:a16="http://schemas.microsoft.com/office/drawing/2014/main" id="{734D94DA-80DE-EA59-1183-AB60CBEA80C5}"/>
              </a:ext>
            </a:extLst>
          </p:cNvPr>
          <p:cNvSpPr/>
          <p:nvPr/>
        </p:nvSpPr>
        <p:spPr>
          <a:xfrm>
            <a:off x="3698809"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88" name="Ellipse 187">
            <a:extLst>
              <a:ext uri="{FF2B5EF4-FFF2-40B4-BE49-F238E27FC236}">
                <a16:creationId xmlns:a16="http://schemas.microsoft.com/office/drawing/2014/main" id="{FD5AAB4D-AF83-C8AC-A89C-83F07DDAC503}"/>
              </a:ext>
            </a:extLst>
          </p:cNvPr>
          <p:cNvSpPr/>
          <p:nvPr/>
        </p:nvSpPr>
        <p:spPr>
          <a:xfrm>
            <a:off x="4947319"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89" name="Ellipse 188">
            <a:extLst>
              <a:ext uri="{FF2B5EF4-FFF2-40B4-BE49-F238E27FC236}">
                <a16:creationId xmlns:a16="http://schemas.microsoft.com/office/drawing/2014/main" id="{B197C4FE-DCED-A066-F2C2-022A580E2864}"/>
              </a:ext>
            </a:extLst>
          </p:cNvPr>
          <p:cNvSpPr/>
          <p:nvPr/>
        </p:nvSpPr>
        <p:spPr>
          <a:xfrm>
            <a:off x="6995083"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0" name="Ellipse 189">
            <a:extLst>
              <a:ext uri="{FF2B5EF4-FFF2-40B4-BE49-F238E27FC236}">
                <a16:creationId xmlns:a16="http://schemas.microsoft.com/office/drawing/2014/main" id="{0D3A0373-4610-2E63-D7CF-4FC1E860E9AF}"/>
              </a:ext>
            </a:extLst>
          </p:cNvPr>
          <p:cNvSpPr/>
          <p:nvPr/>
        </p:nvSpPr>
        <p:spPr>
          <a:xfrm>
            <a:off x="8489591"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1" name="Ellipse 190">
            <a:extLst>
              <a:ext uri="{FF2B5EF4-FFF2-40B4-BE49-F238E27FC236}">
                <a16:creationId xmlns:a16="http://schemas.microsoft.com/office/drawing/2014/main" id="{55A2C7F2-C680-8B11-B1FB-383A5F3FDB4F}"/>
              </a:ext>
            </a:extLst>
          </p:cNvPr>
          <p:cNvSpPr/>
          <p:nvPr/>
        </p:nvSpPr>
        <p:spPr>
          <a:xfrm>
            <a:off x="3689400" y="4286632"/>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2" name="Ellipse 191">
            <a:extLst>
              <a:ext uri="{FF2B5EF4-FFF2-40B4-BE49-F238E27FC236}">
                <a16:creationId xmlns:a16="http://schemas.microsoft.com/office/drawing/2014/main" id="{E539CCCC-E740-E19E-9FD3-B248072D43F1}"/>
              </a:ext>
            </a:extLst>
          </p:cNvPr>
          <p:cNvSpPr/>
          <p:nvPr/>
        </p:nvSpPr>
        <p:spPr>
          <a:xfrm>
            <a:off x="4933215" y="4289294"/>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3" name="Ellipse 192">
            <a:extLst>
              <a:ext uri="{FF2B5EF4-FFF2-40B4-BE49-F238E27FC236}">
                <a16:creationId xmlns:a16="http://schemas.microsoft.com/office/drawing/2014/main" id="{F04B749F-E626-7401-5579-DBA0D1C0772B}"/>
              </a:ext>
            </a:extLst>
          </p:cNvPr>
          <p:cNvSpPr/>
          <p:nvPr/>
        </p:nvSpPr>
        <p:spPr>
          <a:xfrm>
            <a:off x="6995083"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4" name="Ellipse 193">
            <a:extLst>
              <a:ext uri="{FF2B5EF4-FFF2-40B4-BE49-F238E27FC236}">
                <a16:creationId xmlns:a16="http://schemas.microsoft.com/office/drawing/2014/main" id="{DD259AB4-6282-6F24-B176-35B2636082AC}"/>
              </a:ext>
            </a:extLst>
          </p:cNvPr>
          <p:cNvSpPr/>
          <p:nvPr/>
        </p:nvSpPr>
        <p:spPr>
          <a:xfrm>
            <a:off x="8489591"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6" name="Ellipse 195">
            <a:extLst>
              <a:ext uri="{FF2B5EF4-FFF2-40B4-BE49-F238E27FC236}">
                <a16:creationId xmlns:a16="http://schemas.microsoft.com/office/drawing/2014/main" id="{9596BDCA-9455-27C8-D8FD-C5839660CD11}"/>
              </a:ext>
            </a:extLst>
          </p:cNvPr>
          <p:cNvSpPr/>
          <p:nvPr/>
        </p:nvSpPr>
        <p:spPr>
          <a:xfrm>
            <a:off x="42817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7" name="Ellipse 196">
            <a:extLst>
              <a:ext uri="{FF2B5EF4-FFF2-40B4-BE49-F238E27FC236}">
                <a16:creationId xmlns:a16="http://schemas.microsoft.com/office/drawing/2014/main" id="{42590B43-2F95-C4BB-98B1-0455DE3E3187}"/>
              </a:ext>
            </a:extLst>
          </p:cNvPr>
          <p:cNvSpPr/>
          <p:nvPr/>
        </p:nvSpPr>
        <p:spPr>
          <a:xfrm>
            <a:off x="5207203"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9" name="Ellipse 198">
            <a:extLst>
              <a:ext uri="{FF2B5EF4-FFF2-40B4-BE49-F238E27FC236}">
                <a16:creationId xmlns:a16="http://schemas.microsoft.com/office/drawing/2014/main" id="{C42843EA-8B36-2D05-29FE-47B6E18A11A9}"/>
              </a:ext>
            </a:extLst>
          </p:cNvPr>
          <p:cNvSpPr/>
          <p:nvPr/>
        </p:nvSpPr>
        <p:spPr>
          <a:xfrm>
            <a:off x="7887898"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0" name="Ellipse 199">
            <a:extLst>
              <a:ext uri="{FF2B5EF4-FFF2-40B4-BE49-F238E27FC236}">
                <a16:creationId xmlns:a16="http://schemas.microsoft.com/office/drawing/2014/main" id="{8B1C38F8-00B3-7EE8-F43E-E3BE6DFA3921}"/>
              </a:ext>
            </a:extLst>
          </p:cNvPr>
          <p:cNvSpPr/>
          <p:nvPr/>
        </p:nvSpPr>
        <p:spPr>
          <a:xfrm>
            <a:off x="9096879"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1" name="Ellipse 200">
            <a:extLst>
              <a:ext uri="{FF2B5EF4-FFF2-40B4-BE49-F238E27FC236}">
                <a16:creationId xmlns:a16="http://schemas.microsoft.com/office/drawing/2014/main" id="{B5A772B4-B40B-D2B2-C513-1B402CCC6798}"/>
              </a:ext>
            </a:extLst>
          </p:cNvPr>
          <p:cNvSpPr/>
          <p:nvPr/>
        </p:nvSpPr>
        <p:spPr>
          <a:xfrm>
            <a:off x="113259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2" name="Ellipse 201">
            <a:extLst>
              <a:ext uri="{FF2B5EF4-FFF2-40B4-BE49-F238E27FC236}">
                <a16:creationId xmlns:a16="http://schemas.microsoft.com/office/drawing/2014/main" id="{20061DD9-348A-7AE3-171C-8B67DB86F92B}"/>
              </a:ext>
            </a:extLst>
          </p:cNvPr>
          <p:cNvSpPr/>
          <p:nvPr/>
        </p:nvSpPr>
        <p:spPr>
          <a:xfrm>
            <a:off x="8489591" y="5182668"/>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3" name="Ellipse 202">
            <a:extLst>
              <a:ext uri="{FF2B5EF4-FFF2-40B4-BE49-F238E27FC236}">
                <a16:creationId xmlns:a16="http://schemas.microsoft.com/office/drawing/2014/main" id="{83FD9D2C-8F9A-A81C-B62F-A1434F2385AC}"/>
              </a:ext>
            </a:extLst>
          </p:cNvPr>
          <p:cNvSpPr/>
          <p:nvPr/>
        </p:nvSpPr>
        <p:spPr>
          <a:xfrm>
            <a:off x="8489591"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4" name="ZoneTexte 203">
            <a:extLst>
              <a:ext uri="{FF2B5EF4-FFF2-40B4-BE49-F238E27FC236}">
                <a16:creationId xmlns:a16="http://schemas.microsoft.com/office/drawing/2014/main" id="{F9E4E992-D9A9-9322-9859-992558B18356}"/>
              </a:ext>
            </a:extLst>
          </p:cNvPr>
          <p:cNvSpPr txBox="1"/>
          <p:nvPr/>
        </p:nvSpPr>
        <p:spPr>
          <a:xfrm>
            <a:off x="3834596" y="2427782"/>
            <a:ext cx="124243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ANALYSIS </a:t>
            </a:r>
          </a:p>
        </p:txBody>
      </p:sp>
      <p:sp>
        <p:nvSpPr>
          <p:cNvPr id="205" name="ZoneTexte 204">
            <a:extLst>
              <a:ext uri="{FF2B5EF4-FFF2-40B4-BE49-F238E27FC236}">
                <a16:creationId xmlns:a16="http://schemas.microsoft.com/office/drawing/2014/main" id="{F29E596E-4584-1CEE-5B42-AFA14828709D}"/>
              </a:ext>
            </a:extLst>
          </p:cNvPr>
          <p:cNvSpPr txBox="1"/>
          <p:nvPr/>
        </p:nvSpPr>
        <p:spPr>
          <a:xfrm>
            <a:off x="5063102" y="2427782"/>
            <a:ext cx="208362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IMPLEMENTATION </a:t>
            </a:r>
          </a:p>
        </p:txBody>
      </p:sp>
      <p:sp>
        <p:nvSpPr>
          <p:cNvPr id="206" name="ZoneTexte 205">
            <a:extLst>
              <a:ext uri="{FF2B5EF4-FFF2-40B4-BE49-F238E27FC236}">
                <a16:creationId xmlns:a16="http://schemas.microsoft.com/office/drawing/2014/main" id="{9ACD7846-7265-DDCF-4B30-78FE803D4B7D}"/>
              </a:ext>
            </a:extLst>
          </p:cNvPr>
          <p:cNvSpPr txBox="1"/>
          <p:nvPr/>
        </p:nvSpPr>
        <p:spPr>
          <a:xfrm>
            <a:off x="8606724" y="3346586"/>
            <a:ext cx="29739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effectLst/>
                <a:uLnTx/>
                <a:uFillTx/>
                <a:latin typeface="Trebuchet MS" panose="020B0603020202020204" pitchFamily="34" charset="0"/>
                <a:ea typeface="+mn-ea"/>
                <a:cs typeface="+mn-cs"/>
              </a:rPr>
              <a:t>REACTIVE SUPPORT &amp; EVOLUTIONS </a:t>
            </a:r>
            <a:endParaRPr kumimoji="0" lang="fr-FR" sz="2000" b="1" i="0" u="none" strike="noStrike" kern="1200" cap="none" spc="0" normalizeH="0" baseline="0" noProof="0" dirty="0">
              <a:ln>
                <a:noFill/>
              </a:ln>
              <a:effectLst/>
              <a:uLnTx/>
              <a:uFillTx/>
              <a:latin typeface="Trebuchet MS" panose="020B0603020202020204" pitchFamily="34" charset="0"/>
              <a:ea typeface="+mn-ea"/>
              <a:cs typeface="+mn-cs"/>
            </a:endParaRPr>
          </a:p>
        </p:txBody>
      </p:sp>
      <p:sp>
        <p:nvSpPr>
          <p:cNvPr id="207" name="ZoneTexte 206">
            <a:extLst>
              <a:ext uri="{FF2B5EF4-FFF2-40B4-BE49-F238E27FC236}">
                <a16:creationId xmlns:a16="http://schemas.microsoft.com/office/drawing/2014/main" id="{04EC8B24-C33F-2E7D-9415-CA078BC1C13F}"/>
              </a:ext>
            </a:extLst>
          </p:cNvPr>
          <p:cNvSpPr txBox="1"/>
          <p:nvPr/>
        </p:nvSpPr>
        <p:spPr>
          <a:xfrm>
            <a:off x="5063009" y="4286632"/>
            <a:ext cx="2053271"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STEERING COMITEES </a:t>
            </a:r>
          </a:p>
        </p:txBody>
      </p:sp>
      <p:sp>
        <p:nvSpPr>
          <p:cNvPr id="208" name="ZoneTexte 207">
            <a:extLst>
              <a:ext uri="{FF2B5EF4-FFF2-40B4-BE49-F238E27FC236}">
                <a16:creationId xmlns:a16="http://schemas.microsoft.com/office/drawing/2014/main" id="{723BD49B-84CA-5900-6DC2-392489EA7335}"/>
              </a:ext>
            </a:extLst>
          </p:cNvPr>
          <p:cNvSpPr txBox="1"/>
          <p:nvPr/>
        </p:nvSpPr>
        <p:spPr>
          <a:xfrm>
            <a:off x="5392828" y="6194505"/>
            <a:ext cx="2630070" cy="276999"/>
          </a:xfrm>
          <a:prstGeom prst="rect">
            <a:avLst/>
          </a:prstGeom>
          <a:noFill/>
        </p:spPr>
        <p:txBody>
          <a:bodyPr wrap="square">
            <a:spAutoFit/>
          </a:bodyPr>
          <a:lstStyle/>
          <a:p>
            <a:pPr algn="ctr"/>
            <a:r>
              <a:rPr lang="fr-FR" sz="1200" b="1" dirty="0">
                <a:solidFill>
                  <a:schemeClr val="bg1"/>
                </a:solidFill>
              </a:rPr>
              <a:t>SATISFACTION SURVEYS</a:t>
            </a:r>
            <a:endParaRPr lang="en-US" sz="1200" b="1" dirty="0">
              <a:solidFill>
                <a:schemeClr val="bg1"/>
              </a:solidFill>
            </a:endParaRPr>
          </a:p>
        </p:txBody>
      </p:sp>
      <p:sp>
        <p:nvSpPr>
          <p:cNvPr id="209" name="ZoneTexte 208">
            <a:extLst>
              <a:ext uri="{FF2B5EF4-FFF2-40B4-BE49-F238E27FC236}">
                <a16:creationId xmlns:a16="http://schemas.microsoft.com/office/drawing/2014/main" id="{3C8CD858-429E-12EF-E08E-041A092B772C}"/>
              </a:ext>
            </a:extLst>
          </p:cNvPr>
          <p:cNvSpPr txBox="1"/>
          <p:nvPr/>
        </p:nvSpPr>
        <p:spPr>
          <a:xfrm>
            <a:off x="8618953" y="5182668"/>
            <a:ext cx="292615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effectLst/>
                <a:uLnTx/>
                <a:uFillTx/>
                <a:latin typeface="Trebuchet MS" panose="020B0603020202020204" pitchFamily="34" charset="0"/>
                <a:ea typeface="+mn-ea"/>
                <a:cs typeface="+mn-cs"/>
              </a:rPr>
              <a:t>FOLLOW-UP MEETINGS</a:t>
            </a:r>
            <a:endParaRPr kumimoji="0" lang="fr-FR" sz="2000" b="1" i="0" u="none" strike="noStrike" kern="1200" cap="none" spc="0" normalizeH="0" baseline="0" noProof="0" dirty="0">
              <a:ln>
                <a:noFill/>
              </a:ln>
              <a:effectLst/>
              <a:uLnTx/>
              <a:uFillTx/>
              <a:latin typeface="Trebuchet MS" panose="020B0603020202020204" pitchFamily="34" charset="0"/>
              <a:ea typeface="+mn-ea"/>
              <a:cs typeface="+mn-cs"/>
            </a:endParaRPr>
          </a:p>
        </p:txBody>
      </p:sp>
      <p:sp>
        <p:nvSpPr>
          <p:cNvPr id="210" name="ZoneTexte 209">
            <a:extLst>
              <a:ext uri="{FF2B5EF4-FFF2-40B4-BE49-F238E27FC236}">
                <a16:creationId xmlns:a16="http://schemas.microsoft.com/office/drawing/2014/main" id="{5B6F9437-2C44-B455-8FB9-78CEC8604BB8}"/>
              </a:ext>
            </a:extLst>
          </p:cNvPr>
          <p:cNvSpPr txBox="1"/>
          <p:nvPr/>
        </p:nvSpPr>
        <p:spPr>
          <a:xfrm>
            <a:off x="7125953" y="2427782"/>
            <a:ext cx="14819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GO-LIVE </a:t>
            </a:r>
          </a:p>
        </p:txBody>
      </p:sp>
      <p:sp>
        <p:nvSpPr>
          <p:cNvPr id="211" name="Ellipse 210">
            <a:extLst>
              <a:ext uri="{FF2B5EF4-FFF2-40B4-BE49-F238E27FC236}">
                <a16:creationId xmlns:a16="http://schemas.microsoft.com/office/drawing/2014/main" id="{686CF760-31EF-7DB6-E92B-DCD56DCE1636}"/>
              </a:ext>
            </a:extLst>
          </p:cNvPr>
          <p:cNvSpPr/>
          <p:nvPr/>
        </p:nvSpPr>
        <p:spPr>
          <a:xfrm>
            <a:off x="11435566"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12" name="Ellipse 211">
            <a:extLst>
              <a:ext uri="{FF2B5EF4-FFF2-40B4-BE49-F238E27FC236}">
                <a16:creationId xmlns:a16="http://schemas.microsoft.com/office/drawing/2014/main" id="{641B1122-139A-10D6-7EBE-7AB069A7B034}"/>
              </a:ext>
            </a:extLst>
          </p:cNvPr>
          <p:cNvSpPr/>
          <p:nvPr/>
        </p:nvSpPr>
        <p:spPr>
          <a:xfrm>
            <a:off x="11435566" y="5185261"/>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Tree>
    <p:extLst>
      <p:ext uri="{BB962C8B-B14F-4D97-AF65-F5344CB8AC3E}">
        <p14:creationId xmlns:p14="http://schemas.microsoft.com/office/powerpoint/2010/main" val="1664011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8">
          <a:extLst>
            <a:ext uri="{FF2B5EF4-FFF2-40B4-BE49-F238E27FC236}">
              <a16:creationId xmlns:a16="http://schemas.microsoft.com/office/drawing/2014/main" id="{21B0A1B4-3526-AA64-F1F8-5301C86612F2}"/>
            </a:ext>
          </a:extLst>
        </p:cNvPr>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DF86A064-2E99-DF6A-FF6D-DE46D26903D7}"/>
              </a:ext>
            </a:extLst>
          </p:cNvPr>
          <p:cNvSpPr>
            <a:spLocks noGrp="1"/>
          </p:cNvSpPr>
          <p:nvPr>
            <p:ph type="body" sz="quarter" idx="13"/>
          </p:nvPr>
        </p:nvSpPr>
        <p:spPr/>
        <p:txBody>
          <a:bodyPr>
            <a:normAutofit/>
          </a:bodyPr>
          <a:lstStyle/>
          <a:p>
            <a:r>
              <a:rPr lang="fr-FR" sz="2000" b="1" noProof="0" dirty="0"/>
              <a:t>NOTRE BUT</a:t>
            </a:r>
          </a:p>
          <a:p>
            <a:endParaRPr lang="fr-FR" sz="2000" b="1" noProof="0" dirty="0"/>
          </a:p>
        </p:txBody>
      </p:sp>
      <p:sp>
        <p:nvSpPr>
          <p:cNvPr id="6" name="Espace réservé du texte 5">
            <a:extLst>
              <a:ext uri="{FF2B5EF4-FFF2-40B4-BE49-F238E27FC236}">
                <a16:creationId xmlns:a16="http://schemas.microsoft.com/office/drawing/2014/main" id="{D6EF0ADF-A652-50E1-B13F-BE25651AF551}"/>
              </a:ext>
            </a:extLst>
          </p:cNvPr>
          <p:cNvSpPr>
            <a:spLocks noGrp="1"/>
          </p:cNvSpPr>
          <p:nvPr>
            <p:ph type="body" sz="quarter" idx="14"/>
          </p:nvPr>
        </p:nvSpPr>
        <p:spPr>
          <a:xfrm>
            <a:off x="7385879" y="4578752"/>
            <a:ext cx="2490509" cy="480483"/>
          </a:xfrm>
        </p:spPr>
        <p:txBody>
          <a:bodyPr>
            <a:noAutofit/>
          </a:bodyPr>
          <a:lstStyle/>
          <a:p>
            <a:r>
              <a:rPr lang="fr-FR" sz="2000" b="1" noProof="0" dirty="0"/>
              <a:t>APPROCHE PROJET</a:t>
            </a:r>
          </a:p>
          <a:p>
            <a:endParaRPr lang="fr-FR" sz="2000" b="1" noProof="0" dirty="0"/>
          </a:p>
        </p:txBody>
      </p:sp>
      <p:sp>
        <p:nvSpPr>
          <p:cNvPr id="2429" name="Google Shape;2429;p3">
            <a:extLst>
              <a:ext uri="{FF2B5EF4-FFF2-40B4-BE49-F238E27FC236}">
                <a16:creationId xmlns:a16="http://schemas.microsoft.com/office/drawing/2014/main" id="{4E820CA5-F444-6264-58E7-606539EC2D24}"/>
              </a:ext>
            </a:extLst>
          </p:cNvPr>
          <p:cNvSpPr txBox="1">
            <a:spLocks noGrp="1"/>
          </p:cNvSpPr>
          <p:nvPr>
            <p:ph type="title"/>
          </p:nvPr>
        </p:nvSpPr>
        <p:spPr/>
        <p:txBody>
          <a:bodyPr spcFirstLastPara="1" lIns="0" tIns="0" rIns="0" bIns="0" anchor="ctr" anchorCtr="0">
            <a:normAutofit/>
          </a:bodyPr>
          <a:lstStyle/>
          <a:p>
            <a:pPr marL="0" lvl="0" indent="0" rtl="0">
              <a:spcBef>
                <a:spcPts val="0"/>
              </a:spcBef>
              <a:spcAft>
                <a:spcPts val="0"/>
              </a:spcAft>
              <a:buClr>
                <a:schemeClr val="dk1"/>
              </a:buClr>
              <a:buSzPts val="2800"/>
              <a:buFont typeface="Open Sans Light"/>
              <a:buNone/>
            </a:pPr>
            <a:r>
              <a:rPr lang="fr-FR" noProof="0" dirty="0"/>
              <a:t>Introduction</a:t>
            </a:r>
          </a:p>
        </p:txBody>
      </p:sp>
      <p:sp>
        <p:nvSpPr>
          <p:cNvPr id="2" name="Espace réservé du numéro de diapositive 1">
            <a:extLst>
              <a:ext uri="{FF2B5EF4-FFF2-40B4-BE49-F238E27FC236}">
                <a16:creationId xmlns:a16="http://schemas.microsoft.com/office/drawing/2014/main" id="{5F43750E-66D4-CA0B-08BB-8745FFC9ACB5}"/>
              </a:ext>
            </a:extLst>
          </p:cNvPr>
          <p:cNvSpPr>
            <a:spLocks noGrp="1"/>
          </p:cNvSpPr>
          <p:nvPr>
            <p:ph type="sldNum" sz="quarter" idx="15"/>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0BD8C093-821D-4512-ACE4-8E8BF2045851}" type="slidenum">
              <a:rPr kumimoji="0" lang="fr-FR" b="1"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6</a:t>
            </a:fld>
            <a:endParaRPr kumimoji="0" lang="fr-FR" b="1" i="0" u="none" strike="noStrike" kern="1200" cap="none" spc="0" normalizeH="0" baseline="0" noProof="0" dirty="0">
              <a:ln>
                <a:noFill/>
              </a:ln>
              <a:effectLst/>
              <a:uLnTx/>
              <a:uFillTx/>
            </a:endParaRPr>
          </a:p>
        </p:txBody>
      </p:sp>
      <p:sp>
        <p:nvSpPr>
          <p:cNvPr id="8" name="Rectangle 7">
            <a:extLst>
              <a:ext uri="{FF2B5EF4-FFF2-40B4-BE49-F238E27FC236}">
                <a16:creationId xmlns:a16="http://schemas.microsoft.com/office/drawing/2014/main" id="{B06B6927-93E0-6D6B-2F24-4435DC327962}"/>
              </a:ext>
            </a:extLst>
          </p:cNvPr>
          <p:cNvSpPr/>
          <p:nvPr/>
        </p:nvSpPr>
        <p:spPr>
          <a:xfrm>
            <a:off x="3192360" y="2990277"/>
            <a:ext cx="913562" cy="877446"/>
          </a:xfrm>
          <a:prstGeom prst="rect">
            <a:avLst/>
          </a:prstGeom>
          <a: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2000" b="-2000"/>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fr-FR" noProof="0" dirty="0"/>
          </a:p>
        </p:txBody>
      </p:sp>
      <p:sp>
        <p:nvSpPr>
          <p:cNvPr id="10" name="Rectangle 9" descr="Mille">
            <a:extLst>
              <a:ext uri="{FF2B5EF4-FFF2-40B4-BE49-F238E27FC236}">
                <a16:creationId xmlns:a16="http://schemas.microsoft.com/office/drawing/2014/main" id="{739002AF-CB65-772F-0FDD-8A1C5FA45268}"/>
              </a:ext>
            </a:extLst>
          </p:cNvPr>
          <p:cNvSpPr/>
          <p:nvPr/>
        </p:nvSpPr>
        <p:spPr>
          <a:xfrm>
            <a:off x="8086080" y="2883946"/>
            <a:ext cx="1090108" cy="109010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hemeClr val="accent2">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FR" noProof="0" dirty="0"/>
          </a:p>
        </p:txBody>
      </p:sp>
      <p:sp>
        <p:nvSpPr>
          <p:cNvPr id="12" name="ZoneTexte 11">
            <a:extLst>
              <a:ext uri="{FF2B5EF4-FFF2-40B4-BE49-F238E27FC236}">
                <a16:creationId xmlns:a16="http://schemas.microsoft.com/office/drawing/2014/main" id="{6D77BC15-139D-4F01-4E7D-9A92A01AC32D}"/>
              </a:ext>
            </a:extLst>
          </p:cNvPr>
          <p:cNvSpPr txBox="1"/>
          <p:nvPr/>
        </p:nvSpPr>
        <p:spPr>
          <a:xfrm>
            <a:off x="263525" y="5247114"/>
            <a:ext cx="6337299" cy="646331"/>
          </a:xfrm>
          <a:prstGeom prst="rect">
            <a:avLst/>
          </a:prstGeom>
          <a:noFill/>
        </p:spPr>
        <p:txBody>
          <a:bodyPr wrap="square">
            <a:spAutoFit/>
          </a:bodyPr>
          <a:lstStyle/>
          <a:p>
            <a:pPr marL="285750" lvl="0" indent="-285750">
              <a:buFont typeface="Arial" panose="020B0604020202020204" pitchFamily="34" charset="0"/>
              <a:buChar char="•"/>
            </a:pPr>
            <a:r>
              <a:rPr lang="fr-FR" noProof="0" dirty="0">
                <a:latin typeface="+mj-lt"/>
              </a:rPr>
              <a:t>Formaliser l’objectif, les attentes et les responsabilités</a:t>
            </a:r>
          </a:p>
          <a:p>
            <a:pPr marL="285750" lvl="0" indent="-285750">
              <a:buFont typeface="Arial" panose="020B0604020202020204" pitchFamily="34" charset="0"/>
              <a:buChar char="•"/>
            </a:pPr>
            <a:r>
              <a:rPr lang="fr-FR" noProof="0" dirty="0">
                <a:latin typeface="+mj-lt"/>
              </a:rPr>
              <a:t>Être le fil rouge du projet, ne pas être une contrainte</a:t>
            </a:r>
          </a:p>
        </p:txBody>
      </p:sp>
      <p:sp>
        <p:nvSpPr>
          <p:cNvPr id="14" name="ZoneTexte 13">
            <a:extLst>
              <a:ext uri="{FF2B5EF4-FFF2-40B4-BE49-F238E27FC236}">
                <a16:creationId xmlns:a16="http://schemas.microsoft.com/office/drawing/2014/main" id="{3FE97C16-EE26-4A5F-8BA0-98B7ADE810C4}"/>
              </a:ext>
            </a:extLst>
          </p:cNvPr>
          <p:cNvSpPr txBox="1"/>
          <p:nvPr/>
        </p:nvSpPr>
        <p:spPr>
          <a:xfrm>
            <a:off x="6711258" y="5247114"/>
            <a:ext cx="5080407" cy="923330"/>
          </a:xfrm>
          <a:prstGeom prst="rect">
            <a:avLst/>
          </a:prstGeom>
          <a:noFill/>
        </p:spPr>
        <p:txBody>
          <a:bodyPr wrap="square">
            <a:spAutoFit/>
          </a:bodyPr>
          <a:lstStyle/>
          <a:p>
            <a:pPr marL="285750" lvl="0" indent="-285750">
              <a:lnSpc>
                <a:spcPct val="100000"/>
              </a:lnSpc>
              <a:buFont typeface="Arial" panose="020B0604020202020204" pitchFamily="34" charset="0"/>
              <a:buChar char="•"/>
            </a:pPr>
            <a:r>
              <a:rPr lang="fr-FR" noProof="0" dirty="0">
                <a:latin typeface="+mj-lt"/>
              </a:rPr>
              <a:t>Méthodologie de gestion de projet inspirée de l’Agile</a:t>
            </a:r>
          </a:p>
          <a:p>
            <a:pPr marL="285750" lvl="0" indent="-285750">
              <a:lnSpc>
                <a:spcPct val="100000"/>
              </a:lnSpc>
              <a:buFont typeface="Arial" panose="020B0604020202020204" pitchFamily="34" charset="0"/>
              <a:buChar char="•"/>
            </a:pPr>
            <a:r>
              <a:rPr lang="fr-FR" noProof="0" dirty="0">
                <a:latin typeface="+mj-lt"/>
              </a:rPr>
              <a:t>Sprints hebdomadaires</a:t>
            </a:r>
          </a:p>
        </p:txBody>
      </p:sp>
    </p:spTree>
    <p:extLst>
      <p:ext uri="{BB962C8B-B14F-4D97-AF65-F5344CB8AC3E}">
        <p14:creationId xmlns:p14="http://schemas.microsoft.com/office/powerpoint/2010/main" val="3716974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3"/>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Introduction</a:t>
            </a:r>
          </a:p>
        </p:txBody>
      </p:sp>
      <p:sp>
        <p:nvSpPr>
          <p:cNvPr id="2" name="Espace réservé du numéro de diapositive 1">
            <a:extLst>
              <a:ext uri="{FF2B5EF4-FFF2-40B4-BE49-F238E27FC236}">
                <a16:creationId xmlns:a16="http://schemas.microsoft.com/office/drawing/2014/main" id="{BC537026-E3B0-9093-D685-E33A8F9E4A4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2430" name="Google Shape;2430;p3"/>
          <p:cNvSpPr txBox="1">
            <a:spLocks noGrp="1"/>
          </p:cNvSpPr>
          <p:nvPr>
            <p:ph idx="4294967295"/>
          </p:nvPr>
        </p:nvSpPr>
        <p:spPr>
          <a:xfrm>
            <a:off x="838200" y="2097088"/>
            <a:ext cx="10515600" cy="4667250"/>
          </a:xfrm>
          <a:prstGeom prst="rect">
            <a:avLst/>
          </a:prstGeom>
          <a:noFill/>
          <a:ln>
            <a:noFill/>
          </a:ln>
        </p:spPr>
        <p:txBody>
          <a:bodyPr spcFirstLastPara="1" wrap="square" lIns="0" tIns="0" rIns="0" bIns="0" anchor="t" anchorCtr="0">
            <a:normAutofit/>
          </a:bodyPr>
          <a:lstStyle/>
          <a:p>
            <a:pPr lvl="0" algn="l" rtl="0">
              <a:lnSpc>
                <a:spcPct val="100000"/>
              </a:lnSpc>
              <a:spcBef>
                <a:spcPts val="0"/>
              </a:spcBef>
              <a:spcAft>
                <a:spcPts val="600"/>
              </a:spcAft>
              <a:buSzPts val="2000"/>
            </a:pPr>
            <a:r>
              <a:rPr lang="fr-FR" sz="2000" b="1" noProof="0" dirty="0">
                <a:latin typeface="+mn-lt"/>
              </a:rPr>
              <a:t>Objectif global</a:t>
            </a:r>
          </a:p>
          <a:p>
            <a:pPr marL="685794" lvl="1" indent="-457200" algn="l" rtl="0">
              <a:lnSpc>
                <a:spcPct val="100000"/>
              </a:lnSpc>
              <a:spcBef>
                <a:spcPts val="0"/>
              </a:spcBef>
              <a:spcAft>
                <a:spcPts val="600"/>
              </a:spcAft>
              <a:buSzPts val="1600"/>
              <a:buFont typeface="Courier New" panose="02070309020205020404" pitchFamily="49" charset="0"/>
              <a:buChar char="o"/>
            </a:pPr>
            <a:r>
              <a:rPr lang="fr-FR" sz="2000" b="0" noProof="0" dirty="0">
                <a:latin typeface="+mn-lt"/>
              </a:rPr>
              <a:t>Objectif du projet CLIENT</a:t>
            </a:r>
          </a:p>
          <a:p>
            <a:pPr marL="685794" lvl="1" indent="-457200" algn="l" rtl="0">
              <a:lnSpc>
                <a:spcPct val="100000"/>
              </a:lnSpc>
              <a:spcBef>
                <a:spcPts val="0"/>
              </a:spcBef>
              <a:spcAft>
                <a:spcPts val="600"/>
              </a:spcAft>
              <a:buSzPts val="1600"/>
              <a:buFont typeface="Courier New" panose="02070309020205020404" pitchFamily="49" charset="0"/>
              <a:buChar char="o"/>
            </a:pPr>
            <a:endParaRPr lang="fr-FR" sz="2000" b="0" noProof="0" dirty="0">
              <a:latin typeface="+mn-lt"/>
            </a:endParaRPr>
          </a:p>
          <a:p>
            <a:pPr lvl="0" algn="l" rtl="0">
              <a:lnSpc>
                <a:spcPct val="100000"/>
              </a:lnSpc>
              <a:spcBef>
                <a:spcPts val="600"/>
              </a:spcBef>
              <a:spcAft>
                <a:spcPts val="600"/>
              </a:spcAft>
              <a:buSzPts val="2000"/>
            </a:pPr>
            <a:r>
              <a:rPr lang="fr-FR" sz="2000" b="1" noProof="0" dirty="0">
                <a:latin typeface="+mn-lt"/>
              </a:rPr>
              <a:t>Périmètre du projet</a:t>
            </a:r>
          </a:p>
          <a:p>
            <a:pPr marL="685794" lvl="1" indent="-457200" algn="l" rtl="0">
              <a:lnSpc>
                <a:spcPct val="100000"/>
              </a:lnSpc>
              <a:spcBef>
                <a:spcPts val="0"/>
              </a:spcBef>
              <a:spcAft>
                <a:spcPts val="600"/>
              </a:spcAft>
              <a:buSzPts val="1600"/>
              <a:buFont typeface="Courier New" panose="02070309020205020404" pitchFamily="49" charset="0"/>
              <a:buChar char="o"/>
            </a:pPr>
            <a:r>
              <a:rPr lang="fr-FR" sz="2000" b="0" noProof="0" dirty="0">
                <a:latin typeface="+mn-lt"/>
              </a:rPr>
              <a:t>Domaine 1</a:t>
            </a:r>
          </a:p>
          <a:p>
            <a:pPr marL="685794" lvl="1" indent="-457200" algn="l" rtl="0">
              <a:lnSpc>
                <a:spcPct val="100000"/>
              </a:lnSpc>
              <a:spcBef>
                <a:spcPts val="0"/>
              </a:spcBef>
              <a:spcAft>
                <a:spcPts val="600"/>
              </a:spcAft>
              <a:buSzPts val="1600"/>
              <a:buFont typeface="Courier New" panose="02070309020205020404" pitchFamily="49" charset="0"/>
              <a:buChar char="o"/>
            </a:pPr>
            <a:r>
              <a:rPr lang="fr-FR" sz="2000" b="0" noProof="0" dirty="0">
                <a:latin typeface="+mn-lt"/>
              </a:rPr>
              <a:t>Domaine 2</a:t>
            </a:r>
          </a:p>
          <a:p>
            <a:pPr marL="685794" lvl="1" indent="-457200" algn="l" rtl="0">
              <a:lnSpc>
                <a:spcPct val="100000"/>
              </a:lnSpc>
              <a:spcBef>
                <a:spcPts val="0"/>
              </a:spcBef>
              <a:spcAft>
                <a:spcPts val="600"/>
              </a:spcAft>
              <a:buSzPts val="1600"/>
              <a:buFont typeface="Courier New" panose="02070309020205020404" pitchFamily="49" charset="0"/>
              <a:buChar char="o"/>
            </a:pPr>
            <a:r>
              <a:rPr lang="fr-FR" sz="2000" b="0" noProof="0" dirty="0">
                <a:latin typeface="+mn-lt"/>
              </a:rPr>
              <a:t>Domaine 3</a:t>
            </a:r>
          </a:p>
          <a:p>
            <a:pPr marL="685794" lvl="1" indent="-457200" algn="l" rtl="0">
              <a:lnSpc>
                <a:spcPct val="100000"/>
              </a:lnSpc>
              <a:spcBef>
                <a:spcPts val="0"/>
              </a:spcBef>
              <a:spcAft>
                <a:spcPts val="600"/>
              </a:spcAft>
              <a:buSzPts val="1600"/>
              <a:buFont typeface="Courier New" panose="02070309020205020404" pitchFamily="49" charset="0"/>
              <a:buChar char="o"/>
            </a:pPr>
            <a:r>
              <a:rPr lang="fr-FR" sz="2000" b="0" noProof="0" dirty="0">
                <a:latin typeface="+mn-lt"/>
              </a:rPr>
              <a:t>Passerelle 1</a:t>
            </a:r>
          </a:p>
          <a:p>
            <a:pPr marL="685794" lvl="1" indent="-457200" algn="l" rtl="0">
              <a:lnSpc>
                <a:spcPct val="100000"/>
              </a:lnSpc>
              <a:spcBef>
                <a:spcPts val="0"/>
              </a:spcBef>
              <a:spcAft>
                <a:spcPts val="600"/>
              </a:spcAft>
              <a:buSzPts val="1600"/>
              <a:buFont typeface="Courier New" panose="02070309020205020404" pitchFamily="49" charset="0"/>
              <a:buChar char="o"/>
            </a:pPr>
            <a:r>
              <a:rPr lang="fr-FR" sz="2000" b="0" noProof="0" dirty="0">
                <a:latin typeface="+mn-lt"/>
              </a:rPr>
              <a:t>Outil tiers 1</a:t>
            </a:r>
          </a:p>
        </p:txBody>
      </p:sp>
      <p:pic>
        <p:nvPicPr>
          <p:cNvPr id="3" name="Graphique 2" descr="Stylo avec un remplissage uni">
            <a:extLst>
              <a:ext uri="{FF2B5EF4-FFF2-40B4-BE49-F238E27FC236}">
                <a16:creationId xmlns:a16="http://schemas.microsoft.com/office/drawing/2014/main" id="{9DDE4171-2AB8-84F6-2954-FDCEF478B6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83571" y="1859538"/>
            <a:ext cx="901502" cy="914400"/>
          </a:xfrm>
          <a:prstGeom prst="rect">
            <a:avLst/>
          </a:prstGeom>
        </p:spPr>
      </p:pic>
      <p:pic>
        <p:nvPicPr>
          <p:cNvPr id="4" name="Graphique 3" descr="Stylo avec un remplissage uni">
            <a:extLst>
              <a:ext uri="{FF2B5EF4-FFF2-40B4-BE49-F238E27FC236}">
                <a16:creationId xmlns:a16="http://schemas.microsoft.com/office/drawing/2014/main" id="{F0273127-B009-3EC3-A858-30FF776869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97696" y="3774063"/>
            <a:ext cx="901502" cy="914400"/>
          </a:xfrm>
          <a:prstGeom prst="rect">
            <a:avLst/>
          </a:prstGeom>
        </p:spPr>
      </p:pic>
    </p:spTree>
    <p:extLst>
      <p:ext uri="{BB962C8B-B14F-4D97-AF65-F5344CB8AC3E}">
        <p14:creationId xmlns:p14="http://schemas.microsoft.com/office/powerpoint/2010/main" val="3634510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3"/>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Vocabulaire</a:t>
            </a:r>
          </a:p>
        </p:txBody>
      </p:sp>
      <p:sp>
        <p:nvSpPr>
          <p:cNvPr id="2" name="Espace réservé du numéro de diapositive 1">
            <a:extLst>
              <a:ext uri="{FF2B5EF4-FFF2-40B4-BE49-F238E27FC236}">
                <a16:creationId xmlns:a16="http://schemas.microsoft.com/office/drawing/2014/main" id="{11DD07E4-CAC8-2423-52FA-9FFD3C601A9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2430" name="Google Shape;2430;p3"/>
          <p:cNvSpPr txBox="1">
            <a:spLocks noGrp="1"/>
          </p:cNvSpPr>
          <p:nvPr>
            <p:ph idx="4294967295"/>
          </p:nvPr>
        </p:nvSpPr>
        <p:spPr>
          <a:xfrm>
            <a:off x="838200" y="2420938"/>
            <a:ext cx="10515600" cy="4667250"/>
          </a:xfrm>
          <a:prstGeom prst="rect">
            <a:avLst/>
          </a:prstGeom>
          <a:noFill/>
          <a:ln>
            <a:noFill/>
          </a:ln>
        </p:spPr>
        <p:txBody>
          <a:bodyPr spcFirstLastPara="1" vert="horz" wrap="square" lIns="0" tIns="0" rIns="0" bIns="0" rtlCol="0" anchor="t" anchorCtr="0">
            <a:normAutofit/>
          </a:bodyPr>
          <a:lstStyle/>
          <a:p>
            <a:pPr>
              <a:lnSpc>
                <a:spcPct val="100000"/>
              </a:lnSpc>
              <a:spcBef>
                <a:spcPts val="0"/>
              </a:spcBef>
              <a:spcAft>
                <a:spcPts val="600"/>
              </a:spcAft>
              <a:buSzPts val="2000"/>
            </a:pPr>
            <a:r>
              <a:rPr lang="fr-FR" sz="2000" noProof="0" dirty="0">
                <a:latin typeface="+mn-lt"/>
              </a:rPr>
              <a:t>Terme : Définition</a:t>
            </a:r>
          </a:p>
          <a:p>
            <a:pPr>
              <a:lnSpc>
                <a:spcPct val="100000"/>
              </a:lnSpc>
              <a:spcBef>
                <a:spcPts val="0"/>
              </a:spcBef>
              <a:spcAft>
                <a:spcPts val="600"/>
              </a:spcAft>
              <a:buSzPts val="2000"/>
            </a:pPr>
            <a:endParaRPr lang="fr-FR" sz="2000" noProof="0" dirty="0">
              <a:latin typeface="+mn-lt"/>
            </a:endParaRPr>
          </a:p>
          <a:p>
            <a:pPr>
              <a:lnSpc>
                <a:spcPct val="100000"/>
              </a:lnSpc>
              <a:spcBef>
                <a:spcPts val="0"/>
              </a:spcBef>
              <a:spcAft>
                <a:spcPts val="600"/>
              </a:spcAft>
              <a:buSzPts val="2000"/>
            </a:pPr>
            <a:endParaRPr lang="fr-FR" sz="2000" noProof="0" dirty="0">
              <a:latin typeface="+mn-lt"/>
            </a:endParaRPr>
          </a:p>
        </p:txBody>
      </p:sp>
      <p:pic>
        <p:nvPicPr>
          <p:cNvPr id="3" name="Graphique 2" descr="Stylo avec un remplissage uni">
            <a:extLst>
              <a:ext uri="{FF2B5EF4-FFF2-40B4-BE49-F238E27FC236}">
                <a16:creationId xmlns:a16="http://schemas.microsoft.com/office/drawing/2014/main" id="{D1360165-5350-A939-82AA-BC4AEE7091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8825" y="2239110"/>
            <a:ext cx="901502" cy="914400"/>
          </a:xfrm>
          <a:prstGeom prst="rect">
            <a:avLst/>
          </a:prstGeom>
        </p:spPr>
      </p:pic>
    </p:spTree>
    <p:extLst>
      <p:ext uri="{BB962C8B-B14F-4D97-AF65-F5344CB8AC3E}">
        <p14:creationId xmlns:p14="http://schemas.microsoft.com/office/powerpoint/2010/main" val="1535368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DFF4B35-DE93-6BA8-DE23-480C924844AF}"/>
              </a:ext>
            </a:extLst>
          </p:cNvPr>
          <p:cNvSpPr>
            <a:spLocks noGrp="1"/>
          </p:cNvSpPr>
          <p:nvPr>
            <p:ph type="ctrTitle"/>
          </p:nvPr>
        </p:nvSpPr>
        <p:spPr>
          <a:xfrm>
            <a:off x="215900" y="1898650"/>
            <a:ext cx="5880100" cy="3060700"/>
          </a:xfrm>
        </p:spPr>
        <p:txBody>
          <a:bodyPr anchor="ctr">
            <a:normAutofit/>
          </a:bodyPr>
          <a:lstStyle/>
          <a:p>
            <a:r>
              <a:rPr lang="fr-FR" sz="6000" noProof="0" dirty="0">
                <a:latin typeface="+mj-lt"/>
              </a:rPr>
              <a:t>NOTRE VISION</a:t>
            </a:r>
            <a:br>
              <a:rPr lang="fr-FR" sz="6000" noProof="0" dirty="0">
                <a:latin typeface="+mj-lt"/>
              </a:rPr>
            </a:br>
            <a:r>
              <a:rPr lang="fr-FR" sz="6000" noProof="0" dirty="0">
                <a:latin typeface="+mj-lt"/>
              </a:rPr>
              <a:t>D’UN PROJET RÉUSSI</a:t>
            </a:r>
          </a:p>
        </p:txBody>
      </p:sp>
      <p:pic>
        <p:nvPicPr>
          <p:cNvPr id="7" name="Espace réservé du contenu 6">
            <a:extLst>
              <a:ext uri="{FF2B5EF4-FFF2-40B4-BE49-F238E27FC236}">
                <a16:creationId xmlns:a16="http://schemas.microsoft.com/office/drawing/2014/main" id="{3E147E88-E3EB-FAE3-9743-352EC0504DB2}"/>
              </a:ext>
            </a:extLst>
          </p:cNvPr>
          <p:cNvPicPr>
            <a:picLocks noGrp="1" noChangeAspect="1"/>
          </p:cNvPicPr>
          <p:nvPr>
            <p:ph sz="quarter" idx="11"/>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1347787"/>
            <a:ext cx="4160838" cy="4160838"/>
          </a:xfrm>
          <a:prstGeom prst="rect">
            <a:avLst/>
          </a:prstGeom>
        </p:spPr>
      </p:pic>
      <p:sp>
        <p:nvSpPr>
          <p:cNvPr id="2" name="Espace réservé du numéro de diapositive 1">
            <a:extLst>
              <a:ext uri="{FF2B5EF4-FFF2-40B4-BE49-F238E27FC236}">
                <a16:creationId xmlns:a16="http://schemas.microsoft.com/office/drawing/2014/main" id="{90A046C8-5EA7-0C9B-18B5-0A5718EEC10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Tree>
    <p:extLst>
      <p:ext uri="{BB962C8B-B14F-4D97-AF65-F5344CB8AC3E}">
        <p14:creationId xmlns:p14="http://schemas.microsoft.com/office/powerpoint/2010/main" val="1440561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7C6391E3-9C15-2B28-FD6B-F9B3A893202C}"/>
              </a:ext>
            </a:extLst>
          </p:cNvPr>
          <p:cNvSpPr>
            <a:spLocks noGrp="1"/>
          </p:cNvSpPr>
          <p:nvPr>
            <p:ph type="body" sz="quarter" idx="10"/>
          </p:nvPr>
        </p:nvSpPr>
        <p:spPr/>
        <p:txBody>
          <a:bodyPr>
            <a:normAutofit/>
          </a:bodyPr>
          <a:lstStyle/>
          <a:p>
            <a:r>
              <a:rPr lang="fr-FR" sz="7200" noProof="0" dirty="0"/>
              <a:t>1</a:t>
            </a:r>
          </a:p>
        </p:txBody>
      </p:sp>
      <p:sp>
        <p:nvSpPr>
          <p:cNvPr id="15" name="Espace réservé du texte 14">
            <a:extLst>
              <a:ext uri="{FF2B5EF4-FFF2-40B4-BE49-F238E27FC236}">
                <a16:creationId xmlns:a16="http://schemas.microsoft.com/office/drawing/2014/main" id="{73D5AD90-8156-86A7-1CFB-22A73C265E42}"/>
              </a:ext>
            </a:extLst>
          </p:cNvPr>
          <p:cNvSpPr>
            <a:spLocks noGrp="1"/>
          </p:cNvSpPr>
          <p:nvPr>
            <p:ph type="body" sz="quarter" idx="11"/>
          </p:nvPr>
        </p:nvSpPr>
        <p:spPr/>
        <p:txBody>
          <a:bodyPr>
            <a:normAutofit/>
          </a:bodyPr>
          <a:lstStyle/>
          <a:p>
            <a:r>
              <a:rPr lang="fr-FR" sz="7200" noProof="0" dirty="0"/>
              <a:t>2</a:t>
            </a:r>
          </a:p>
        </p:txBody>
      </p:sp>
      <p:sp>
        <p:nvSpPr>
          <p:cNvPr id="16" name="Espace réservé du texte 15">
            <a:extLst>
              <a:ext uri="{FF2B5EF4-FFF2-40B4-BE49-F238E27FC236}">
                <a16:creationId xmlns:a16="http://schemas.microsoft.com/office/drawing/2014/main" id="{01DF9DD4-8C2D-9138-3489-907B22C56E01}"/>
              </a:ext>
            </a:extLst>
          </p:cNvPr>
          <p:cNvSpPr>
            <a:spLocks noGrp="1"/>
          </p:cNvSpPr>
          <p:nvPr>
            <p:ph type="body" sz="quarter" idx="12"/>
          </p:nvPr>
        </p:nvSpPr>
        <p:spPr/>
        <p:txBody>
          <a:bodyPr>
            <a:normAutofit/>
          </a:bodyPr>
          <a:lstStyle/>
          <a:p>
            <a:r>
              <a:rPr lang="fr-FR" sz="7200" noProof="0" dirty="0"/>
              <a:t>3</a:t>
            </a:r>
          </a:p>
        </p:txBody>
      </p:sp>
      <p:sp>
        <p:nvSpPr>
          <p:cNvPr id="17" name="Espace réservé du texte 16">
            <a:extLst>
              <a:ext uri="{FF2B5EF4-FFF2-40B4-BE49-F238E27FC236}">
                <a16:creationId xmlns:a16="http://schemas.microsoft.com/office/drawing/2014/main" id="{56ED1FB3-2429-8E7B-A487-F726CB3DD17B}"/>
              </a:ext>
            </a:extLst>
          </p:cNvPr>
          <p:cNvSpPr>
            <a:spLocks noGrp="1"/>
          </p:cNvSpPr>
          <p:nvPr>
            <p:ph type="body" sz="quarter" idx="13"/>
          </p:nvPr>
        </p:nvSpPr>
        <p:spPr>
          <a:xfrm>
            <a:off x="2003031" y="4690251"/>
            <a:ext cx="2089938" cy="480483"/>
          </a:xfrm>
        </p:spPr>
        <p:txBody>
          <a:bodyPr>
            <a:noAutofit/>
          </a:bodyPr>
          <a:lstStyle/>
          <a:p>
            <a:r>
              <a:rPr lang="fr-FR" sz="1800" b="1" noProof="0" dirty="0"/>
              <a:t>RESTEZ PROCHE</a:t>
            </a:r>
          </a:p>
          <a:p>
            <a:r>
              <a:rPr lang="fr-FR" sz="1800" b="1" noProof="0" dirty="0"/>
              <a:t> DES STANDARDS</a:t>
            </a:r>
          </a:p>
          <a:p>
            <a:endParaRPr lang="fr-FR" sz="1800" b="1" noProof="0" dirty="0"/>
          </a:p>
        </p:txBody>
      </p:sp>
      <p:sp>
        <p:nvSpPr>
          <p:cNvPr id="13" name="Titre 12">
            <a:extLst>
              <a:ext uri="{FF2B5EF4-FFF2-40B4-BE49-F238E27FC236}">
                <a16:creationId xmlns:a16="http://schemas.microsoft.com/office/drawing/2014/main" id="{08F2C656-1934-DB49-99D7-DC73A794FAAF}"/>
              </a:ext>
            </a:extLst>
          </p:cNvPr>
          <p:cNvSpPr>
            <a:spLocks noGrp="1"/>
          </p:cNvSpPr>
          <p:nvPr>
            <p:ph type="title"/>
          </p:nvPr>
        </p:nvSpPr>
        <p:spPr/>
        <p:txBody>
          <a:bodyPr/>
          <a:lstStyle/>
          <a:p>
            <a:r>
              <a:rPr lang="fr-FR" noProof="0" dirty="0"/>
              <a:t>SOYEZ EN LIGNE RAPIDEMENT</a:t>
            </a:r>
          </a:p>
        </p:txBody>
      </p:sp>
      <p:sp>
        <p:nvSpPr>
          <p:cNvPr id="5" name="Espace réservé du numéro de diapositive 4">
            <a:extLst>
              <a:ext uri="{FF2B5EF4-FFF2-40B4-BE49-F238E27FC236}">
                <a16:creationId xmlns:a16="http://schemas.microsoft.com/office/drawing/2014/main" id="{3398001A-2CE4-4BF0-220E-225114E670AD}"/>
              </a:ext>
            </a:extLst>
          </p:cNvPr>
          <p:cNvSpPr>
            <a:spLocks noGrp="1"/>
          </p:cNvSpPr>
          <p:nvPr>
            <p:ph type="sldNum"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20" name="Espace réservé du texte 16">
            <a:extLst>
              <a:ext uri="{FF2B5EF4-FFF2-40B4-BE49-F238E27FC236}">
                <a16:creationId xmlns:a16="http://schemas.microsoft.com/office/drawing/2014/main" id="{45569EC6-0B62-FB7B-3E67-915568A1D091}"/>
              </a:ext>
            </a:extLst>
          </p:cNvPr>
          <p:cNvSpPr txBox="1">
            <a:spLocks/>
          </p:cNvSpPr>
          <p:nvPr/>
        </p:nvSpPr>
        <p:spPr>
          <a:xfrm>
            <a:off x="5051031" y="4690251"/>
            <a:ext cx="2089938" cy="4804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1" i="0" u="none" strike="noStrike" kern="1200" cap="none" spc="0" normalizeH="0" baseline="0" noProof="0" dirty="0">
                <a:ln>
                  <a:noFill/>
                </a:ln>
                <a:solidFill>
                  <a:srgbClr val="212529"/>
                </a:solidFill>
                <a:effectLst/>
                <a:uLnTx/>
                <a:uFillTx/>
                <a:latin typeface="Trebuchet MS"/>
                <a:ea typeface="+mn-ea"/>
                <a:cs typeface="+mn-cs"/>
              </a:rPr>
              <a:t>APPROCHE</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1" i="0" u="none" strike="noStrike" kern="1200" cap="none" spc="0" normalizeH="0" baseline="0" noProof="0" dirty="0">
                <a:ln>
                  <a:noFill/>
                </a:ln>
                <a:solidFill>
                  <a:srgbClr val="212529"/>
                </a:solidFill>
                <a:effectLst/>
                <a:uLnTx/>
                <a:uFillTx/>
                <a:latin typeface="Trebuchet MS"/>
                <a:ea typeface="+mn-ea"/>
                <a:cs typeface="+mn-cs"/>
              </a:rPr>
              <a:t>MVP</a:t>
            </a:r>
          </a:p>
        </p:txBody>
      </p:sp>
      <p:sp>
        <p:nvSpPr>
          <p:cNvPr id="21" name="Espace réservé du texte 16">
            <a:extLst>
              <a:ext uri="{FF2B5EF4-FFF2-40B4-BE49-F238E27FC236}">
                <a16:creationId xmlns:a16="http://schemas.microsoft.com/office/drawing/2014/main" id="{5001D53D-C5FB-7E12-C922-005F9DC617A0}"/>
              </a:ext>
            </a:extLst>
          </p:cNvPr>
          <p:cNvSpPr txBox="1">
            <a:spLocks/>
          </p:cNvSpPr>
          <p:nvPr/>
        </p:nvSpPr>
        <p:spPr>
          <a:xfrm>
            <a:off x="7973878" y="4690251"/>
            <a:ext cx="2340244" cy="4804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1" i="0" u="none" strike="noStrike" kern="1200" cap="none" spc="0" normalizeH="0" baseline="0" noProof="0" dirty="0">
                <a:ln>
                  <a:noFill/>
                </a:ln>
                <a:solidFill>
                  <a:srgbClr val="212529"/>
                </a:solidFill>
                <a:effectLst/>
                <a:uLnTx/>
                <a:uFillTx/>
                <a:latin typeface="Trebuchet MS"/>
                <a:ea typeface="+mn-ea"/>
                <a:cs typeface="+mn-cs"/>
              </a:rPr>
              <a:t>ANALYSE </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1" i="0" u="none" strike="noStrike" kern="1200" cap="none" spc="0" normalizeH="0" baseline="0" noProof="0" dirty="0">
                <a:ln>
                  <a:noFill/>
                </a:ln>
                <a:solidFill>
                  <a:srgbClr val="212529"/>
                </a:solidFill>
                <a:effectLst/>
                <a:uLnTx/>
                <a:uFillTx/>
                <a:latin typeface="Trebuchet MS"/>
                <a:ea typeface="+mn-ea"/>
                <a:cs typeface="+mn-cs"/>
              </a:rPr>
              <a:t>D’IMPLÉMENTATION</a:t>
            </a:r>
          </a:p>
        </p:txBody>
      </p:sp>
    </p:spTree>
    <p:extLst>
      <p:ext uri="{BB962C8B-B14F-4D97-AF65-F5344CB8AC3E}">
        <p14:creationId xmlns:p14="http://schemas.microsoft.com/office/powerpoint/2010/main" val="75292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20523-0545-42F0-264B-6A620CE63824}"/>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616E10DE-086C-99B3-552D-22D752E77AC2}"/>
              </a:ext>
            </a:extLst>
          </p:cNvPr>
          <p:cNvSpPr>
            <a:spLocks noGrp="1"/>
          </p:cNvSpPr>
          <p:nvPr>
            <p:ph type="body" sz="quarter" idx="13"/>
          </p:nvPr>
        </p:nvSpPr>
        <p:spPr>
          <a:xfrm>
            <a:off x="1824212" y="4613046"/>
            <a:ext cx="2472755" cy="707922"/>
          </a:xfrm>
        </p:spPr>
        <p:txBody>
          <a:bodyPr anchor="ctr">
            <a:noAutofit/>
          </a:bodyPr>
          <a:lstStyle/>
          <a:p>
            <a:pPr lvl="0">
              <a:lnSpc>
                <a:spcPct val="100000"/>
              </a:lnSpc>
              <a:spcBef>
                <a:spcPts val="0"/>
              </a:spcBef>
              <a:defRPr/>
            </a:pPr>
            <a:r>
              <a:rPr lang="fr-FR" sz="1800" b="1" noProof="0" dirty="0">
                <a:solidFill>
                  <a:srgbClr val="212529"/>
                </a:solidFill>
                <a:latin typeface="+mn-lt"/>
              </a:rPr>
              <a:t>FORMATION KEY USERS EN CONTINUE</a:t>
            </a:r>
          </a:p>
        </p:txBody>
      </p:sp>
      <p:sp>
        <p:nvSpPr>
          <p:cNvPr id="10" name="Espace réservé du texte 9">
            <a:extLst>
              <a:ext uri="{FF2B5EF4-FFF2-40B4-BE49-F238E27FC236}">
                <a16:creationId xmlns:a16="http://schemas.microsoft.com/office/drawing/2014/main" id="{AC2BCF75-35AB-36C4-3B25-185530D6C5A1}"/>
              </a:ext>
            </a:extLst>
          </p:cNvPr>
          <p:cNvSpPr>
            <a:spLocks noGrp="1"/>
          </p:cNvSpPr>
          <p:nvPr>
            <p:ph type="body" sz="quarter" idx="14"/>
          </p:nvPr>
        </p:nvSpPr>
        <p:spPr>
          <a:xfrm>
            <a:off x="4870796" y="4609569"/>
            <a:ext cx="2472756" cy="707922"/>
          </a:xfrm>
        </p:spPr>
        <p:txBody>
          <a:bodyPr anchor="ctr">
            <a:normAutofit/>
          </a:bodyPr>
          <a:lstStyle/>
          <a:p>
            <a:pPr lvl="0">
              <a:lnSpc>
                <a:spcPct val="100000"/>
              </a:lnSpc>
              <a:spcBef>
                <a:spcPts val="0"/>
              </a:spcBef>
              <a:defRPr/>
            </a:pPr>
            <a:r>
              <a:rPr lang="fr-FR" sz="1800" b="1" noProof="0" dirty="0">
                <a:solidFill>
                  <a:srgbClr val="212529"/>
                </a:solidFill>
                <a:latin typeface="+mn-lt"/>
              </a:rPr>
              <a:t>SUIVI </a:t>
            </a:r>
          </a:p>
          <a:p>
            <a:pPr lvl="0">
              <a:lnSpc>
                <a:spcPct val="100000"/>
              </a:lnSpc>
              <a:spcBef>
                <a:spcPts val="0"/>
              </a:spcBef>
              <a:defRPr/>
            </a:pPr>
            <a:r>
              <a:rPr lang="fr-FR" sz="1800" b="1" noProof="0" dirty="0">
                <a:solidFill>
                  <a:srgbClr val="212529"/>
                </a:solidFill>
                <a:latin typeface="+mn-lt"/>
              </a:rPr>
              <a:t>HEBDOMADAIRE</a:t>
            </a:r>
          </a:p>
        </p:txBody>
      </p:sp>
      <p:sp>
        <p:nvSpPr>
          <p:cNvPr id="11" name="Espace réservé du texte 10">
            <a:extLst>
              <a:ext uri="{FF2B5EF4-FFF2-40B4-BE49-F238E27FC236}">
                <a16:creationId xmlns:a16="http://schemas.microsoft.com/office/drawing/2014/main" id="{F77D149E-084F-AB89-324E-6309B5563984}"/>
              </a:ext>
            </a:extLst>
          </p:cNvPr>
          <p:cNvSpPr>
            <a:spLocks noGrp="1"/>
          </p:cNvSpPr>
          <p:nvPr>
            <p:ph type="body" sz="quarter" idx="15"/>
          </p:nvPr>
        </p:nvSpPr>
        <p:spPr>
          <a:xfrm>
            <a:off x="7917381" y="4609569"/>
            <a:ext cx="2453237" cy="707922"/>
          </a:xfrm>
        </p:spPr>
        <p:txBody>
          <a:bodyPr anchor="ctr">
            <a:noAutofit/>
          </a:bodyPr>
          <a:lstStyle/>
          <a:p>
            <a:pPr lvl="0">
              <a:lnSpc>
                <a:spcPct val="100000"/>
              </a:lnSpc>
              <a:spcBef>
                <a:spcPts val="0"/>
              </a:spcBef>
              <a:defRPr/>
            </a:pPr>
            <a:r>
              <a:rPr lang="fr-FR" sz="1800" b="1" noProof="0" dirty="0">
                <a:solidFill>
                  <a:srgbClr val="212529"/>
                </a:solidFill>
                <a:latin typeface="+mn-lt"/>
              </a:rPr>
              <a:t>VALIDATION</a:t>
            </a:r>
          </a:p>
          <a:p>
            <a:pPr lvl="0">
              <a:lnSpc>
                <a:spcPct val="100000"/>
              </a:lnSpc>
              <a:spcBef>
                <a:spcPts val="0"/>
              </a:spcBef>
              <a:defRPr/>
            </a:pPr>
            <a:r>
              <a:rPr lang="fr-FR" sz="1800" b="1" noProof="0" dirty="0">
                <a:solidFill>
                  <a:srgbClr val="212529"/>
                </a:solidFill>
                <a:latin typeface="+mn-lt"/>
              </a:rPr>
              <a:t>PAR ÉTAPE</a:t>
            </a:r>
          </a:p>
        </p:txBody>
      </p:sp>
      <p:sp>
        <p:nvSpPr>
          <p:cNvPr id="5" name="Titre 4">
            <a:extLst>
              <a:ext uri="{FF2B5EF4-FFF2-40B4-BE49-F238E27FC236}">
                <a16:creationId xmlns:a16="http://schemas.microsoft.com/office/drawing/2014/main" id="{64A92925-2C54-1EF0-B110-795BE565D85E}"/>
              </a:ext>
            </a:extLst>
          </p:cNvPr>
          <p:cNvSpPr>
            <a:spLocks noGrp="1"/>
          </p:cNvSpPr>
          <p:nvPr>
            <p:ph type="title"/>
          </p:nvPr>
        </p:nvSpPr>
        <p:spPr/>
        <p:txBody>
          <a:bodyPr>
            <a:normAutofit/>
          </a:bodyPr>
          <a:lstStyle/>
          <a:p>
            <a:r>
              <a:rPr lang="fr-FR" sz="4000" noProof="0" dirty="0">
                <a:latin typeface="+mj-lt"/>
                <a:cs typeface="Gotham Bold" pitchFamily="2" charset="0"/>
              </a:rPr>
              <a:t>NOUS AVANÇONS ENSEMBLE </a:t>
            </a:r>
            <a:br>
              <a:rPr lang="fr-FR" sz="4000" noProof="0" dirty="0">
                <a:latin typeface="+mj-lt"/>
                <a:cs typeface="Gotham Bold" pitchFamily="2" charset="0"/>
              </a:rPr>
            </a:br>
            <a:r>
              <a:rPr lang="fr-FR" sz="4000" noProof="0" dirty="0">
                <a:latin typeface="+mj-lt"/>
                <a:cs typeface="Gotham Bold" pitchFamily="2" charset="0"/>
              </a:rPr>
              <a:t>TOUT AU LONG DE VOTRE PROJET !</a:t>
            </a:r>
            <a:endParaRPr lang="fr-FR" sz="4000" noProof="0" dirty="0">
              <a:latin typeface="+mj-lt"/>
            </a:endParaRPr>
          </a:p>
        </p:txBody>
      </p:sp>
      <p:sp>
        <p:nvSpPr>
          <p:cNvPr id="2" name="Espace réservé du texte 20">
            <a:extLst>
              <a:ext uri="{FF2B5EF4-FFF2-40B4-BE49-F238E27FC236}">
                <a16:creationId xmlns:a16="http://schemas.microsoft.com/office/drawing/2014/main" id="{ED555D3C-C7A3-B067-076A-71E874B7EF8A}"/>
              </a:ext>
            </a:extLst>
          </p:cNvPr>
          <p:cNvSpPr txBox="1">
            <a:spLocks/>
          </p:cNvSpPr>
          <p:nvPr/>
        </p:nvSpPr>
        <p:spPr>
          <a:xfrm>
            <a:off x="0" y="1940385"/>
            <a:ext cx="4695887"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fr-FR" sz="2000" b="1" i="0" u="none" strike="noStrike" kern="1200" cap="none" spc="0" normalizeH="0" baseline="0" noProof="0" dirty="0">
                <a:ln>
                  <a:noFill/>
                </a:ln>
                <a:solidFill>
                  <a:srgbClr val="212529"/>
                </a:solidFill>
                <a:effectLst/>
                <a:uLnTx/>
                <a:uFillTx/>
                <a:latin typeface="Trebuchet MS"/>
                <a:ea typeface="+mn-ea"/>
                <a:cs typeface="+mn-cs"/>
              </a:rPr>
              <a:t>1 ÉQUIPE CAPTIVEA</a:t>
            </a:r>
          </a:p>
        </p:txBody>
      </p:sp>
      <p:sp>
        <p:nvSpPr>
          <p:cNvPr id="3" name="Espace réservé du texte 21">
            <a:extLst>
              <a:ext uri="{FF2B5EF4-FFF2-40B4-BE49-F238E27FC236}">
                <a16:creationId xmlns:a16="http://schemas.microsoft.com/office/drawing/2014/main" id="{0ABC94A4-FEF2-25FE-4694-3379BB034174}"/>
              </a:ext>
            </a:extLst>
          </p:cNvPr>
          <p:cNvSpPr txBox="1">
            <a:spLocks/>
          </p:cNvSpPr>
          <p:nvPr/>
        </p:nvSpPr>
        <p:spPr>
          <a:xfrm>
            <a:off x="7534795" y="1940385"/>
            <a:ext cx="4657205"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fr-FR" sz="2000" b="1" i="0" u="none" strike="noStrike" kern="1200" cap="none" spc="0" normalizeH="0" baseline="0" noProof="0" dirty="0">
                <a:ln>
                  <a:noFill/>
                </a:ln>
                <a:solidFill>
                  <a:srgbClr val="212529"/>
                </a:solidFill>
                <a:effectLst/>
                <a:uLnTx/>
                <a:uFillTx/>
                <a:latin typeface="Trebuchet MS"/>
                <a:ea typeface="+mn-ea"/>
                <a:cs typeface="+mn-cs"/>
              </a:rPr>
              <a:t>1 ÉQUIPE CLIENT</a:t>
            </a:r>
          </a:p>
        </p:txBody>
      </p:sp>
      <p:grpSp>
        <p:nvGrpSpPr>
          <p:cNvPr id="4" name="Google Shape;10674;p75">
            <a:extLst>
              <a:ext uri="{FF2B5EF4-FFF2-40B4-BE49-F238E27FC236}">
                <a16:creationId xmlns:a16="http://schemas.microsoft.com/office/drawing/2014/main" id="{BB0F20BA-1B63-D2B9-4C24-33997D8D112F}"/>
              </a:ext>
            </a:extLst>
          </p:cNvPr>
          <p:cNvGrpSpPr/>
          <p:nvPr/>
        </p:nvGrpSpPr>
        <p:grpSpPr>
          <a:xfrm rot="2700000">
            <a:off x="5684086" y="1800739"/>
            <a:ext cx="823825" cy="792052"/>
            <a:chOff x="4447550" y="249750"/>
            <a:chExt cx="500425" cy="481125"/>
          </a:xfrm>
          <a:gradFill>
            <a:gsLst>
              <a:gs pos="35000">
                <a:srgbClr val="AE1C26"/>
              </a:gs>
              <a:gs pos="0">
                <a:srgbClr val="714B67"/>
              </a:gs>
              <a:gs pos="100000">
                <a:srgbClr val="BA131A"/>
              </a:gs>
            </a:gsLst>
            <a:lin ang="5400000" scaled="1"/>
          </a:gradFill>
        </p:grpSpPr>
        <p:sp>
          <p:nvSpPr>
            <p:cNvPr id="12" name="Google Shape;10675;p75">
              <a:extLst>
                <a:ext uri="{FF2B5EF4-FFF2-40B4-BE49-F238E27FC236}">
                  <a16:creationId xmlns:a16="http://schemas.microsoft.com/office/drawing/2014/main" id="{1E8ED490-5ED2-3D76-A08B-549F3E8B1184}"/>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13" name="Google Shape;10676;p75">
              <a:extLst>
                <a:ext uri="{FF2B5EF4-FFF2-40B4-BE49-F238E27FC236}">
                  <a16:creationId xmlns:a16="http://schemas.microsoft.com/office/drawing/2014/main" id="{6E1809AB-7240-FC2D-C1A4-162B0BE91596}"/>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sp>
        <p:nvSpPr>
          <p:cNvPr id="18" name="Google Shape;10694;p75">
            <a:extLst>
              <a:ext uri="{FF2B5EF4-FFF2-40B4-BE49-F238E27FC236}">
                <a16:creationId xmlns:a16="http://schemas.microsoft.com/office/drawing/2014/main" id="{2FC937C4-2A4E-6249-9643-86EAAD0A6759}"/>
              </a:ext>
            </a:extLst>
          </p:cNvPr>
          <p:cNvSpPr/>
          <p:nvPr/>
        </p:nvSpPr>
        <p:spPr>
          <a:xfrm>
            <a:off x="2627810" y="3209703"/>
            <a:ext cx="840380" cy="943420"/>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23" name="Google Shape;11466;p77">
            <a:extLst>
              <a:ext uri="{FF2B5EF4-FFF2-40B4-BE49-F238E27FC236}">
                <a16:creationId xmlns:a16="http://schemas.microsoft.com/office/drawing/2014/main" id="{CB93EBD3-C4BE-45F8-55EA-8298BC9679A6}"/>
              </a:ext>
            </a:extLst>
          </p:cNvPr>
          <p:cNvSpPr/>
          <p:nvPr/>
        </p:nvSpPr>
        <p:spPr>
          <a:xfrm>
            <a:off x="5686984" y="3218629"/>
            <a:ext cx="840380" cy="9432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grpSp>
        <p:nvGrpSpPr>
          <p:cNvPr id="24" name="Google Shape;11682;p77">
            <a:extLst>
              <a:ext uri="{FF2B5EF4-FFF2-40B4-BE49-F238E27FC236}">
                <a16:creationId xmlns:a16="http://schemas.microsoft.com/office/drawing/2014/main" id="{B4FB20A5-3F43-282B-BCFD-5EFEC3D8946D}"/>
              </a:ext>
            </a:extLst>
          </p:cNvPr>
          <p:cNvGrpSpPr/>
          <p:nvPr/>
        </p:nvGrpSpPr>
        <p:grpSpPr>
          <a:xfrm>
            <a:off x="8746158" y="3263412"/>
            <a:ext cx="844964" cy="836002"/>
            <a:chOff x="946175" y="3619500"/>
            <a:chExt cx="296975" cy="293825"/>
          </a:xfrm>
          <a:solidFill>
            <a:schemeClr val="bg1"/>
          </a:solidFill>
        </p:grpSpPr>
        <p:sp>
          <p:nvSpPr>
            <p:cNvPr id="25" name="Google Shape;11683;p77">
              <a:extLst>
                <a:ext uri="{FF2B5EF4-FFF2-40B4-BE49-F238E27FC236}">
                  <a16:creationId xmlns:a16="http://schemas.microsoft.com/office/drawing/2014/main" id="{5414CAD1-4307-D639-5134-68EA8F87E1C1}"/>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26" name="Google Shape;11684;p77">
              <a:extLst>
                <a:ext uri="{FF2B5EF4-FFF2-40B4-BE49-F238E27FC236}">
                  <a16:creationId xmlns:a16="http://schemas.microsoft.com/office/drawing/2014/main" id="{609895D7-AC87-883F-83DB-87DCD609B870}"/>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27" name="Google Shape;11685;p77">
              <a:extLst>
                <a:ext uri="{FF2B5EF4-FFF2-40B4-BE49-F238E27FC236}">
                  <a16:creationId xmlns:a16="http://schemas.microsoft.com/office/drawing/2014/main" id="{DED07AC5-B34A-5810-6968-05980E2D7BFA}"/>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28" name="Google Shape;11686;p77">
              <a:extLst>
                <a:ext uri="{FF2B5EF4-FFF2-40B4-BE49-F238E27FC236}">
                  <a16:creationId xmlns:a16="http://schemas.microsoft.com/office/drawing/2014/main" id="{8B8B4A30-AACA-091F-FEB8-184C3D55B7F7}"/>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29" name="Google Shape;11687;p77">
              <a:extLst>
                <a:ext uri="{FF2B5EF4-FFF2-40B4-BE49-F238E27FC236}">
                  <a16:creationId xmlns:a16="http://schemas.microsoft.com/office/drawing/2014/main" id="{E0C7E12F-2262-2E15-91ED-5E892C654644}"/>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30" name="Google Shape;11688;p77">
              <a:extLst>
                <a:ext uri="{FF2B5EF4-FFF2-40B4-BE49-F238E27FC236}">
                  <a16:creationId xmlns:a16="http://schemas.microsoft.com/office/drawing/2014/main" id="{1FBB912D-F6DE-C5D6-7DE5-7DECB7C9821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grpSp>
      <p:sp>
        <p:nvSpPr>
          <p:cNvPr id="6" name="Espace réservé du numéro de diapositive 5">
            <a:extLst>
              <a:ext uri="{FF2B5EF4-FFF2-40B4-BE49-F238E27FC236}">
                <a16:creationId xmlns:a16="http://schemas.microsoft.com/office/drawing/2014/main" id="{2A565BB8-88D1-C97A-4E27-488BBD8D0E04}"/>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Tree>
    <p:extLst>
      <p:ext uri="{BB962C8B-B14F-4D97-AF65-F5344CB8AC3E}">
        <p14:creationId xmlns:p14="http://schemas.microsoft.com/office/powerpoint/2010/main" val="3165723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FFEF-178A-A546-85D1-C95055DF31C6}"/>
            </a:ext>
          </a:extLst>
        </p:cNvPr>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D200BB97-C15E-5B43-7978-E8D88BF4DA48}"/>
              </a:ext>
            </a:extLst>
          </p:cNvPr>
          <p:cNvSpPr>
            <a:spLocks noGrp="1"/>
          </p:cNvSpPr>
          <p:nvPr>
            <p:ph type="body" sz="quarter" idx="10"/>
          </p:nvPr>
        </p:nvSpPr>
        <p:spPr/>
        <p:txBody>
          <a:bodyPr>
            <a:normAutofit/>
          </a:bodyPr>
          <a:lstStyle/>
          <a:p>
            <a:r>
              <a:rPr lang="fr-FR" sz="8000" noProof="0" dirty="0">
                <a:latin typeface="+mn-lt"/>
              </a:rPr>
              <a:t>1</a:t>
            </a:r>
          </a:p>
        </p:txBody>
      </p:sp>
      <p:sp>
        <p:nvSpPr>
          <p:cNvPr id="7" name="Espace réservé du texte 6">
            <a:extLst>
              <a:ext uri="{FF2B5EF4-FFF2-40B4-BE49-F238E27FC236}">
                <a16:creationId xmlns:a16="http://schemas.microsoft.com/office/drawing/2014/main" id="{CF6005BF-9980-5CE7-346C-B622CB191C97}"/>
              </a:ext>
            </a:extLst>
          </p:cNvPr>
          <p:cNvSpPr>
            <a:spLocks noGrp="1"/>
          </p:cNvSpPr>
          <p:nvPr>
            <p:ph type="body" sz="quarter" idx="11"/>
          </p:nvPr>
        </p:nvSpPr>
        <p:spPr/>
        <p:txBody>
          <a:bodyPr>
            <a:normAutofit/>
          </a:bodyPr>
          <a:lstStyle/>
          <a:p>
            <a:r>
              <a:rPr lang="fr-FR" sz="8000" noProof="0" dirty="0">
                <a:latin typeface="+mn-lt"/>
              </a:rPr>
              <a:t>2</a:t>
            </a:r>
          </a:p>
        </p:txBody>
      </p:sp>
      <p:sp>
        <p:nvSpPr>
          <p:cNvPr id="8" name="Espace réservé du texte 7">
            <a:extLst>
              <a:ext uri="{FF2B5EF4-FFF2-40B4-BE49-F238E27FC236}">
                <a16:creationId xmlns:a16="http://schemas.microsoft.com/office/drawing/2014/main" id="{51EFA4A6-8E82-530E-E51E-DDE6D0010C81}"/>
              </a:ext>
            </a:extLst>
          </p:cNvPr>
          <p:cNvSpPr>
            <a:spLocks noGrp="1"/>
          </p:cNvSpPr>
          <p:nvPr>
            <p:ph type="body" sz="quarter" idx="12"/>
          </p:nvPr>
        </p:nvSpPr>
        <p:spPr/>
        <p:txBody>
          <a:bodyPr>
            <a:normAutofit/>
          </a:bodyPr>
          <a:lstStyle/>
          <a:p>
            <a:r>
              <a:rPr lang="fr-FR" sz="8000" noProof="0" dirty="0">
                <a:latin typeface="+mn-lt"/>
              </a:rPr>
              <a:t>3</a:t>
            </a:r>
          </a:p>
        </p:txBody>
      </p:sp>
      <p:sp>
        <p:nvSpPr>
          <p:cNvPr id="9" name="Espace réservé du texte 8">
            <a:extLst>
              <a:ext uri="{FF2B5EF4-FFF2-40B4-BE49-F238E27FC236}">
                <a16:creationId xmlns:a16="http://schemas.microsoft.com/office/drawing/2014/main" id="{248FB7CB-46F3-5682-CD71-E464A8BF4B19}"/>
              </a:ext>
            </a:extLst>
          </p:cNvPr>
          <p:cNvSpPr>
            <a:spLocks noGrp="1"/>
          </p:cNvSpPr>
          <p:nvPr>
            <p:ph type="body" sz="quarter" idx="13"/>
          </p:nvPr>
        </p:nvSpPr>
        <p:spPr>
          <a:xfrm>
            <a:off x="1824212" y="4613046"/>
            <a:ext cx="2472755" cy="707922"/>
          </a:xfrm>
        </p:spPr>
        <p:txBody>
          <a:bodyPr anchor="ctr">
            <a:noAutofit/>
          </a:bodyPr>
          <a:lstStyle/>
          <a:p>
            <a:r>
              <a:rPr lang="fr-FR" sz="1800" b="1" noProof="0" dirty="0">
                <a:latin typeface="+mn-lt"/>
              </a:rPr>
              <a:t>PÉRIMÈTRE FONCTIONNEL</a:t>
            </a:r>
          </a:p>
        </p:txBody>
      </p:sp>
      <p:sp>
        <p:nvSpPr>
          <p:cNvPr id="10" name="Espace réservé du texte 9">
            <a:extLst>
              <a:ext uri="{FF2B5EF4-FFF2-40B4-BE49-F238E27FC236}">
                <a16:creationId xmlns:a16="http://schemas.microsoft.com/office/drawing/2014/main" id="{F6F69617-A480-59F1-AF07-BBD628F99188}"/>
              </a:ext>
            </a:extLst>
          </p:cNvPr>
          <p:cNvSpPr>
            <a:spLocks noGrp="1"/>
          </p:cNvSpPr>
          <p:nvPr>
            <p:ph type="body" sz="quarter" idx="14"/>
          </p:nvPr>
        </p:nvSpPr>
        <p:spPr>
          <a:xfrm>
            <a:off x="4870796" y="4609569"/>
            <a:ext cx="2472756" cy="707922"/>
          </a:xfrm>
        </p:spPr>
        <p:txBody>
          <a:bodyPr anchor="ctr">
            <a:normAutofit/>
          </a:bodyPr>
          <a:lstStyle/>
          <a:p>
            <a:r>
              <a:rPr lang="fr-FR" sz="1800" b="1" noProof="0" dirty="0">
                <a:latin typeface="+mn-lt"/>
              </a:rPr>
              <a:t>TIMELINE</a:t>
            </a:r>
            <a:endParaRPr lang="fr-FR" sz="1600" b="1" noProof="0" dirty="0">
              <a:latin typeface="+mn-lt"/>
            </a:endParaRPr>
          </a:p>
        </p:txBody>
      </p:sp>
      <p:sp>
        <p:nvSpPr>
          <p:cNvPr id="11" name="Espace réservé du texte 10">
            <a:extLst>
              <a:ext uri="{FF2B5EF4-FFF2-40B4-BE49-F238E27FC236}">
                <a16:creationId xmlns:a16="http://schemas.microsoft.com/office/drawing/2014/main" id="{FF09642B-A1FF-498D-01C2-743E4BC6F9ED}"/>
              </a:ext>
            </a:extLst>
          </p:cNvPr>
          <p:cNvSpPr>
            <a:spLocks noGrp="1"/>
          </p:cNvSpPr>
          <p:nvPr>
            <p:ph type="body" sz="quarter" idx="15"/>
          </p:nvPr>
        </p:nvSpPr>
        <p:spPr>
          <a:xfrm>
            <a:off x="7917381" y="4609569"/>
            <a:ext cx="2453237" cy="707922"/>
          </a:xfrm>
        </p:spPr>
        <p:txBody>
          <a:bodyPr anchor="ctr">
            <a:noAutofit/>
          </a:bodyPr>
          <a:lstStyle/>
          <a:p>
            <a:r>
              <a:rPr lang="fr-FR" sz="1800" b="1" noProof="0" dirty="0">
                <a:latin typeface="+mn-lt"/>
              </a:rPr>
              <a:t>NIVEAU DE SERVICE</a:t>
            </a:r>
          </a:p>
        </p:txBody>
      </p:sp>
      <p:sp>
        <p:nvSpPr>
          <p:cNvPr id="5" name="Titre 4">
            <a:extLst>
              <a:ext uri="{FF2B5EF4-FFF2-40B4-BE49-F238E27FC236}">
                <a16:creationId xmlns:a16="http://schemas.microsoft.com/office/drawing/2014/main" id="{A0ED87F6-74D2-756D-E434-40A59489490E}"/>
              </a:ext>
            </a:extLst>
          </p:cNvPr>
          <p:cNvSpPr>
            <a:spLocks noGrp="1"/>
          </p:cNvSpPr>
          <p:nvPr>
            <p:ph type="title"/>
          </p:nvPr>
        </p:nvSpPr>
        <p:spPr/>
        <p:txBody>
          <a:bodyPr>
            <a:normAutofit/>
          </a:bodyPr>
          <a:lstStyle/>
          <a:p>
            <a:r>
              <a:rPr lang="fr-FR" sz="4000" noProof="0" dirty="0">
                <a:latin typeface="+mj-lt"/>
              </a:rPr>
              <a:t>SOYEZ LIBRES DE CHANGER D’AVIS </a:t>
            </a:r>
            <a:br>
              <a:rPr lang="fr-FR" sz="4000" noProof="0" dirty="0">
                <a:latin typeface="+mj-lt"/>
              </a:rPr>
            </a:br>
            <a:r>
              <a:rPr lang="fr-FR" sz="4000" noProof="0" dirty="0">
                <a:latin typeface="+mj-lt"/>
              </a:rPr>
              <a:t>EN TOUTE TRANSPARENCE !</a:t>
            </a:r>
          </a:p>
        </p:txBody>
      </p:sp>
      <p:sp>
        <p:nvSpPr>
          <p:cNvPr id="2" name="Espace réservé du numéro de diapositive 1">
            <a:extLst>
              <a:ext uri="{FF2B5EF4-FFF2-40B4-BE49-F238E27FC236}">
                <a16:creationId xmlns:a16="http://schemas.microsoft.com/office/drawing/2014/main" id="{AB0588E4-9210-2A62-A26D-CC5B361C02B1}"/>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Tree>
    <p:extLst>
      <p:ext uri="{BB962C8B-B14F-4D97-AF65-F5344CB8AC3E}">
        <p14:creationId xmlns:p14="http://schemas.microsoft.com/office/powerpoint/2010/main" val="2072722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E83AEAD1-569F-6853-3A3B-53E4BA22CC6D}"/>
              </a:ext>
            </a:extLst>
          </p:cNvPr>
          <p:cNvSpPr>
            <a:spLocks noGrp="1"/>
          </p:cNvSpPr>
          <p:nvPr>
            <p:ph type="title"/>
          </p:nvPr>
        </p:nvSpPr>
        <p:spPr/>
        <p:txBody>
          <a:bodyPr/>
          <a:lstStyle/>
          <a:p>
            <a:r>
              <a:rPr lang="fr-FR" noProof="0" dirty="0"/>
              <a:t>BÉNÉFICIEZ DE </a:t>
            </a:r>
            <a:br>
              <a:rPr lang="fr-FR" noProof="0" dirty="0"/>
            </a:br>
            <a:r>
              <a:rPr lang="fr-FR" noProof="0" dirty="0"/>
              <a:t>TOUTE NOTRE EXPERTISE</a:t>
            </a:r>
          </a:p>
        </p:txBody>
      </p:sp>
      <p:sp>
        <p:nvSpPr>
          <p:cNvPr id="9" name="Espace réservé du numéro de diapositive 8">
            <a:extLst>
              <a:ext uri="{FF2B5EF4-FFF2-40B4-BE49-F238E27FC236}">
                <a16:creationId xmlns:a16="http://schemas.microsoft.com/office/drawing/2014/main" id="{7A7ECD07-1D5A-21E2-ED02-A83BF44513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cxnSp>
        <p:nvCxnSpPr>
          <p:cNvPr id="95" name="Straight Connector 67">
            <a:extLst>
              <a:ext uri="{FF2B5EF4-FFF2-40B4-BE49-F238E27FC236}">
                <a16:creationId xmlns:a16="http://schemas.microsoft.com/office/drawing/2014/main" id="{9D05EE43-B2E0-E596-86E1-8CAA69374683}"/>
              </a:ext>
            </a:extLst>
          </p:cNvPr>
          <p:cNvCxnSpPr>
            <a:cxnSpLocks/>
          </p:cNvCxnSpPr>
          <p:nvPr/>
        </p:nvCxnSpPr>
        <p:spPr>
          <a:xfrm>
            <a:off x="1378049"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75">
            <a:extLst>
              <a:ext uri="{FF2B5EF4-FFF2-40B4-BE49-F238E27FC236}">
                <a16:creationId xmlns:a16="http://schemas.microsoft.com/office/drawing/2014/main" id="{B0D6CEA4-9945-A050-0BDB-74948FFAB9AA}"/>
              </a:ext>
            </a:extLst>
          </p:cNvPr>
          <p:cNvCxnSpPr>
            <a:cxnSpLocks/>
          </p:cNvCxnSpPr>
          <p:nvPr/>
        </p:nvCxnSpPr>
        <p:spPr>
          <a:xfrm>
            <a:off x="2740412"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7" name="Straight Connector 80">
            <a:extLst>
              <a:ext uri="{FF2B5EF4-FFF2-40B4-BE49-F238E27FC236}">
                <a16:creationId xmlns:a16="http://schemas.microsoft.com/office/drawing/2014/main" id="{E2F25A19-7772-A8DF-DE0C-517EAF4BCEF9}"/>
              </a:ext>
            </a:extLst>
          </p:cNvPr>
          <p:cNvCxnSpPr>
            <a:cxnSpLocks/>
          </p:cNvCxnSpPr>
          <p:nvPr/>
        </p:nvCxnSpPr>
        <p:spPr>
          <a:xfrm>
            <a:off x="4019649"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8" name="Straight Connector 82">
            <a:extLst>
              <a:ext uri="{FF2B5EF4-FFF2-40B4-BE49-F238E27FC236}">
                <a16:creationId xmlns:a16="http://schemas.microsoft.com/office/drawing/2014/main" id="{08FE910C-1BDF-8624-3B3E-D61D21076612}"/>
              </a:ext>
            </a:extLst>
          </p:cNvPr>
          <p:cNvCxnSpPr>
            <a:cxnSpLocks/>
          </p:cNvCxnSpPr>
          <p:nvPr/>
        </p:nvCxnSpPr>
        <p:spPr>
          <a:xfrm>
            <a:off x="9409068"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84">
            <a:extLst>
              <a:ext uri="{FF2B5EF4-FFF2-40B4-BE49-F238E27FC236}">
                <a16:creationId xmlns:a16="http://schemas.microsoft.com/office/drawing/2014/main" id="{6DFBA882-785B-B7D0-971B-AE55EDB1E1BD}"/>
              </a:ext>
            </a:extLst>
          </p:cNvPr>
          <p:cNvCxnSpPr>
            <a:cxnSpLocks/>
          </p:cNvCxnSpPr>
          <p:nvPr/>
        </p:nvCxnSpPr>
        <p:spPr>
          <a:xfrm>
            <a:off x="5363540"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85">
            <a:extLst>
              <a:ext uri="{FF2B5EF4-FFF2-40B4-BE49-F238E27FC236}">
                <a16:creationId xmlns:a16="http://schemas.microsoft.com/office/drawing/2014/main" id="{93889338-A12E-5C30-C2EC-77C3DBCB0F89}"/>
              </a:ext>
            </a:extLst>
          </p:cNvPr>
          <p:cNvCxnSpPr>
            <a:cxnSpLocks/>
          </p:cNvCxnSpPr>
          <p:nvPr/>
        </p:nvCxnSpPr>
        <p:spPr>
          <a:xfrm>
            <a:off x="6755386"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1" name="Straight Connector 86">
            <a:extLst>
              <a:ext uri="{FF2B5EF4-FFF2-40B4-BE49-F238E27FC236}">
                <a16:creationId xmlns:a16="http://schemas.microsoft.com/office/drawing/2014/main" id="{41B222E7-CE30-2EAA-AB02-4AD0EE67C41D}"/>
              </a:ext>
            </a:extLst>
          </p:cNvPr>
          <p:cNvCxnSpPr>
            <a:cxnSpLocks/>
          </p:cNvCxnSpPr>
          <p:nvPr/>
        </p:nvCxnSpPr>
        <p:spPr>
          <a:xfrm>
            <a:off x="8088267"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87">
            <a:extLst>
              <a:ext uri="{FF2B5EF4-FFF2-40B4-BE49-F238E27FC236}">
                <a16:creationId xmlns:a16="http://schemas.microsoft.com/office/drawing/2014/main" id="{A904DAF3-F154-FA55-C015-48E6C253D3B5}"/>
              </a:ext>
            </a:extLst>
          </p:cNvPr>
          <p:cNvCxnSpPr>
            <a:cxnSpLocks/>
          </p:cNvCxnSpPr>
          <p:nvPr/>
        </p:nvCxnSpPr>
        <p:spPr>
          <a:xfrm>
            <a:off x="10771431"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sp>
        <p:nvSpPr>
          <p:cNvPr id="103" name="TextBox 1">
            <a:extLst>
              <a:ext uri="{FF2B5EF4-FFF2-40B4-BE49-F238E27FC236}">
                <a16:creationId xmlns:a16="http://schemas.microsoft.com/office/drawing/2014/main" id="{4D3AA5B2-4B43-897A-17B6-9B042A27CFBC}"/>
              </a:ext>
            </a:extLst>
          </p:cNvPr>
          <p:cNvSpPr txBox="1"/>
          <p:nvPr/>
        </p:nvSpPr>
        <p:spPr>
          <a:xfrm flipH="1">
            <a:off x="2773503" y="4303035"/>
            <a:ext cx="118974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en logistique</a:t>
            </a:r>
          </a:p>
        </p:txBody>
      </p:sp>
      <p:sp>
        <p:nvSpPr>
          <p:cNvPr id="104" name="TextBox 3">
            <a:extLst>
              <a:ext uri="{FF2B5EF4-FFF2-40B4-BE49-F238E27FC236}">
                <a16:creationId xmlns:a16="http://schemas.microsoft.com/office/drawing/2014/main" id="{5DE60A0C-6130-DB91-0619-0054E14D1A9A}"/>
              </a:ext>
            </a:extLst>
          </p:cNvPr>
          <p:cNvSpPr txBox="1"/>
          <p:nvPr/>
        </p:nvSpPr>
        <p:spPr>
          <a:xfrm flipH="1">
            <a:off x="1340405" y="4303035"/>
            <a:ext cx="139971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en comptabilité</a:t>
            </a:r>
          </a:p>
        </p:txBody>
      </p:sp>
      <p:sp>
        <p:nvSpPr>
          <p:cNvPr id="105" name="TextBox 8">
            <a:extLst>
              <a:ext uri="{FF2B5EF4-FFF2-40B4-BE49-F238E27FC236}">
                <a16:creationId xmlns:a16="http://schemas.microsoft.com/office/drawing/2014/main" id="{2EC073C3-C302-C6A0-973D-BD2F6F14CC91}"/>
              </a:ext>
            </a:extLst>
          </p:cNvPr>
          <p:cNvSpPr txBox="1"/>
          <p:nvPr/>
        </p:nvSpPr>
        <p:spPr>
          <a:xfrm flipH="1">
            <a:off x="206417"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Arial" panose="020B0604020202020204" pitchFamily="34" charset="0"/>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Arial" panose="020B0604020202020204" pitchFamily="34" charset="0"/>
              </a:rPr>
              <a:t>technique</a:t>
            </a:r>
          </a:p>
        </p:txBody>
      </p:sp>
      <p:sp>
        <p:nvSpPr>
          <p:cNvPr id="106" name="TextBox 10">
            <a:extLst>
              <a:ext uri="{FF2B5EF4-FFF2-40B4-BE49-F238E27FC236}">
                <a16:creationId xmlns:a16="http://schemas.microsoft.com/office/drawing/2014/main" id="{4D31C0D9-AAF3-794C-3DBB-413921F4276F}"/>
              </a:ext>
            </a:extLst>
          </p:cNvPr>
          <p:cNvSpPr txBox="1"/>
          <p:nvPr/>
        </p:nvSpPr>
        <p:spPr>
          <a:xfrm>
            <a:off x="4192031"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des achats</a:t>
            </a:r>
          </a:p>
        </p:txBody>
      </p:sp>
      <p:sp>
        <p:nvSpPr>
          <p:cNvPr id="107" name="TextBox 11">
            <a:extLst>
              <a:ext uri="{FF2B5EF4-FFF2-40B4-BE49-F238E27FC236}">
                <a16:creationId xmlns:a16="http://schemas.microsoft.com/office/drawing/2014/main" id="{F3927B64-BA54-3642-C441-DA4EB3E3CB7F}"/>
              </a:ext>
            </a:extLst>
          </p:cNvPr>
          <p:cNvSpPr txBox="1"/>
          <p:nvPr/>
        </p:nvSpPr>
        <p:spPr>
          <a:xfrm>
            <a:off x="6840560" y="4303035"/>
            <a:ext cx="11849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e-commerce</a:t>
            </a:r>
          </a:p>
        </p:txBody>
      </p:sp>
      <p:sp>
        <p:nvSpPr>
          <p:cNvPr id="108" name="TextBox 12">
            <a:extLst>
              <a:ext uri="{FF2B5EF4-FFF2-40B4-BE49-F238E27FC236}">
                <a16:creationId xmlns:a16="http://schemas.microsoft.com/office/drawing/2014/main" id="{6C310A20-4849-09C5-F773-CED450163EF4}"/>
              </a:ext>
            </a:extLst>
          </p:cNvPr>
          <p:cNvSpPr txBox="1"/>
          <p:nvPr/>
        </p:nvSpPr>
        <p:spPr>
          <a:xfrm>
            <a:off x="8102099" y="4303035"/>
            <a:ext cx="129715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 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ressources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humaines</a:t>
            </a:r>
          </a:p>
        </p:txBody>
      </p:sp>
      <p:sp>
        <p:nvSpPr>
          <p:cNvPr id="109" name="TextBox 15">
            <a:extLst>
              <a:ext uri="{FF2B5EF4-FFF2-40B4-BE49-F238E27FC236}">
                <a16:creationId xmlns:a16="http://schemas.microsoft.com/office/drawing/2014/main" id="{9E2D75E8-E124-6B42-66EC-498E873540F4}"/>
              </a:ext>
            </a:extLst>
          </p:cNvPr>
          <p:cNvSpPr txBox="1"/>
          <p:nvPr/>
        </p:nvSpPr>
        <p:spPr>
          <a:xfrm>
            <a:off x="5431554" y="4303035"/>
            <a:ext cx="1314784"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en fabrication</a:t>
            </a:r>
          </a:p>
        </p:txBody>
      </p:sp>
      <p:sp>
        <p:nvSpPr>
          <p:cNvPr id="110" name="TextBox 16">
            <a:extLst>
              <a:ext uri="{FF2B5EF4-FFF2-40B4-BE49-F238E27FC236}">
                <a16:creationId xmlns:a16="http://schemas.microsoft.com/office/drawing/2014/main" id="{31166A37-5DC6-5257-276E-FD261D4B752B}"/>
              </a:ext>
            </a:extLst>
          </p:cNvPr>
          <p:cNvSpPr txBox="1"/>
          <p:nvPr/>
        </p:nvSpPr>
        <p:spPr>
          <a:xfrm>
            <a:off x="10907428" y="4303035"/>
            <a:ext cx="1047083"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des 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de vente</a:t>
            </a:r>
          </a:p>
        </p:txBody>
      </p:sp>
      <p:sp>
        <p:nvSpPr>
          <p:cNvPr id="111" name="TextBox 18">
            <a:extLst>
              <a:ext uri="{FF2B5EF4-FFF2-40B4-BE49-F238E27FC236}">
                <a16:creationId xmlns:a16="http://schemas.microsoft.com/office/drawing/2014/main" id="{917EA391-1799-8D44-4373-7CE97FE28C1E}"/>
              </a:ext>
            </a:extLst>
          </p:cNvPr>
          <p:cNvSpPr txBox="1"/>
          <p:nvPr/>
        </p:nvSpPr>
        <p:spPr>
          <a:xfrm>
            <a:off x="9558634"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223843"/>
                </a:solidFill>
                <a:effectLst/>
                <a:uLnTx/>
                <a:uFillTx/>
                <a:latin typeface="Trebuchet MS"/>
                <a:ea typeface="+mn-ea"/>
                <a:cs typeface="+mn-cs"/>
              </a:rPr>
              <a:t>CRM</a:t>
            </a:r>
          </a:p>
        </p:txBody>
      </p:sp>
      <p:grpSp>
        <p:nvGrpSpPr>
          <p:cNvPr id="112" name="Groupe 111">
            <a:extLst>
              <a:ext uri="{FF2B5EF4-FFF2-40B4-BE49-F238E27FC236}">
                <a16:creationId xmlns:a16="http://schemas.microsoft.com/office/drawing/2014/main" id="{F30F67DF-C0C9-7C16-C118-49F083CF9608}"/>
              </a:ext>
            </a:extLst>
          </p:cNvPr>
          <p:cNvGrpSpPr/>
          <p:nvPr/>
        </p:nvGrpSpPr>
        <p:grpSpPr>
          <a:xfrm>
            <a:off x="359728" y="3372962"/>
            <a:ext cx="743808" cy="828863"/>
            <a:chOff x="359728" y="3372962"/>
            <a:chExt cx="743808" cy="828863"/>
          </a:xfrm>
        </p:grpSpPr>
        <p:sp>
          <p:nvSpPr>
            <p:cNvPr id="113" name="Forme libre : forme 112">
              <a:extLst>
                <a:ext uri="{FF2B5EF4-FFF2-40B4-BE49-F238E27FC236}">
                  <a16:creationId xmlns:a16="http://schemas.microsoft.com/office/drawing/2014/main" id="{BE4985B9-E173-A7FB-525C-BE730EE306BE}"/>
                </a:ext>
              </a:extLst>
            </p:cNvPr>
            <p:cNvSpPr/>
            <p:nvPr/>
          </p:nvSpPr>
          <p:spPr>
            <a:xfrm flipV="1">
              <a:off x="359728" y="3372962"/>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14" name="Graphic 2">
              <a:extLst>
                <a:ext uri="{FF2B5EF4-FFF2-40B4-BE49-F238E27FC236}">
                  <a16:creationId xmlns:a16="http://schemas.microsoft.com/office/drawing/2014/main" id="{92D7312A-CF20-63A0-816C-6666E3BA78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718" y="3576518"/>
              <a:ext cx="360000" cy="360000"/>
            </a:xfrm>
            <a:prstGeom prst="rect">
              <a:avLst/>
            </a:prstGeom>
          </p:spPr>
        </p:pic>
      </p:grpSp>
      <p:grpSp>
        <p:nvGrpSpPr>
          <p:cNvPr id="115" name="Groupe 114">
            <a:extLst>
              <a:ext uri="{FF2B5EF4-FFF2-40B4-BE49-F238E27FC236}">
                <a16:creationId xmlns:a16="http://schemas.microsoft.com/office/drawing/2014/main" id="{697C954F-39F7-0373-5A38-8AD8A3D5C255}"/>
              </a:ext>
            </a:extLst>
          </p:cNvPr>
          <p:cNvGrpSpPr/>
          <p:nvPr/>
        </p:nvGrpSpPr>
        <p:grpSpPr>
          <a:xfrm>
            <a:off x="1697982" y="3370484"/>
            <a:ext cx="743808" cy="828863"/>
            <a:chOff x="1703562" y="3370484"/>
            <a:chExt cx="743808" cy="828863"/>
          </a:xfrm>
        </p:grpSpPr>
        <p:sp>
          <p:nvSpPr>
            <p:cNvPr id="116" name="Forme libre : forme 115">
              <a:extLst>
                <a:ext uri="{FF2B5EF4-FFF2-40B4-BE49-F238E27FC236}">
                  <a16:creationId xmlns:a16="http://schemas.microsoft.com/office/drawing/2014/main" id="{86D43291-7F36-5EEB-BC37-14EE377B621D}"/>
                </a:ext>
              </a:extLst>
            </p:cNvPr>
            <p:cNvSpPr/>
            <p:nvPr/>
          </p:nvSpPr>
          <p:spPr>
            <a:xfrm flipV="1">
              <a:off x="1703562"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17" name="Graphic 6">
              <a:extLst>
                <a:ext uri="{FF2B5EF4-FFF2-40B4-BE49-F238E27FC236}">
                  <a16:creationId xmlns:a16="http://schemas.microsoft.com/office/drawing/2014/main" id="{BB1CD80B-54EC-2D3B-0B78-909880395B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5466" y="3576518"/>
              <a:ext cx="360000" cy="360000"/>
            </a:xfrm>
            <a:prstGeom prst="rect">
              <a:avLst/>
            </a:prstGeom>
          </p:spPr>
        </p:pic>
      </p:grpSp>
      <p:grpSp>
        <p:nvGrpSpPr>
          <p:cNvPr id="118" name="Groupe 117">
            <a:extLst>
              <a:ext uri="{FF2B5EF4-FFF2-40B4-BE49-F238E27FC236}">
                <a16:creationId xmlns:a16="http://schemas.microsoft.com/office/drawing/2014/main" id="{46E8715D-3BBC-FACD-801B-A491F8C56D35}"/>
              </a:ext>
            </a:extLst>
          </p:cNvPr>
          <p:cNvGrpSpPr/>
          <p:nvPr/>
        </p:nvGrpSpPr>
        <p:grpSpPr>
          <a:xfrm>
            <a:off x="2996473" y="3370485"/>
            <a:ext cx="743808" cy="828863"/>
            <a:chOff x="3043740" y="3370485"/>
            <a:chExt cx="743808" cy="828863"/>
          </a:xfrm>
        </p:grpSpPr>
        <p:sp>
          <p:nvSpPr>
            <p:cNvPr id="119" name="Forme libre : forme 118">
              <a:extLst>
                <a:ext uri="{FF2B5EF4-FFF2-40B4-BE49-F238E27FC236}">
                  <a16:creationId xmlns:a16="http://schemas.microsoft.com/office/drawing/2014/main" id="{D4E0230C-B0F5-E0D9-EA8F-63A7D9D5946D}"/>
                </a:ext>
              </a:extLst>
            </p:cNvPr>
            <p:cNvSpPr/>
            <p:nvPr/>
          </p:nvSpPr>
          <p:spPr>
            <a:xfrm flipV="1">
              <a:off x="3043740" y="337048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20" name="Graphic 25">
              <a:extLst>
                <a:ext uri="{FF2B5EF4-FFF2-40B4-BE49-F238E27FC236}">
                  <a16:creationId xmlns:a16="http://schemas.microsoft.com/office/drawing/2014/main" id="{A6B4204C-5915-6F4E-D0B5-E1BD82046D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35644" y="3576518"/>
              <a:ext cx="360000" cy="360000"/>
            </a:xfrm>
            <a:prstGeom prst="rect">
              <a:avLst/>
            </a:prstGeom>
          </p:spPr>
        </p:pic>
      </p:grpSp>
      <p:grpSp>
        <p:nvGrpSpPr>
          <p:cNvPr id="121" name="Groupe 120">
            <a:extLst>
              <a:ext uri="{FF2B5EF4-FFF2-40B4-BE49-F238E27FC236}">
                <a16:creationId xmlns:a16="http://schemas.microsoft.com/office/drawing/2014/main" id="{DE2663B5-8A9F-19BF-51F3-6C642B0ED9B6}"/>
              </a:ext>
            </a:extLst>
          </p:cNvPr>
          <p:cNvGrpSpPr/>
          <p:nvPr/>
        </p:nvGrpSpPr>
        <p:grpSpPr>
          <a:xfrm>
            <a:off x="4343668" y="3370483"/>
            <a:ext cx="743808" cy="828863"/>
            <a:chOff x="4383918" y="3370483"/>
            <a:chExt cx="743808" cy="828863"/>
          </a:xfrm>
        </p:grpSpPr>
        <p:sp>
          <p:nvSpPr>
            <p:cNvPr id="122" name="Forme libre : forme 121">
              <a:extLst>
                <a:ext uri="{FF2B5EF4-FFF2-40B4-BE49-F238E27FC236}">
                  <a16:creationId xmlns:a16="http://schemas.microsoft.com/office/drawing/2014/main" id="{858200C4-713A-3F6D-B949-C27616994A8E}"/>
                </a:ext>
              </a:extLst>
            </p:cNvPr>
            <p:cNvSpPr/>
            <p:nvPr/>
          </p:nvSpPr>
          <p:spPr>
            <a:xfrm flipV="1">
              <a:off x="4383918" y="3370483"/>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23" name="Graphic 14">
              <a:extLst>
                <a:ext uri="{FF2B5EF4-FFF2-40B4-BE49-F238E27FC236}">
                  <a16:creationId xmlns:a16="http://schemas.microsoft.com/office/drawing/2014/main" id="{5B9313EF-B5EB-1DA0-6545-F3AF97957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5822" y="3576518"/>
              <a:ext cx="360000" cy="360000"/>
            </a:xfrm>
            <a:prstGeom prst="rect">
              <a:avLst/>
            </a:prstGeom>
          </p:spPr>
        </p:pic>
      </p:grpSp>
      <p:grpSp>
        <p:nvGrpSpPr>
          <p:cNvPr id="124" name="Groupe 123">
            <a:extLst>
              <a:ext uri="{FF2B5EF4-FFF2-40B4-BE49-F238E27FC236}">
                <a16:creationId xmlns:a16="http://schemas.microsoft.com/office/drawing/2014/main" id="{FE9372CE-D6F5-4B2B-B7E4-066CAC666909}"/>
              </a:ext>
            </a:extLst>
          </p:cNvPr>
          <p:cNvGrpSpPr/>
          <p:nvPr/>
        </p:nvGrpSpPr>
        <p:grpSpPr>
          <a:xfrm>
            <a:off x="7061126" y="3387936"/>
            <a:ext cx="743808" cy="828863"/>
            <a:chOff x="7055203" y="3387936"/>
            <a:chExt cx="743808" cy="828863"/>
          </a:xfrm>
        </p:grpSpPr>
        <p:sp>
          <p:nvSpPr>
            <p:cNvPr id="125" name="Forme libre : forme 124">
              <a:extLst>
                <a:ext uri="{FF2B5EF4-FFF2-40B4-BE49-F238E27FC236}">
                  <a16:creationId xmlns:a16="http://schemas.microsoft.com/office/drawing/2014/main" id="{BB94CFA8-C80F-C7B3-1916-E348FA098FD6}"/>
                </a:ext>
              </a:extLst>
            </p:cNvPr>
            <p:cNvSpPr/>
            <p:nvPr/>
          </p:nvSpPr>
          <p:spPr>
            <a:xfrm flipV="1">
              <a:off x="7055203"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26" name="Graphic 27">
              <a:extLst>
                <a:ext uri="{FF2B5EF4-FFF2-40B4-BE49-F238E27FC236}">
                  <a16:creationId xmlns:a16="http://schemas.microsoft.com/office/drawing/2014/main" id="{95B3AE36-F664-37DE-9B6A-49717F34C5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47107" y="3576518"/>
              <a:ext cx="360000" cy="360000"/>
            </a:xfrm>
            <a:prstGeom prst="rect">
              <a:avLst/>
            </a:prstGeom>
          </p:spPr>
        </p:pic>
      </p:grpSp>
      <p:grpSp>
        <p:nvGrpSpPr>
          <p:cNvPr id="127" name="Groupe 126">
            <a:extLst>
              <a:ext uri="{FF2B5EF4-FFF2-40B4-BE49-F238E27FC236}">
                <a16:creationId xmlns:a16="http://schemas.microsoft.com/office/drawing/2014/main" id="{2A3102BD-5592-9880-B573-901498E18F13}"/>
              </a:ext>
            </a:extLst>
          </p:cNvPr>
          <p:cNvGrpSpPr/>
          <p:nvPr/>
        </p:nvGrpSpPr>
        <p:grpSpPr>
          <a:xfrm>
            <a:off x="5717042" y="3370484"/>
            <a:ext cx="743808" cy="828863"/>
            <a:chOff x="5724096" y="3370484"/>
            <a:chExt cx="743808" cy="828863"/>
          </a:xfrm>
        </p:grpSpPr>
        <p:sp>
          <p:nvSpPr>
            <p:cNvPr id="128" name="Forme libre : forme 127">
              <a:extLst>
                <a:ext uri="{FF2B5EF4-FFF2-40B4-BE49-F238E27FC236}">
                  <a16:creationId xmlns:a16="http://schemas.microsoft.com/office/drawing/2014/main" id="{FAA44E60-A0E6-8EBC-4A5F-7ECA9F283A79}"/>
                </a:ext>
              </a:extLst>
            </p:cNvPr>
            <p:cNvSpPr/>
            <p:nvPr/>
          </p:nvSpPr>
          <p:spPr>
            <a:xfrm flipV="1">
              <a:off x="5724096"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29" name="Graphic 26">
              <a:extLst>
                <a:ext uri="{FF2B5EF4-FFF2-40B4-BE49-F238E27FC236}">
                  <a16:creationId xmlns:a16="http://schemas.microsoft.com/office/drawing/2014/main" id="{B4261C47-F071-8D62-2246-22F2F411DB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16000" y="3576518"/>
              <a:ext cx="360000" cy="360000"/>
            </a:xfrm>
            <a:prstGeom prst="rect">
              <a:avLst/>
            </a:prstGeom>
          </p:spPr>
        </p:pic>
      </p:grpSp>
      <p:grpSp>
        <p:nvGrpSpPr>
          <p:cNvPr id="130" name="Groupe 129">
            <a:extLst>
              <a:ext uri="{FF2B5EF4-FFF2-40B4-BE49-F238E27FC236}">
                <a16:creationId xmlns:a16="http://schemas.microsoft.com/office/drawing/2014/main" id="{E572A961-2BB5-760E-0F1F-E054334E0899}"/>
              </a:ext>
            </a:extLst>
          </p:cNvPr>
          <p:cNvGrpSpPr/>
          <p:nvPr/>
        </p:nvGrpSpPr>
        <p:grpSpPr>
          <a:xfrm>
            <a:off x="8378770" y="3387937"/>
            <a:ext cx="743808" cy="828863"/>
            <a:chOff x="8395381" y="3387937"/>
            <a:chExt cx="743808" cy="828863"/>
          </a:xfrm>
        </p:grpSpPr>
        <p:sp>
          <p:nvSpPr>
            <p:cNvPr id="131" name="Forme libre : forme 130">
              <a:extLst>
                <a:ext uri="{FF2B5EF4-FFF2-40B4-BE49-F238E27FC236}">
                  <a16:creationId xmlns:a16="http://schemas.microsoft.com/office/drawing/2014/main" id="{A0C3175B-6CAF-641D-6E46-D24DE52DC127}"/>
                </a:ext>
              </a:extLst>
            </p:cNvPr>
            <p:cNvSpPr/>
            <p:nvPr/>
          </p:nvSpPr>
          <p:spPr>
            <a:xfrm flipV="1">
              <a:off x="8395381" y="3387937"/>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32" name="Graphic 20">
              <a:extLst>
                <a:ext uri="{FF2B5EF4-FFF2-40B4-BE49-F238E27FC236}">
                  <a16:creationId xmlns:a16="http://schemas.microsoft.com/office/drawing/2014/main" id="{D7843DD2-B76E-2B7E-DF68-8993B70DFC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87285" y="3576518"/>
              <a:ext cx="360000" cy="360000"/>
            </a:xfrm>
            <a:prstGeom prst="rect">
              <a:avLst/>
            </a:prstGeom>
          </p:spPr>
        </p:pic>
      </p:grpSp>
      <p:grpSp>
        <p:nvGrpSpPr>
          <p:cNvPr id="133" name="Groupe 132">
            <a:extLst>
              <a:ext uri="{FF2B5EF4-FFF2-40B4-BE49-F238E27FC236}">
                <a16:creationId xmlns:a16="http://schemas.microsoft.com/office/drawing/2014/main" id="{709EB46F-57D6-962D-59F5-CFE429E75A1A}"/>
              </a:ext>
            </a:extLst>
          </p:cNvPr>
          <p:cNvGrpSpPr/>
          <p:nvPr/>
        </p:nvGrpSpPr>
        <p:grpSpPr>
          <a:xfrm>
            <a:off x="11059065" y="3387936"/>
            <a:ext cx="743808" cy="828863"/>
            <a:chOff x="11075737" y="3387936"/>
            <a:chExt cx="743808" cy="828863"/>
          </a:xfrm>
        </p:grpSpPr>
        <p:sp>
          <p:nvSpPr>
            <p:cNvPr id="134" name="Forme libre : forme 133">
              <a:extLst>
                <a:ext uri="{FF2B5EF4-FFF2-40B4-BE49-F238E27FC236}">
                  <a16:creationId xmlns:a16="http://schemas.microsoft.com/office/drawing/2014/main" id="{8848AFA1-4E70-780D-8A25-33B32DE6FE5F}"/>
                </a:ext>
              </a:extLst>
            </p:cNvPr>
            <p:cNvSpPr/>
            <p:nvPr/>
          </p:nvSpPr>
          <p:spPr>
            <a:xfrm flipV="1">
              <a:off x="11075737"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35" name="Graphic 22">
              <a:extLst>
                <a:ext uri="{FF2B5EF4-FFF2-40B4-BE49-F238E27FC236}">
                  <a16:creationId xmlns:a16="http://schemas.microsoft.com/office/drawing/2014/main" id="{4A6DAD39-A98C-34E2-D20C-2DB6455D58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267641" y="3576518"/>
              <a:ext cx="360000" cy="360000"/>
            </a:xfrm>
            <a:prstGeom prst="rect">
              <a:avLst/>
            </a:prstGeom>
          </p:spPr>
        </p:pic>
      </p:grpSp>
      <p:grpSp>
        <p:nvGrpSpPr>
          <p:cNvPr id="136" name="Groupe 135">
            <a:extLst>
              <a:ext uri="{FF2B5EF4-FFF2-40B4-BE49-F238E27FC236}">
                <a16:creationId xmlns:a16="http://schemas.microsoft.com/office/drawing/2014/main" id="{DA5B1E41-648B-F71A-3936-23CEF094074D}"/>
              </a:ext>
            </a:extLst>
          </p:cNvPr>
          <p:cNvGrpSpPr/>
          <p:nvPr/>
        </p:nvGrpSpPr>
        <p:grpSpPr>
          <a:xfrm>
            <a:off x="9710271" y="3387935"/>
            <a:ext cx="743808" cy="828863"/>
            <a:chOff x="9735559" y="3387935"/>
            <a:chExt cx="743808" cy="828863"/>
          </a:xfrm>
        </p:grpSpPr>
        <p:sp>
          <p:nvSpPr>
            <p:cNvPr id="137" name="Forme libre : forme 136">
              <a:extLst>
                <a:ext uri="{FF2B5EF4-FFF2-40B4-BE49-F238E27FC236}">
                  <a16:creationId xmlns:a16="http://schemas.microsoft.com/office/drawing/2014/main" id="{9721974C-C749-AB4D-9FF0-2F82EF34AF2D}"/>
                </a:ext>
              </a:extLst>
            </p:cNvPr>
            <p:cNvSpPr/>
            <p:nvPr/>
          </p:nvSpPr>
          <p:spPr>
            <a:xfrm flipV="1">
              <a:off x="9735559" y="338793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Arial" panose="020B0604020202020204" pitchFamily="34" charset="0"/>
              </a:endParaRPr>
            </a:p>
          </p:txBody>
        </p:sp>
        <p:pic>
          <p:nvPicPr>
            <p:cNvPr id="138" name="Graphic 53">
              <a:extLst>
                <a:ext uri="{FF2B5EF4-FFF2-40B4-BE49-F238E27FC236}">
                  <a16:creationId xmlns:a16="http://schemas.microsoft.com/office/drawing/2014/main" id="{96CF3EDE-BA51-FEB1-D99C-1786D417F6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27463" y="3576518"/>
              <a:ext cx="360000" cy="360000"/>
            </a:xfrm>
            <a:prstGeom prst="rect">
              <a:avLst/>
            </a:prstGeom>
          </p:spPr>
        </p:pic>
      </p:grpSp>
    </p:spTree>
    <p:extLst>
      <p:ext uri="{BB962C8B-B14F-4D97-AF65-F5344CB8AC3E}">
        <p14:creationId xmlns:p14="http://schemas.microsoft.com/office/powerpoint/2010/main" val="707463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126D-2649-B027-8459-CA46F6DD8892}"/>
            </a:ext>
          </a:extLst>
        </p:cNvPr>
        <p:cNvGrpSpPr/>
        <p:nvPr/>
      </p:nvGrpSpPr>
      <p:grpSpPr>
        <a:xfrm>
          <a:off x="0" y="0"/>
          <a:ext cx="0" cy="0"/>
          <a:chOff x="0" y="0"/>
          <a:chExt cx="0" cy="0"/>
        </a:xfrm>
      </p:grpSpPr>
      <p:sp>
        <p:nvSpPr>
          <p:cNvPr id="9" name="Titre 8">
            <a:extLst>
              <a:ext uri="{FF2B5EF4-FFF2-40B4-BE49-F238E27FC236}">
                <a16:creationId xmlns:a16="http://schemas.microsoft.com/office/drawing/2014/main" id="{848BF16C-A521-82B8-D7D6-CA697BE4D909}"/>
              </a:ext>
            </a:extLst>
          </p:cNvPr>
          <p:cNvSpPr>
            <a:spLocks noGrp="1"/>
          </p:cNvSpPr>
          <p:nvPr>
            <p:ph type="title"/>
          </p:nvPr>
        </p:nvSpPr>
        <p:spPr/>
        <p:txBody>
          <a:bodyPr/>
          <a:lstStyle/>
          <a:p>
            <a:r>
              <a:rPr lang="fr-FR" noProof="0" dirty="0">
                <a:latin typeface="+mj-lt"/>
              </a:rPr>
              <a:t>LES ÉTAPES VERS UN PROJET RÉUSSI</a:t>
            </a:r>
          </a:p>
        </p:txBody>
      </p:sp>
      <p:sp>
        <p:nvSpPr>
          <p:cNvPr id="2" name="Rectangle 1">
            <a:extLst>
              <a:ext uri="{FF2B5EF4-FFF2-40B4-BE49-F238E27FC236}">
                <a16:creationId xmlns:a16="http://schemas.microsoft.com/office/drawing/2014/main" id="{59604C8E-B52D-983C-BCF1-B349FB287D8F}"/>
              </a:ext>
            </a:extLst>
          </p:cNvPr>
          <p:cNvSpPr/>
          <p:nvPr/>
        </p:nvSpPr>
        <p:spPr>
          <a:xfrm rot="17945011">
            <a:off x="4182021" y="2433979"/>
            <a:ext cx="939294" cy="50676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3" name="Hexagon 18">
            <a:extLst>
              <a:ext uri="{FF2B5EF4-FFF2-40B4-BE49-F238E27FC236}">
                <a16:creationId xmlns:a16="http://schemas.microsoft.com/office/drawing/2014/main" id="{BC208CF0-4DCB-3BAA-57C9-7D50B84B57B2}"/>
              </a:ext>
            </a:extLst>
          </p:cNvPr>
          <p:cNvSpPr/>
          <p:nvPr/>
        </p:nvSpPr>
        <p:spPr>
          <a:xfrm rot="5400000">
            <a:off x="5684897"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Formations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démarrage</a:t>
            </a:r>
          </a:p>
        </p:txBody>
      </p:sp>
      <p:sp>
        <p:nvSpPr>
          <p:cNvPr id="4" name="Trapezoid 31">
            <a:extLst>
              <a:ext uri="{FF2B5EF4-FFF2-40B4-BE49-F238E27FC236}">
                <a16:creationId xmlns:a16="http://schemas.microsoft.com/office/drawing/2014/main" id="{21833DB2-CB61-B9A7-E308-956169F6FA1D}"/>
              </a:ext>
            </a:extLst>
          </p:cNvPr>
          <p:cNvSpPr/>
          <p:nvPr/>
        </p:nvSpPr>
        <p:spPr>
          <a:xfrm rot="19800000">
            <a:off x="5702586" y="4820492"/>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latin typeface="Trebuchet MS"/>
              <a:ea typeface="+mn-ea"/>
              <a:cs typeface="+mn-cs"/>
            </a:endParaRPr>
          </a:p>
        </p:txBody>
      </p:sp>
      <p:sp>
        <p:nvSpPr>
          <p:cNvPr id="5" name="Hexagon 33">
            <a:extLst>
              <a:ext uri="{FF2B5EF4-FFF2-40B4-BE49-F238E27FC236}">
                <a16:creationId xmlns:a16="http://schemas.microsoft.com/office/drawing/2014/main" id="{44DDFC9B-1038-106C-5666-B56B0737430F}"/>
              </a:ext>
            </a:extLst>
          </p:cNvPr>
          <p:cNvSpPr/>
          <p:nvPr/>
        </p:nvSpPr>
        <p:spPr>
          <a:xfrm rot="5400000">
            <a:off x="3790435"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Lancement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support</a:t>
            </a:r>
          </a:p>
        </p:txBody>
      </p:sp>
      <p:sp>
        <p:nvSpPr>
          <p:cNvPr id="6" name="Trapezoid 32">
            <a:extLst>
              <a:ext uri="{FF2B5EF4-FFF2-40B4-BE49-F238E27FC236}">
                <a16:creationId xmlns:a16="http://schemas.microsoft.com/office/drawing/2014/main" id="{789923A5-11A9-39A6-60DF-BF9E3EC680B9}"/>
              </a:ext>
            </a:extLst>
          </p:cNvPr>
          <p:cNvSpPr/>
          <p:nvPr/>
        </p:nvSpPr>
        <p:spPr>
          <a:xfrm rot="1800000">
            <a:off x="4649205" y="4818601"/>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latin typeface="Trebuchet MS"/>
              <a:ea typeface="+mn-ea"/>
              <a:cs typeface="+mn-cs"/>
            </a:endParaRPr>
          </a:p>
        </p:txBody>
      </p:sp>
      <p:sp>
        <p:nvSpPr>
          <p:cNvPr id="7" name="Hexagon 34">
            <a:extLst>
              <a:ext uri="{FF2B5EF4-FFF2-40B4-BE49-F238E27FC236}">
                <a16:creationId xmlns:a16="http://schemas.microsoft.com/office/drawing/2014/main" id="{BE857D43-9805-22AD-DF78-1C9B634A515B}"/>
              </a:ext>
            </a:extLst>
          </p:cNvPr>
          <p:cNvSpPr/>
          <p:nvPr/>
        </p:nvSpPr>
        <p:spPr>
          <a:xfrm rot="5400000">
            <a:off x="5896942" y="1586174"/>
            <a:ext cx="1732971" cy="1884953"/>
          </a:xfrm>
          <a:custGeom>
            <a:avLst/>
            <a:gdLst>
              <a:gd name="connsiteX0" fmla="*/ 0 w 2135508"/>
              <a:gd name="connsiteY0" fmla="*/ 928622 h 1857244"/>
              <a:gd name="connsiteX1" fmla="*/ 534923 w 2135508"/>
              <a:gd name="connsiteY1" fmla="*/ 0 h 1857244"/>
              <a:gd name="connsiteX2" fmla="*/ 1600585 w 2135508"/>
              <a:gd name="connsiteY2" fmla="*/ 0 h 1857244"/>
              <a:gd name="connsiteX3" fmla="*/ 2135508 w 2135508"/>
              <a:gd name="connsiteY3" fmla="*/ 928622 h 1857244"/>
              <a:gd name="connsiteX4" fmla="*/ 1600585 w 2135508"/>
              <a:gd name="connsiteY4" fmla="*/ 1857244 h 1857244"/>
              <a:gd name="connsiteX5" fmla="*/ 534923 w 2135508"/>
              <a:gd name="connsiteY5" fmla="*/ 1857244 h 1857244"/>
              <a:gd name="connsiteX6" fmla="*/ 0 w 2135508"/>
              <a:gd name="connsiteY6" fmla="*/ 928622 h 1857244"/>
              <a:gd name="connsiteX0" fmla="*/ 0 w 1726029"/>
              <a:gd name="connsiteY0" fmla="*/ 959410 h 1857244"/>
              <a:gd name="connsiteX1" fmla="*/ 125444 w 1726029"/>
              <a:gd name="connsiteY1" fmla="*/ 0 h 1857244"/>
              <a:gd name="connsiteX2" fmla="*/ 1191106 w 1726029"/>
              <a:gd name="connsiteY2" fmla="*/ 0 h 1857244"/>
              <a:gd name="connsiteX3" fmla="*/ 1726029 w 1726029"/>
              <a:gd name="connsiteY3" fmla="*/ 928622 h 1857244"/>
              <a:gd name="connsiteX4" fmla="*/ 1191106 w 1726029"/>
              <a:gd name="connsiteY4" fmla="*/ 1857244 h 1857244"/>
              <a:gd name="connsiteX5" fmla="*/ 125444 w 1726029"/>
              <a:gd name="connsiteY5" fmla="*/ 1857244 h 1857244"/>
              <a:gd name="connsiteX6" fmla="*/ 0 w 1726029"/>
              <a:gd name="connsiteY6" fmla="*/ 959410 h 1857244"/>
              <a:gd name="connsiteX0" fmla="*/ 0 w 1726029"/>
              <a:gd name="connsiteY0" fmla="*/ 959410 h 1860322"/>
              <a:gd name="connsiteX1" fmla="*/ 125444 w 1726029"/>
              <a:gd name="connsiteY1" fmla="*/ 0 h 1860322"/>
              <a:gd name="connsiteX2" fmla="*/ 1191106 w 1726029"/>
              <a:gd name="connsiteY2" fmla="*/ 0 h 1860322"/>
              <a:gd name="connsiteX3" fmla="*/ 1726029 w 1726029"/>
              <a:gd name="connsiteY3" fmla="*/ 928622 h 1860322"/>
              <a:gd name="connsiteX4" fmla="*/ 1191106 w 1726029"/>
              <a:gd name="connsiteY4" fmla="*/ 1857244 h 1860322"/>
              <a:gd name="connsiteX5" fmla="*/ 14610 w 1726029"/>
              <a:gd name="connsiteY5" fmla="*/ 1860322 h 1860322"/>
              <a:gd name="connsiteX6" fmla="*/ 0 w 1726029"/>
              <a:gd name="connsiteY6" fmla="*/ 959410 h 1860322"/>
              <a:gd name="connsiteX0" fmla="*/ 6942 w 1732971"/>
              <a:gd name="connsiteY0" fmla="*/ 984041 h 1884953"/>
              <a:gd name="connsiteX1" fmla="*/ 0 w 1732971"/>
              <a:gd name="connsiteY1" fmla="*/ 0 h 1884953"/>
              <a:gd name="connsiteX2" fmla="*/ 1198048 w 1732971"/>
              <a:gd name="connsiteY2" fmla="*/ 24631 h 1884953"/>
              <a:gd name="connsiteX3" fmla="*/ 1732971 w 1732971"/>
              <a:gd name="connsiteY3" fmla="*/ 953253 h 1884953"/>
              <a:gd name="connsiteX4" fmla="*/ 1198048 w 1732971"/>
              <a:gd name="connsiteY4" fmla="*/ 1881875 h 1884953"/>
              <a:gd name="connsiteX5" fmla="*/ 21552 w 1732971"/>
              <a:gd name="connsiteY5" fmla="*/ 1884953 h 1884953"/>
              <a:gd name="connsiteX6" fmla="*/ 6942 w 1732971"/>
              <a:gd name="connsiteY6" fmla="*/ 984041 h 188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2971" h="1884953">
                <a:moveTo>
                  <a:pt x="6942" y="984041"/>
                </a:moveTo>
                <a:lnTo>
                  <a:pt x="0" y="0"/>
                </a:lnTo>
                <a:lnTo>
                  <a:pt x="1198048" y="24631"/>
                </a:lnTo>
                <a:lnTo>
                  <a:pt x="1732971" y="953253"/>
                </a:lnTo>
                <a:lnTo>
                  <a:pt x="1198048" y="1881875"/>
                </a:lnTo>
                <a:lnTo>
                  <a:pt x="21552" y="1884953"/>
                </a:lnTo>
                <a:lnTo>
                  <a:pt x="6942" y="984041"/>
                </a:lnTo>
                <a:close/>
              </a:path>
            </a:pathLst>
          </a:cu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Analyses</a:t>
            </a:r>
          </a:p>
        </p:txBody>
      </p:sp>
      <p:sp>
        <p:nvSpPr>
          <p:cNvPr id="8" name="Trapezoid 35">
            <a:extLst>
              <a:ext uri="{FF2B5EF4-FFF2-40B4-BE49-F238E27FC236}">
                <a16:creationId xmlns:a16="http://schemas.microsoft.com/office/drawing/2014/main" id="{085DCED8-6D29-BED7-194C-387AA10C0D1F}"/>
              </a:ext>
            </a:extLst>
          </p:cNvPr>
          <p:cNvSpPr/>
          <p:nvPr/>
        </p:nvSpPr>
        <p:spPr>
          <a:xfrm rot="12600000" flipH="1">
            <a:off x="5702586" y="2979776"/>
            <a:ext cx="1260200" cy="164941"/>
          </a:xfrm>
          <a:prstGeom prst="trapezoid">
            <a:avLst>
              <a:gd name="adj" fmla="val 58035"/>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latin typeface="Trebuchet MS"/>
              <a:ea typeface="+mn-ea"/>
              <a:cs typeface="+mn-cs"/>
            </a:endParaRPr>
          </a:p>
        </p:txBody>
      </p:sp>
      <p:sp>
        <p:nvSpPr>
          <p:cNvPr id="56" name="Hexagon 39">
            <a:extLst>
              <a:ext uri="{FF2B5EF4-FFF2-40B4-BE49-F238E27FC236}">
                <a16:creationId xmlns:a16="http://schemas.microsoft.com/office/drawing/2014/main" id="{1E0E4317-9EA0-8DB2-DF6D-CD7CA1E5503F}"/>
              </a:ext>
            </a:extLst>
          </p:cNvPr>
          <p:cNvSpPr/>
          <p:nvPr/>
        </p:nvSpPr>
        <p:spPr>
          <a:xfrm rot="5400000">
            <a:off x="6617538" y="3044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Implémentation</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Déploiement</a:t>
            </a:r>
          </a:p>
        </p:txBody>
      </p:sp>
      <p:sp>
        <p:nvSpPr>
          <p:cNvPr id="57" name="Trapezoid 40">
            <a:extLst>
              <a:ext uri="{FF2B5EF4-FFF2-40B4-BE49-F238E27FC236}">
                <a16:creationId xmlns:a16="http://schemas.microsoft.com/office/drawing/2014/main" id="{82E7286E-4F0C-64DF-72ED-809959B24180}"/>
              </a:ext>
            </a:extLst>
          </p:cNvPr>
          <p:cNvSpPr/>
          <p:nvPr/>
        </p:nvSpPr>
        <p:spPr>
          <a:xfrm rot="16200000" flipH="1">
            <a:off x="6212641"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latin typeface="Trebuchet MS"/>
              <a:ea typeface="+mn-ea"/>
              <a:cs typeface="+mn-cs"/>
            </a:endParaRPr>
          </a:p>
        </p:txBody>
      </p:sp>
      <p:sp>
        <p:nvSpPr>
          <p:cNvPr id="58" name="Hexagon 41">
            <a:extLst>
              <a:ext uri="{FF2B5EF4-FFF2-40B4-BE49-F238E27FC236}">
                <a16:creationId xmlns:a16="http://schemas.microsoft.com/office/drawing/2014/main" id="{8979ADCF-FDDE-7AC3-A93B-9F37234EE3B4}"/>
              </a:ext>
            </a:extLst>
          </p:cNvPr>
          <p:cNvSpPr/>
          <p:nvPr/>
        </p:nvSpPr>
        <p:spPr>
          <a:xfrm rot="5400000">
            <a:off x="2856644" y="3048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Mesures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200" b="1" i="0" u="none" strike="noStrike" kern="0" cap="none" spc="0" normalizeH="0" baseline="0" noProof="0" dirty="0">
                <a:ln>
                  <a:noFill/>
                </a:ln>
                <a:solidFill>
                  <a:srgbClr val="212529"/>
                </a:solidFill>
                <a:effectLst/>
                <a:uLnTx/>
                <a:uFillTx/>
                <a:latin typeface="Trebuchet MS"/>
                <a:ea typeface="+mn-ea"/>
                <a:cs typeface="+mn-cs"/>
              </a:rPr>
              <a:t>adaptations</a:t>
            </a:r>
          </a:p>
        </p:txBody>
      </p:sp>
      <p:sp>
        <p:nvSpPr>
          <p:cNvPr id="59" name="Trapezoid 42">
            <a:extLst>
              <a:ext uri="{FF2B5EF4-FFF2-40B4-BE49-F238E27FC236}">
                <a16:creationId xmlns:a16="http://schemas.microsoft.com/office/drawing/2014/main" id="{25BAFA5C-7E92-7D91-1DE8-5DA171D3A707}"/>
              </a:ext>
            </a:extLst>
          </p:cNvPr>
          <p:cNvSpPr/>
          <p:nvPr/>
        </p:nvSpPr>
        <p:spPr>
          <a:xfrm rot="5400000" flipH="1">
            <a:off x="4140449"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dirty="0">
              <a:ln>
                <a:noFill/>
              </a:ln>
              <a:solidFill>
                <a:sysClr val="windowText" lastClr="000000"/>
              </a:solidFill>
              <a:effectLst/>
              <a:uLnTx/>
              <a:uFillTx/>
              <a:latin typeface="Trebuchet MS"/>
              <a:ea typeface="+mn-ea"/>
              <a:cs typeface="+mn-cs"/>
            </a:endParaRPr>
          </a:p>
        </p:txBody>
      </p:sp>
      <p:sp>
        <p:nvSpPr>
          <p:cNvPr id="60" name="Hexagon 58">
            <a:extLst>
              <a:ext uri="{FF2B5EF4-FFF2-40B4-BE49-F238E27FC236}">
                <a16:creationId xmlns:a16="http://schemas.microsoft.com/office/drawing/2014/main" id="{BDC5FC3B-9123-7124-5EAB-E23038768FB1}"/>
              </a:ext>
            </a:extLst>
          </p:cNvPr>
          <p:cNvSpPr/>
          <p:nvPr/>
        </p:nvSpPr>
        <p:spPr>
          <a:xfrm rot="5400000">
            <a:off x="7290769" y="1460309"/>
            <a:ext cx="765522" cy="665772"/>
          </a:xfrm>
          <a:prstGeom prst="hexagon">
            <a:avLst>
              <a:gd name="adj" fmla="val 28802"/>
              <a:gd name="vf" fmla="val 115470"/>
            </a:avLst>
          </a:prstGeom>
          <a:solidFill>
            <a:schemeClr val="accent1"/>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latin typeface="Trebuchet MS"/>
                <a:ea typeface="+mn-ea"/>
                <a:cs typeface="+mn-cs"/>
              </a:rPr>
              <a:t>01</a:t>
            </a:r>
          </a:p>
        </p:txBody>
      </p:sp>
      <p:sp>
        <p:nvSpPr>
          <p:cNvPr id="61" name="Hexagon 59">
            <a:extLst>
              <a:ext uri="{FF2B5EF4-FFF2-40B4-BE49-F238E27FC236}">
                <a16:creationId xmlns:a16="http://schemas.microsoft.com/office/drawing/2014/main" id="{E2A50C2A-24D3-8C58-DD17-E05C1C03DA63}"/>
              </a:ext>
            </a:extLst>
          </p:cNvPr>
          <p:cNvSpPr/>
          <p:nvPr/>
        </p:nvSpPr>
        <p:spPr>
          <a:xfrm rot="5400000">
            <a:off x="8228162" y="3106446"/>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latin typeface="Trebuchet MS"/>
                <a:ea typeface="+mn-ea"/>
                <a:cs typeface="+mn-cs"/>
              </a:rPr>
              <a:t>02</a:t>
            </a:r>
          </a:p>
        </p:txBody>
      </p:sp>
      <p:sp>
        <p:nvSpPr>
          <p:cNvPr id="62" name="Hexagon 60">
            <a:extLst>
              <a:ext uri="{FF2B5EF4-FFF2-40B4-BE49-F238E27FC236}">
                <a16:creationId xmlns:a16="http://schemas.microsoft.com/office/drawing/2014/main" id="{585C0C27-FAEC-DAD3-F494-BD68E897BD80}"/>
              </a:ext>
            </a:extLst>
          </p:cNvPr>
          <p:cNvSpPr/>
          <p:nvPr/>
        </p:nvSpPr>
        <p:spPr>
          <a:xfrm rot="5400000">
            <a:off x="7296494"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latin typeface="Trebuchet MS"/>
                <a:ea typeface="+mn-ea"/>
                <a:cs typeface="+mn-cs"/>
              </a:rPr>
              <a:t>03</a:t>
            </a:r>
          </a:p>
        </p:txBody>
      </p:sp>
      <p:sp>
        <p:nvSpPr>
          <p:cNvPr id="63" name="Hexagon 61">
            <a:extLst>
              <a:ext uri="{FF2B5EF4-FFF2-40B4-BE49-F238E27FC236}">
                <a16:creationId xmlns:a16="http://schemas.microsoft.com/office/drawing/2014/main" id="{BF166BFE-F3C9-C2C3-B75A-49C6E0557D5D}"/>
              </a:ext>
            </a:extLst>
          </p:cNvPr>
          <p:cNvSpPr/>
          <p:nvPr/>
        </p:nvSpPr>
        <p:spPr>
          <a:xfrm rot="5400000">
            <a:off x="3550119"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latin typeface="Trebuchet MS"/>
                <a:ea typeface="+mn-ea"/>
                <a:cs typeface="+mn-cs"/>
              </a:rPr>
              <a:t>04</a:t>
            </a:r>
          </a:p>
        </p:txBody>
      </p:sp>
      <p:sp>
        <p:nvSpPr>
          <p:cNvPr id="64" name="Hexagon 62">
            <a:extLst>
              <a:ext uri="{FF2B5EF4-FFF2-40B4-BE49-F238E27FC236}">
                <a16:creationId xmlns:a16="http://schemas.microsoft.com/office/drawing/2014/main" id="{1F9BE843-260D-CD62-C520-E587BB80960D}"/>
              </a:ext>
            </a:extLst>
          </p:cNvPr>
          <p:cNvSpPr/>
          <p:nvPr/>
        </p:nvSpPr>
        <p:spPr>
          <a:xfrm rot="5400000">
            <a:off x="2616621" y="3106448"/>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dirty="0">
                <a:ln>
                  <a:noFill/>
                </a:ln>
                <a:solidFill>
                  <a:srgbClr val="FFFFFF"/>
                </a:solidFill>
                <a:effectLst/>
                <a:uLnTx/>
                <a:uFillTx/>
                <a:latin typeface="Trebuchet MS"/>
                <a:ea typeface="+mn-ea"/>
                <a:cs typeface="+mn-cs"/>
              </a:rPr>
              <a:t>05</a:t>
            </a:r>
          </a:p>
        </p:txBody>
      </p:sp>
      <p:grpSp>
        <p:nvGrpSpPr>
          <p:cNvPr id="65" name="Groupe 64">
            <a:extLst>
              <a:ext uri="{FF2B5EF4-FFF2-40B4-BE49-F238E27FC236}">
                <a16:creationId xmlns:a16="http://schemas.microsoft.com/office/drawing/2014/main" id="{5F766060-5925-4C4D-E837-B4D681DC19E7}"/>
              </a:ext>
            </a:extLst>
          </p:cNvPr>
          <p:cNvGrpSpPr/>
          <p:nvPr/>
        </p:nvGrpSpPr>
        <p:grpSpPr>
          <a:xfrm>
            <a:off x="3607131" y="1814653"/>
            <a:ext cx="2133525" cy="968590"/>
            <a:chOff x="5790659" y="1232379"/>
            <a:chExt cx="2133600" cy="968624"/>
          </a:xfrm>
        </p:grpSpPr>
        <p:sp>
          <p:nvSpPr>
            <p:cNvPr id="66" name="Flèche droite 30">
              <a:extLst>
                <a:ext uri="{FF2B5EF4-FFF2-40B4-BE49-F238E27FC236}">
                  <a16:creationId xmlns:a16="http://schemas.microsoft.com/office/drawing/2014/main" id="{AC4F357E-9697-7A6A-F303-FFB0CD780540}"/>
                </a:ext>
              </a:extLst>
            </p:cNvPr>
            <p:cNvSpPr/>
            <p:nvPr/>
          </p:nvSpPr>
          <p:spPr>
            <a:xfrm>
              <a:off x="5790659" y="1232379"/>
              <a:ext cx="2133600" cy="96862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67" name="ZoneTexte 66">
              <a:extLst>
                <a:ext uri="{FF2B5EF4-FFF2-40B4-BE49-F238E27FC236}">
                  <a16:creationId xmlns:a16="http://schemas.microsoft.com/office/drawing/2014/main" id="{261C4605-5F7A-F1BF-68AB-767D05A7EAAD}"/>
                </a:ext>
              </a:extLst>
            </p:cNvPr>
            <p:cNvSpPr txBox="1"/>
            <p:nvPr/>
          </p:nvSpPr>
          <p:spPr>
            <a:xfrm>
              <a:off x="5812047" y="1531651"/>
              <a:ext cx="1741278" cy="3693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Trebuchet MS"/>
                  <a:ea typeface="+mn-ea"/>
                  <a:cs typeface="+mn-cs"/>
                </a:rPr>
                <a:t>DEMARRAGE</a:t>
              </a:r>
            </a:p>
          </p:txBody>
        </p:sp>
      </p:grpSp>
      <p:grpSp>
        <p:nvGrpSpPr>
          <p:cNvPr id="68" name="Groupe 67">
            <a:extLst>
              <a:ext uri="{FF2B5EF4-FFF2-40B4-BE49-F238E27FC236}">
                <a16:creationId xmlns:a16="http://schemas.microsoft.com/office/drawing/2014/main" id="{F06AD109-6B15-DAB7-064A-A2D59031E29F}"/>
              </a:ext>
            </a:extLst>
          </p:cNvPr>
          <p:cNvGrpSpPr/>
          <p:nvPr/>
        </p:nvGrpSpPr>
        <p:grpSpPr>
          <a:xfrm>
            <a:off x="7827182" y="2488187"/>
            <a:ext cx="2036544" cy="298763"/>
            <a:chOff x="7827242" y="2488155"/>
            <a:chExt cx="2036615" cy="298774"/>
          </a:xfrm>
        </p:grpSpPr>
        <p:sp>
          <p:nvSpPr>
            <p:cNvPr id="69" name="ZoneTexte 68">
              <a:extLst>
                <a:ext uri="{FF2B5EF4-FFF2-40B4-BE49-F238E27FC236}">
                  <a16:creationId xmlns:a16="http://schemas.microsoft.com/office/drawing/2014/main" id="{4391BB6D-6883-6955-8A7B-1DA24A67FC8B}"/>
                </a:ext>
              </a:extLst>
            </p:cNvPr>
            <p:cNvSpPr txBox="1"/>
            <p:nvPr/>
          </p:nvSpPr>
          <p:spPr>
            <a:xfrm>
              <a:off x="8006482" y="2492806"/>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8F8F8F"/>
                  </a:solidFill>
                  <a:effectLst/>
                  <a:uLnTx/>
                  <a:uFillTx/>
                  <a:latin typeface="Trebuchet MS"/>
                  <a:ea typeface="+mn-ea"/>
                  <a:cs typeface="+mn-cs"/>
                </a:rPr>
                <a:t>Liste des exigences</a:t>
              </a:r>
            </a:p>
          </p:txBody>
        </p:sp>
        <p:sp>
          <p:nvSpPr>
            <p:cNvPr id="70" name="Freeform 145">
              <a:extLst>
                <a:ext uri="{FF2B5EF4-FFF2-40B4-BE49-F238E27FC236}">
                  <a16:creationId xmlns:a16="http://schemas.microsoft.com/office/drawing/2014/main" id="{7351980A-51A8-C3D0-19A9-1ABD2D418AF3}"/>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57565A"/>
                </a:solidFill>
                <a:effectLst/>
                <a:uLnTx/>
                <a:uFillTx/>
                <a:latin typeface="Trebuchet MS"/>
                <a:ea typeface="+mn-ea"/>
                <a:cs typeface="+mn-cs"/>
              </a:endParaRPr>
            </a:p>
          </p:txBody>
        </p:sp>
      </p:grpSp>
      <p:grpSp>
        <p:nvGrpSpPr>
          <p:cNvPr id="71" name="Groupe 70">
            <a:extLst>
              <a:ext uri="{FF2B5EF4-FFF2-40B4-BE49-F238E27FC236}">
                <a16:creationId xmlns:a16="http://schemas.microsoft.com/office/drawing/2014/main" id="{C712369D-443D-9D57-E6A4-DAF7A0364077}"/>
              </a:ext>
            </a:extLst>
          </p:cNvPr>
          <p:cNvGrpSpPr/>
          <p:nvPr/>
        </p:nvGrpSpPr>
        <p:grpSpPr>
          <a:xfrm>
            <a:off x="8696000" y="4535616"/>
            <a:ext cx="2036544" cy="298763"/>
            <a:chOff x="7827242" y="2488155"/>
            <a:chExt cx="2036615" cy="298774"/>
          </a:xfrm>
        </p:grpSpPr>
        <p:sp>
          <p:nvSpPr>
            <p:cNvPr id="72" name="ZoneTexte 71">
              <a:extLst>
                <a:ext uri="{FF2B5EF4-FFF2-40B4-BE49-F238E27FC236}">
                  <a16:creationId xmlns:a16="http://schemas.microsoft.com/office/drawing/2014/main" id="{639B5C5F-245F-4855-2DEF-134D8D66E15C}"/>
                </a:ext>
              </a:extLst>
            </p:cNvPr>
            <p:cNvSpPr txBox="1"/>
            <p:nvPr/>
          </p:nvSpPr>
          <p:spPr>
            <a:xfrm>
              <a:off x="8006482" y="2509920"/>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srgbClr val="8F8F8F"/>
                  </a:solidFill>
                  <a:effectLst/>
                  <a:uLnTx/>
                  <a:uFillTx/>
                  <a:latin typeface="Trebuchet MS"/>
                  <a:ea typeface="+mn-ea"/>
                  <a:cs typeface="+mn-cs"/>
                </a:rPr>
                <a:t>Validation du domaine</a:t>
              </a:r>
            </a:p>
          </p:txBody>
        </p:sp>
        <p:sp>
          <p:nvSpPr>
            <p:cNvPr id="73" name="Freeform 145">
              <a:extLst>
                <a:ext uri="{FF2B5EF4-FFF2-40B4-BE49-F238E27FC236}">
                  <a16:creationId xmlns:a16="http://schemas.microsoft.com/office/drawing/2014/main" id="{230DC208-B3EB-0120-C528-F2C2E00A9430}"/>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57565A"/>
                </a:solidFill>
                <a:effectLst/>
                <a:uLnTx/>
                <a:uFillTx/>
                <a:latin typeface="Trebuchet MS"/>
                <a:ea typeface="+mn-ea"/>
                <a:cs typeface="+mn-cs"/>
              </a:endParaRPr>
            </a:p>
          </p:txBody>
        </p:sp>
      </p:grpSp>
      <p:sp>
        <p:nvSpPr>
          <p:cNvPr id="74" name="ZoneTexte 73">
            <a:extLst>
              <a:ext uri="{FF2B5EF4-FFF2-40B4-BE49-F238E27FC236}">
                <a16:creationId xmlns:a16="http://schemas.microsoft.com/office/drawing/2014/main" id="{D815558E-3785-DEEB-0B46-2C706D3182E9}"/>
              </a:ext>
            </a:extLst>
          </p:cNvPr>
          <p:cNvSpPr txBox="1"/>
          <p:nvPr/>
        </p:nvSpPr>
        <p:spPr>
          <a:xfrm>
            <a:off x="8163144" y="1594355"/>
            <a:ext cx="2491174" cy="41400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BESOINS &amp; EXIGENCES</a:t>
            </a:r>
          </a:p>
        </p:txBody>
      </p:sp>
      <p:sp>
        <p:nvSpPr>
          <p:cNvPr id="75" name="ZoneTexte 74">
            <a:extLst>
              <a:ext uri="{FF2B5EF4-FFF2-40B4-BE49-F238E27FC236}">
                <a16:creationId xmlns:a16="http://schemas.microsoft.com/office/drawing/2014/main" id="{3565F6AA-40F6-EE7D-5D51-2EB6A2747A05}"/>
              </a:ext>
            </a:extLst>
          </p:cNvPr>
          <p:cNvSpPr txBox="1"/>
          <p:nvPr/>
        </p:nvSpPr>
        <p:spPr>
          <a:xfrm>
            <a:off x="9099300" y="3012827"/>
            <a:ext cx="2947408" cy="83212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PERSONNALISATION DE L’ERP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TEST</a:t>
            </a:r>
          </a:p>
        </p:txBody>
      </p:sp>
      <p:sp>
        <p:nvSpPr>
          <p:cNvPr id="76" name="ZoneTexte 75">
            <a:extLst>
              <a:ext uri="{FF2B5EF4-FFF2-40B4-BE49-F238E27FC236}">
                <a16:creationId xmlns:a16="http://schemas.microsoft.com/office/drawing/2014/main" id="{BE6F69E3-5CB8-C2E6-05CB-4B5477A3D41F}"/>
              </a:ext>
            </a:extLst>
          </p:cNvPr>
          <p:cNvSpPr txBox="1"/>
          <p:nvPr/>
        </p:nvSpPr>
        <p:spPr>
          <a:xfrm>
            <a:off x="8155414" y="5868625"/>
            <a:ext cx="2947408" cy="58859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FORMATION DES UTILISATEUR</a:t>
            </a:r>
            <a:r>
              <a:rPr kumimoji="0" lang="fr-FR" sz="1800" b="0" i="0" u="none" strike="noStrike" kern="1200" cap="none" spc="0" normalizeH="0" baseline="0" noProof="0" dirty="0">
                <a:ln>
                  <a:noFill/>
                </a:ln>
                <a:solidFill>
                  <a:prstClr val="white"/>
                </a:solidFill>
                <a:effectLst/>
                <a:uLnTx/>
                <a:uFillTx/>
                <a:latin typeface="Trebuchet MS"/>
                <a:ea typeface="+mn-ea"/>
                <a:cs typeface="+mn-cs"/>
              </a:rPr>
              <a:t>S</a:t>
            </a:r>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MIGRATION DES DONNEES</a:t>
            </a:r>
          </a:p>
        </p:txBody>
      </p:sp>
      <p:sp>
        <p:nvSpPr>
          <p:cNvPr id="77" name="ZoneTexte 76">
            <a:extLst>
              <a:ext uri="{FF2B5EF4-FFF2-40B4-BE49-F238E27FC236}">
                <a16:creationId xmlns:a16="http://schemas.microsoft.com/office/drawing/2014/main" id="{58326DC0-7E56-E9BD-F348-1C773FA941CE}"/>
              </a:ext>
            </a:extLst>
          </p:cNvPr>
          <p:cNvSpPr txBox="1"/>
          <p:nvPr/>
        </p:nvSpPr>
        <p:spPr>
          <a:xfrm>
            <a:off x="143084" y="5710933"/>
            <a:ext cx="3310239" cy="923147"/>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HAUTE DISPONIBILITÉ PENDANT LES PREMIÈRES SEMAINES D’UTILISATION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RÉACTIVITÉ</a:t>
            </a:r>
          </a:p>
        </p:txBody>
      </p:sp>
      <p:sp>
        <p:nvSpPr>
          <p:cNvPr id="78" name="ZoneTexte 77">
            <a:extLst>
              <a:ext uri="{FF2B5EF4-FFF2-40B4-BE49-F238E27FC236}">
                <a16:creationId xmlns:a16="http://schemas.microsoft.com/office/drawing/2014/main" id="{58C117E6-2ED6-2FEA-4D59-29114C985ADD}"/>
              </a:ext>
            </a:extLst>
          </p:cNvPr>
          <p:cNvSpPr txBox="1"/>
          <p:nvPr/>
        </p:nvSpPr>
        <p:spPr>
          <a:xfrm>
            <a:off x="127251" y="2979525"/>
            <a:ext cx="2400503" cy="9231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DEFINIR LES EVOLUTIONS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white"/>
                </a:solidFill>
                <a:effectLst/>
                <a:uLnTx/>
                <a:uFillTx/>
                <a:latin typeface="Trebuchet MS"/>
                <a:ea typeface="+mn-ea"/>
                <a:cs typeface="+mn-cs"/>
              </a:rPr>
              <a:t>PREPARER LA PROCHAINE ÉTAPE</a:t>
            </a:r>
          </a:p>
        </p:txBody>
      </p:sp>
      <p:pic>
        <p:nvPicPr>
          <p:cNvPr id="79" name="Graphic 1">
            <a:extLst>
              <a:ext uri="{FF2B5EF4-FFF2-40B4-BE49-F238E27FC236}">
                <a16:creationId xmlns:a16="http://schemas.microsoft.com/office/drawing/2014/main" id="{CB88C1E8-3548-8E94-5041-971645332E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53696" y="3144403"/>
            <a:ext cx="1290983" cy="1485891"/>
          </a:xfrm>
          <a:prstGeom prst="rect">
            <a:avLst/>
          </a:prstGeom>
        </p:spPr>
      </p:pic>
      <p:sp>
        <p:nvSpPr>
          <p:cNvPr id="10" name="Espace réservé du numéro de diapositive 9">
            <a:extLst>
              <a:ext uri="{FF2B5EF4-FFF2-40B4-BE49-F238E27FC236}">
                <a16:creationId xmlns:a16="http://schemas.microsoft.com/office/drawing/2014/main" id="{AFB62DB9-1596-7DAC-0F8C-8340DBD837AE}"/>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Tree>
    <p:extLst>
      <p:ext uri="{BB962C8B-B14F-4D97-AF65-F5344CB8AC3E}">
        <p14:creationId xmlns:p14="http://schemas.microsoft.com/office/powerpoint/2010/main" val="373396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100"/>
                                        <p:tgtEl>
                                          <p:spTgt spid="60"/>
                                        </p:tgtEl>
                                      </p:cBhvr>
                                    </p:animEffect>
                                  </p:childTnLst>
                                </p:cTn>
                              </p:par>
                            </p:childTnLst>
                          </p:cTn>
                        </p:par>
                        <p:par>
                          <p:cTn id="17" fill="hold">
                            <p:stCondLst>
                              <p:cond delay="100"/>
                            </p:stCondLst>
                            <p:childTnLst>
                              <p:par>
                                <p:cTn id="18" presetID="10" presetClass="entr" presetSubtype="0" fill="hold" grpId="0" nodeType="after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fade">
                                      <p:cBhvr>
                                        <p:cTn id="20" dur="100"/>
                                        <p:tgtEl>
                                          <p:spTgt spid="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100"/>
                                        <p:tgtEl>
                                          <p:spTgt spid="5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100"/>
                                        <p:tgtEl>
                                          <p:spTgt spid="61"/>
                                        </p:tgtEl>
                                      </p:cBhvr>
                                    </p:animEffect>
                                  </p:childTnLst>
                                </p:cTn>
                              </p:par>
                            </p:childTnLst>
                          </p:cTn>
                        </p:par>
                        <p:par>
                          <p:cTn id="27" fill="hold">
                            <p:stCondLst>
                              <p:cond delay="200"/>
                            </p:stCondLst>
                            <p:childTnLst>
                              <p:par>
                                <p:cTn id="28" presetID="10"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
                                        <p:tgtEl>
                                          <p:spTgt spid="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
                                        <p:tgtEl>
                                          <p:spTgt spid="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fade">
                                      <p:cBhvr>
                                        <p:cTn id="36" dur="100"/>
                                        <p:tgtEl>
                                          <p:spTgt spid="62"/>
                                        </p:tgtEl>
                                      </p:cBhvr>
                                    </p:animEffect>
                                  </p:childTnLst>
                                </p:cTn>
                              </p:par>
                            </p:childTnLst>
                          </p:cTn>
                        </p:par>
                        <p:par>
                          <p:cTn id="37" fill="hold">
                            <p:stCondLst>
                              <p:cond delay="300"/>
                            </p:stCondLst>
                            <p:childTnLst>
                              <p:par>
                                <p:cTn id="38" presetID="10" presetClass="entr" presetSubtype="0" fill="hold" grpId="0"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
                                        <p:tgtEl>
                                          <p:spTgt spid="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100"/>
                                        <p:tgtEl>
                                          <p:spTgt spid="63"/>
                                        </p:tgtEl>
                                      </p:cBhvr>
                                    </p:animEffect>
                                  </p:childTnLst>
                                </p:cTn>
                              </p:par>
                            </p:childTnLst>
                          </p:cTn>
                        </p:par>
                        <p:par>
                          <p:cTn id="47" fill="hold">
                            <p:stCondLst>
                              <p:cond delay="400"/>
                            </p:stCondLst>
                            <p:childTnLst>
                              <p:par>
                                <p:cTn id="48" presetID="10" presetClass="entr" presetSubtype="0" fill="hold" grpId="0" nodeType="after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100"/>
                                        <p:tgtEl>
                                          <p:spTgt spid="5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100"/>
                                        <p:tgtEl>
                                          <p:spTgt spid="5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1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1000"/>
                                        <p:tgtEl>
                                          <p:spTgt spid="2"/>
                                        </p:tgtEl>
                                      </p:cBhvr>
                                    </p:animEffect>
                                  </p:childTnLst>
                                </p:cTn>
                              </p:par>
                            </p:childTnLst>
                          </p:cTn>
                        </p:par>
                        <p:par>
                          <p:cTn id="60" fill="hold">
                            <p:stCondLst>
                              <p:cond delay="1400"/>
                            </p:stCondLst>
                            <p:childTnLst>
                              <p:par>
                                <p:cTn id="61" presetID="10" presetClass="entr" presetSubtype="0" fill="hold" grpId="0" nodeType="afterEffect">
                                  <p:stCondLst>
                                    <p:cond delay="0"/>
                                  </p:stCondLst>
                                  <p:childTnLst>
                                    <p:set>
                                      <p:cBhvr>
                                        <p:cTn id="62" dur="1" fill="hold">
                                          <p:stCondLst>
                                            <p:cond delay="0"/>
                                          </p:stCondLst>
                                        </p:cTn>
                                        <p:tgtEl>
                                          <p:spTgt spid="74"/>
                                        </p:tgtEl>
                                        <p:attrNameLst>
                                          <p:attrName>style.visibility</p:attrName>
                                        </p:attrNameLst>
                                      </p:cBhvr>
                                      <p:to>
                                        <p:strVal val="visible"/>
                                      </p:to>
                                    </p:set>
                                    <p:animEffect transition="in" filter="fade">
                                      <p:cBhvr>
                                        <p:cTn id="63" dur="100"/>
                                        <p:tgtEl>
                                          <p:spTgt spid="74"/>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75"/>
                                        </p:tgtEl>
                                        <p:attrNameLst>
                                          <p:attrName>style.visibility</p:attrName>
                                        </p:attrNameLst>
                                      </p:cBhvr>
                                      <p:to>
                                        <p:strVal val="visible"/>
                                      </p:to>
                                    </p:set>
                                    <p:animEffect transition="in" filter="fade">
                                      <p:cBhvr>
                                        <p:cTn id="67" dur="100"/>
                                        <p:tgtEl>
                                          <p:spTgt spid="75"/>
                                        </p:tgtEl>
                                      </p:cBhvr>
                                    </p:animEffect>
                                  </p:childTnLst>
                                </p:cTn>
                              </p:par>
                            </p:childTnLst>
                          </p:cTn>
                        </p:par>
                        <p:par>
                          <p:cTn id="68" fill="hold">
                            <p:stCondLst>
                              <p:cond delay="1600"/>
                            </p:stCondLst>
                            <p:childTnLst>
                              <p:par>
                                <p:cTn id="69" presetID="10" presetClass="entr" presetSubtype="0" fill="hold" grpId="0" nodeType="afterEffect">
                                  <p:stCondLst>
                                    <p:cond delay="0"/>
                                  </p:stCondLst>
                                  <p:childTnLst>
                                    <p:set>
                                      <p:cBhvr>
                                        <p:cTn id="70" dur="1" fill="hold">
                                          <p:stCondLst>
                                            <p:cond delay="0"/>
                                          </p:stCondLst>
                                        </p:cTn>
                                        <p:tgtEl>
                                          <p:spTgt spid="76"/>
                                        </p:tgtEl>
                                        <p:attrNameLst>
                                          <p:attrName>style.visibility</p:attrName>
                                        </p:attrNameLst>
                                      </p:cBhvr>
                                      <p:to>
                                        <p:strVal val="visible"/>
                                      </p:to>
                                    </p:set>
                                    <p:animEffect transition="in" filter="fade">
                                      <p:cBhvr>
                                        <p:cTn id="71" dur="100"/>
                                        <p:tgtEl>
                                          <p:spTgt spid="76"/>
                                        </p:tgtEl>
                                      </p:cBhvr>
                                    </p:animEffect>
                                  </p:childTnLst>
                                </p:cTn>
                              </p:par>
                            </p:childTnLst>
                          </p:cTn>
                        </p:par>
                        <p:par>
                          <p:cTn id="72" fill="hold">
                            <p:stCondLst>
                              <p:cond delay="1700"/>
                            </p:stCondLst>
                            <p:childTnLst>
                              <p:par>
                                <p:cTn id="73" presetID="10" presetClass="entr" presetSubtype="0" fill="hold" grpId="0" nodeType="afterEffect">
                                  <p:stCondLst>
                                    <p:cond delay="0"/>
                                  </p:stCondLst>
                                  <p:childTnLst>
                                    <p:set>
                                      <p:cBhvr>
                                        <p:cTn id="74" dur="1" fill="hold">
                                          <p:stCondLst>
                                            <p:cond delay="0"/>
                                          </p:stCondLst>
                                        </p:cTn>
                                        <p:tgtEl>
                                          <p:spTgt spid="77"/>
                                        </p:tgtEl>
                                        <p:attrNameLst>
                                          <p:attrName>style.visibility</p:attrName>
                                        </p:attrNameLst>
                                      </p:cBhvr>
                                      <p:to>
                                        <p:strVal val="visible"/>
                                      </p:to>
                                    </p:set>
                                    <p:animEffect transition="in" filter="fade">
                                      <p:cBhvr>
                                        <p:cTn id="75" dur="100"/>
                                        <p:tgtEl>
                                          <p:spTgt spid="77"/>
                                        </p:tgtEl>
                                      </p:cBhvr>
                                    </p:animEffect>
                                  </p:childTnLst>
                                </p:cTn>
                              </p:par>
                            </p:childTnLst>
                          </p:cTn>
                        </p:par>
                        <p:par>
                          <p:cTn id="76" fill="hold">
                            <p:stCondLst>
                              <p:cond delay="1800"/>
                            </p:stCondLst>
                            <p:childTnLst>
                              <p:par>
                                <p:cTn id="77" presetID="10" presetClass="entr" presetSubtype="0" fill="hold" grpId="0" nodeType="afterEffect">
                                  <p:stCondLst>
                                    <p:cond delay="0"/>
                                  </p:stCondLst>
                                  <p:childTnLst>
                                    <p:set>
                                      <p:cBhvr>
                                        <p:cTn id="78" dur="1" fill="hold">
                                          <p:stCondLst>
                                            <p:cond delay="0"/>
                                          </p:stCondLst>
                                        </p:cTn>
                                        <p:tgtEl>
                                          <p:spTgt spid="78"/>
                                        </p:tgtEl>
                                        <p:attrNameLst>
                                          <p:attrName>style.visibility</p:attrName>
                                        </p:attrNameLst>
                                      </p:cBhvr>
                                      <p:to>
                                        <p:strVal val="visible"/>
                                      </p:to>
                                    </p:set>
                                    <p:animEffect transition="in" filter="fade">
                                      <p:cBhvr>
                                        <p:cTn id="79" dur="100"/>
                                        <p:tgtEl>
                                          <p:spTgt spid="78"/>
                                        </p:tgtEl>
                                      </p:cBhvr>
                                    </p:animEffect>
                                  </p:childTnLst>
                                </p:cTn>
                              </p:par>
                            </p:childTnLst>
                          </p:cTn>
                        </p:par>
                        <p:par>
                          <p:cTn id="80" fill="hold">
                            <p:stCondLst>
                              <p:cond delay="1900"/>
                            </p:stCondLst>
                            <p:childTnLst>
                              <p:par>
                                <p:cTn id="81" presetID="10" presetClass="entr" presetSubtype="0" fill="hold" nodeType="after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100"/>
                                        <p:tgtEl>
                                          <p:spTgt spid="68"/>
                                        </p:tgtEl>
                                      </p:cBhvr>
                                    </p:animEffect>
                                  </p:childTnLst>
                                </p:cTn>
                              </p:par>
                            </p:childTnLst>
                          </p:cTn>
                        </p:par>
                        <p:par>
                          <p:cTn id="84" fill="hold">
                            <p:stCondLst>
                              <p:cond delay="2000"/>
                            </p:stCondLst>
                            <p:childTnLst>
                              <p:par>
                                <p:cTn id="85" presetID="10" presetClass="entr" presetSubtype="0" fill="hold" nodeType="afterEffect">
                                  <p:stCondLst>
                                    <p:cond delay="0"/>
                                  </p:stCondLst>
                                  <p:childTnLst>
                                    <p:set>
                                      <p:cBhvr>
                                        <p:cTn id="86" dur="1" fill="hold">
                                          <p:stCondLst>
                                            <p:cond delay="0"/>
                                          </p:stCondLst>
                                        </p:cTn>
                                        <p:tgtEl>
                                          <p:spTgt spid="71"/>
                                        </p:tgtEl>
                                        <p:attrNameLst>
                                          <p:attrName>style.visibility</p:attrName>
                                        </p:attrNameLst>
                                      </p:cBhvr>
                                      <p:to>
                                        <p:strVal val="visible"/>
                                      </p:to>
                                    </p:set>
                                    <p:animEffect transition="in" filter="fade">
                                      <p:cBhvr>
                                        <p:cTn id="87" dur="1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56" grpId="0" animBg="1"/>
      <p:bldP spid="57" grpId="0" animBg="1"/>
      <p:bldP spid="58" grpId="0" animBg="1"/>
      <p:bldP spid="59" grpId="0" animBg="1"/>
      <p:bldP spid="60" grpId="0" animBg="1"/>
      <p:bldP spid="61" grpId="0" animBg="1"/>
      <p:bldP spid="62" grpId="0" animBg="1"/>
      <p:bldP spid="63" grpId="0" animBg="1"/>
      <p:bldP spid="64" grpId="0" animBg="1"/>
      <p:bldP spid="74" grpId="0" animBg="1"/>
      <p:bldP spid="75" grpId="0" animBg="1"/>
      <p:bldP spid="76" grpId="0" animBg="1"/>
      <p:bldP spid="77" grpId="0" animBg="1"/>
      <p:bldP spid="7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3" name="Freeform 6">
            <a:extLst>
              <a:ext uri="{FF2B5EF4-FFF2-40B4-BE49-F238E27FC236}">
                <a16:creationId xmlns:a16="http://schemas.microsoft.com/office/drawing/2014/main" id="{037529B4-401D-1113-6703-6C94164F2DEA}"/>
              </a:ext>
            </a:extLst>
          </p:cNvPr>
          <p:cNvSpPr/>
          <p:nvPr/>
        </p:nvSpPr>
        <p:spPr>
          <a:xfrm>
            <a:off x="7212728" y="685800"/>
            <a:ext cx="4293472" cy="4293472"/>
          </a:xfrm>
          <a:custGeom>
            <a:avLst/>
            <a:gdLst/>
            <a:ahLst/>
            <a:cxnLst/>
            <a:rect l="l" t="t" r="r" b="b"/>
            <a:pathLst>
              <a:path w="6350000" h="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gradFill rotWithShape="1">
            <a:gsLst>
              <a:gs pos="0">
                <a:srgbClr val="BA131A">
                  <a:alpha val="100000"/>
                </a:srgbClr>
              </a:gs>
              <a:gs pos="100000">
                <a:srgbClr val="724D67">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212529"/>
              </a:solidFill>
              <a:effectLst/>
              <a:uLnTx/>
              <a:uFillTx/>
              <a:latin typeface="Trebuchet MS"/>
              <a:ea typeface="+mn-ea"/>
              <a:cs typeface="+mn-cs"/>
            </a:endParaRPr>
          </a:p>
        </p:txBody>
      </p:sp>
      <p:pic>
        <p:nvPicPr>
          <p:cNvPr id="4" name="Image 3" descr="Une image contenant texte, capture d’écran, diagramme, conception&#10;&#10;Le contenu généré par l’IA peut être incorrect.">
            <a:extLst>
              <a:ext uri="{FF2B5EF4-FFF2-40B4-BE49-F238E27FC236}">
                <a16:creationId xmlns:a16="http://schemas.microsoft.com/office/drawing/2014/main" id="{5A2C15F1-9DCE-0119-F87F-CD06E8CFFA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6000" y="909000"/>
            <a:ext cx="5219700" cy="3873997"/>
          </a:xfrm>
          <a:prstGeom prst="rect">
            <a:avLst/>
          </a:prstGeom>
        </p:spPr>
      </p:pic>
      <p:pic>
        <p:nvPicPr>
          <p:cNvPr id="5" name="Graphique 4">
            <a:extLst>
              <a:ext uri="{FF2B5EF4-FFF2-40B4-BE49-F238E27FC236}">
                <a16:creationId xmlns:a16="http://schemas.microsoft.com/office/drawing/2014/main" id="{46B982C4-6660-6818-42EE-E7C67F4513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60" y="-171000"/>
            <a:ext cx="5835650" cy="3143250"/>
          </a:xfrm>
          <a:prstGeom prst="rect">
            <a:avLst/>
          </a:prstGeom>
        </p:spPr>
      </p:pic>
      <p:sp>
        <p:nvSpPr>
          <p:cNvPr id="6" name="Freeform 4">
            <a:extLst>
              <a:ext uri="{FF2B5EF4-FFF2-40B4-BE49-F238E27FC236}">
                <a16:creationId xmlns:a16="http://schemas.microsoft.com/office/drawing/2014/main" id="{1B9E2EF4-29D6-41F2-C36D-AC4314A7C944}"/>
              </a:ext>
            </a:extLst>
          </p:cNvPr>
          <p:cNvSpPr/>
          <p:nvPr/>
        </p:nvSpPr>
        <p:spPr>
          <a:xfrm>
            <a:off x="2072945" y="2638425"/>
            <a:ext cx="70180" cy="2572672"/>
          </a:xfrm>
          <a:custGeom>
            <a:avLst/>
            <a:gdLst/>
            <a:ahLst/>
            <a:cxnLst/>
            <a:rect l="l" t="t" r="r" b="b"/>
            <a:pathLst>
              <a:path w="113021" h="4260613">
                <a:moveTo>
                  <a:pt x="0" y="0"/>
                </a:moveTo>
                <a:lnTo>
                  <a:pt x="113022" y="0"/>
                </a:lnTo>
                <a:lnTo>
                  <a:pt x="113022" y="4260613"/>
                </a:lnTo>
                <a:lnTo>
                  <a:pt x="0" y="4260613"/>
                </a:lnTo>
                <a:lnTo>
                  <a:pt x="0" y="0"/>
                </a:lnTo>
                <a:close/>
              </a:path>
            </a:pathLst>
          </a:custGeom>
          <a:blipFill>
            <a:blip>
              <a:extLst>
                <a:ext uri="{96DAC541-7B7A-43D3-8B79-37D633B846F1}">
                  <asvg:svgBlip xmlns:asvg="http://schemas.microsoft.com/office/drawing/2016/SVG/main" r:embed="rId6"/>
                </a:ext>
              </a:extLst>
            </a:blip>
            <a:stretch>
              <a:fillRect b="-3263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7" name="TextBox 8">
            <a:extLst>
              <a:ext uri="{FF2B5EF4-FFF2-40B4-BE49-F238E27FC236}">
                <a16:creationId xmlns:a16="http://schemas.microsoft.com/office/drawing/2014/main" id="{93E3D36F-FC58-3EB3-D89D-77046F81D7B9}"/>
              </a:ext>
            </a:extLst>
          </p:cNvPr>
          <p:cNvSpPr txBox="1"/>
          <p:nvPr/>
        </p:nvSpPr>
        <p:spPr>
          <a:xfrm>
            <a:off x="2383854" y="2152638"/>
            <a:ext cx="3712146" cy="3173305"/>
          </a:xfrm>
          <a:prstGeom prst="rect">
            <a:avLst/>
          </a:prstGeom>
        </p:spPr>
        <p:txBody>
          <a:bodyPr lIns="0" tIns="0" rIns="0" bIns="0" rtlCol="0" anchor="t">
            <a:spAutoFit/>
          </a:bodyPr>
          <a:lstStyle/>
          <a:p>
            <a:pPr marL="0" marR="0" lvl="0" indent="0" algn="just" defTabSz="914400" rtl="0" eaLnBrk="1" fontAlgn="auto" latinLnBrk="0" hangingPunct="1">
              <a:lnSpc>
                <a:spcPct val="300000"/>
              </a:lnSpc>
              <a:spcBef>
                <a:spcPts val="0"/>
              </a:spcBef>
              <a:spcAft>
                <a:spcPts val="0"/>
              </a:spcAft>
              <a:buClrTx/>
              <a:buSzTx/>
              <a:buFontTx/>
              <a:buNone/>
              <a:tabLst/>
              <a:defRPr/>
            </a:pPr>
            <a:r>
              <a:rPr kumimoji="0" lang="fr-FR" sz="1792" b="0" i="0" u="none" strike="noStrike" kern="1200" cap="none" spc="0" normalizeH="0" baseline="0" noProof="0" dirty="0">
                <a:ln>
                  <a:noFill/>
                </a:ln>
                <a:solidFill>
                  <a:srgbClr val="FFFFFF"/>
                </a:solidFill>
                <a:effectLst/>
                <a:uLnTx/>
                <a:uFillTx/>
                <a:latin typeface="Trebuchet MS"/>
                <a:ea typeface="Trebuchet MS"/>
                <a:cs typeface="Trebuchet MS"/>
                <a:sym typeface="Trebuchet MS"/>
              </a:rPr>
              <a:t>Logiciel de gestion tout-en-un</a:t>
            </a:r>
          </a:p>
          <a:p>
            <a:pPr marL="0" marR="0" lvl="0" indent="0" algn="just" defTabSz="914400" rtl="0" eaLnBrk="1" fontAlgn="auto" latinLnBrk="0" hangingPunct="1">
              <a:lnSpc>
                <a:spcPct val="300000"/>
              </a:lnSpc>
              <a:spcBef>
                <a:spcPts val="0"/>
              </a:spcBef>
              <a:spcAft>
                <a:spcPts val="0"/>
              </a:spcAft>
              <a:buClrTx/>
              <a:buSzTx/>
              <a:buFontTx/>
              <a:buNone/>
              <a:tabLst/>
              <a:defRPr/>
            </a:pPr>
            <a:r>
              <a:rPr kumimoji="0" lang="fr-FR" sz="1792" b="0" i="0" u="none" strike="noStrike" kern="1200" cap="none" spc="0" normalizeH="0" baseline="0" noProof="0" dirty="0">
                <a:ln>
                  <a:noFill/>
                </a:ln>
                <a:solidFill>
                  <a:srgbClr val="FFFFFF"/>
                </a:solidFill>
                <a:effectLst/>
                <a:uLnTx/>
                <a:uFillTx/>
                <a:latin typeface="Trebuchet MS"/>
                <a:ea typeface="Trebuchet MS"/>
                <a:cs typeface="Trebuchet MS"/>
                <a:sym typeface="Trebuchet MS"/>
              </a:rPr>
              <a:t>Évolutif et modulable</a:t>
            </a:r>
          </a:p>
          <a:p>
            <a:pPr marL="0" marR="0" lvl="0" indent="0" algn="just" defTabSz="914400" rtl="0" eaLnBrk="1" fontAlgn="auto" latinLnBrk="0" hangingPunct="1">
              <a:lnSpc>
                <a:spcPct val="300000"/>
              </a:lnSpc>
              <a:spcBef>
                <a:spcPts val="0"/>
              </a:spcBef>
              <a:spcAft>
                <a:spcPts val="0"/>
              </a:spcAft>
              <a:buClrTx/>
              <a:buSzTx/>
              <a:buFontTx/>
              <a:buNone/>
              <a:tabLst/>
              <a:defRPr/>
            </a:pPr>
            <a:r>
              <a:rPr kumimoji="0" lang="fr-FR" sz="1792" b="0" i="0" u="none" strike="noStrike" kern="1200" cap="none" spc="0" normalizeH="0" baseline="0" noProof="0" dirty="0">
                <a:ln>
                  <a:noFill/>
                </a:ln>
                <a:solidFill>
                  <a:srgbClr val="FFFFFF"/>
                </a:solidFill>
                <a:effectLst/>
                <a:uLnTx/>
                <a:uFillTx/>
                <a:latin typeface="Trebuchet MS"/>
                <a:ea typeface="Trebuchet MS"/>
                <a:cs typeface="Trebuchet MS"/>
                <a:sym typeface="Trebuchet MS"/>
              </a:rPr>
              <a:t>Facile à utiliser</a:t>
            </a:r>
          </a:p>
          <a:p>
            <a:pPr marL="0" marR="0" lvl="0" indent="0" algn="just" defTabSz="914400" rtl="0" eaLnBrk="1" fontAlgn="auto" latinLnBrk="0" hangingPunct="1">
              <a:lnSpc>
                <a:spcPct val="300000"/>
              </a:lnSpc>
              <a:spcBef>
                <a:spcPts val="0"/>
              </a:spcBef>
              <a:spcAft>
                <a:spcPts val="0"/>
              </a:spcAft>
              <a:buClrTx/>
              <a:buSzTx/>
              <a:buFontTx/>
              <a:buNone/>
              <a:tabLst/>
              <a:defRPr/>
            </a:pPr>
            <a:r>
              <a:rPr kumimoji="0" lang="fr-FR" sz="1840" b="0" i="0" u="none" strike="noStrike" kern="1200" cap="none" spc="0" normalizeH="0" baseline="0" noProof="0" dirty="0">
                <a:ln>
                  <a:noFill/>
                </a:ln>
                <a:solidFill>
                  <a:srgbClr val="FFFFFF"/>
                </a:solidFill>
                <a:effectLst/>
                <a:uLnTx/>
                <a:uFillTx/>
                <a:latin typeface="Trebuchet MS"/>
                <a:ea typeface="Trebuchet MS"/>
                <a:cs typeface="Trebuchet MS"/>
                <a:sym typeface="Trebuchet MS"/>
              </a:rPr>
              <a:t>Entièrement intégré</a:t>
            </a:r>
          </a:p>
        </p:txBody>
      </p:sp>
      <p:sp>
        <p:nvSpPr>
          <p:cNvPr id="2" name="Espace réservé du numéro de diapositive 3">
            <a:extLst>
              <a:ext uri="{FF2B5EF4-FFF2-40B4-BE49-F238E27FC236}">
                <a16:creationId xmlns:a16="http://schemas.microsoft.com/office/drawing/2014/main" id="{BE782248-FB62-B1B8-F813-DD2D486AFE22}"/>
              </a:ext>
            </a:extLst>
          </p:cNvPr>
          <p:cNvSpPr txBox="1">
            <a:spLocks/>
          </p:cNvSpPr>
          <p:nvPr/>
        </p:nvSpPr>
        <p:spPr>
          <a:xfrm>
            <a:off x="0" y="6490909"/>
            <a:ext cx="48451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Tree>
    <p:extLst>
      <p:ext uri="{BB962C8B-B14F-4D97-AF65-F5344CB8AC3E}">
        <p14:creationId xmlns:p14="http://schemas.microsoft.com/office/powerpoint/2010/main" val="1752783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E564C59-3529-E35C-6B4D-935DA510EF37}"/>
              </a:ext>
            </a:extLst>
          </p:cNvPr>
          <p:cNvSpPr>
            <a:spLocks noGrp="1"/>
          </p:cNvSpPr>
          <p:nvPr>
            <p:ph type="body" sz="quarter" idx="10"/>
          </p:nvPr>
        </p:nvSpPr>
        <p:spPr/>
        <p:txBody>
          <a:bodyPr/>
          <a:lstStyle/>
          <a:p>
            <a:r>
              <a:rPr lang="fr-FR" sz="4000" noProof="0" dirty="0">
                <a:solidFill>
                  <a:schemeClr val="accent1"/>
                </a:solidFill>
              </a:rPr>
              <a:t>+12M</a:t>
            </a:r>
          </a:p>
          <a:p>
            <a:r>
              <a:rPr lang="fr-FR" sz="1600" noProof="0" dirty="0"/>
              <a:t>D’UTILISATEURS</a:t>
            </a:r>
          </a:p>
        </p:txBody>
      </p:sp>
      <p:sp>
        <p:nvSpPr>
          <p:cNvPr id="5" name="Titre 4">
            <a:extLst>
              <a:ext uri="{FF2B5EF4-FFF2-40B4-BE49-F238E27FC236}">
                <a16:creationId xmlns:a16="http://schemas.microsoft.com/office/drawing/2014/main" id="{7B58A9FF-D9E2-441E-20C9-5C34E50F90A5}"/>
              </a:ext>
            </a:extLst>
          </p:cNvPr>
          <p:cNvSpPr>
            <a:spLocks noGrp="1"/>
          </p:cNvSpPr>
          <p:nvPr>
            <p:ph type="title"/>
          </p:nvPr>
        </p:nvSpPr>
        <p:spPr>
          <a:xfrm>
            <a:off x="838200" y="1403602"/>
            <a:ext cx="10515600" cy="1326091"/>
          </a:xfrm>
        </p:spPr>
        <p:txBody>
          <a:bodyPr>
            <a:normAutofit/>
          </a:bodyPr>
          <a:lstStyle/>
          <a:p>
            <a:r>
              <a:rPr lang="fr-FR" sz="2000" noProof="0" dirty="0"/>
              <a:t>UN LOGICIEL, UNE SUCCESS STORY</a:t>
            </a:r>
          </a:p>
        </p:txBody>
      </p:sp>
      <p:sp>
        <p:nvSpPr>
          <p:cNvPr id="4" name="Espace réservé du numéro de diapositive 3">
            <a:extLst>
              <a:ext uri="{FF2B5EF4-FFF2-40B4-BE49-F238E27FC236}">
                <a16:creationId xmlns:a16="http://schemas.microsoft.com/office/drawing/2014/main" id="{C9F4F9FC-4DDC-4EB8-3B62-FA1BEF6E1F33}"/>
              </a:ext>
            </a:extLst>
          </p:cNvPr>
          <p:cNvSpPr>
            <a:spLocks noGrp="1"/>
          </p:cNvSpPr>
          <p:nvPr>
            <p:ph type="sldNum"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4" name="Espace réservé du texte 5">
            <a:extLst>
              <a:ext uri="{FF2B5EF4-FFF2-40B4-BE49-F238E27FC236}">
                <a16:creationId xmlns:a16="http://schemas.microsoft.com/office/drawing/2014/main" id="{8AFA15F6-09CF-C9BA-55C2-31FAEE39C444}"/>
              </a:ext>
            </a:extLst>
          </p:cNvPr>
          <p:cNvSpPr txBox="1">
            <a:spLocks/>
          </p:cNvSpPr>
          <p:nvPr/>
        </p:nvSpPr>
        <p:spPr>
          <a:xfrm>
            <a:off x="5155070" y="2729694"/>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4000" b="1" i="0" u="none" strike="noStrike" kern="1200" cap="none" spc="0" normalizeH="0" baseline="0" noProof="0" dirty="0">
                <a:ln>
                  <a:noFill/>
                </a:ln>
                <a:solidFill>
                  <a:srgbClr val="BA131A"/>
                </a:solidFill>
                <a:effectLst/>
                <a:uLnTx/>
                <a:uFillTx/>
                <a:latin typeface="Trebuchet MS"/>
                <a:ea typeface="+mn-ea"/>
                <a:cs typeface="+mn-cs"/>
              </a:rPr>
              <a:t>+5K</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a:ea typeface="+mn-ea"/>
                <a:cs typeface="+mn-cs"/>
              </a:rPr>
              <a:t>EMPLOYÉS</a:t>
            </a:r>
          </a:p>
        </p:txBody>
      </p:sp>
      <p:sp>
        <p:nvSpPr>
          <p:cNvPr id="15" name="Espace réservé du texte 5">
            <a:extLst>
              <a:ext uri="{FF2B5EF4-FFF2-40B4-BE49-F238E27FC236}">
                <a16:creationId xmlns:a16="http://schemas.microsoft.com/office/drawing/2014/main" id="{F68A0E7B-1820-7DF3-7F84-5D23AEF8E944}"/>
              </a:ext>
            </a:extLst>
          </p:cNvPr>
          <p:cNvSpPr txBox="1">
            <a:spLocks/>
          </p:cNvSpPr>
          <p:nvPr/>
        </p:nvSpPr>
        <p:spPr>
          <a:xfrm>
            <a:off x="8203070" y="2729693"/>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4000" b="1" i="0" u="none" strike="noStrike" kern="1200" cap="none" spc="0" normalizeH="0" baseline="0" noProof="0" dirty="0">
                <a:ln>
                  <a:noFill/>
                </a:ln>
                <a:solidFill>
                  <a:srgbClr val="BA131A"/>
                </a:solidFill>
                <a:effectLst/>
                <a:uLnTx/>
                <a:uFillTx/>
                <a:latin typeface="Trebuchet MS"/>
                <a:ea typeface="+mn-ea"/>
                <a:cs typeface="+mn-cs"/>
              </a:rPr>
              <a:t>+47K</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a:ea typeface="+mn-ea"/>
                <a:cs typeface="+mn-cs"/>
              </a:rPr>
              <a:t>MODULES</a:t>
            </a:r>
          </a:p>
        </p:txBody>
      </p:sp>
      <p:pic>
        <p:nvPicPr>
          <p:cNvPr id="17" name="Graphique 16">
            <a:extLst>
              <a:ext uri="{FF2B5EF4-FFF2-40B4-BE49-F238E27FC236}">
                <a16:creationId xmlns:a16="http://schemas.microsoft.com/office/drawing/2014/main" id="{042DE3AD-24EA-8FBD-46F8-63DD255B79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78175" y="-519848"/>
            <a:ext cx="5835650" cy="3143250"/>
          </a:xfrm>
          <a:prstGeom prst="rect">
            <a:avLst/>
          </a:prstGeom>
        </p:spPr>
      </p:pic>
    </p:spTree>
    <p:extLst>
      <p:ext uri="{BB962C8B-B14F-4D97-AF65-F5344CB8AC3E}">
        <p14:creationId xmlns:p14="http://schemas.microsoft.com/office/powerpoint/2010/main" val="2697624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8"/>
        <p:cNvGrpSpPr/>
        <p:nvPr/>
      </p:nvGrpSpPr>
      <p:grpSpPr>
        <a:xfrm>
          <a:off x="0" y="0"/>
          <a:ext cx="0" cy="0"/>
          <a:chOff x="0" y="0"/>
          <a:chExt cx="0" cy="0"/>
        </a:xfrm>
      </p:grpSpPr>
      <p:sp>
        <p:nvSpPr>
          <p:cNvPr id="2459" name="Google Shape;2459;p8"/>
          <p:cNvSpPr txBox="1">
            <a:spLocks noGrp="1"/>
          </p:cNvSpPr>
          <p:nvPr>
            <p:ph type="ctrTitle"/>
          </p:nvPr>
        </p:nvSpPr>
        <p:spPr>
          <a:xfrm>
            <a:off x="273386" y="1898650"/>
            <a:ext cx="4990924" cy="3060700"/>
          </a:xfrm>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3600"/>
              <a:buFont typeface="Open Sans Light"/>
              <a:buNone/>
            </a:pPr>
            <a:r>
              <a:rPr lang="fr-FR" noProof="0" dirty="0"/>
              <a:t>BESOINS ET SOLUTIONS</a:t>
            </a:r>
          </a:p>
        </p:txBody>
      </p:sp>
      <p:sp>
        <p:nvSpPr>
          <p:cNvPr id="3" name="Espace réservé du numéro de diapositive 2">
            <a:extLst>
              <a:ext uri="{FF2B5EF4-FFF2-40B4-BE49-F238E27FC236}">
                <a16:creationId xmlns:a16="http://schemas.microsoft.com/office/drawing/2014/main" id="{A25042BB-467F-0CF5-E009-2BF376A3209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2872A60-1B10-409F-A3C9-AF13F971E75A}" type="slidenum">
              <a:rPr kumimoji="0" lang="fr-FR" sz="1200" b="1" i="0" u="none" strike="noStrike" kern="1200" cap="none" spc="0" normalizeH="0" baseline="0" noProof="0" smtClean="0">
                <a:ln>
                  <a:noFill/>
                </a:ln>
                <a:solidFill>
                  <a:prstClr val="white"/>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fr-FR" sz="1200" b="1" i="0" u="none" strike="noStrike" kern="1200" cap="none" spc="0" normalizeH="0" baseline="0" noProof="0" dirty="0">
              <a:ln>
                <a:noFill/>
              </a:ln>
              <a:solidFill>
                <a:prstClr val="white"/>
              </a:solidFill>
              <a:effectLst/>
              <a:uLnTx/>
              <a:uFillTx/>
              <a:latin typeface="Tahoma"/>
              <a:ea typeface="+mn-ea"/>
              <a:cs typeface="+mn-cs"/>
            </a:endParaRPr>
          </a:p>
        </p:txBody>
      </p:sp>
      <p:pic>
        <p:nvPicPr>
          <p:cNvPr id="6" name="Graphique 5">
            <a:extLst>
              <a:ext uri="{FF2B5EF4-FFF2-40B4-BE49-F238E27FC236}">
                <a16:creationId xmlns:a16="http://schemas.microsoft.com/office/drawing/2014/main" id="{45581DF4-A756-B215-CC10-7B239CC8A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21380" y="1269588"/>
            <a:ext cx="4301772" cy="432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3"/>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Schéma du process global</a:t>
            </a:r>
          </a:p>
        </p:txBody>
      </p:sp>
      <p:sp>
        <p:nvSpPr>
          <p:cNvPr id="3" name="Espace réservé du numéro de diapositive 2">
            <a:extLst>
              <a:ext uri="{FF2B5EF4-FFF2-40B4-BE49-F238E27FC236}">
                <a16:creationId xmlns:a16="http://schemas.microsoft.com/office/drawing/2014/main" id="{4B4E3F9A-FFED-27DD-C515-5FEFE4CB0B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pic>
        <p:nvPicPr>
          <p:cNvPr id="7" name="Espace réservé du contenu 6" descr="Une image contenant texte, capture d’écran, écran&#10;&#10;Description générée automatiquement">
            <a:extLst>
              <a:ext uri="{FF2B5EF4-FFF2-40B4-BE49-F238E27FC236}">
                <a16:creationId xmlns:a16="http://schemas.microsoft.com/office/drawing/2014/main" id="{F6117663-C3D8-A3BB-3EE5-22E4659220B1}"/>
              </a:ext>
            </a:extLst>
          </p:cNvPr>
          <p:cNvPicPr>
            <a:picLocks noGrp="1" noChangeAspect="1"/>
          </p:cNvPicPr>
          <p:nvPr>
            <p:ph idx="4294967295"/>
          </p:nvPr>
        </p:nvPicPr>
        <p:blipFill>
          <a:blip r:embed="rId3"/>
          <a:stretch>
            <a:fillRect/>
          </a:stretch>
        </p:blipFill>
        <p:spPr>
          <a:xfrm>
            <a:off x="0" y="2132013"/>
            <a:ext cx="11817350" cy="2593975"/>
          </a:xfrm>
        </p:spPr>
      </p:pic>
      <p:sp>
        <p:nvSpPr>
          <p:cNvPr id="2" name="ZoneTexte 1">
            <a:extLst>
              <a:ext uri="{FF2B5EF4-FFF2-40B4-BE49-F238E27FC236}">
                <a16:creationId xmlns:a16="http://schemas.microsoft.com/office/drawing/2014/main" id="{F0236217-D755-B5F7-73D7-08DF88D875A7}"/>
              </a:ext>
            </a:extLst>
          </p:cNvPr>
          <p:cNvSpPr txBox="1"/>
          <p:nvPr/>
        </p:nvSpPr>
        <p:spPr>
          <a:xfrm>
            <a:off x="2140999" y="6313236"/>
            <a:ext cx="7910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latin typeface="Tahoma"/>
                <a:ea typeface="+mn-ea"/>
                <a:cs typeface="+mn-cs"/>
              </a:rPr>
              <a:t>Lien du schéma : </a:t>
            </a:r>
            <a:r>
              <a:rPr kumimoji="0" lang="fr-FR" sz="1800" b="0" i="0" u="none" strike="noStrike" kern="1200" cap="none" spc="0" normalizeH="0" baseline="0" noProof="0" dirty="0">
                <a:ln>
                  <a:noFill/>
                </a:ln>
                <a:solidFill>
                  <a:srgbClr val="212529"/>
                </a:solidFill>
                <a:effectLst/>
                <a:uLnTx/>
                <a:uFillTx/>
                <a:latin typeface="Tahoma"/>
                <a:ea typeface="+mn-ea"/>
                <a:cs typeface="+mn-cs"/>
              </a:rPr>
              <a:t>utiliser </a:t>
            </a:r>
            <a:r>
              <a:rPr kumimoji="0" lang="fr-FR" sz="1800" b="0" i="0" u="none" strike="noStrike" kern="1200" cap="none" spc="0" normalizeH="0" baseline="0" noProof="0" dirty="0" err="1">
                <a:ln>
                  <a:noFill/>
                </a:ln>
                <a:solidFill>
                  <a:srgbClr val="212529"/>
                </a:solidFill>
                <a:effectLst/>
                <a:uLnTx/>
                <a:uFillTx/>
                <a:latin typeface="Tahoma"/>
                <a:ea typeface="+mn-ea"/>
                <a:cs typeface="+mn-cs"/>
              </a:rPr>
              <a:t>Whimsical</a:t>
            </a:r>
            <a:r>
              <a:rPr kumimoji="0" lang="fr-FR" sz="1800" b="0" i="0" u="none" strike="noStrike" kern="1200" cap="none" spc="0" normalizeH="0" baseline="0" noProof="0" dirty="0">
                <a:ln>
                  <a:noFill/>
                </a:ln>
                <a:solidFill>
                  <a:srgbClr val="212529"/>
                </a:solidFill>
                <a:effectLst/>
                <a:uLnTx/>
                <a:uFillTx/>
                <a:latin typeface="Tahoma"/>
                <a:ea typeface="+mn-ea"/>
                <a:cs typeface="+mn-cs"/>
              </a:rPr>
              <a:t> ou équivalent</a:t>
            </a:r>
          </a:p>
        </p:txBody>
      </p:sp>
      <p:pic>
        <p:nvPicPr>
          <p:cNvPr id="5" name="Graphique 4" descr="Stylo avec un remplissage uni">
            <a:extLst>
              <a:ext uri="{FF2B5EF4-FFF2-40B4-BE49-F238E27FC236}">
                <a16:creationId xmlns:a16="http://schemas.microsoft.com/office/drawing/2014/main" id="{F0CD8197-4ED3-7CBB-24E4-4601C80F2A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4760" y="6177885"/>
            <a:ext cx="421284" cy="427311"/>
          </a:xfrm>
          <a:prstGeom prst="rect">
            <a:avLst/>
          </a:prstGeom>
        </p:spPr>
      </p:pic>
    </p:spTree>
    <p:extLst>
      <p:ext uri="{BB962C8B-B14F-4D97-AF65-F5344CB8AC3E}">
        <p14:creationId xmlns:p14="http://schemas.microsoft.com/office/powerpoint/2010/main" val="2291025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3"/>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Zoom schéma process A</a:t>
            </a:r>
          </a:p>
        </p:txBody>
      </p:sp>
      <p:sp>
        <p:nvSpPr>
          <p:cNvPr id="2" name="Espace réservé du numéro de diapositive 1">
            <a:extLst>
              <a:ext uri="{FF2B5EF4-FFF2-40B4-BE49-F238E27FC236}">
                <a16:creationId xmlns:a16="http://schemas.microsoft.com/office/drawing/2014/main" id="{4F4A754B-967F-6500-1FCC-5385D512CC5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pic>
        <p:nvPicPr>
          <p:cNvPr id="6" name="Espace réservé du contenu 5">
            <a:extLst>
              <a:ext uri="{FF2B5EF4-FFF2-40B4-BE49-F238E27FC236}">
                <a16:creationId xmlns:a16="http://schemas.microsoft.com/office/drawing/2014/main" id="{9B6A6C33-06A9-78BF-5C92-A8E349CB697B}"/>
              </a:ext>
            </a:extLst>
          </p:cNvPr>
          <p:cNvPicPr>
            <a:picLocks noGrp="1" noChangeAspect="1"/>
          </p:cNvPicPr>
          <p:nvPr>
            <p:ph idx="4294967295"/>
          </p:nvPr>
        </p:nvPicPr>
        <p:blipFill>
          <a:blip r:embed="rId3"/>
          <a:srcRect r="22304"/>
          <a:stretch>
            <a:fillRect/>
          </a:stretch>
        </p:blipFill>
        <p:spPr>
          <a:xfrm>
            <a:off x="1359613" y="1256546"/>
            <a:ext cx="9472773" cy="5601454"/>
          </a:xfrm>
        </p:spPr>
      </p:pic>
      <p:sp>
        <p:nvSpPr>
          <p:cNvPr id="5" name="ZoneTexte 4">
            <a:extLst>
              <a:ext uri="{FF2B5EF4-FFF2-40B4-BE49-F238E27FC236}">
                <a16:creationId xmlns:a16="http://schemas.microsoft.com/office/drawing/2014/main" id="{7A56328E-2142-2886-5F16-7AEC1281CA23}"/>
              </a:ext>
            </a:extLst>
          </p:cNvPr>
          <p:cNvSpPr txBox="1"/>
          <p:nvPr/>
        </p:nvSpPr>
        <p:spPr>
          <a:xfrm>
            <a:off x="2140999" y="6313236"/>
            <a:ext cx="7910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latin typeface="Tahoma"/>
                <a:ea typeface="+mn-ea"/>
                <a:cs typeface="+mn-cs"/>
              </a:rPr>
              <a:t>Lien du schéma : </a:t>
            </a:r>
            <a:r>
              <a:rPr kumimoji="0" lang="fr-FR" sz="1800" b="0" i="0" u="none" strike="noStrike" kern="1200" cap="none" spc="0" normalizeH="0" baseline="0" noProof="0" dirty="0">
                <a:ln>
                  <a:noFill/>
                </a:ln>
                <a:solidFill>
                  <a:srgbClr val="212529"/>
                </a:solidFill>
                <a:effectLst/>
                <a:uLnTx/>
                <a:uFillTx/>
                <a:latin typeface="Tahoma"/>
                <a:ea typeface="+mn-ea"/>
                <a:cs typeface="+mn-cs"/>
              </a:rPr>
              <a:t>utiliser </a:t>
            </a:r>
            <a:r>
              <a:rPr kumimoji="0" lang="fr-FR" sz="1800" b="0" i="0" u="none" strike="noStrike" kern="1200" cap="none" spc="0" normalizeH="0" baseline="0" noProof="0" dirty="0" err="1">
                <a:ln>
                  <a:noFill/>
                </a:ln>
                <a:solidFill>
                  <a:srgbClr val="212529"/>
                </a:solidFill>
                <a:effectLst/>
                <a:uLnTx/>
                <a:uFillTx/>
                <a:latin typeface="Tahoma"/>
                <a:ea typeface="+mn-ea"/>
                <a:cs typeface="+mn-cs"/>
              </a:rPr>
              <a:t>Whimsical</a:t>
            </a:r>
            <a:r>
              <a:rPr kumimoji="0" lang="fr-FR" sz="1800" b="0" i="0" u="none" strike="noStrike" kern="1200" cap="none" spc="0" normalizeH="0" baseline="0" noProof="0" dirty="0">
                <a:ln>
                  <a:noFill/>
                </a:ln>
                <a:solidFill>
                  <a:srgbClr val="212529"/>
                </a:solidFill>
                <a:effectLst/>
                <a:uLnTx/>
                <a:uFillTx/>
                <a:latin typeface="Tahoma"/>
                <a:ea typeface="+mn-ea"/>
                <a:cs typeface="+mn-cs"/>
              </a:rPr>
              <a:t> ou équivalent</a:t>
            </a:r>
          </a:p>
        </p:txBody>
      </p:sp>
      <p:pic>
        <p:nvPicPr>
          <p:cNvPr id="4" name="Graphique 3" descr="Stylo avec un remplissage uni">
            <a:extLst>
              <a:ext uri="{FF2B5EF4-FFF2-40B4-BE49-F238E27FC236}">
                <a16:creationId xmlns:a16="http://schemas.microsoft.com/office/drawing/2014/main" id="{3F67995C-6997-E2F5-85CC-F0FCBD67DA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4760" y="6177885"/>
            <a:ext cx="421284" cy="427311"/>
          </a:xfrm>
          <a:prstGeom prst="rect">
            <a:avLst/>
          </a:prstGeom>
        </p:spPr>
      </p:pic>
    </p:spTree>
    <p:extLst>
      <p:ext uri="{BB962C8B-B14F-4D97-AF65-F5344CB8AC3E}">
        <p14:creationId xmlns:p14="http://schemas.microsoft.com/office/powerpoint/2010/main" val="345476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sp>
        <p:nvSpPr>
          <p:cNvPr id="2429" name="Google Shape;2429;p3"/>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Zoom schéma process B</a:t>
            </a:r>
          </a:p>
        </p:txBody>
      </p:sp>
      <p:sp>
        <p:nvSpPr>
          <p:cNvPr id="2" name="Espace réservé du numéro de diapositive 1">
            <a:extLst>
              <a:ext uri="{FF2B5EF4-FFF2-40B4-BE49-F238E27FC236}">
                <a16:creationId xmlns:a16="http://schemas.microsoft.com/office/drawing/2014/main" id="{A890D5B4-6B30-F247-3481-4D723059330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pic>
        <p:nvPicPr>
          <p:cNvPr id="6" name="Espace réservé du contenu 5">
            <a:extLst>
              <a:ext uri="{FF2B5EF4-FFF2-40B4-BE49-F238E27FC236}">
                <a16:creationId xmlns:a16="http://schemas.microsoft.com/office/drawing/2014/main" id="{C7854A28-EFB9-182C-4A72-0FB79864E085}"/>
              </a:ext>
            </a:extLst>
          </p:cNvPr>
          <p:cNvPicPr>
            <a:picLocks noGrp="1" noChangeAspect="1"/>
          </p:cNvPicPr>
          <p:nvPr>
            <p:ph idx="4294967295"/>
          </p:nvPr>
        </p:nvPicPr>
        <p:blipFill>
          <a:blip r:embed="rId3"/>
          <a:stretch>
            <a:fillRect/>
          </a:stretch>
        </p:blipFill>
        <p:spPr>
          <a:xfrm>
            <a:off x="0" y="905024"/>
            <a:ext cx="12192000" cy="5449887"/>
          </a:xfrm>
        </p:spPr>
      </p:pic>
      <p:sp>
        <p:nvSpPr>
          <p:cNvPr id="5" name="ZoneTexte 4">
            <a:extLst>
              <a:ext uri="{FF2B5EF4-FFF2-40B4-BE49-F238E27FC236}">
                <a16:creationId xmlns:a16="http://schemas.microsoft.com/office/drawing/2014/main" id="{473D77A9-9419-B2FB-DC1A-EB9F6415BADF}"/>
              </a:ext>
            </a:extLst>
          </p:cNvPr>
          <p:cNvSpPr txBox="1"/>
          <p:nvPr/>
        </p:nvSpPr>
        <p:spPr>
          <a:xfrm>
            <a:off x="2140999" y="6313236"/>
            <a:ext cx="79100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srgbClr val="212529"/>
                </a:solidFill>
                <a:effectLst/>
                <a:uLnTx/>
                <a:uFillTx/>
                <a:latin typeface="Tahoma"/>
                <a:ea typeface="+mn-ea"/>
                <a:cs typeface="+mn-cs"/>
              </a:rPr>
              <a:t>Lien du schéma : </a:t>
            </a:r>
            <a:r>
              <a:rPr kumimoji="0" lang="fr-FR" sz="1800" b="0" i="0" u="none" strike="noStrike" kern="1200" cap="none" spc="0" normalizeH="0" baseline="0" noProof="0" dirty="0">
                <a:ln>
                  <a:noFill/>
                </a:ln>
                <a:solidFill>
                  <a:srgbClr val="212529"/>
                </a:solidFill>
                <a:effectLst/>
                <a:uLnTx/>
                <a:uFillTx/>
                <a:latin typeface="Tahoma"/>
                <a:ea typeface="+mn-ea"/>
                <a:cs typeface="+mn-cs"/>
              </a:rPr>
              <a:t>utiliser </a:t>
            </a:r>
            <a:r>
              <a:rPr kumimoji="0" lang="fr-FR" sz="1800" b="0" i="0" u="none" strike="noStrike" kern="1200" cap="none" spc="0" normalizeH="0" baseline="0" noProof="0" dirty="0" err="1">
                <a:ln>
                  <a:noFill/>
                </a:ln>
                <a:solidFill>
                  <a:srgbClr val="212529"/>
                </a:solidFill>
                <a:effectLst/>
                <a:uLnTx/>
                <a:uFillTx/>
                <a:latin typeface="Tahoma"/>
                <a:ea typeface="+mn-ea"/>
                <a:cs typeface="+mn-cs"/>
              </a:rPr>
              <a:t>Whimsical</a:t>
            </a:r>
            <a:r>
              <a:rPr kumimoji="0" lang="fr-FR" sz="1800" b="0" i="0" u="none" strike="noStrike" kern="1200" cap="none" spc="0" normalizeH="0" baseline="0" noProof="0" dirty="0">
                <a:ln>
                  <a:noFill/>
                </a:ln>
                <a:solidFill>
                  <a:srgbClr val="212529"/>
                </a:solidFill>
                <a:effectLst/>
                <a:uLnTx/>
                <a:uFillTx/>
                <a:latin typeface="Tahoma"/>
                <a:ea typeface="+mn-ea"/>
                <a:cs typeface="+mn-cs"/>
              </a:rPr>
              <a:t> ou équivalent</a:t>
            </a:r>
          </a:p>
        </p:txBody>
      </p:sp>
      <p:pic>
        <p:nvPicPr>
          <p:cNvPr id="3" name="Graphique 2" descr="Stylo avec un remplissage uni">
            <a:extLst>
              <a:ext uri="{FF2B5EF4-FFF2-40B4-BE49-F238E27FC236}">
                <a16:creationId xmlns:a16="http://schemas.microsoft.com/office/drawing/2014/main" id="{25E66C55-5C06-A800-4215-1B537BF250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4760" y="6177885"/>
            <a:ext cx="421284" cy="427311"/>
          </a:xfrm>
          <a:prstGeom prst="rect">
            <a:avLst/>
          </a:prstGeom>
        </p:spPr>
      </p:pic>
    </p:spTree>
    <p:extLst>
      <p:ext uri="{BB962C8B-B14F-4D97-AF65-F5344CB8AC3E}">
        <p14:creationId xmlns:p14="http://schemas.microsoft.com/office/powerpoint/2010/main" val="3285094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7EDA557-7479-3D60-E585-EEC0BD97BEAB}"/>
              </a:ext>
            </a:extLst>
          </p:cNvPr>
          <p:cNvSpPr>
            <a:spLocks noGrp="1"/>
          </p:cNvSpPr>
          <p:nvPr>
            <p:ph type="ctrTitle"/>
          </p:nvPr>
        </p:nvSpPr>
        <p:spPr>
          <a:xfrm>
            <a:off x="263525" y="2720340"/>
            <a:ext cx="5880100" cy="1417320"/>
          </a:xfrm>
        </p:spPr>
        <p:txBody>
          <a:bodyPr>
            <a:normAutofit fontScale="90000"/>
          </a:bodyPr>
          <a:lstStyle/>
          <a:p>
            <a:r>
              <a:rPr lang="fr-FR" noProof="0" dirty="0"/>
              <a:t>BESOINS COUVERTS PAR VOTRE NOUVEAU ODOO</a:t>
            </a:r>
          </a:p>
        </p:txBody>
      </p:sp>
      <p:sp>
        <p:nvSpPr>
          <p:cNvPr id="4" name="Espace réservé du numéro de diapositive 3">
            <a:extLst>
              <a:ext uri="{FF2B5EF4-FFF2-40B4-BE49-F238E27FC236}">
                <a16:creationId xmlns:a16="http://schemas.microsoft.com/office/drawing/2014/main" id="{300C059F-887E-1167-57B0-F94F1A50D27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prstClr val="white"/>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fr-FR" sz="1200" b="1" i="0" u="none" strike="noStrike" kern="1200" cap="none" spc="0" normalizeH="0" baseline="0" noProof="0" dirty="0">
              <a:ln>
                <a:noFill/>
              </a:ln>
              <a:solidFill>
                <a:prstClr val="white"/>
              </a:solidFill>
              <a:effectLst/>
              <a:uLnTx/>
              <a:uFillTx/>
              <a:latin typeface="Tahoma"/>
              <a:ea typeface="+mn-ea"/>
              <a:cs typeface="+mn-cs"/>
            </a:endParaRPr>
          </a:p>
        </p:txBody>
      </p:sp>
      <p:pic>
        <p:nvPicPr>
          <p:cNvPr id="8" name="Graphique 7">
            <a:extLst>
              <a:ext uri="{FF2B5EF4-FFF2-40B4-BE49-F238E27FC236}">
                <a16:creationId xmlns:a16="http://schemas.microsoft.com/office/drawing/2014/main" id="{F1FDBCA1-AFCE-FA4D-FB28-7CE917E860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81036" y="1269000"/>
            <a:ext cx="4301772" cy="4320000"/>
          </a:xfrm>
          <a:prstGeom prst="rect">
            <a:avLst/>
          </a:prstGeom>
        </p:spPr>
      </p:pic>
    </p:spTree>
    <p:extLst>
      <p:ext uri="{BB962C8B-B14F-4D97-AF65-F5344CB8AC3E}">
        <p14:creationId xmlns:p14="http://schemas.microsoft.com/office/powerpoint/2010/main" val="768371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INSTALLATION – Odoo.sh (PAAS)</a:t>
            </a:r>
          </a:p>
        </p:txBody>
      </p:sp>
      <p:sp>
        <p:nvSpPr>
          <p:cNvPr id="12" name="Espace réservé du numéro de diapositive 11">
            <a:extLst>
              <a:ext uri="{FF2B5EF4-FFF2-40B4-BE49-F238E27FC236}">
                <a16:creationId xmlns:a16="http://schemas.microsoft.com/office/drawing/2014/main" id="{F807447E-5F59-3269-0EE6-54C4D3223F0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Google Shape;2430;p3">
            <a:extLst>
              <a:ext uri="{FF2B5EF4-FFF2-40B4-BE49-F238E27FC236}">
                <a16:creationId xmlns:a16="http://schemas.microsoft.com/office/drawing/2014/main" id="{20F4C105-4A18-DB37-D870-67FDBD6605D2}"/>
              </a:ext>
            </a:extLst>
          </p:cNvPr>
          <p:cNvSpPr txBox="1">
            <a:spLocks noGrp="1"/>
          </p:cNvSpPr>
          <p:nvPr>
            <p:ph idx="4294967295"/>
          </p:nvPr>
        </p:nvSpPr>
        <p:spPr>
          <a:xfrm>
            <a:off x="838200" y="2097088"/>
            <a:ext cx="10515600" cy="4667250"/>
          </a:xfrm>
        </p:spPr>
        <p:txBody>
          <a:bodyPr>
            <a:normAutofit/>
          </a:bodyPr>
          <a:lstStyle/>
          <a:p>
            <a:pPr lvl="0"/>
            <a:r>
              <a:rPr lang="fr-FR" sz="2000" noProof="0" dirty="0"/>
              <a:t>Bénéficiez d'un environnement d'hébergement développé par et pour Odoo</a:t>
            </a:r>
          </a:p>
          <a:p>
            <a:pPr lvl="0"/>
            <a:r>
              <a:rPr lang="fr-FR" sz="2000" noProof="0" dirty="0"/>
              <a:t>Nous pourrons interagir facilement et publier tout notre code</a:t>
            </a:r>
          </a:p>
          <a:p>
            <a:pPr lvl="0"/>
            <a:r>
              <a:rPr lang="fr-FR" sz="2000" noProof="0" dirty="0"/>
              <a:t>Les tests et les mises à niveau sont simplifiés</a:t>
            </a:r>
          </a:p>
          <a:p>
            <a:pPr lvl="0"/>
            <a:r>
              <a:rPr lang="fr-FR" sz="2000" noProof="0" dirty="0"/>
              <a:t>Tous les correctifs de sécurité sont automatisés</a:t>
            </a:r>
          </a:p>
          <a:p>
            <a:pPr lvl="0"/>
            <a:r>
              <a:rPr lang="fr-FR" sz="2000" noProof="0" dirty="0"/>
              <a:t>Les environnements de test sont automatisés</a:t>
            </a:r>
          </a:p>
          <a:p>
            <a:pPr lvl="0"/>
            <a:r>
              <a:rPr lang="fr-FR" sz="2000" noProof="0" dirty="0"/>
              <a:t>Les performances et le stockage sont flexibles, vous pouvez les mettre à niveau en un clic</a:t>
            </a:r>
          </a:p>
          <a:p>
            <a:pPr lvl="0"/>
            <a:endParaRPr lang="fr-FR" sz="2000" noProof="0" dirty="0"/>
          </a:p>
        </p:txBody>
      </p:sp>
    </p:spTree>
    <p:extLst>
      <p:ext uri="{BB962C8B-B14F-4D97-AF65-F5344CB8AC3E}">
        <p14:creationId xmlns:p14="http://schemas.microsoft.com/office/powerpoint/2010/main" val="45417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B860-DBDB-F6E9-6E43-802AE5F3CC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4640AB-627E-CC85-7442-DB998BC8D1AD}"/>
              </a:ext>
            </a:extLst>
          </p:cNvPr>
          <p:cNvSpPr>
            <a:spLocks noGrp="1"/>
          </p:cNvSpPr>
          <p:nvPr>
            <p:ph type="title"/>
          </p:nvPr>
        </p:nvSpPr>
        <p:spPr/>
        <p:txBody>
          <a:bodyPr/>
          <a:lstStyle/>
          <a:p>
            <a:r>
              <a:rPr lang="fr-FR" noProof="0" dirty="0"/>
              <a:t>INSTALLATION – Cloud (SAAS)</a:t>
            </a:r>
          </a:p>
        </p:txBody>
      </p:sp>
      <p:sp>
        <p:nvSpPr>
          <p:cNvPr id="4" name="Espace réservé du numéro de diapositive 3">
            <a:extLst>
              <a:ext uri="{FF2B5EF4-FFF2-40B4-BE49-F238E27FC236}">
                <a16:creationId xmlns:a16="http://schemas.microsoft.com/office/drawing/2014/main" id="{34C50F1D-D6E0-44C6-D680-079042284E3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3" name="Espace réservé du contenu 2">
            <a:extLst>
              <a:ext uri="{FF2B5EF4-FFF2-40B4-BE49-F238E27FC236}">
                <a16:creationId xmlns:a16="http://schemas.microsoft.com/office/drawing/2014/main" id="{B0A821DD-87D6-71D2-BD78-43589BD873F9}"/>
              </a:ext>
            </a:extLst>
          </p:cNvPr>
          <p:cNvSpPr>
            <a:spLocks noGrp="1"/>
          </p:cNvSpPr>
          <p:nvPr>
            <p:ph idx="4294967295"/>
          </p:nvPr>
        </p:nvSpPr>
        <p:spPr>
          <a:xfrm>
            <a:off x="838200" y="2097088"/>
            <a:ext cx="10515600" cy="4667250"/>
          </a:xfrm>
        </p:spPr>
        <p:txBody>
          <a:bodyPr>
            <a:normAutofit/>
          </a:bodyPr>
          <a:lstStyle/>
          <a:p>
            <a:r>
              <a:rPr lang="fr-FR" sz="2000" noProof="0" dirty="0">
                <a:latin typeface="+mj-lt"/>
              </a:rPr>
              <a:t>Bénéficiez d’un hébergement inclus dans le prix de votre licence</a:t>
            </a:r>
          </a:p>
          <a:p>
            <a:r>
              <a:rPr lang="fr-FR" sz="2000" noProof="0" dirty="0">
                <a:latin typeface="+mj-lt"/>
              </a:rPr>
              <a:t>L’environnement de test est automatisé, mais reste limité dans le temps</a:t>
            </a:r>
          </a:p>
          <a:p>
            <a:r>
              <a:rPr lang="fr-FR" sz="2000" noProof="0" dirty="0">
                <a:latin typeface="+mj-lt"/>
              </a:rPr>
              <a:t>Vous avez accès aux mises à niveau fonctionnelles en avant-première</a:t>
            </a:r>
          </a:p>
          <a:p>
            <a:r>
              <a:rPr lang="fr-FR" sz="2000" noProof="0" dirty="0">
                <a:latin typeface="+mj-lt"/>
              </a:rPr>
              <a:t>Vous êtes également contraint d’utiliser la dernière version</a:t>
            </a:r>
          </a:p>
          <a:p>
            <a:r>
              <a:rPr lang="fr-FR" sz="2000" noProof="0" dirty="0">
                <a:latin typeface="+mj-lt"/>
              </a:rPr>
              <a:t>Dès que vous aurez besoin de développements ou de modules externes, il faudra envisager une migration vers un hébergement Odoo.SH</a:t>
            </a:r>
          </a:p>
          <a:p>
            <a:endParaRPr lang="fr-FR" sz="2000" noProof="0" dirty="0">
              <a:latin typeface="+mj-lt"/>
            </a:endParaRPr>
          </a:p>
        </p:txBody>
      </p:sp>
    </p:spTree>
    <p:extLst>
      <p:ext uri="{BB962C8B-B14F-4D97-AF65-F5344CB8AC3E}">
        <p14:creationId xmlns:p14="http://schemas.microsoft.com/office/powerpoint/2010/main" val="3339057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B168B-DF6A-C787-CA7E-0637BA8428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3413486-66FB-A323-6A2D-E179D6A8EC28}"/>
              </a:ext>
            </a:extLst>
          </p:cNvPr>
          <p:cNvSpPr>
            <a:spLocks noGrp="1"/>
          </p:cNvSpPr>
          <p:nvPr>
            <p:ph type="title"/>
          </p:nvPr>
        </p:nvSpPr>
        <p:spPr/>
        <p:txBody>
          <a:bodyPr/>
          <a:lstStyle/>
          <a:p>
            <a:r>
              <a:rPr lang="fr-FR" noProof="0" dirty="0"/>
              <a:t>INSTALLATION – On </a:t>
            </a:r>
            <a:r>
              <a:rPr lang="fr-FR" noProof="0" dirty="0" err="1"/>
              <a:t>Premise</a:t>
            </a:r>
            <a:endParaRPr lang="fr-FR" noProof="0" dirty="0"/>
          </a:p>
        </p:txBody>
      </p:sp>
      <p:sp>
        <p:nvSpPr>
          <p:cNvPr id="4" name="Espace réservé du numéro de diapositive 3">
            <a:extLst>
              <a:ext uri="{FF2B5EF4-FFF2-40B4-BE49-F238E27FC236}">
                <a16:creationId xmlns:a16="http://schemas.microsoft.com/office/drawing/2014/main" id="{F621DEC6-E612-3660-FF1E-3DC1B22D208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3" name="Espace réservé du contenu 2">
            <a:extLst>
              <a:ext uri="{FF2B5EF4-FFF2-40B4-BE49-F238E27FC236}">
                <a16:creationId xmlns:a16="http://schemas.microsoft.com/office/drawing/2014/main" id="{2FA2A90E-9A3F-5428-28E5-8D0AF880249E}"/>
              </a:ext>
            </a:extLst>
          </p:cNvPr>
          <p:cNvSpPr>
            <a:spLocks noGrp="1"/>
          </p:cNvSpPr>
          <p:nvPr>
            <p:ph idx="4294967295"/>
          </p:nvPr>
        </p:nvSpPr>
        <p:spPr>
          <a:xfrm>
            <a:off x="838200" y="2098090"/>
            <a:ext cx="10515600" cy="4667250"/>
          </a:xfrm>
        </p:spPr>
        <p:txBody>
          <a:bodyPr>
            <a:normAutofit/>
          </a:bodyPr>
          <a:lstStyle/>
          <a:p>
            <a:r>
              <a:rPr lang="fr-FR" sz="2000" b="1" noProof="0" dirty="0">
                <a:latin typeface="+mj-lt"/>
              </a:rPr>
              <a:t>Vous avez un fournisseur d'hébergement et de services de confiance, vous pouvez l'utiliser</a:t>
            </a:r>
          </a:p>
          <a:p>
            <a:r>
              <a:rPr lang="fr-FR" sz="2000" b="1" noProof="0" dirty="0">
                <a:latin typeface="+mj-lt"/>
              </a:rPr>
              <a:t>Il devra être impliqué dans la décision</a:t>
            </a:r>
          </a:p>
          <a:p>
            <a:pPr lvl="1"/>
            <a:r>
              <a:rPr lang="fr-FR" sz="2000" noProof="0" dirty="0">
                <a:latin typeface="+mj-lt"/>
              </a:rPr>
              <a:t>Il devra se familiariser avec l'installation d'Odoo. Il devra connaître les prérequis</a:t>
            </a:r>
          </a:p>
          <a:p>
            <a:pPr lvl="1"/>
            <a:r>
              <a:rPr lang="fr-FR" sz="2000" noProof="0" dirty="0">
                <a:latin typeface="+mj-lt"/>
              </a:rPr>
              <a:t>Il devra mettre en place un système de sauvegarde adapté</a:t>
            </a:r>
          </a:p>
          <a:p>
            <a:pPr lvl="1"/>
            <a:r>
              <a:rPr lang="fr-FR" sz="2000" noProof="0" dirty="0">
                <a:latin typeface="+mj-lt"/>
              </a:rPr>
              <a:t>Il devra intervenir à chaque recréation d’un environnement de préproduction</a:t>
            </a:r>
          </a:p>
          <a:p>
            <a:r>
              <a:rPr lang="fr-FR" sz="2000" b="1" noProof="0" dirty="0">
                <a:latin typeface="+mj-lt"/>
              </a:rPr>
              <a:t>De notre côté :</a:t>
            </a:r>
          </a:p>
          <a:p>
            <a:pPr lvl="1"/>
            <a:r>
              <a:rPr lang="fr-FR" sz="2000" noProof="0" dirty="0">
                <a:latin typeface="+mj-lt"/>
              </a:rPr>
              <a:t>La publication des développements prendra plus de temps</a:t>
            </a:r>
          </a:p>
          <a:p>
            <a:pPr lvl="1"/>
            <a:r>
              <a:rPr lang="fr-FR" sz="2000" noProof="0" dirty="0">
                <a:latin typeface="+mj-lt"/>
              </a:rPr>
              <a:t>L'installation de nouveaux modules et applications également</a:t>
            </a:r>
          </a:p>
          <a:p>
            <a:pPr lvl="1"/>
            <a:r>
              <a:rPr lang="fr-FR" sz="2000" noProof="0" dirty="0">
                <a:latin typeface="+mj-lt"/>
              </a:rPr>
              <a:t>Nous dépendrons de votre hébergeur pour les mises à niveau majeures, les déploiements, </a:t>
            </a:r>
            <a:r>
              <a:rPr lang="fr-FR" sz="2000" noProof="0" dirty="0" err="1">
                <a:latin typeface="+mj-lt"/>
              </a:rPr>
              <a:t>etc</a:t>
            </a:r>
            <a:endParaRPr lang="fr-FR" sz="2000" noProof="0" dirty="0">
              <a:latin typeface="+mj-lt"/>
            </a:endParaRPr>
          </a:p>
        </p:txBody>
      </p:sp>
    </p:spTree>
    <p:extLst>
      <p:ext uri="{BB962C8B-B14F-4D97-AF65-F5344CB8AC3E}">
        <p14:creationId xmlns:p14="http://schemas.microsoft.com/office/powerpoint/2010/main" val="312625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PARAMETRES GENERAUX</a:t>
            </a:r>
          </a:p>
        </p:txBody>
      </p:sp>
      <p:sp>
        <p:nvSpPr>
          <p:cNvPr id="13" name="Espace réservé du numéro de diapositive 12">
            <a:extLst>
              <a:ext uri="{FF2B5EF4-FFF2-40B4-BE49-F238E27FC236}">
                <a16:creationId xmlns:a16="http://schemas.microsoft.com/office/drawing/2014/main" id="{CD591952-203B-28B0-DF1E-E02E8B2FC7F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Espace réservé du texte 6">
            <a:extLst>
              <a:ext uri="{FF2B5EF4-FFF2-40B4-BE49-F238E27FC236}">
                <a16:creationId xmlns:a16="http://schemas.microsoft.com/office/drawing/2014/main" id="{7FCA3732-8AEE-2A10-5D2D-BF76111E6716}"/>
              </a:ext>
            </a:extLst>
          </p:cNvPr>
          <p:cNvSpPr>
            <a:spLocks noGrp="1"/>
          </p:cNvSpPr>
          <p:nvPr>
            <p:ph idx="4294967295"/>
          </p:nvPr>
        </p:nvSpPr>
        <p:spPr>
          <a:xfrm>
            <a:off x="838200" y="2097088"/>
            <a:ext cx="10515600" cy="4667250"/>
          </a:xfrm>
        </p:spPr>
        <p:txBody>
          <a:bodyPr/>
          <a:lstStyle/>
          <a:p>
            <a:pPr lvl="0"/>
            <a:r>
              <a:rPr lang="fr-FR" b="1" noProof="0" dirty="0">
                <a:latin typeface="+mj-lt"/>
              </a:rPr>
              <a:t>UTILISATION STANDARD :</a:t>
            </a:r>
          </a:p>
          <a:p>
            <a:pPr lvl="1"/>
            <a:r>
              <a:rPr lang="fr-FR" sz="2000" b="1" noProof="0" dirty="0">
                <a:latin typeface="+mj-lt"/>
              </a:rPr>
              <a:t>Gérez plusieurs entreprises au sein du même Odoo</a:t>
            </a:r>
          </a:p>
          <a:p>
            <a:pPr lvl="2">
              <a:buFont typeface="Wingdings" panose="05000000000000000000" pitchFamily="2" charset="2"/>
              <a:buChar char="ü"/>
            </a:pPr>
            <a:r>
              <a:rPr lang="fr-FR" noProof="0" dirty="0">
                <a:latin typeface="+mj-lt"/>
              </a:rPr>
              <a:t>y compris des transactions interentreprises automatisées</a:t>
            </a:r>
          </a:p>
          <a:p>
            <a:pPr lvl="1"/>
            <a:r>
              <a:rPr lang="fr-FR" sz="2000" b="1" noProof="0" dirty="0">
                <a:latin typeface="+mj-lt"/>
              </a:rPr>
              <a:t>Bénéficiez d’un système multilingue</a:t>
            </a:r>
          </a:p>
          <a:p>
            <a:pPr lvl="2">
              <a:buFont typeface="Wingdings" panose="05000000000000000000" pitchFamily="2" charset="2"/>
              <a:buChar char="ü"/>
            </a:pPr>
            <a:r>
              <a:rPr lang="fr-FR" noProof="0" dirty="0">
                <a:latin typeface="+mj-lt"/>
              </a:rPr>
              <a:t>Pour vos utilisateurs</a:t>
            </a:r>
          </a:p>
          <a:p>
            <a:pPr lvl="2">
              <a:buFont typeface="Wingdings" panose="05000000000000000000" pitchFamily="2" charset="2"/>
              <a:buChar char="ü"/>
            </a:pPr>
            <a:r>
              <a:rPr lang="fr-FR" noProof="0" dirty="0">
                <a:latin typeface="+mj-lt"/>
              </a:rPr>
              <a:t>Pour vos partenaires</a:t>
            </a:r>
          </a:p>
          <a:p>
            <a:pPr lvl="1"/>
            <a:r>
              <a:rPr lang="fr-FR" sz="2000" b="1" noProof="0" dirty="0">
                <a:latin typeface="+mj-lt"/>
              </a:rPr>
              <a:t>Connectez Odoo à votre système de messagerie :</a:t>
            </a:r>
          </a:p>
          <a:p>
            <a:pPr lvl="2">
              <a:buFont typeface="Wingdings" panose="05000000000000000000" pitchFamily="2" charset="2"/>
              <a:buChar char="ü"/>
            </a:pPr>
            <a:r>
              <a:rPr lang="fr-FR" noProof="0" dirty="0">
                <a:latin typeface="+mj-lt"/>
              </a:rPr>
              <a:t>Envoyez des e-mails directement depuis Odoo</a:t>
            </a:r>
          </a:p>
          <a:p>
            <a:pPr lvl="2">
              <a:buFont typeface="Wingdings" panose="05000000000000000000" pitchFamily="2" charset="2"/>
              <a:buChar char="ü"/>
            </a:pPr>
            <a:r>
              <a:rPr lang="fr-FR" noProof="0" dirty="0">
                <a:latin typeface="+mj-lt"/>
              </a:rPr>
              <a:t>Recevez des e-mails directement dans Odoo</a:t>
            </a:r>
          </a:p>
          <a:p>
            <a:pPr marL="0" lvl="0" indent="0">
              <a:buNone/>
            </a:pPr>
            <a:endParaRPr lang="fr-FR" noProof="0" dirty="0">
              <a:latin typeface="+mj-lt"/>
            </a:endParaRPr>
          </a:p>
          <a:p>
            <a:pPr lvl="0"/>
            <a:endParaRPr lang="fr-FR" noProof="0" dirty="0">
              <a:latin typeface="+mj-lt"/>
            </a:endParaRPr>
          </a:p>
        </p:txBody>
      </p:sp>
    </p:spTree>
    <p:extLst>
      <p:ext uri="{BB962C8B-B14F-4D97-AF65-F5344CB8AC3E}">
        <p14:creationId xmlns:p14="http://schemas.microsoft.com/office/powerpoint/2010/main" val="3964166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CD1426B6-F46B-E503-29DD-1C5B3FF74AFF}"/>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34D37103-6554-F137-A90F-B144F43DCA6C}"/>
              </a:ext>
            </a:extLst>
          </p:cNvPr>
          <p:cNvSpPr txBox="1">
            <a:spLocks noGrp="1"/>
          </p:cNvSpPr>
          <p:nvPr>
            <p:ph type="title"/>
          </p:nvPr>
        </p:nvSpPr>
        <p:spPr/>
        <p:txBody>
          <a:bodyPr/>
          <a:lstStyle/>
          <a:p>
            <a:pPr lvl="0"/>
            <a:r>
              <a:rPr lang="fr-FR" noProof="0" dirty="0"/>
              <a:t>PARAMETRES GENERAUX</a:t>
            </a:r>
          </a:p>
        </p:txBody>
      </p:sp>
      <p:sp>
        <p:nvSpPr>
          <p:cNvPr id="13" name="Espace réservé du numéro de diapositive 12">
            <a:extLst>
              <a:ext uri="{FF2B5EF4-FFF2-40B4-BE49-F238E27FC236}">
                <a16:creationId xmlns:a16="http://schemas.microsoft.com/office/drawing/2014/main" id="{F371737E-BDC0-0791-73AF-9390280CCD4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Espace réservé du texte 6">
            <a:extLst>
              <a:ext uri="{FF2B5EF4-FFF2-40B4-BE49-F238E27FC236}">
                <a16:creationId xmlns:a16="http://schemas.microsoft.com/office/drawing/2014/main" id="{3BECB003-4F1D-7DCA-CE91-B3D0EA02C451}"/>
              </a:ext>
            </a:extLst>
          </p:cNvPr>
          <p:cNvSpPr>
            <a:spLocks noGrp="1"/>
          </p:cNvSpPr>
          <p:nvPr>
            <p:ph idx="4294967295"/>
          </p:nvPr>
        </p:nvSpPr>
        <p:spPr>
          <a:xfrm>
            <a:off x="838200" y="2097088"/>
            <a:ext cx="10515600" cy="4667250"/>
          </a:xfrm>
        </p:spPr>
        <p:txBody>
          <a:bodyPr/>
          <a:lstStyle/>
          <a:p>
            <a:pPr lvl="0"/>
            <a:r>
              <a:rPr lang="fr-FR" b="1" noProof="0" dirty="0"/>
              <a:t>CUSTOMISATIONS </a:t>
            </a:r>
          </a:p>
          <a:p>
            <a:pPr lvl="1"/>
            <a:r>
              <a:rPr lang="fr-FR" sz="2000" noProof="0" dirty="0"/>
              <a:t>Mettez l'accent sur les principaux changements, les difficultés, les coûts et les développements spécifiques nécessaires pour couvrir les besoins essentiels. – Fournissez une liste des besoins dans ce cas</a:t>
            </a:r>
          </a:p>
          <a:p>
            <a:pPr marL="0" lvl="0" indent="0">
              <a:buNone/>
            </a:pPr>
            <a:endParaRPr lang="fr-FR" noProof="0" dirty="0"/>
          </a:p>
          <a:p>
            <a:pPr lvl="0"/>
            <a:endParaRPr lang="fr-FR" noProof="0" dirty="0"/>
          </a:p>
        </p:txBody>
      </p:sp>
      <p:pic>
        <p:nvPicPr>
          <p:cNvPr id="2" name="Graphique 1" descr="Stylo avec un remplissage uni">
            <a:extLst>
              <a:ext uri="{FF2B5EF4-FFF2-40B4-BE49-F238E27FC236}">
                <a16:creationId xmlns:a16="http://schemas.microsoft.com/office/drawing/2014/main" id="{637A19BD-0F75-DAE2-D882-0F1F49A204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84517" y="2693502"/>
            <a:ext cx="879812" cy="914400"/>
          </a:xfrm>
          <a:prstGeom prst="rect">
            <a:avLst/>
          </a:prstGeom>
        </p:spPr>
      </p:pic>
    </p:spTree>
    <p:extLst>
      <p:ext uri="{BB962C8B-B14F-4D97-AF65-F5344CB8AC3E}">
        <p14:creationId xmlns:p14="http://schemas.microsoft.com/office/powerpoint/2010/main" val="3439360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COMPTABILITE</a:t>
            </a:r>
          </a:p>
        </p:txBody>
      </p:sp>
      <p:sp>
        <p:nvSpPr>
          <p:cNvPr id="12" name="Espace réservé du numéro de diapositive 11">
            <a:extLst>
              <a:ext uri="{FF2B5EF4-FFF2-40B4-BE49-F238E27FC236}">
                <a16:creationId xmlns:a16="http://schemas.microsoft.com/office/drawing/2014/main" id="{84245786-6AE3-5A3E-290F-08425AB8CAC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93F1A8E9-D37D-9540-0F95-C946789534DA}"/>
              </a:ext>
            </a:extLst>
          </p:cNvPr>
          <p:cNvSpPr>
            <a:spLocks noGrp="1"/>
          </p:cNvSpPr>
          <p:nvPr>
            <p:ph sz="half" idx="4294967295"/>
          </p:nvPr>
        </p:nvSpPr>
        <p:spPr>
          <a:xfrm>
            <a:off x="263525" y="2147248"/>
            <a:ext cx="6783269" cy="4758946"/>
          </a:xfrm>
        </p:spPr>
        <p:txBody>
          <a:bodyPr>
            <a:normAutofit fontScale="55000" lnSpcReduction="20000"/>
          </a:bodyPr>
          <a:lstStyle/>
          <a:p>
            <a:pPr lvl="0"/>
            <a:r>
              <a:rPr lang="fr-FR" sz="5100" b="1" noProof="0" dirty="0">
                <a:latin typeface="+mj-lt"/>
              </a:rPr>
              <a:t>UTILISATION STANDARD </a:t>
            </a:r>
          </a:p>
          <a:p>
            <a:pPr lvl="1"/>
            <a:r>
              <a:rPr lang="fr-FR" sz="2900" b="1" noProof="0" dirty="0">
                <a:latin typeface="+mj-lt"/>
              </a:rPr>
              <a:t>Une vue d’ensemble de votre activité comptable</a:t>
            </a:r>
          </a:p>
          <a:p>
            <a:pPr lvl="2">
              <a:buFont typeface="Wingdings" panose="05000000000000000000" pitchFamily="2" charset="2"/>
              <a:buChar char="ü"/>
            </a:pPr>
            <a:r>
              <a:rPr lang="fr-FR" sz="2900" noProof="0" dirty="0">
                <a:latin typeface="+mj-lt"/>
              </a:rPr>
              <a:t>Gérez la facturation</a:t>
            </a:r>
          </a:p>
          <a:p>
            <a:pPr lvl="2">
              <a:buFont typeface="Wingdings" panose="05000000000000000000" pitchFamily="2" charset="2"/>
              <a:buChar char="ü"/>
            </a:pPr>
            <a:r>
              <a:rPr lang="fr-FR" sz="2900" noProof="0" dirty="0">
                <a:latin typeface="+mj-lt"/>
              </a:rPr>
              <a:t>Prenez en compte les factures / payez</a:t>
            </a:r>
          </a:p>
          <a:p>
            <a:pPr lvl="2">
              <a:buFont typeface="Wingdings" panose="05000000000000000000" pitchFamily="2" charset="2"/>
              <a:buChar char="ü"/>
            </a:pPr>
            <a:r>
              <a:rPr lang="fr-FR" sz="2900" noProof="0" dirty="0">
                <a:latin typeface="+mj-lt"/>
              </a:rPr>
              <a:t>Rapport de TVA et autres déclarations</a:t>
            </a:r>
          </a:p>
          <a:p>
            <a:pPr lvl="2">
              <a:buFont typeface="Wingdings" panose="05000000000000000000" pitchFamily="2" charset="2"/>
              <a:buChar char="ü"/>
            </a:pPr>
            <a:r>
              <a:rPr lang="fr-FR" sz="2900" noProof="0" dirty="0">
                <a:latin typeface="+mj-lt"/>
              </a:rPr>
              <a:t>Synchronisez la banque et faites le rapprochement</a:t>
            </a:r>
          </a:p>
          <a:p>
            <a:pPr lvl="1"/>
            <a:r>
              <a:rPr lang="fr-FR" sz="2900" b="1" noProof="0" dirty="0">
                <a:latin typeface="+mj-lt"/>
              </a:rPr>
              <a:t>Créances</a:t>
            </a:r>
          </a:p>
          <a:p>
            <a:pPr lvl="2">
              <a:buFont typeface="Wingdings" panose="05000000000000000000" pitchFamily="2" charset="2"/>
              <a:buChar char="ü"/>
            </a:pPr>
            <a:r>
              <a:rPr lang="fr-FR" sz="2900" noProof="0" dirty="0">
                <a:latin typeface="+mj-lt"/>
              </a:rPr>
              <a:t>Créez et envoyez les factures</a:t>
            </a:r>
          </a:p>
          <a:p>
            <a:pPr lvl="2">
              <a:buFont typeface="Wingdings" panose="05000000000000000000" pitchFamily="2" charset="2"/>
              <a:buChar char="ü"/>
            </a:pPr>
            <a:r>
              <a:rPr lang="fr-FR" sz="2900" noProof="0" dirty="0">
                <a:latin typeface="+mj-lt"/>
              </a:rPr>
              <a:t>Automatisez le suivi</a:t>
            </a:r>
          </a:p>
          <a:p>
            <a:pPr lvl="2">
              <a:buFont typeface="Wingdings" panose="05000000000000000000" pitchFamily="2" charset="2"/>
              <a:buChar char="ü"/>
            </a:pPr>
            <a:r>
              <a:rPr lang="fr-FR" sz="2900" noProof="0" dirty="0">
                <a:latin typeface="+mj-lt"/>
              </a:rPr>
              <a:t>Automatisez le rapprochement bancaire</a:t>
            </a:r>
          </a:p>
          <a:p>
            <a:pPr lvl="2">
              <a:buFont typeface="Wingdings" panose="05000000000000000000" pitchFamily="2" charset="2"/>
              <a:buChar char="ü"/>
            </a:pPr>
            <a:r>
              <a:rPr lang="fr-FR" sz="2900" noProof="0" dirty="0">
                <a:latin typeface="+mj-lt"/>
              </a:rPr>
              <a:t>Utilisez les paiements groupés pour gérer de gros volumes</a:t>
            </a:r>
          </a:p>
          <a:p>
            <a:pPr lvl="1"/>
            <a:r>
              <a:rPr lang="fr-FR" sz="2500" b="1" noProof="0" dirty="0">
                <a:latin typeface="+mj-lt"/>
              </a:rPr>
              <a:t>Dettes</a:t>
            </a:r>
          </a:p>
          <a:p>
            <a:pPr lvl="2">
              <a:buFont typeface="Wingdings" panose="05000000000000000000" pitchFamily="2" charset="2"/>
              <a:buChar char="ü"/>
            </a:pPr>
            <a:r>
              <a:rPr lang="fr-FR" sz="2500" noProof="0" dirty="0">
                <a:latin typeface="+mj-lt"/>
              </a:rPr>
              <a:t>Anticipez les factures à partir des bons de commande</a:t>
            </a:r>
          </a:p>
          <a:p>
            <a:pPr lvl="2">
              <a:buFont typeface="Wingdings" panose="05000000000000000000" pitchFamily="2" charset="2"/>
              <a:buChar char="ü"/>
            </a:pPr>
            <a:r>
              <a:rPr lang="fr-FR" sz="2500" noProof="0" dirty="0">
                <a:latin typeface="+mj-lt"/>
              </a:rPr>
              <a:t>Générez automatiquement les factures avec l’OCR et liez-les aux bons de commande existants</a:t>
            </a:r>
          </a:p>
          <a:p>
            <a:pPr lvl="2">
              <a:buFont typeface="Wingdings" panose="05000000000000000000" pitchFamily="2" charset="2"/>
              <a:buChar char="ü"/>
            </a:pPr>
            <a:r>
              <a:rPr lang="fr-FR" sz="2500" noProof="0" dirty="0">
                <a:latin typeface="+mj-lt"/>
              </a:rPr>
              <a:t>Gérez les échéances et les conditions de paiement pour ne payer que lorsque nécessaire</a:t>
            </a:r>
          </a:p>
          <a:p>
            <a:pPr lvl="2">
              <a:buFont typeface="Wingdings" panose="05000000000000000000" pitchFamily="2" charset="2"/>
              <a:buChar char="ü"/>
            </a:pPr>
            <a:r>
              <a:rPr lang="fr-FR" sz="2500" noProof="0" dirty="0">
                <a:latin typeface="+mj-lt"/>
              </a:rPr>
              <a:t>Créez les paiements groupés pour un envoi à la banque</a:t>
            </a:r>
          </a:p>
          <a:p>
            <a:pPr lvl="2">
              <a:buFont typeface="Wingdings" panose="05000000000000000000" pitchFamily="2" charset="2"/>
              <a:buChar char="ü"/>
            </a:pPr>
            <a:r>
              <a:rPr lang="fr-FR" sz="2500" noProof="0" dirty="0">
                <a:latin typeface="+mj-lt"/>
              </a:rPr>
              <a:t>Automatisez le rapprochement bancaire</a:t>
            </a:r>
          </a:p>
          <a:p>
            <a:pPr lvl="2"/>
            <a:endParaRPr lang="fr-FR" noProof="0" dirty="0">
              <a:latin typeface="+mj-lt"/>
            </a:endParaRPr>
          </a:p>
        </p:txBody>
      </p:sp>
      <p:pic>
        <p:nvPicPr>
          <p:cNvPr id="5" name="Image 4" descr="Une image contenant Appareils électroniques, texte, affichage, capture d’écran&#10;&#10;Le contenu généré par l’IA peut être incorrect.">
            <a:extLst>
              <a:ext uri="{FF2B5EF4-FFF2-40B4-BE49-F238E27FC236}">
                <a16:creationId xmlns:a16="http://schemas.microsoft.com/office/drawing/2014/main" id="{E475D502-8793-6E9E-F88B-A109E0E7B2CC}"/>
              </a:ext>
            </a:extLst>
          </p:cNvPr>
          <p:cNvPicPr>
            <a:picLocks noChangeAspect="1"/>
          </p:cNvPicPr>
          <p:nvPr/>
        </p:nvPicPr>
        <p:blipFill>
          <a:blip r:embed="rId3">
            <a:extLst>
              <a:ext uri="{28A0092B-C50C-407E-A947-70E740481C1C}">
                <a14:useLocalDpi xmlns:a14="http://schemas.microsoft.com/office/drawing/2010/main" val="0"/>
              </a:ext>
            </a:extLst>
          </a:blip>
          <a:srcRect l="8958" t="20850" r="9135" b="20839"/>
          <a:stretch/>
        </p:blipFill>
        <p:spPr>
          <a:xfrm>
            <a:off x="7025526" y="2563236"/>
            <a:ext cx="4431549" cy="3154813"/>
          </a:xfrm>
          <a:prstGeom prst="rect">
            <a:avLst/>
          </a:prstGeom>
        </p:spPr>
      </p:pic>
    </p:spTree>
    <p:extLst>
      <p:ext uri="{BB962C8B-B14F-4D97-AF65-F5344CB8AC3E}">
        <p14:creationId xmlns:p14="http://schemas.microsoft.com/office/powerpoint/2010/main" val="1432192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4BA6B2C-0EA3-3AE7-3FBE-2A9AA3E57291}"/>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FB13BAD-38A0-575A-5139-3516ACBB8F60}"/>
              </a:ext>
            </a:extLst>
          </p:cNvPr>
          <p:cNvSpPr txBox="1">
            <a:spLocks noGrp="1"/>
          </p:cNvSpPr>
          <p:nvPr>
            <p:ph type="title"/>
          </p:nvPr>
        </p:nvSpPr>
        <p:spPr/>
        <p:txBody>
          <a:bodyPr/>
          <a:lstStyle/>
          <a:p>
            <a:pPr lvl="0"/>
            <a:r>
              <a:rPr lang="fr-FR" noProof="0" dirty="0"/>
              <a:t>COMPTABILITE</a:t>
            </a:r>
          </a:p>
        </p:txBody>
      </p:sp>
      <p:sp>
        <p:nvSpPr>
          <p:cNvPr id="12" name="Espace réservé du numéro de diapositive 11">
            <a:extLst>
              <a:ext uri="{FF2B5EF4-FFF2-40B4-BE49-F238E27FC236}">
                <a16:creationId xmlns:a16="http://schemas.microsoft.com/office/drawing/2014/main" id="{8B4F5E37-F21B-44EC-DFE0-5A868CE107C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39D0CF80-EE39-3D1D-4C8C-199DBB9BDC1B}"/>
              </a:ext>
            </a:extLst>
          </p:cNvPr>
          <p:cNvSpPr>
            <a:spLocks noGrp="1"/>
          </p:cNvSpPr>
          <p:nvPr>
            <p:ph idx="4294967295"/>
          </p:nvPr>
        </p:nvSpPr>
        <p:spPr>
          <a:xfrm>
            <a:off x="263525" y="2085281"/>
            <a:ext cx="10601325" cy="4667250"/>
          </a:xfrm>
        </p:spPr>
        <p:txBody>
          <a:bodyPr>
            <a:normAutofit/>
          </a:bodyPr>
          <a:lstStyle/>
          <a:p>
            <a:pPr lvl="0"/>
            <a:r>
              <a:rPr lang="fr-FR" b="1" noProof="0" dirty="0"/>
              <a:t>UTILISATION STANDARD</a:t>
            </a:r>
          </a:p>
          <a:p>
            <a:pPr lvl="1"/>
            <a:r>
              <a:rPr lang="fr-FR" sz="2000" b="1" noProof="0" dirty="0" err="1"/>
              <a:t>Reporting</a:t>
            </a:r>
            <a:endParaRPr lang="fr-FR" sz="2000" b="1" noProof="0" dirty="0"/>
          </a:p>
          <a:p>
            <a:pPr lvl="2"/>
            <a:r>
              <a:rPr lang="fr-FR" noProof="0" dirty="0"/>
              <a:t>Le P&amp;L, le bilan, le résumé exécutif, le grand livre général et des partenaires, les créances, etc., sont des rapports de gestion par défaut du système</a:t>
            </a:r>
          </a:p>
          <a:p>
            <a:pPr lvl="2"/>
            <a:r>
              <a:rPr lang="fr-FR" noProof="0" dirty="0"/>
              <a:t>La génération de rapports analytiques et la vue selon plusieurs axes sont incluses</a:t>
            </a:r>
          </a:p>
          <a:p>
            <a:pPr lvl="1"/>
            <a:r>
              <a:rPr lang="fr-FR" sz="2000" b="1" noProof="0" dirty="0"/>
              <a:t>Autres actions comptables</a:t>
            </a:r>
          </a:p>
          <a:p>
            <a:pPr lvl="2"/>
            <a:r>
              <a:rPr lang="fr-FR" noProof="0" dirty="0"/>
              <a:t>Gérez les reports</a:t>
            </a:r>
          </a:p>
          <a:p>
            <a:pPr lvl="2"/>
            <a:r>
              <a:rPr lang="fr-FR" noProof="0" dirty="0"/>
              <a:t>Suivez vos actifs et vos prêts</a:t>
            </a:r>
          </a:p>
          <a:p>
            <a:pPr lvl="2"/>
            <a:r>
              <a:rPr lang="fr-FR" noProof="0" dirty="0"/>
              <a:t>Verrouillez le système</a:t>
            </a:r>
          </a:p>
          <a:p>
            <a:pPr lvl="3"/>
            <a:r>
              <a:rPr lang="fr-FR" sz="2000" noProof="0" dirty="0"/>
              <a:t>Uniquement pour les factures et les dépenses</a:t>
            </a:r>
          </a:p>
          <a:p>
            <a:pPr lvl="3"/>
            <a:r>
              <a:rPr lang="fr-FR" sz="2000" noProof="0" dirty="0"/>
              <a:t>Pour vos opérations de TVA</a:t>
            </a:r>
          </a:p>
          <a:p>
            <a:pPr lvl="3"/>
            <a:r>
              <a:rPr lang="fr-FR" sz="2000" noProof="0" dirty="0"/>
              <a:t>Pour vos opérations de clôture</a:t>
            </a:r>
          </a:p>
          <a:p>
            <a:pPr lvl="3"/>
            <a:r>
              <a:rPr lang="fr-FR" sz="2000" noProof="0" dirty="0"/>
              <a:t>Pour toutes les opérations</a:t>
            </a:r>
          </a:p>
          <a:p>
            <a:pPr lvl="2"/>
            <a:endParaRPr lang="fr-FR" noProof="0" dirty="0"/>
          </a:p>
          <a:p>
            <a:pPr lvl="2"/>
            <a:endParaRPr lang="fr-FR" noProof="0" dirty="0"/>
          </a:p>
        </p:txBody>
      </p:sp>
    </p:spTree>
    <p:extLst>
      <p:ext uri="{BB962C8B-B14F-4D97-AF65-F5344CB8AC3E}">
        <p14:creationId xmlns:p14="http://schemas.microsoft.com/office/powerpoint/2010/main" val="1312771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9F308B50-E762-658B-8BC5-C5D31CA907D1}"/>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F763A6E6-6685-BCA2-9A37-32BF4E74E465}"/>
              </a:ext>
            </a:extLst>
          </p:cNvPr>
          <p:cNvSpPr txBox="1">
            <a:spLocks noGrp="1"/>
          </p:cNvSpPr>
          <p:nvPr>
            <p:ph type="title"/>
          </p:nvPr>
        </p:nvSpPr>
        <p:spPr/>
        <p:txBody>
          <a:bodyPr/>
          <a:lstStyle/>
          <a:p>
            <a:pPr lvl="0"/>
            <a:r>
              <a:rPr lang="fr-FR" noProof="0" dirty="0"/>
              <a:t>COMPTABILITE</a:t>
            </a:r>
          </a:p>
        </p:txBody>
      </p:sp>
      <p:sp>
        <p:nvSpPr>
          <p:cNvPr id="12" name="Espace réservé du numéro de diapositive 11">
            <a:extLst>
              <a:ext uri="{FF2B5EF4-FFF2-40B4-BE49-F238E27FC236}">
                <a16:creationId xmlns:a16="http://schemas.microsoft.com/office/drawing/2014/main" id="{B2BBEA73-6C13-1BDB-5D1C-F09B4A9BEA0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74C39790-36D8-9433-E005-AA2979627935}"/>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9D8E76CF-08B9-8E3F-4186-8E9DF6B89F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84517" y="2514600"/>
            <a:ext cx="879812" cy="914400"/>
          </a:xfrm>
          <a:prstGeom prst="rect">
            <a:avLst/>
          </a:prstGeom>
        </p:spPr>
      </p:pic>
    </p:spTree>
    <p:extLst>
      <p:ext uri="{BB962C8B-B14F-4D97-AF65-F5344CB8AC3E}">
        <p14:creationId xmlns:p14="http://schemas.microsoft.com/office/powerpoint/2010/main" val="234062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PRODUITS</a:t>
            </a:r>
          </a:p>
        </p:txBody>
      </p:sp>
      <p:sp>
        <p:nvSpPr>
          <p:cNvPr id="12" name="Espace réservé du numéro de diapositive 11">
            <a:extLst>
              <a:ext uri="{FF2B5EF4-FFF2-40B4-BE49-F238E27FC236}">
                <a16:creationId xmlns:a16="http://schemas.microsoft.com/office/drawing/2014/main" id="{C7BE2A2E-E7F1-5E3E-4071-8BFD41C52AF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9" name="Espace réservé du texte 8">
            <a:extLst>
              <a:ext uri="{FF2B5EF4-FFF2-40B4-BE49-F238E27FC236}">
                <a16:creationId xmlns:a16="http://schemas.microsoft.com/office/drawing/2014/main" id="{2517362D-C873-A6A6-5BFE-822E71F010FF}"/>
              </a:ext>
            </a:extLst>
          </p:cNvPr>
          <p:cNvSpPr>
            <a:spLocks noGrp="1"/>
          </p:cNvSpPr>
          <p:nvPr>
            <p:ph sz="half" idx="4294967295"/>
          </p:nvPr>
        </p:nvSpPr>
        <p:spPr>
          <a:xfrm>
            <a:off x="270363" y="2097088"/>
            <a:ext cx="6330462" cy="4630738"/>
          </a:xfrm>
        </p:spPr>
        <p:txBody>
          <a:bodyPr>
            <a:normAutofit/>
          </a:bodyPr>
          <a:lstStyle/>
          <a:p>
            <a:pPr lvl="0"/>
            <a:r>
              <a:rPr lang="fr-FR" sz="3200" b="1" noProof="0" dirty="0"/>
              <a:t>UTILISATION STANDARD </a:t>
            </a:r>
          </a:p>
          <a:p>
            <a:pPr lvl="1"/>
            <a:r>
              <a:rPr lang="fr-FR" sz="2000" noProof="0" dirty="0"/>
              <a:t>Bénéficiez d’un catalogue partagé avec une vue unique de toutes les actions liées au produit</a:t>
            </a:r>
          </a:p>
          <a:p>
            <a:pPr lvl="1"/>
            <a:r>
              <a:rPr lang="fr-FR" sz="2000" noProof="0" dirty="0"/>
              <a:t>Gérez les listes de prix</a:t>
            </a:r>
          </a:p>
          <a:p>
            <a:pPr lvl="1"/>
            <a:r>
              <a:rPr lang="fr-FR" sz="2000" noProof="0" dirty="0"/>
              <a:t>Gérez les différents types de produits (services, biens, fabrication, location, etc.)</a:t>
            </a:r>
          </a:p>
          <a:p>
            <a:pPr lvl="1"/>
            <a:r>
              <a:rPr lang="fr-FR" sz="2000" noProof="0" dirty="0"/>
              <a:t>Permettez l’utilisation de l'e-commerce</a:t>
            </a:r>
          </a:p>
          <a:p>
            <a:pPr lvl="1"/>
            <a:r>
              <a:rPr lang="fr-FR" sz="2000" noProof="0" dirty="0"/>
              <a:t>Permettez l’utilisation du point de vente (POS)</a:t>
            </a:r>
          </a:p>
          <a:p>
            <a:pPr lvl="1"/>
            <a:r>
              <a:rPr lang="fr-FR" sz="2000" noProof="0" dirty="0"/>
              <a:t>Gérez les achats et les réapprovisionnements</a:t>
            </a:r>
          </a:p>
          <a:p>
            <a:pPr lvl="1"/>
            <a:r>
              <a:rPr lang="fr-FR" sz="2000" noProof="0" dirty="0"/>
              <a:t>Décrivez et ajoutez des images ou des documents à vos produits</a:t>
            </a:r>
            <a:endParaRPr lang="fr-FR" sz="3200" noProof="0" dirty="0"/>
          </a:p>
        </p:txBody>
      </p:sp>
      <p:pic>
        <p:nvPicPr>
          <p:cNvPr id="4" name="Image 3" descr="Une image contenant texte, capture d’écran, logiciel, Système d’exploitation&#10;&#10;Le contenu généré par l’IA peut être incorrect.">
            <a:extLst>
              <a:ext uri="{FF2B5EF4-FFF2-40B4-BE49-F238E27FC236}">
                <a16:creationId xmlns:a16="http://schemas.microsoft.com/office/drawing/2014/main" id="{2E7D432B-77DC-30F0-2E37-5A8A3D22B389}"/>
              </a:ext>
            </a:extLst>
          </p:cNvPr>
          <p:cNvPicPr>
            <a:picLocks noChangeAspect="1"/>
          </p:cNvPicPr>
          <p:nvPr/>
        </p:nvPicPr>
        <p:blipFill>
          <a:blip r:embed="rId3">
            <a:extLst>
              <a:ext uri="{28A0092B-C50C-407E-A947-70E740481C1C}">
                <a14:useLocalDpi xmlns:a14="http://schemas.microsoft.com/office/drawing/2010/main" val="0"/>
              </a:ext>
            </a:extLst>
          </a:blip>
          <a:srcRect l="9047" t="20849" r="9037" b="20835"/>
          <a:stretch/>
        </p:blipFill>
        <p:spPr>
          <a:xfrm>
            <a:off x="6548077" y="2563843"/>
            <a:ext cx="4429846" cy="3153600"/>
          </a:xfrm>
          <a:prstGeom prst="rect">
            <a:avLst/>
          </a:prstGeom>
        </p:spPr>
      </p:pic>
    </p:spTree>
    <p:extLst>
      <p:ext uri="{BB962C8B-B14F-4D97-AF65-F5344CB8AC3E}">
        <p14:creationId xmlns:p14="http://schemas.microsoft.com/office/powerpoint/2010/main" val="4029728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1EC58249-269A-DF1E-A9E2-48B2CAA99C44}"/>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03B5897C-37B4-CA97-F885-BC6A3C2D3F33}"/>
              </a:ext>
            </a:extLst>
          </p:cNvPr>
          <p:cNvSpPr txBox="1">
            <a:spLocks noGrp="1"/>
          </p:cNvSpPr>
          <p:nvPr>
            <p:ph type="title"/>
          </p:nvPr>
        </p:nvSpPr>
        <p:spPr/>
        <p:txBody>
          <a:bodyPr/>
          <a:lstStyle/>
          <a:p>
            <a:pPr lvl="0"/>
            <a:r>
              <a:rPr lang="fr-FR" noProof="0" dirty="0"/>
              <a:t>PRODUITS</a:t>
            </a:r>
          </a:p>
        </p:txBody>
      </p:sp>
      <p:sp>
        <p:nvSpPr>
          <p:cNvPr id="12" name="Espace réservé du numéro de diapositive 11">
            <a:extLst>
              <a:ext uri="{FF2B5EF4-FFF2-40B4-BE49-F238E27FC236}">
                <a16:creationId xmlns:a16="http://schemas.microsoft.com/office/drawing/2014/main" id="{08370AD7-42A0-3530-6A0B-6E9A1EA666D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4" name="Espace réservé du texte 10">
            <a:extLst>
              <a:ext uri="{FF2B5EF4-FFF2-40B4-BE49-F238E27FC236}">
                <a16:creationId xmlns:a16="http://schemas.microsoft.com/office/drawing/2014/main" id="{ABC3E6F0-2D7E-13A8-F0B7-CE23583EA741}"/>
              </a:ext>
            </a:extLst>
          </p:cNvPr>
          <p:cNvSpPr>
            <a:spLocks noGrp="1"/>
          </p:cNvSpPr>
          <p:nvPr>
            <p:ph idx="4294967295"/>
          </p:nvPr>
        </p:nvSpPr>
        <p:spPr>
          <a:xfrm>
            <a:off x="838200" y="2097088"/>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5A81FFCD-2EAB-081E-8885-9C4A663503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623377" y="2585940"/>
            <a:ext cx="879812" cy="914400"/>
          </a:xfrm>
          <a:prstGeom prst="rect">
            <a:avLst/>
          </a:prstGeom>
        </p:spPr>
      </p:pic>
    </p:spTree>
    <p:extLst>
      <p:ext uri="{BB962C8B-B14F-4D97-AF65-F5344CB8AC3E}">
        <p14:creationId xmlns:p14="http://schemas.microsoft.com/office/powerpoint/2010/main" val="3807501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CONTACTS</a:t>
            </a:r>
          </a:p>
        </p:txBody>
      </p:sp>
      <p:sp>
        <p:nvSpPr>
          <p:cNvPr id="12" name="Espace réservé du numéro de diapositive 11">
            <a:extLst>
              <a:ext uri="{FF2B5EF4-FFF2-40B4-BE49-F238E27FC236}">
                <a16:creationId xmlns:a16="http://schemas.microsoft.com/office/drawing/2014/main" id="{AB267311-6C9F-9D89-AF50-3AB1E4CC4B1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D436AF37-6405-C8ED-3752-E34A76213199}"/>
              </a:ext>
            </a:extLst>
          </p:cNvPr>
          <p:cNvSpPr>
            <a:spLocks noGrp="1"/>
          </p:cNvSpPr>
          <p:nvPr>
            <p:ph sz="half" idx="4294967295"/>
          </p:nvPr>
        </p:nvSpPr>
        <p:spPr>
          <a:xfrm>
            <a:off x="263525" y="2097088"/>
            <a:ext cx="5832475" cy="4630738"/>
          </a:xfrm>
        </p:spPr>
        <p:txBody>
          <a:bodyPr>
            <a:normAutofit lnSpcReduction="10000"/>
          </a:bodyPr>
          <a:lstStyle/>
          <a:p>
            <a:pPr lvl="0"/>
            <a:r>
              <a:rPr lang="fr-FR" sz="3000" b="1" noProof="0" dirty="0"/>
              <a:t>UTILISATION STANDARD</a:t>
            </a:r>
          </a:p>
          <a:p>
            <a:pPr lvl="1"/>
            <a:r>
              <a:rPr lang="fr-FR" sz="2000" noProof="0" dirty="0"/>
              <a:t>Gérez un annuaire de contacts partagé</a:t>
            </a:r>
          </a:p>
          <a:p>
            <a:pPr lvl="1"/>
            <a:r>
              <a:rPr lang="fr-FR" sz="2000" noProof="0" dirty="0"/>
              <a:t>Entrez toutes les informations nécessaires dans votre contact :</a:t>
            </a:r>
          </a:p>
          <a:p>
            <a:pPr lvl="2">
              <a:buFont typeface="Wingdings" panose="05000000000000000000" pitchFamily="2" charset="2"/>
              <a:buChar char="ü"/>
            </a:pPr>
            <a:r>
              <a:rPr lang="fr-FR" noProof="0" dirty="0"/>
              <a:t>Personnes dans l'entreprise</a:t>
            </a:r>
          </a:p>
          <a:p>
            <a:pPr lvl="2">
              <a:buFont typeface="Wingdings" panose="05000000000000000000" pitchFamily="2" charset="2"/>
              <a:buChar char="ü"/>
            </a:pPr>
            <a:r>
              <a:rPr lang="fr-FR" noProof="0" dirty="0"/>
              <a:t>Adresses de livraison</a:t>
            </a:r>
          </a:p>
          <a:p>
            <a:pPr lvl="2">
              <a:buFont typeface="Wingdings" panose="05000000000000000000" pitchFamily="2" charset="2"/>
              <a:buChar char="ü"/>
            </a:pPr>
            <a:r>
              <a:rPr lang="fr-FR" noProof="0" dirty="0"/>
              <a:t>Adresses de facturation</a:t>
            </a:r>
          </a:p>
          <a:p>
            <a:pPr lvl="2">
              <a:buFont typeface="Wingdings" panose="05000000000000000000" pitchFamily="2" charset="2"/>
              <a:buChar char="ü"/>
            </a:pPr>
            <a:r>
              <a:rPr lang="fr-FR" noProof="0" dirty="0"/>
              <a:t>Listes de prix et conditions de paiement.</a:t>
            </a:r>
          </a:p>
          <a:p>
            <a:pPr lvl="1"/>
            <a:r>
              <a:rPr lang="fr-FR" sz="2000" noProof="0" dirty="0"/>
              <a:t>Ayez une vue à 360° de tous les contenus liés au contact</a:t>
            </a:r>
          </a:p>
          <a:p>
            <a:pPr lvl="2">
              <a:buFont typeface="Wingdings" panose="05000000000000000000" pitchFamily="2" charset="2"/>
              <a:buChar char="ü"/>
            </a:pPr>
            <a:r>
              <a:rPr lang="fr-FR" noProof="0" dirty="0"/>
              <a:t>Achats</a:t>
            </a:r>
          </a:p>
          <a:p>
            <a:pPr lvl="2">
              <a:buFont typeface="Wingdings" panose="05000000000000000000" pitchFamily="2" charset="2"/>
              <a:buChar char="ü"/>
            </a:pPr>
            <a:r>
              <a:rPr lang="fr-FR" noProof="0" dirty="0"/>
              <a:t>Ventes</a:t>
            </a:r>
          </a:p>
          <a:p>
            <a:pPr lvl="2">
              <a:buFont typeface="Wingdings" panose="05000000000000000000" pitchFamily="2" charset="2"/>
              <a:buChar char="ü"/>
            </a:pPr>
            <a:r>
              <a:rPr lang="fr-FR" noProof="0" dirty="0"/>
              <a:t>Montant actuellement facturé</a:t>
            </a:r>
          </a:p>
          <a:p>
            <a:pPr lvl="2">
              <a:buFont typeface="Wingdings" panose="05000000000000000000" pitchFamily="2" charset="2"/>
              <a:buChar char="ü"/>
            </a:pPr>
            <a:r>
              <a:rPr lang="fr-FR" noProof="0" dirty="0"/>
              <a:t>Et ainsi de suite…</a:t>
            </a:r>
            <a:endParaRPr lang="fr-FR" sz="2800" noProof="0" dirty="0"/>
          </a:p>
        </p:txBody>
      </p:sp>
      <p:pic>
        <p:nvPicPr>
          <p:cNvPr id="3" name="Image 2" descr="Une image contenant Appareils électroniques, texte, capture d’écran, logiciel&#10;&#10;Le contenu généré par l’IA peut être incorrect.">
            <a:extLst>
              <a:ext uri="{FF2B5EF4-FFF2-40B4-BE49-F238E27FC236}">
                <a16:creationId xmlns:a16="http://schemas.microsoft.com/office/drawing/2014/main" id="{97295D7A-97B3-A7DB-67EE-CD8DD840C5EF}"/>
              </a:ext>
            </a:extLst>
          </p:cNvPr>
          <p:cNvPicPr>
            <a:picLocks noChangeAspect="1"/>
          </p:cNvPicPr>
          <p:nvPr/>
        </p:nvPicPr>
        <p:blipFill>
          <a:blip r:embed="rId3">
            <a:extLst>
              <a:ext uri="{28A0092B-C50C-407E-A947-70E740481C1C}">
                <a14:useLocalDpi xmlns:a14="http://schemas.microsoft.com/office/drawing/2010/main" val="0"/>
              </a:ext>
            </a:extLst>
          </a:blip>
          <a:srcRect l="9110" t="20786" r="8973" b="20880"/>
          <a:stretch/>
        </p:blipFill>
        <p:spPr>
          <a:xfrm>
            <a:off x="6547200" y="2562724"/>
            <a:ext cx="4431600" cy="3155837"/>
          </a:xfrm>
          <a:prstGeom prst="rect">
            <a:avLst/>
          </a:prstGeom>
        </p:spPr>
      </p:pic>
    </p:spTree>
    <p:extLst>
      <p:ext uri="{BB962C8B-B14F-4D97-AF65-F5344CB8AC3E}">
        <p14:creationId xmlns:p14="http://schemas.microsoft.com/office/powerpoint/2010/main" val="3446015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52585231-9AFC-2FC8-6285-82526B6E464C}"/>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3C095065-7003-B310-AB54-216F563E5F95}"/>
              </a:ext>
            </a:extLst>
          </p:cNvPr>
          <p:cNvSpPr txBox="1">
            <a:spLocks noGrp="1"/>
          </p:cNvSpPr>
          <p:nvPr>
            <p:ph type="title"/>
          </p:nvPr>
        </p:nvSpPr>
        <p:spPr/>
        <p:txBody>
          <a:bodyPr/>
          <a:lstStyle/>
          <a:p>
            <a:pPr lvl="0"/>
            <a:r>
              <a:rPr lang="fr-FR" noProof="0" dirty="0"/>
              <a:t>CONTACTS</a:t>
            </a:r>
          </a:p>
        </p:txBody>
      </p:sp>
      <p:sp>
        <p:nvSpPr>
          <p:cNvPr id="12" name="Espace réservé du numéro de diapositive 11">
            <a:extLst>
              <a:ext uri="{FF2B5EF4-FFF2-40B4-BE49-F238E27FC236}">
                <a16:creationId xmlns:a16="http://schemas.microsoft.com/office/drawing/2014/main" id="{1573781D-AA41-B820-3DB0-CF18A564EF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D1BD435-8D71-73C5-0FCE-8CCE1DC4DD71}"/>
              </a:ext>
            </a:extLst>
          </p:cNvPr>
          <p:cNvSpPr>
            <a:spLocks noGrp="1"/>
          </p:cNvSpPr>
          <p:nvPr>
            <p:ph idx="4294967295"/>
          </p:nvPr>
        </p:nvSpPr>
        <p:spPr>
          <a:xfrm>
            <a:off x="838200" y="2109233"/>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81F4CDE-7D3F-B07E-A9A9-66A4DFDBF5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84517" y="2514600"/>
            <a:ext cx="879812" cy="914400"/>
          </a:xfrm>
          <a:prstGeom prst="rect">
            <a:avLst/>
          </a:prstGeom>
        </p:spPr>
      </p:pic>
    </p:spTree>
    <p:extLst>
      <p:ext uri="{BB962C8B-B14F-4D97-AF65-F5344CB8AC3E}">
        <p14:creationId xmlns:p14="http://schemas.microsoft.com/office/powerpoint/2010/main" val="1051944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CRM</a:t>
            </a:r>
          </a:p>
        </p:txBody>
      </p:sp>
      <p:sp>
        <p:nvSpPr>
          <p:cNvPr id="12" name="Espace réservé du numéro de diapositive 11">
            <a:extLst>
              <a:ext uri="{FF2B5EF4-FFF2-40B4-BE49-F238E27FC236}">
                <a16:creationId xmlns:a16="http://schemas.microsoft.com/office/drawing/2014/main" id="{11A84379-C809-F2B0-D896-B6D22540FD6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C2902CD-B3EB-9CA7-B048-DC80FAD91C06}"/>
              </a:ext>
            </a:extLst>
          </p:cNvPr>
          <p:cNvSpPr>
            <a:spLocks noGrp="1"/>
          </p:cNvSpPr>
          <p:nvPr>
            <p:ph sz="half" idx="4294967295"/>
          </p:nvPr>
        </p:nvSpPr>
        <p:spPr>
          <a:xfrm>
            <a:off x="263525" y="2097088"/>
            <a:ext cx="5181600" cy="4630738"/>
          </a:xfrm>
        </p:spPr>
        <p:txBody>
          <a:bodyPr>
            <a:normAutofit fontScale="92500" lnSpcReduction="10000"/>
          </a:bodyPr>
          <a:lstStyle/>
          <a:p>
            <a:pPr lvl="0"/>
            <a:r>
              <a:rPr lang="fr-FR" sz="3000" b="1" noProof="0" dirty="0"/>
              <a:t>UTILISATION STANDARD</a:t>
            </a:r>
          </a:p>
          <a:p>
            <a:pPr lvl="1"/>
            <a:r>
              <a:rPr lang="fr-FR" sz="2000" noProof="0" dirty="0"/>
              <a:t>Gérez vos prospects non qualifiés en dehors de votre liste de contacts</a:t>
            </a:r>
          </a:p>
          <a:p>
            <a:pPr lvl="1"/>
            <a:r>
              <a:rPr lang="fr-FR" sz="2000" noProof="0" dirty="0"/>
              <a:t>Qualifiez et gérez vos opportunités en un coup d'œil</a:t>
            </a:r>
          </a:p>
          <a:p>
            <a:pPr lvl="1"/>
            <a:r>
              <a:rPr lang="fr-FR" sz="2000" noProof="0" dirty="0"/>
              <a:t>Organisez vos actions à réaliser et rappelez-les toutes</a:t>
            </a:r>
          </a:p>
          <a:p>
            <a:pPr lvl="1"/>
            <a:r>
              <a:rPr lang="fr-FR" sz="2000" noProof="0" dirty="0"/>
              <a:t>Effectuez des actions de masse (comme l'envoi d'e-mails).</a:t>
            </a:r>
          </a:p>
          <a:p>
            <a:pPr lvl="1"/>
            <a:r>
              <a:rPr lang="fr-FR" sz="2000" noProof="0" dirty="0"/>
              <a:t>Suivez vos campagnes et collectez les données statistiques</a:t>
            </a:r>
          </a:p>
          <a:p>
            <a:pPr lvl="1"/>
            <a:r>
              <a:rPr lang="fr-FR" sz="2000" noProof="0" dirty="0"/>
              <a:t>Créez des devis en 1 clic à partir de votre opportunité</a:t>
            </a:r>
          </a:p>
          <a:p>
            <a:pPr lvl="1"/>
            <a:r>
              <a:rPr lang="fr-FR" sz="2000" noProof="0" dirty="0"/>
              <a:t>Créez un contact en 1 clic à partir des informations de votre opportunité</a:t>
            </a:r>
          </a:p>
          <a:p>
            <a:pPr lvl="1"/>
            <a:r>
              <a:rPr lang="fr-FR" sz="2000" noProof="0" dirty="0"/>
              <a:t>Suivez les pertes avec une raison</a:t>
            </a:r>
            <a:endParaRPr lang="fr-FR" noProof="0" dirty="0"/>
          </a:p>
        </p:txBody>
      </p:sp>
      <p:pic>
        <p:nvPicPr>
          <p:cNvPr id="3" name="Image 2" descr="Une image contenant Appareils électroniques, texte, capture d’écran, logiciel&#10;&#10;Le contenu généré par l’IA peut être incorrect.">
            <a:extLst>
              <a:ext uri="{FF2B5EF4-FFF2-40B4-BE49-F238E27FC236}">
                <a16:creationId xmlns:a16="http://schemas.microsoft.com/office/drawing/2014/main" id="{CBE8C5A3-6873-0E69-56BF-D1245A174E37}"/>
              </a:ext>
            </a:extLst>
          </p:cNvPr>
          <p:cNvPicPr>
            <a:picLocks noChangeAspect="1"/>
          </p:cNvPicPr>
          <p:nvPr/>
        </p:nvPicPr>
        <p:blipFill>
          <a:blip r:embed="rId3">
            <a:extLst>
              <a:ext uri="{28A0092B-C50C-407E-A947-70E740481C1C}">
                <a14:useLocalDpi xmlns:a14="http://schemas.microsoft.com/office/drawing/2010/main" val="0"/>
              </a:ext>
            </a:extLst>
          </a:blip>
          <a:srcRect l="9001" t="20792" r="9083" b="20874"/>
          <a:stretch/>
        </p:blipFill>
        <p:spPr>
          <a:xfrm>
            <a:off x="6547200" y="2562725"/>
            <a:ext cx="4431600" cy="3155836"/>
          </a:xfrm>
          <a:prstGeom prst="rect">
            <a:avLst/>
          </a:prstGeom>
        </p:spPr>
      </p:pic>
    </p:spTree>
    <p:extLst>
      <p:ext uri="{BB962C8B-B14F-4D97-AF65-F5344CB8AC3E}">
        <p14:creationId xmlns:p14="http://schemas.microsoft.com/office/powerpoint/2010/main" val="4130858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F8856648-2E0A-8ED0-9623-37B9EE4A4F7A}"/>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2399BA22-8BB1-2E89-7D52-9D810DD2C381}"/>
              </a:ext>
            </a:extLst>
          </p:cNvPr>
          <p:cNvSpPr txBox="1">
            <a:spLocks noGrp="1"/>
          </p:cNvSpPr>
          <p:nvPr>
            <p:ph type="title"/>
          </p:nvPr>
        </p:nvSpPr>
        <p:spPr/>
        <p:txBody>
          <a:bodyPr/>
          <a:lstStyle/>
          <a:p>
            <a:pPr lvl="0"/>
            <a:r>
              <a:rPr lang="fr-FR" noProof="0" dirty="0"/>
              <a:t>CRM</a:t>
            </a:r>
          </a:p>
        </p:txBody>
      </p:sp>
      <p:sp>
        <p:nvSpPr>
          <p:cNvPr id="12" name="Espace réservé du numéro de diapositive 11">
            <a:extLst>
              <a:ext uri="{FF2B5EF4-FFF2-40B4-BE49-F238E27FC236}">
                <a16:creationId xmlns:a16="http://schemas.microsoft.com/office/drawing/2014/main" id="{5FE44541-799E-7F14-CE59-13EDD8DD8AE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120B1E99-A29D-05FA-587C-607194305E72}"/>
              </a:ext>
            </a:extLst>
          </p:cNvPr>
          <p:cNvSpPr>
            <a:spLocks noGrp="1"/>
          </p:cNvSpPr>
          <p:nvPr>
            <p:ph idx="4294967295"/>
          </p:nvPr>
        </p:nvSpPr>
        <p:spPr>
          <a:xfrm>
            <a:off x="838200" y="2131797"/>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CF11FDC-8DBA-0461-D373-BCB143E8D0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63062" y="2651300"/>
            <a:ext cx="879812" cy="914400"/>
          </a:xfrm>
          <a:prstGeom prst="rect">
            <a:avLst/>
          </a:prstGeom>
        </p:spPr>
      </p:pic>
    </p:spTree>
    <p:extLst>
      <p:ext uri="{BB962C8B-B14F-4D97-AF65-F5344CB8AC3E}">
        <p14:creationId xmlns:p14="http://schemas.microsoft.com/office/powerpoint/2010/main" val="3144291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48811AFC-84CD-F9F0-D5DF-FC93EF0E4565}"/>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AE9FA852-1834-019C-B2E6-9B9F4BAADE9D}"/>
              </a:ext>
            </a:extLst>
          </p:cNvPr>
          <p:cNvSpPr txBox="1">
            <a:spLocks noGrp="1"/>
          </p:cNvSpPr>
          <p:nvPr>
            <p:ph type="title"/>
          </p:nvPr>
        </p:nvSpPr>
        <p:spPr/>
        <p:txBody>
          <a:bodyPr/>
          <a:lstStyle/>
          <a:p>
            <a:pPr lvl="0"/>
            <a:r>
              <a:rPr lang="fr-FR" noProof="0" dirty="0"/>
              <a:t>RENDEZ-VOUS</a:t>
            </a:r>
          </a:p>
        </p:txBody>
      </p:sp>
      <p:sp>
        <p:nvSpPr>
          <p:cNvPr id="12" name="Espace réservé du numéro de diapositive 11">
            <a:extLst>
              <a:ext uri="{FF2B5EF4-FFF2-40B4-BE49-F238E27FC236}">
                <a16:creationId xmlns:a16="http://schemas.microsoft.com/office/drawing/2014/main" id="{BE005CF9-96D5-9EFF-986B-BEFA20CC6DA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2C62D83D-832F-CE7B-53EA-8DF009E1C46E}"/>
              </a:ext>
            </a:extLst>
          </p:cNvPr>
          <p:cNvSpPr>
            <a:spLocks noGrp="1"/>
          </p:cNvSpPr>
          <p:nvPr>
            <p:ph sz="half" idx="4294967295"/>
          </p:nvPr>
        </p:nvSpPr>
        <p:spPr>
          <a:xfrm>
            <a:off x="263524" y="2097088"/>
            <a:ext cx="5832475" cy="4630738"/>
          </a:xfrm>
        </p:spPr>
        <p:txBody>
          <a:bodyPr/>
          <a:lstStyle/>
          <a:p>
            <a:pPr lvl="0"/>
            <a:r>
              <a:rPr lang="fr-FR" sz="2400" b="1" noProof="0" dirty="0"/>
              <a:t>UTILISATION STANDARD</a:t>
            </a:r>
          </a:p>
          <a:p>
            <a:pPr lvl="1"/>
            <a:r>
              <a:rPr lang="fr-FR" sz="2000" noProof="0" dirty="0"/>
              <a:t>Bénéficiez d'une fonctionnalité « </a:t>
            </a:r>
            <a:r>
              <a:rPr lang="fr-FR" sz="2000" noProof="0" dirty="0" err="1"/>
              <a:t>Meet</a:t>
            </a:r>
            <a:r>
              <a:rPr lang="fr-FR" sz="2000" noProof="0" dirty="0"/>
              <a:t> </a:t>
            </a:r>
            <a:r>
              <a:rPr lang="fr-FR" sz="2000" noProof="0" dirty="0" err="1"/>
              <a:t>with</a:t>
            </a:r>
            <a:r>
              <a:rPr lang="fr-FR" sz="2000" noProof="0" dirty="0"/>
              <a:t> me »</a:t>
            </a:r>
          </a:p>
          <a:p>
            <a:pPr lvl="2">
              <a:buFont typeface="Wingdings" panose="05000000000000000000" pitchFamily="2" charset="2"/>
              <a:buChar char="ü"/>
            </a:pPr>
            <a:r>
              <a:rPr lang="fr-FR" noProof="0" dirty="0"/>
              <a:t>Les utilisateurs pourront réserver une réunion avec vous</a:t>
            </a:r>
          </a:p>
          <a:p>
            <a:pPr lvl="1"/>
            <a:r>
              <a:rPr lang="fr-FR" sz="2000" noProof="0" dirty="0"/>
              <a:t>Réservez des salles ou des ressources</a:t>
            </a:r>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9F1120E8-A8BA-2EB2-130F-F29D6FA75907}"/>
              </a:ext>
            </a:extLst>
          </p:cNvPr>
          <p:cNvPicPr>
            <a:picLocks noChangeAspect="1"/>
          </p:cNvPicPr>
          <p:nvPr/>
        </p:nvPicPr>
        <p:blipFill>
          <a:blip r:embed="rId3">
            <a:extLst>
              <a:ext uri="{28A0092B-C50C-407E-A947-70E740481C1C}">
                <a14:useLocalDpi xmlns:a14="http://schemas.microsoft.com/office/drawing/2010/main" val="0"/>
              </a:ext>
            </a:extLst>
          </a:blip>
          <a:srcRect l="9002" t="20816" r="9010" b="20850"/>
          <a:stretch/>
        </p:blipFill>
        <p:spPr>
          <a:xfrm>
            <a:off x="6547200" y="2564129"/>
            <a:ext cx="4431600" cy="3153027"/>
          </a:xfrm>
          <a:prstGeom prst="rect">
            <a:avLst/>
          </a:prstGeom>
        </p:spPr>
      </p:pic>
    </p:spTree>
    <p:extLst>
      <p:ext uri="{BB962C8B-B14F-4D97-AF65-F5344CB8AC3E}">
        <p14:creationId xmlns:p14="http://schemas.microsoft.com/office/powerpoint/2010/main" val="1010041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RENDEZ-VOUS</a:t>
            </a:r>
          </a:p>
        </p:txBody>
      </p:sp>
      <p:sp>
        <p:nvSpPr>
          <p:cNvPr id="12" name="Espace réservé du numéro de diapositive 11">
            <a:extLst>
              <a:ext uri="{FF2B5EF4-FFF2-40B4-BE49-F238E27FC236}">
                <a16:creationId xmlns:a16="http://schemas.microsoft.com/office/drawing/2014/main" id="{D0691D2E-EF26-919A-E112-4325B7FE652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9716299A-0ED7-96C0-31BF-B90CEA6F6D54}"/>
              </a:ext>
            </a:extLst>
          </p:cNvPr>
          <p:cNvSpPr>
            <a:spLocks noGrp="1"/>
          </p:cNvSpPr>
          <p:nvPr>
            <p:ph idx="4294967295"/>
          </p:nvPr>
        </p:nvSpPr>
        <p:spPr>
          <a:xfrm>
            <a:off x="842889"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53307703-C4CC-6732-068B-DC029D78E3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84517" y="2721639"/>
            <a:ext cx="879812" cy="914400"/>
          </a:xfrm>
          <a:prstGeom prst="rect">
            <a:avLst/>
          </a:prstGeom>
        </p:spPr>
      </p:pic>
    </p:spTree>
    <p:extLst>
      <p:ext uri="{BB962C8B-B14F-4D97-AF65-F5344CB8AC3E}">
        <p14:creationId xmlns:p14="http://schemas.microsoft.com/office/powerpoint/2010/main" val="4164186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VENTES</a:t>
            </a:r>
          </a:p>
        </p:txBody>
      </p:sp>
      <p:sp>
        <p:nvSpPr>
          <p:cNvPr id="12" name="Espace réservé du numéro de diapositive 11">
            <a:extLst>
              <a:ext uri="{FF2B5EF4-FFF2-40B4-BE49-F238E27FC236}">
                <a16:creationId xmlns:a16="http://schemas.microsoft.com/office/drawing/2014/main" id="{207FB11E-B5B1-2B09-D2E9-45EA57939C8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CF97097-F521-B269-EDC2-C852FF3567A1}"/>
              </a:ext>
            </a:extLst>
          </p:cNvPr>
          <p:cNvSpPr>
            <a:spLocks noGrp="1"/>
          </p:cNvSpPr>
          <p:nvPr>
            <p:ph sz="half" idx="4294967295"/>
          </p:nvPr>
        </p:nvSpPr>
        <p:spPr>
          <a:xfrm>
            <a:off x="242258" y="1858583"/>
            <a:ext cx="6096000" cy="4814888"/>
          </a:xfrm>
        </p:spPr>
        <p:txBody>
          <a:bodyPr>
            <a:normAutofit fontScale="92500" lnSpcReduction="10000"/>
          </a:bodyPr>
          <a:lstStyle/>
          <a:p>
            <a:pPr lvl="0"/>
            <a:r>
              <a:rPr lang="fr-FR" sz="3000" b="1" noProof="0" dirty="0"/>
              <a:t>UTILISATION STANDARD</a:t>
            </a:r>
          </a:p>
          <a:p>
            <a:pPr lvl="1"/>
            <a:r>
              <a:rPr lang="fr-FR" sz="1900" noProof="0" dirty="0"/>
              <a:t>Créez facilement de nouveaux devis avec toutes les données pré-configurées provenant des contacts et des produits</a:t>
            </a:r>
          </a:p>
          <a:p>
            <a:pPr lvl="1"/>
            <a:r>
              <a:rPr lang="fr-FR" sz="1900" noProof="0" dirty="0"/>
              <a:t>Utilisez des modèles de devis pour faciliter votre travail</a:t>
            </a:r>
          </a:p>
          <a:p>
            <a:pPr lvl="1"/>
            <a:r>
              <a:rPr lang="fr-FR" sz="1900" noProof="0" dirty="0"/>
              <a:t>Sélectionnez les produits par nom, référence, avec un assistant ou même un catalogue</a:t>
            </a:r>
          </a:p>
          <a:p>
            <a:pPr lvl="1"/>
            <a:r>
              <a:rPr lang="fr-FR" sz="1900" noProof="0" dirty="0"/>
              <a:t>Améliorez vos ventes avec des produits complémentaires et optionnels</a:t>
            </a:r>
          </a:p>
          <a:p>
            <a:pPr lvl="1"/>
            <a:r>
              <a:rPr lang="fr-FR" sz="1900" noProof="0" dirty="0"/>
              <a:t>Soyez différent – Avec des devis complets incluant une présentation, un devis et des textes ou images spécifiques pour votre client</a:t>
            </a:r>
          </a:p>
          <a:p>
            <a:pPr lvl="1"/>
            <a:r>
              <a:rPr lang="fr-FR" sz="1900" noProof="0" dirty="0"/>
              <a:t>Accélérez le processus avec la signature et le paiement en ligne</a:t>
            </a:r>
          </a:p>
          <a:p>
            <a:pPr lvl="1"/>
            <a:r>
              <a:rPr lang="fr-FR" sz="1900" noProof="0" dirty="0"/>
              <a:t>Envoyez et signez numériquement</a:t>
            </a:r>
          </a:p>
          <a:p>
            <a:pPr lvl="1"/>
            <a:r>
              <a:rPr lang="fr-FR" sz="1900" noProof="0" dirty="0"/>
              <a:t>Gérez la facturation récurrente directement depuis le devis</a:t>
            </a:r>
            <a:endParaRPr lang="fr-FR" sz="26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FCE60F7F-EF00-1D23-1055-C5240E7DF371}"/>
              </a:ext>
            </a:extLst>
          </p:cNvPr>
          <p:cNvPicPr>
            <a:picLocks noChangeAspect="1"/>
          </p:cNvPicPr>
          <p:nvPr/>
        </p:nvPicPr>
        <p:blipFill>
          <a:blip r:embed="rId3">
            <a:extLst>
              <a:ext uri="{28A0092B-C50C-407E-A947-70E740481C1C}">
                <a14:useLocalDpi xmlns:a14="http://schemas.microsoft.com/office/drawing/2010/main" val="0"/>
              </a:ext>
            </a:extLst>
          </a:blip>
          <a:srcRect l="9075" t="20881" r="9010" b="20785"/>
          <a:stretch/>
        </p:blipFill>
        <p:spPr>
          <a:xfrm>
            <a:off x="6547200" y="2562725"/>
            <a:ext cx="4431600" cy="3155836"/>
          </a:xfrm>
          <a:prstGeom prst="rect">
            <a:avLst/>
          </a:prstGeom>
        </p:spPr>
      </p:pic>
    </p:spTree>
    <p:extLst>
      <p:ext uri="{BB962C8B-B14F-4D97-AF65-F5344CB8AC3E}">
        <p14:creationId xmlns:p14="http://schemas.microsoft.com/office/powerpoint/2010/main" val="3136200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1369A6FD-453E-3D8F-1E76-EBC9E080DFCF}"/>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A909C872-3B43-C74D-9C1F-90BA979C8DA7}"/>
              </a:ext>
            </a:extLst>
          </p:cNvPr>
          <p:cNvSpPr txBox="1">
            <a:spLocks noGrp="1"/>
          </p:cNvSpPr>
          <p:nvPr>
            <p:ph type="title"/>
          </p:nvPr>
        </p:nvSpPr>
        <p:spPr/>
        <p:txBody>
          <a:bodyPr/>
          <a:lstStyle/>
          <a:p>
            <a:pPr lvl="0"/>
            <a:r>
              <a:rPr lang="fr-FR" noProof="0" dirty="0"/>
              <a:t>VENTES</a:t>
            </a:r>
          </a:p>
        </p:txBody>
      </p:sp>
      <p:sp>
        <p:nvSpPr>
          <p:cNvPr id="12" name="Espace réservé du numéro de diapositive 11">
            <a:extLst>
              <a:ext uri="{FF2B5EF4-FFF2-40B4-BE49-F238E27FC236}">
                <a16:creationId xmlns:a16="http://schemas.microsoft.com/office/drawing/2014/main" id="{C521E6E2-0A8A-C69A-1DD2-1EF3807688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3F285776-9F98-D221-5B18-33D884E738DC}"/>
              </a:ext>
            </a:extLst>
          </p:cNvPr>
          <p:cNvSpPr>
            <a:spLocks noGrp="1"/>
          </p:cNvSpPr>
          <p:nvPr>
            <p:ph idx="4294967295"/>
          </p:nvPr>
        </p:nvSpPr>
        <p:spPr>
          <a:xfrm>
            <a:off x="828822"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B1249C28-7BF8-4B06-794D-427970AF42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484517" y="2514600"/>
            <a:ext cx="879812" cy="914400"/>
          </a:xfrm>
          <a:prstGeom prst="rect">
            <a:avLst/>
          </a:prstGeom>
        </p:spPr>
      </p:pic>
    </p:spTree>
    <p:extLst>
      <p:ext uri="{BB962C8B-B14F-4D97-AF65-F5344CB8AC3E}">
        <p14:creationId xmlns:p14="http://schemas.microsoft.com/office/powerpoint/2010/main" val="3865650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SITE WEB</a:t>
            </a:r>
          </a:p>
        </p:txBody>
      </p:sp>
      <p:sp>
        <p:nvSpPr>
          <p:cNvPr id="12" name="Espace réservé du numéro de diapositive 11">
            <a:extLst>
              <a:ext uri="{FF2B5EF4-FFF2-40B4-BE49-F238E27FC236}">
                <a16:creationId xmlns:a16="http://schemas.microsoft.com/office/drawing/2014/main" id="{4C175D51-D07C-4417-B4E6-63529854E95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6825370-B242-15C0-E4B8-5AA3B8D74143}"/>
              </a:ext>
            </a:extLst>
          </p:cNvPr>
          <p:cNvSpPr>
            <a:spLocks noGrp="1"/>
          </p:cNvSpPr>
          <p:nvPr>
            <p:ph sz="half" idx="4294967295"/>
          </p:nvPr>
        </p:nvSpPr>
        <p:spPr>
          <a:xfrm>
            <a:off x="365759" y="2097088"/>
            <a:ext cx="6344529" cy="4630738"/>
          </a:xfrm>
        </p:spPr>
        <p:txBody>
          <a:bodyPr>
            <a:normAutofit/>
          </a:bodyPr>
          <a:lstStyle/>
          <a:p>
            <a:pPr lvl="0"/>
            <a:r>
              <a:rPr lang="fr-FR" sz="2400" b="1" noProof="0" dirty="0">
                <a:latin typeface="+mj-lt"/>
              </a:rPr>
              <a:t>UTILISATION STANDARD</a:t>
            </a:r>
          </a:p>
          <a:p>
            <a:pPr lvl="1"/>
            <a:r>
              <a:rPr lang="fr-FR" sz="2000" noProof="0" dirty="0">
                <a:latin typeface="+mj-lt"/>
              </a:rPr>
              <a:t>Créez votre site de présentation</a:t>
            </a:r>
          </a:p>
          <a:p>
            <a:pPr lvl="1"/>
            <a:r>
              <a:rPr lang="fr-FR" sz="2000" noProof="0" dirty="0">
                <a:latin typeface="+mj-lt"/>
              </a:rPr>
              <a:t>Permettez à vos clients de vous contacter via une page de contact et des formulaires (ils créeront une opportunité)</a:t>
            </a:r>
          </a:p>
          <a:p>
            <a:pPr lvl="1"/>
            <a:r>
              <a:rPr lang="fr-FR" sz="2000" noProof="0" dirty="0">
                <a:latin typeface="+mj-lt"/>
              </a:rPr>
              <a:t>Améliorez votre SEO avec un blog et des champs spéciaux inclus</a:t>
            </a:r>
          </a:p>
          <a:p>
            <a:pPr lvl="1"/>
            <a:r>
              <a:rPr lang="fr-FR" sz="2000" noProof="0" dirty="0">
                <a:latin typeface="+mj-lt"/>
              </a:rPr>
              <a:t>Alimentez facilement votre site grâce à l’IA</a:t>
            </a:r>
          </a:p>
          <a:p>
            <a:pPr marL="457200" lvl="1" indent="0">
              <a:buNone/>
            </a:pPr>
            <a:endParaRPr lang="fr-FR" sz="2000" noProof="0" dirty="0">
              <a:latin typeface="+mj-lt"/>
            </a:endParaRPr>
          </a:p>
          <a:p>
            <a:pPr lvl="1"/>
            <a:r>
              <a:rPr lang="fr-FR" sz="2000" noProof="0" dirty="0">
                <a:latin typeface="+mj-lt"/>
              </a:rPr>
              <a:t>Activez d'autres fonctionnalités liées pour vendre, organiser des événements, permettre la billetterie, </a:t>
            </a:r>
            <a:r>
              <a:rPr lang="fr-FR" sz="2000" noProof="0" dirty="0" err="1">
                <a:latin typeface="+mj-lt"/>
              </a:rPr>
              <a:t>etc</a:t>
            </a:r>
            <a:endParaRPr lang="fr-FR" sz="2000" noProof="0" dirty="0">
              <a:latin typeface="+mj-lt"/>
            </a:endParaRPr>
          </a:p>
        </p:txBody>
      </p:sp>
      <p:pic>
        <p:nvPicPr>
          <p:cNvPr id="3" name="Image 2" descr="Une image contenant texte, Appareils électroniques, ordinateur, capture d’écran&#10;&#10;Le contenu généré par l’IA peut être incorrect.">
            <a:extLst>
              <a:ext uri="{FF2B5EF4-FFF2-40B4-BE49-F238E27FC236}">
                <a16:creationId xmlns:a16="http://schemas.microsoft.com/office/drawing/2014/main" id="{C8641378-BFBB-E2AF-75B0-212D6D24B869}"/>
              </a:ext>
            </a:extLst>
          </p:cNvPr>
          <p:cNvPicPr>
            <a:picLocks noChangeAspect="1"/>
          </p:cNvPicPr>
          <p:nvPr/>
        </p:nvPicPr>
        <p:blipFill>
          <a:blip r:embed="rId3">
            <a:extLst>
              <a:ext uri="{28A0092B-C50C-407E-A947-70E740481C1C}">
                <a14:useLocalDpi xmlns:a14="http://schemas.microsoft.com/office/drawing/2010/main" val="0"/>
              </a:ext>
            </a:extLst>
          </a:blip>
          <a:srcRect l="9045" t="20847" r="8966" b="20819"/>
          <a:stretch/>
        </p:blipFill>
        <p:spPr>
          <a:xfrm>
            <a:off x="6547200" y="2564128"/>
            <a:ext cx="4431600" cy="3153029"/>
          </a:xfrm>
          <a:prstGeom prst="rect">
            <a:avLst/>
          </a:prstGeom>
        </p:spPr>
      </p:pic>
    </p:spTree>
    <p:extLst>
      <p:ext uri="{BB962C8B-B14F-4D97-AF65-F5344CB8AC3E}">
        <p14:creationId xmlns:p14="http://schemas.microsoft.com/office/powerpoint/2010/main" val="205915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E4B46DE5-5CF2-357B-0780-80714F14545A}"/>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EFB10EEF-89E8-D358-A69F-27A35794A14B}"/>
              </a:ext>
            </a:extLst>
          </p:cNvPr>
          <p:cNvSpPr txBox="1">
            <a:spLocks noGrp="1"/>
          </p:cNvSpPr>
          <p:nvPr>
            <p:ph type="title"/>
          </p:nvPr>
        </p:nvSpPr>
        <p:spPr/>
        <p:txBody>
          <a:bodyPr/>
          <a:lstStyle/>
          <a:p>
            <a:pPr lvl="0"/>
            <a:r>
              <a:rPr lang="fr-FR" noProof="0" dirty="0"/>
              <a:t>SITE WEB</a:t>
            </a:r>
          </a:p>
        </p:txBody>
      </p:sp>
      <p:sp>
        <p:nvSpPr>
          <p:cNvPr id="12" name="Espace réservé du numéro de diapositive 11">
            <a:extLst>
              <a:ext uri="{FF2B5EF4-FFF2-40B4-BE49-F238E27FC236}">
                <a16:creationId xmlns:a16="http://schemas.microsoft.com/office/drawing/2014/main" id="{EFC19215-026D-113E-C17A-B795D517515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344CEE60-E20B-5AE4-1948-B9759EFFCDC0}"/>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B7360DF0-8D2F-7987-AFCF-8DF205F3D0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665581" y="2514600"/>
            <a:ext cx="879812" cy="914400"/>
          </a:xfrm>
          <a:prstGeom prst="rect">
            <a:avLst/>
          </a:prstGeom>
        </p:spPr>
      </p:pic>
    </p:spTree>
    <p:extLst>
      <p:ext uri="{BB962C8B-B14F-4D97-AF65-F5344CB8AC3E}">
        <p14:creationId xmlns:p14="http://schemas.microsoft.com/office/powerpoint/2010/main" val="192866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E-COMMERCE</a:t>
            </a:r>
          </a:p>
        </p:txBody>
      </p:sp>
      <p:sp>
        <p:nvSpPr>
          <p:cNvPr id="12" name="Espace réservé du numéro de diapositive 11">
            <a:extLst>
              <a:ext uri="{FF2B5EF4-FFF2-40B4-BE49-F238E27FC236}">
                <a16:creationId xmlns:a16="http://schemas.microsoft.com/office/drawing/2014/main" id="{4A477182-48DA-983A-E847-D410BDA977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776D6DE-8A21-275C-90C2-B12920840077}"/>
              </a:ext>
            </a:extLst>
          </p:cNvPr>
          <p:cNvSpPr>
            <a:spLocks noGrp="1"/>
          </p:cNvSpPr>
          <p:nvPr>
            <p:ph sz="half" idx="4294967295"/>
          </p:nvPr>
        </p:nvSpPr>
        <p:spPr>
          <a:xfrm>
            <a:off x="263525" y="2097088"/>
            <a:ext cx="6095072" cy="4630738"/>
          </a:xfrm>
        </p:spPr>
        <p:txBody>
          <a:bodyPr>
            <a:normAutofit/>
          </a:bodyPr>
          <a:lstStyle/>
          <a:p>
            <a:pPr lvl="0"/>
            <a:r>
              <a:rPr lang="fr-FR" b="1" noProof="0" dirty="0"/>
              <a:t>UTILISATION STANDARD</a:t>
            </a:r>
          </a:p>
          <a:p>
            <a:pPr lvl="1"/>
            <a:r>
              <a:rPr lang="fr-FR" sz="2000" noProof="0" dirty="0"/>
              <a:t>Vendez vos produits en ligne</a:t>
            </a:r>
          </a:p>
          <a:p>
            <a:pPr lvl="1"/>
            <a:r>
              <a:rPr lang="fr-FR" sz="2000" noProof="0" dirty="0"/>
              <a:t>Obtenez plus de ventes avec des produits optionnels, des produits de remplacement, des listes de souhaits…</a:t>
            </a:r>
          </a:p>
          <a:p>
            <a:pPr lvl="1"/>
            <a:r>
              <a:rPr lang="fr-FR" sz="2000" noProof="0" dirty="0"/>
              <a:t>Organisez les filtres et la barre de recherche pour faciliter l'accès à vos produits</a:t>
            </a:r>
          </a:p>
          <a:p>
            <a:pPr lvl="1"/>
            <a:r>
              <a:rPr lang="fr-FR" sz="2000" noProof="0" dirty="0"/>
              <a:t>Collectez plus d’informations sur vos contacts avec un tunnel de carte « multi-étapes »</a:t>
            </a:r>
          </a:p>
          <a:p>
            <a:pPr lvl="1"/>
            <a:r>
              <a:rPr lang="fr-FR" sz="2000" noProof="0" dirty="0"/>
              <a:t>Gérez les paniers abandonnés pour effectuer des relances</a:t>
            </a:r>
          </a:p>
          <a:p>
            <a:pPr lvl="1"/>
            <a:r>
              <a:rPr lang="fr-FR" sz="2000" noProof="0" dirty="0"/>
              <a:t>Analysez toutes vos ventes e-commerce</a:t>
            </a:r>
            <a:endParaRPr lang="fr-FR" sz="2800" noProof="0" dirty="0"/>
          </a:p>
        </p:txBody>
      </p:sp>
      <p:pic>
        <p:nvPicPr>
          <p:cNvPr id="3" name="Image 2" descr="Une image contenant texte, capture d’écran, ordinateur, logiciel&#10;&#10;Le contenu généré par l’IA peut être incorrect.">
            <a:extLst>
              <a:ext uri="{FF2B5EF4-FFF2-40B4-BE49-F238E27FC236}">
                <a16:creationId xmlns:a16="http://schemas.microsoft.com/office/drawing/2014/main" id="{C9F671FB-2D0D-1360-9A53-B93BB7E82EAD}"/>
              </a:ext>
            </a:extLst>
          </p:cNvPr>
          <p:cNvPicPr>
            <a:picLocks noChangeAspect="1"/>
          </p:cNvPicPr>
          <p:nvPr/>
        </p:nvPicPr>
        <p:blipFill>
          <a:blip r:embed="rId3">
            <a:extLst>
              <a:ext uri="{28A0092B-C50C-407E-A947-70E740481C1C}">
                <a14:useLocalDpi xmlns:a14="http://schemas.microsoft.com/office/drawing/2010/main" val="0"/>
              </a:ext>
            </a:extLst>
          </a:blip>
          <a:srcRect l="9326" t="20796" r="8687" b="20870"/>
          <a:stretch/>
        </p:blipFill>
        <p:spPr>
          <a:xfrm>
            <a:off x="6622122" y="2564017"/>
            <a:ext cx="4431600" cy="3153252"/>
          </a:xfrm>
          <a:prstGeom prst="rect">
            <a:avLst/>
          </a:prstGeom>
        </p:spPr>
      </p:pic>
    </p:spTree>
    <p:extLst>
      <p:ext uri="{BB962C8B-B14F-4D97-AF65-F5344CB8AC3E}">
        <p14:creationId xmlns:p14="http://schemas.microsoft.com/office/powerpoint/2010/main" val="3662291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9A068FD6-702F-ECFF-FBA6-992DBAA56A91}"/>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F238C5E7-1281-AFEF-C027-91FB66DB2187}"/>
              </a:ext>
            </a:extLst>
          </p:cNvPr>
          <p:cNvSpPr txBox="1">
            <a:spLocks noGrp="1"/>
          </p:cNvSpPr>
          <p:nvPr>
            <p:ph type="title"/>
          </p:nvPr>
        </p:nvSpPr>
        <p:spPr/>
        <p:txBody>
          <a:bodyPr/>
          <a:lstStyle/>
          <a:p>
            <a:pPr lvl="0"/>
            <a:r>
              <a:rPr lang="fr-FR" noProof="0" dirty="0"/>
              <a:t>E-COMMERCE</a:t>
            </a:r>
          </a:p>
        </p:txBody>
      </p:sp>
      <p:sp>
        <p:nvSpPr>
          <p:cNvPr id="12" name="Espace réservé du numéro de diapositive 11">
            <a:extLst>
              <a:ext uri="{FF2B5EF4-FFF2-40B4-BE49-F238E27FC236}">
                <a16:creationId xmlns:a16="http://schemas.microsoft.com/office/drawing/2014/main" id="{3420D68E-6D70-FD8F-7201-647A7C3D3B2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A3AAE9F-1903-8FD8-D866-EC17BAFC5839}"/>
              </a:ext>
            </a:extLst>
          </p:cNvPr>
          <p:cNvSpPr>
            <a:spLocks noGrp="1"/>
          </p:cNvSpPr>
          <p:nvPr>
            <p:ph idx="4294967295"/>
          </p:nvPr>
        </p:nvSpPr>
        <p:spPr>
          <a:xfrm>
            <a:off x="838200" y="2097088"/>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C6539B93-8802-9948-725E-E815AB3F0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850859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normAutofit fontScale="90000"/>
          </a:bodyPr>
          <a:lstStyle/>
          <a:p>
            <a:pPr lvl="0"/>
            <a:br>
              <a:rPr lang="fr-FR" noProof="0" dirty="0"/>
            </a:br>
            <a:r>
              <a:rPr lang="fr-FR" noProof="0" dirty="0"/>
              <a:t>ABONNEMENTS</a:t>
            </a:r>
            <a:br>
              <a:rPr lang="fr-FR" noProof="0" dirty="0"/>
            </a:br>
            <a:endParaRPr lang="fr-FR" noProof="0" dirty="0"/>
          </a:p>
        </p:txBody>
      </p:sp>
      <p:sp>
        <p:nvSpPr>
          <p:cNvPr id="12" name="Espace réservé du numéro de diapositive 11">
            <a:extLst>
              <a:ext uri="{FF2B5EF4-FFF2-40B4-BE49-F238E27FC236}">
                <a16:creationId xmlns:a16="http://schemas.microsoft.com/office/drawing/2014/main" id="{61EB3DA1-2D40-33FE-BD88-1B3466E56BD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609A7B5-2A54-1E89-6093-88B2B4B02CBE}"/>
              </a:ext>
            </a:extLst>
          </p:cNvPr>
          <p:cNvSpPr>
            <a:spLocks noGrp="1"/>
          </p:cNvSpPr>
          <p:nvPr>
            <p:ph sz="half" idx="4294967295"/>
          </p:nvPr>
        </p:nvSpPr>
        <p:spPr>
          <a:xfrm>
            <a:off x="263524" y="2097088"/>
            <a:ext cx="6283675" cy="4630738"/>
          </a:xfrm>
        </p:spPr>
        <p:txBody>
          <a:bodyPr/>
          <a:lstStyle/>
          <a:p>
            <a:pPr lvl="0"/>
            <a:r>
              <a:rPr lang="fr-FR" b="1" noProof="0" dirty="0"/>
              <a:t>UTILISATION STANDARD</a:t>
            </a:r>
          </a:p>
          <a:p>
            <a:pPr lvl="1"/>
            <a:r>
              <a:rPr lang="fr-FR" sz="2000" noProof="0" dirty="0"/>
              <a:t>Automatisez la facturation sur une base récurrente</a:t>
            </a:r>
          </a:p>
          <a:p>
            <a:pPr lvl="1"/>
            <a:r>
              <a:rPr lang="fr-FR" sz="2000" noProof="0" dirty="0"/>
              <a:t>Renouvelez automatiquement vos abonnements</a:t>
            </a:r>
          </a:p>
          <a:p>
            <a:pPr lvl="1"/>
            <a:r>
              <a:rPr lang="fr-FR" sz="2000" noProof="0" dirty="0"/>
              <a:t>Effectuez des ventes additionnelles et des renouvellements facilement</a:t>
            </a:r>
          </a:p>
          <a:p>
            <a:pPr lvl="1"/>
            <a:r>
              <a:rPr lang="fr-FR" sz="2000" noProof="0" dirty="0"/>
              <a:t>Permettez au client de l'annuler</a:t>
            </a:r>
          </a:p>
          <a:p>
            <a:pPr lvl="1"/>
            <a:r>
              <a:rPr lang="fr-FR" sz="2000" noProof="0" dirty="0"/>
              <a:t>Analysez votre MRR (revenu mensuel récurrent)</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74681F9D-A2F5-6CA5-EA9E-9F94913901D8}"/>
              </a:ext>
            </a:extLst>
          </p:cNvPr>
          <p:cNvPicPr>
            <a:picLocks noChangeAspect="1"/>
          </p:cNvPicPr>
          <p:nvPr/>
        </p:nvPicPr>
        <p:blipFill>
          <a:blip r:embed="rId3">
            <a:extLst>
              <a:ext uri="{28A0092B-C50C-407E-A947-70E740481C1C}">
                <a14:useLocalDpi xmlns:a14="http://schemas.microsoft.com/office/drawing/2010/main" val="0"/>
              </a:ext>
            </a:extLst>
          </a:blip>
          <a:srcRect l="9096" t="20843" r="8988" b="20822"/>
          <a:stretch/>
        </p:blipFill>
        <p:spPr>
          <a:xfrm>
            <a:off x="6600825" y="2562724"/>
            <a:ext cx="4431600" cy="3155838"/>
          </a:xfrm>
          <a:prstGeom prst="rect">
            <a:avLst/>
          </a:prstGeom>
        </p:spPr>
      </p:pic>
    </p:spTree>
    <p:extLst>
      <p:ext uri="{BB962C8B-B14F-4D97-AF65-F5344CB8AC3E}">
        <p14:creationId xmlns:p14="http://schemas.microsoft.com/office/powerpoint/2010/main" val="872598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911E91AF-3C30-5D22-17B0-12F231B651FB}"/>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79CD9E69-5F19-A8E9-0C94-1BF97A0FB1C0}"/>
              </a:ext>
            </a:extLst>
          </p:cNvPr>
          <p:cNvSpPr txBox="1">
            <a:spLocks noGrp="1"/>
          </p:cNvSpPr>
          <p:nvPr>
            <p:ph type="title"/>
          </p:nvPr>
        </p:nvSpPr>
        <p:spPr/>
        <p:txBody>
          <a:bodyPr>
            <a:normAutofit fontScale="90000"/>
          </a:bodyPr>
          <a:lstStyle/>
          <a:p>
            <a:pPr lvl="0"/>
            <a:br>
              <a:rPr lang="fr-FR" noProof="0" dirty="0"/>
            </a:br>
            <a:r>
              <a:rPr lang="fr-FR" noProof="0" dirty="0"/>
              <a:t>ABONNEMENTS</a:t>
            </a:r>
            <a:br>
              <a:rPr lang="fr-FR" noProof="0" dirty="0"/>
            </a:br>
            <a:endParaRPr lang="fr-FR" noProof="0" dirty="0"/>
          </a:p>
        </p:txBody>
      </p:sp>
      <p:sp>
        <p:nvSpPr>
          <p:cNvPr id="12" name="Espace réservé du numéro de diapositive 11">
            <a:extLst>
              <a:ext uri="{FF2B5EF4-FFF2-40B4-BE49-F238E27FC236}">
                <a16:creationId xmlns:a16="http://schemas.microsoft.com/office/drawing/2014/main" id="{B2F3E2B6-726D-B3F0-5C2D-50FA94CBF20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CE526B7A-7933-1D0A-FBFB-0F2761CF61EC}"/>
              </a:ext>
            </a:extLst>
          </p:cNvPr>
          <p:cNvSpPr>
            <a:spLocks noGrp="1"/>
          </p:cNvSpPr>
          <p:nvPr>
            <p:ph idx="4294967295"/>
          </p:nvPr>
        </p:nvSpPr>
        <p:spPr>
          <a:xfrm>
            <a:off x="838200" y="2104196"/>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CB419359-B0E0-3033-9127-8DBCF93DA5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1598269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LOCATION</a:t>
            </a:r>
          </a:p>
        </p:txBody>
      </p:sp>
      <p:sp>
        <p:nvSpPr>
          <p:cNvPr id="12" name="Espace réservé du numéro de diapositive 11">
            <a:extLst>
              <a:ext uri="{FF2B5EF4-FFF2-40B4-BE49-F238E27FC236}">
                <a16:creationId xmlns:a16="http://schemas.microsoft.com/office/drawing/2014/main" id="{5E4A55F7-218A-6221-CC8B-12F4EF4E66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21D2D86-1FCC-0961-6C38-EDD88B9A0BDA}"/>
              </a:ext>
            </a:extLst>
          </p:cNvPr>
          <p:cNvSpPr>
            <a:spLocks noGrp="1"/>
          </p:cNvSpPr>
          <p:nvPr>
            <p:ph sz="half" idx="4294967295"/>
          </p:nvPr>
        </p:nvSpPr>
        <p:spPr>
          <a:xfrm>
            <a:off x="263525" y="2097088"/>
            <a:ext cx="6547200" cy="4630738"/>
          </a:xfrm>
        </p:spPr>
        <p:txBody>
          <a:bodyPr/>
          <a:lstStyle/>
          <a:p>
            <a:pPr lvl="0"/>
            <a:r>
              <a:rPr lang="fr-FR" b="1" noProof="0" dirty="0"/>
              <a:t>UTILISATION STANDARD</a:t>
            </a:r>
          </a:p>
          <a:p>
            <a:pPr lvl="1"/>
            <a:r>
              <a:rPr lang="fr-FR" sz="2000" noProof="0" dirty="0"/>
              <a:t>Louez un produit pour une période limitée</a:t>
            </a:r>
          </a:p>
          <a:p>
            <a:pPr lvl="1"/>
            <a:r>
              <a:rPr lang="fr-FR" sz="2000" noProof="0" dirty="0"/>
              <a:t>Définissez votre prix de location et automatisez les frais d'utilisation supplémentaires avec un prix spécifique</a:t>
            </a:r>
          </a:p>
          <a:p>
            <a:pPr lvl="1"/>
            <a:r>
              <a:rPr lang="fr-FR" sz="2000" noProof="0" dirty="0"/>
              <a:t>Facilitez la prise en charge et le retour</a:t>
            </a:r>
          </a:p>
          <a:p>
            <a:pPr lvl="1"/>
            <a:r>
              <a:rPr lang="fr-FR" sz="2000" noProof="0" dirty="0"/>
              <a:t>Planifiez l'utilisation de vos biens</a:t>
            </a:r>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468D2E4E-09D2-84F0-276C-6B1E1D87AE80}"/>
              </a:ext>
            </a:extLst>
          </p:cNvPr>
          <p:cNvPicPr>
            <a:picLocks noChangeAspect="1"/>
          </p:cNvPicPr>
          <p:nvPr/>
        </p:nvPicPr>
        <p:blipFill>
          <a:blip r:embed="rId3">
            <a:extLst>
              <a:ext uri="{28A0092B-C50C-407E-A947-70E740481C1C}">
                <a14:useLocalDpi xmlns:a14="http://schemas.microsoft.com/office/drawing/2010/main" val="0"/>
              </a:ext>
            </a:extLst>
          </a:blip>
          <a:srcRect l="8950" t="20843" r="9063" b="20786"/>
          <a:stretch/>
        </p:blipFill>
        <p:spPr>
          <a:xfrm>
            <a:off x="6600825" y="2563143"/>
            <a:ext cx="4431600" cy="3155000"/>
          </a:xfrm>
          <a:prstGeom prst="rect">
            <a:avLst/>
          </a:prstGeom>
        </p:spPr>
      </p:pic>
    </p:spTree>
    <p:extLst>
      <p:ext uri="{BB962C8B-B14F-4D97-AF65-F5344CB8AC3E}">
        <p14:creationId xmlns:p14="http://schemas.microsoft.com/office/powerpoint/2010/main" val="34516135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92575FB-0A8F-BFB2-0EE9-9A31BD2602E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900764B2-CCC5-0C07-504C-D4E5477FFDD9}"/>
              </a:ext>
            </a:extLst>
          </p:cNvPr>
          <p:cNvSpPr txBox="1">
            <a:spLocks noGrp="1"/>
          </p:cNvSpPr>
          <p:nvPr>
            <p:ph type="title"/>
          </p:nvPr>
        </p:nvSpPr>
        <p:spPr/>
        <p:txBody>
          <a:bodyPr/>
          <a:lstStyle/>
          <a:p>
            <a:pPr lvl="0"/>
            <a:r>
              <a:rPr lang="fr-FR" noProof="0" dirty="0"/>
              <a:t>LOCATION</a:t>
            </a:r>
          </a:p>
        </p:txBody>
      </p:sp>
      <p:sp>
        <p:nvSpPr>
          <p:cNvPr id="12" name="Espace réservé du numéro de diapositive 11">
            <a:extLst>
              <a:ext uri="{FF2B5EF4-FFF2-40B4-BE49-F238E27FC236}">
                <a16:creationId xmlns:a16="http://schemas.microsoft.com/office/drawing/2014/main" id="{B9E56719-216F-DB33-2941-9D305DF692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0DE20F7-2CCE-8496-8B2A-3D138DC065E2}"/>
              </a:ext>
            </a:extLst>
          </p:cNvPr>
          <p:cNvSpPr>
            <a:spLocks noGrp="1"/>
          </p:cNvSpPr>
          <p:nvPr>
            <p:ph idx="4294967295"/>
          </p:nvPr>
        </p:nvSpPr>
        <p:spPr>
          <a:xfrm>
            <a:off x="838200" y="2119716"/>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2AE3E7D9-F125-7185-F76B-6FBDBD6D47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158510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POINT DE VENTE</a:t>
            </a:r>
          </a:p>
        </p:txBody>
      </p:sp>
      <p:sp>
        <p:nvSpPr>
          <p:cNvPr id="12" name="Espace réservé du numéro de diapositive 11">
            <a:extLst>
              <a:ext uri="{FF2B5EF4-FFF2-40B4-BE49-F238E27FC236}">
                <a16:creationId xmlns:a16="http://schemas.microsoft.com/office/drawing/2014/main" id="{5CF49509-401F-1DA9-D403-D054C3F9C5A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D98BF76D-228B-DA1E-F847-7F31D8D908A6}"/>
              </a:ext>
            </a:extLst>
          </p:cNvPr>
          <p:cNvSpPr>
            <a:spLocks noGrp="1"/>
          </p:cNvSpPr>
          <p:nvPr>
            <p:ph sz="half" idx="4294967295"/>
          </p:nvPr>
        </p:nvSpPr>
        <p:spPr>
          <a:xfrm>
            <a:off x="242258" y="2097088"/>
            <a:ext cx="6304942" cy="4630738"/>
          </a:xfrm>
        </p:spPr>
        <p:txBody>
          <a:bodyPr/>
          <a:lstStyle/>
          <a:p>
            <a:pPr lvl="0"/>
            <a:r>
              <a:rPr lang="fr-FR" b="1" noProof="0" dirty="0"/>
              <a:t>UTILISATION STANDARD</a:t>
            </a:r>
          </a:p>
          <a:p>
            <a:pPr lvl="1"/>
            <a:r>
              <a:rPr lang="fr-FR" sz="2000" noProof="0" dirty="0"/>
              <a:t>Vendez vos biens</a:t>
            </a:r>
          </a:p>
          <a:p>
            <a:pPr lvl="1"/>
            <a:r>
              <a:rPr lang="fr-FR" sz="2000" noProof="0" dirty="0"/>
              <a:t>Identifiez le client et ajoutez des plans de récompense</a:t>
            </a:r>
          </a:p>
          <a:p>
            <a:pPr lvl="1"/>
            <a:r>
              <a:rPr lang="fr-FR" sz="2000" noProof="0" dirty="0"/>
              <a:t>Filtrez et scannez facilement</a:t>
            </a:r>
          </a:p>
          <a:p>
            <a:pPr lvl="1"/>
            <a:r>
              <a:rPr lang="fr-FR" sz="2000" noProof="0" dirty="0"/>
              <a:t>Profitez d’un double écran</a:t>
            </a:r>
          </a:p>
          <a:p>
            <a:pPr lvl="1"/>
            <a:r>
              <a:rPr lang="fr-FR" sz="2000" noProof="0" dirty="0"/>
              <a:t>Affichez le stock de produits</a:t>
            </a:r>
          </a:p>
          <a:p>
            <a:pPr lvl="1"/>
            <a:r>
              <a:rPr lang="fr-FR" sz="2000" noProof="0" dirty="0"/>
              <a:t>Identifiez le caissier / bloquez certaines fonctionnalités pour les gestionnaires</a:t>
            </a:r>
            <a:endParaRPr lang="fr-FR" sz="2800" noProof="0" dirty="0"/>
          </a:p>
        </p:txBody>
      </p:sp>
      <p:pic>
        <p:nvPicPr>
          <p:cNvPr id="3" name="Image 2" descr="Une image contenant texte, capture d’écran, ordinateur, multimédia&#10;&#10;Le contenu généré par l’IA peut être incorrect.">
            <a:extLst>
              <a:ext uri="{FF2B5EF4-FFF2-40B4-BE49-F238E27FC236}">
                <a16:creationId xmlns:a16="http://schemas.microsoft.com/office/drawing/2014/main" id="{E779400C-CDD1-D476-E273-F44F4F2B0512}"/>
              </a:ext>
            </a:extLst>
          </p:cNvPr>
          <p:cNvPicPr>
            <a:picLocks noChangeAspect="1"/>
          </p:cNvPicPr>
          <p:nvPr/>
        </p:nvPicPr>
        <p:blipFill>
          <a:blip r:embed="rId3">
            <a:extLst>
              <a:ext uri="{28A0092B-C50C-407E-A947-70E740481C1C}">
                <a14:useLocalDpi xmlns:a14="http://schemas.microsoft.com/office/drawing/2010/main" val="0"/>
              </a:ext>
            </a:extLst>
          </a:blip>
          <a:srcRect l="9024" t="20898" r="8988" b="20786"/>
          <a:stretch/>
        </p:blipFill>
        <p:spPr>
          <a:xfrm>
            <a:off x="6600825" y="2564622"/>
            <a:ext cx="4431600" cy="3152041"/>
          </a:xfrm>
          <a:prstGeom prst="rect">
            <a:avLst/>
          </a:prstGeom>
        </p:spPr>
      </p:pic>
    </p:spTree>
    <p:extLst>
      <p:ext uri="{BB962C8B-B14F-4D97-AF65-F5344CB8AC3E}">
        <p14:creationId xmlns:p14="http://schemas.microsoft.com/office/powerpoint/2010/main" val="6013598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52FD0E03-C5CC-D981-C63F-6270B2B8E5D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E11E007-C1B3-9874-F3F8-95B1C77C7202}"/>
              </a:ext>
            </a:extLst>
          </p:cNvPr>
          <p:cNvSpPr txBox="1">
            <a:spLocks noGrp="1"/>
          </p:cNvSpPr>
          <p:nvPr>
            <p:ph type="title"/>
          </p:nvPr>
        </p:nvSpPr>
        <p:spPr/>
        <p:txBody>
          <a:bodyPr/>
          <a:lstStyle/>
          <a:p>
            <a:pPr lvl="0"/>
            <a:r>
              <a:rPr lang="fr-FR" noProof="0" dirty="0"/>
              <a:t>POINT DE VENTE</a:t>
            </a:r>
          </a:p>
        </p:txBody>
      </p:sp>
      <p:sp>
        <p:nvSpPr>
          <p:cNvPr id="12" name="Espace réservé du numéro de diapositive 11">
            <a:extLst>
              <a:ext uri="{FF2B5EF4-FFF2-40B4-BE49-F238E27FC236}">
                <a16:creationId xmlns:a16="http://schemas.microsoft.com/office/drawing/2014/main" id="{712BFDFD-8925-ED8E-AD60-E7848BAAE3E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BB7AEC0-F7D6-DB32-539D-1EE72E66F6B0}"/>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E37FC508-305B-38E8-E456-B01253F495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9356005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7E7B067D-FDAA-BC65-FC16-5FD6ECAD7DB0}"/>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BD1A5924-7F21-4154-FAC5-732EEF8C64F8}"/>
              </a:ext>
            </a:extLst>
          </p:cNvPr>
          <p:cNvSpPr txBox="1">
            <a:spLocks noGrp="1"/>
          </p:cNvSpPr>
          <p:nvPr>
            <p:ph type="title"/>
          </p:nvPr>
        </p:nvSpPr>
        <p:spPr/>
        <p:txBody>
          <a:bodyPr/>
          <a:lstStyle/>
          <a:p>
            <a:pPr lvl="0"/>
            <a:r>
              <a:rPr lang="fr-FR" noProof="0" dirty="0"/>
              <a:t>POINT DE VENTE - Restaurant</a:t>
            </a:r>
          </a:p>
        </p:txBody>
      </p:sp>
      <p:sp>
        <p:nvSpPr>
          <p:cNvPr id="12" name="Espace réservé du numéro de diapositive 11">
            <a:extLst>
              <a:ext uri="{FF2B5EF4-FFF2-40B4-BE49-F238E27FC236}">
                <a16:creationId xmlns:a16="http://schemas.microsoft.com/office/drawing/2014/main" id="{4F91A387-07E6-A168-8278-BB349E00D87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92A1982E-A0ED-291C-F70C-DB068F527ACA}"/>
              </a:ext>
            </a:extLst>
          </p:cNvPr>
          <p:cNvSpPr>
            <a:spLocks noGrp="1"/>
          </p:cNvSpPr>
          <p:nvPr>
            <p:ph sz="half" idx="4294967295"/>
          </p:nvPr>
        </p:nvSpPr>
        <p:spPr>
          <a:xfrm>
            <a:off x="263525" y="2097088"/>
            <a:ext cx="6928845" cy="4630738"/>
          </a:xfrm>
        </p:spPr>
        <p:txBody>
          <a:bodyPr>
            <a:normAutofit/>
          </a:bodyPr>
          <a:lstStyle/>
          <a:p>
            <a:pPr lvl="0"/>
            <a:r>
              <a:rPr lang="fr-FR" b="1" noProof="0" dirty="0"/>
              <a:t>UTILISATION STANDARD</a:t>
            </a:r>
          </a:p>
          <a:p>
            <a:pPr lvl="1"/>
            <a:r>
              <a:rPr lang="fr-FR" sz="2000" noProof="0" dirty="0"/>
              <a:t>Créez votre plan de salle</a:t>
            </a:r>
          </a:p>
          <a:p>
            <a:pPr lvl="1"/>
            <a:r>
              <a:rPr lang="fr-FR" sz="2000" noProof="0" dirty="0"/>
              <a:t>Commandez par table, ajoutez des commandes rapidement avec des notes personnalisées</a:t>
            </a:r>
          </a:p>
          <a:p>
            <a:pPr lvl="1"/>
            <a:r>
              <a:rPr lang="fr-FR" sz="2000" noProof="0" dirty="0"/>
              <a:t>Changez de table / réservez des tables</a:t>
            </a:r>
          </a:p>
          <a:p>
            <a:pPr lvl="1"/>
            <a:r>
              <a:rPr lang="fr-FR" sz="2000" noProof="0" dirty="0"/>
              <a:t>Ajoutez des imprimantes ou des écrans à différents endroits (bar, cuisine, écran de livraison)</a:t>
            </a:r>
          </a:p>
          <a:p>
            <a:pPr lvl="1"/>
            <a:r>
              <a:rPr lang="fr-FR" sz="2000" noProof="0" dirty="0"/>
              <a:t>Générez les menus QR code / Gérez les commandes à table</a:t>
            </a:r>
          </a:p>
          <a:p>
            <a:pPr lvl="1"/>
            <a:r>
              <a:rPr lang="fr-FR" sz="2000" noProof="0" dirty="0"/>
              <a:t>Divisez l'addition de manière égale ou au choix. Optez pour des factures électroniques ou imprimées</a:t>
            </a:r>
          </a:p>
          <a:p>
            <a:pPr lvl="1"/>
            <a:r>
              <a:rPr lang="fr-FR" sz="2000" noProof="0" dirty="0"/>
              <a:t>Identifiez le serveur</a:t>
            </a:r>
            <a:endParaRPr lang="fr-FR" sz="3200" noProof="0" dirty="0"/>
          </a:p>
        </p:txBody>
      </p:sp>
      <p:pic>
        <p:nvPicPr>
          <p:cNvPr id="3" name="Image 2" descr="Une image contenant capture d’écran, logiciel, affichage, texte&#10;&#10;Le contenu généré par l’IA peut être incorrect.">
            <a:extLst>
              <a:ext uri="{FF2B5EF4-FFF2-40B4-BE49-F238E27FC236}">
                <a16:creationId xmlns:a16="http://schemas.microsoft.com/office/drawing/2014/main" id="{478DB919-207E-1460-2B0A-70760775E5D4}"/>
              </a:ext>
            </a:extLst>
          </p:cNvPr>
          <p:cNvPicPr>
            <a:picLocks noChangeAspect="1"/>
          </p:cNvPicPr>
          <p:nvPr/>
        </p:nvPicPr>
        <p:blipFill>
          <a:blip r:embed="rId3">
            <a:extLst>
              <a:ext uri="{28A0092B-C50C-407E-A947-70E740481C1C}">
                <a14:useLocalDpi xmlns:a14="http://schemas.microsoft.com/office/drawing/2010/main" val="0"/>
              </a:ext>
            </a:extLst>
          </a:blip>
          <a:srcRect l="8995" t="20905" r="9016" b="20761"/>
          <a:stretch/>
        </p:blipFill>
        <p:spPr>
          <a:xfrm>
            <a:off x="7297827" y="2564130"/>
            <a:ext cx="4431600" cy="3153026"/>
          </a:xfrm>
          <a:prstGeom prst="rect">
            <a:avLst/>
          </a:prstGeom>
        </p:spPr>
      </p:pic>
    </p:spTree>
    <p:extLst>
      <p:ext uri="{BB962C8B-B14F-4D97-AF65-F5344CB8AC3E}">
        <p14:creationId xmlns:p14="http://schemas.microsoft.com/office/powerpoint/2010/main" val="2476585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CA0F5CCF-DD86-F53F-9500-27ACE5B20A38}"/>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954EE3BF-B542-D20A-54D7-43435E0BEDFB}"/>
              </a:ext>
            </a:extLst>
          </p:cNvPr>
          <p:cNvSpPr txBox="1">
            <a:spLocks noGrp="1"/>
          </p:cNvSpPr>
          <p:nvPr>
            <p:ph type="title"/>
          </p:nvPr>
        </p:nvSpPr>
        <p:spPr/>
        <p:txBody>
          <a:bodyPr/>
          <a:lstStyle/>
          <a:p>
            <a:pPr lvl="0"/>
            <a:r>
              <a:rPr lang="fr-FR" noProof="0" dirty="0"/>
              <a:t>POINT DE VENTE - Restaurant</a:t>
            </a:r>
          </a:p>
        </p:txBody>
      </p:sp>
      <p:sp>
        <p:nvSpPr>
          <p:cNvPr id="12" name="Espace réservé du numéro de diapositive 11">
            <a:extLst>
              <a:ext uri="{FF2B5EF4-FFF2-40B4-BE49-F238E27FC236}">
                <a16:creationId xmlns:a16="http://schemas.microsoft.com/office/drawing/2014/main" id="{1196BFA1-BE56-A30E-48AD-0A7DCB0F977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22876C3D-47AB-4FC5-0EFD-0FC837452B61}"/>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48666465-3D97-24AC-7210-55C492CADE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9913807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STOCK</a:t>
            </a:r>
          </a:p>
        </p:txBody>
      </p:sp>
      <p:sp>
        <p:nvSpPr>
          <p:cNvPr id="12" name="Espace réservé du numéro de diapositive 11">
            <a:extLst>
              <a:ext uri="{FF2B5EF4-FFF2-40B4-BE49-F238E27FC236}">
                <a16:creationId xmlns:a16="http://schemas.microsoft.com/office/drawing/2014/main" id="{8C9F765B-9FAB-C38B-BC40-72C27D23FFD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7FB6B940-909F-99EF-704E-2B62C2E8A0F6}"/>
              </a:ext>
            </a:extLst>
          </p:cNvPr>
          <p:cNvSpPr>
            <a:spLocks noGrp="1"/>
          </p:cNvSpPr>
          <p:nvPr>
            <p:ph sz="half" idx="4294967295"/>
          </p:nvPr>
        </p:nvSpPr>
        <p:spPr>
          <a:xfrm>
            <a:off x="263525" y="1912559"/>
            <a:ext cx="6337300" cy="4760912"/>
          </a:xfrm>
        </p:spPr>
        <p:txBody>
          <a:bodyPr>
            <a:normAutofit fontScale="92500" lnSpcReduction="20000"/>
          </a:bodyPr>
          <a:lstStyle/>
          <a:p>
            <a:pPr lvl="0"/>
            <a:r>
              <a:rPr lang="fr-FR" sz="3000" b="1" noProof="0" dirty="0"/>
              <a:t>UTILISATION STANDARD</a:t>
            </a:r>
          </a:p>
          <a:p>
            <a:pPr lvl="1"/>
            <a:r>
              <a:rPr lang="fr-FR" sz="2200" noProof="0" dirty="0"/>
              <a:t>Organisez vos entrepôts, emplacements, étagères, boîtes…</a:t>
            </a:r>
          </a:p>
          <a:p>
            <a:pPr lvl="1"/>
            <a:r>
              <a:rPr lang="fr-FR" sz="2200" noProof="0" dirty="0"/>
              <a:t>Automatisez certains mouvements à partir d’une demande</a:t>
            </a:r>
          </a:p>
          <a:p>
            <a:pPr lvl="1"/>
            <a:r>
              <a:rPr lang="fr-FR" sz="2200" noProof="0" dirty="0"/>
              <a:t>Gérez vos commandes en attente et suivez la demande d'origine</a:t>
            </a:r>
          </a:p>
          <a:p>
            <a:pPr lvl="1"/>
            <a:r>
              <a:rPr lang="fr-FR" sz="2200" noProof="0" dirty="0"/>
              <a:t>Bénéficiez d’une option de réservation flexible</a:t>
            </a:r>
          </a:p>
          <a:p>
            <a:pPr lvl="1"/>
            <a:r>
              <a:rPr lang="fr-FR" sz="2200" noProof="0" dirty="0"/>
              <a:t>Réapprovisionnez facilement en choisissant entre manuel et automatisé – le système vous guidera</a:t>
            </a:r>
          </a:p>
          <a:p>
            <a:pPr lvl="1"/>
            <a:r>
              <a:rPr lang="fr-FR" sz="2200" noProof="0" dirty="0"/>
              <a:t>Visualisez facilement ce qu'il faut faire avec le tableau de bord global</a:t>
            </a:r>
          </a:p>
          <a:p>
            <a:pPr lvl="1"/>
            <a:r>
              <a:rPr lang="fr-FR" sz="2200" noProof="0" dirty="0"/>
              <a:t>Effectuez votre inventaire (complet, partiel, une fois par an, périodique, par emplacement, etc.)</a:t>
            </a:r>
          </a:p>
          <a:p>
            <a:pPr lvl="1"/>
            <a:r>
              <a:rPr lang="fr-FR" sz="2200" noProof="0" dirty="0"/>
              <a:t>Gérez les rebuts</a:t>
            </a:r>
          </a:p>
          <a:p>
            <a:pPr lvl="1"/>
            <a:r>
              <a:rPr lang="fr-FR" sz="2200" noProof="0" dirty="0"/>
              <a:t>Analysez votre valorisation, stock, mouvements</a:t>
            </a:r>
            <a:endParaRPr lang="fr-FR" sz="3000" noProof="0" dirty="0"/>
          </a:p>
        </p:txBody>
      </p:sp>
      <p:pic>
        <p:nvPicPr>
          <p:cNvPr id="3" name="Image 2" descr="Une image contenant texte, capture d’écran, affichage, logiciel&#10;&#10;Le contenu généré par l’IA peut être incorrect.">
            <a:extLst>
              <a:ext uri="{FF2B5EF4-FFF2-40B4-BE49-F238E27FC236}">
                <a16:creationId xmlns:a16="http://schemas.microsoft.com/office/drawing/2014/main" id="{AD73A596-D8EB-3F06-4C89-D41735625D98}"/>
              </a:ext>
            </a:extLst>
          </p:cNvPr>
          <p:cNvPicPr>
            <a:picLocks noChangeAspect="1"/>
          </p:cNvPicPr>
          <p:nvPr/>
        </p:nvPicPr>
        <p:blipFill>
          <a:blip r:embed="rId3">
            <a:extLst>
              <a:ext uri="{28A0092B-C50C-407E-A947-70E740481C1C}">
                <a14:useLocalDpi xmlns:a14="http://schemas.microsoft.com/office/drawing/2010/main" val="0"/>
              </a:ext>
            </a:extLst>
          </a:blip>
          <a:srcRect l="8922" t="20889" r="9090" b="20777"/>
          <a:stretch/>
        </p:blipFill>
        <p:spPr>
          <a:xfrm>
            <a:off x="6600825" y="2564130"/>
            <a:ext cx="4431600" cy="3153026"/>
          </a:xfrm>
          <a:prstGeom prst="rect">
            <a:avLst/>
          </a:prstGeom>
        </p:spPr>
      </p:pic>
    </p:spTree>
    <p:extLst>
      <p:ext uri="{BB962C8B-B14F-4D97-AF65-F5344CB8AC3E}">
        <p14:creationId xmlns:p14="http://schemas.microsoft.com/office/powerpoint/2010/main" val="2849697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3F301DD0-B308-7417-3E09-798C6B4FDE91}"/>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7458104-D07B-779E-275B-EAFE8965D439}"/>
              </a:ext>
            </a:extLst>
          </p:cNvPr>
          <p:cNvSpPr txBox="1">
            <a:spLocks noGrp="1"/>
          </p:cNvSpPr>
          <p:nvPr>
            <p:ph type="title"/>
          </p:nvPr>
        </p:nvSpPr>
        <p:spPr/>
        <p:txBody>
          <a:bodyPr/>
          <a:lstStyle/>
          <a:p>
            <a:pPr lvl="0"/>
            <a:r>
              <a:rPr lang="fr-FR" noProof="0" dirty="0"/>
              <a:t>STOCK</a:t>
            </a:r>
          </a:p>
        </p:txBody>
      </p:sp>
      <p:sp>
        <p:nvSpPr>
          <p:cNvPr id="12" name="Espace réservé du numéro de diapositive 11">
            <a:extLst>
              <a:ext uri="{FF2B5EF4-FFF2-40B4-BE49-F238E27FC236}">
                <a16:creationId xmlns:a16="http://schemas.microsoft.com/office/drawing/2014/main" id="{DE672609-EB6F-CF8B-1E4A-32D05E0BDF3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F48A016-E3BD-C3E2-6CDD-6000C8014122}"/>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032D18A6-2D1A-ED92-920E-9DE8AF2A78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856977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CODE BARRE</a:t>
            </a:r>
          </a:p>
        </p:txBody>
      </p:sp>
      <p:sp>
        <p:nvSpPr>
          <p:cNvPr id="12" name="Espace réservé du numéro de diapositive 11">
            <a:extLst>
              <a:ext uri="{FF2B5EF4-FFF2-40B4-BE49-F238E27FC236}">
                <a16:creationId xmlns:a16="http://schemas.microsoft.com/office/drawing/2014/main" id="{769E9E10-3C61-9D41-F10D-84505E4D130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C29A599-D577-4192-A80F-E86BBFA59C88}"/>
              </a:ext>
            </a:extLst>
          </p:cNvPr>
          <p:cNvSpPr>
            <a:spLocks noGrp="1"/>
          </p:cNvSpPr>
          <p:nvPr>
            <p:ph sz="half" idx="4294967295"/>
          </p:nvPr>
        </p:nvSpPr>
        <p:spPr>
          <a:xfrm>
            <a:off x="263525" y="2097088"/>
            <a:ext cx="6600825" cy="4630738"/>
          </a:xfrm>
        </p:spPr>
        <p:txBody>
          <a:bodyPr/>
          <a:lstStyle/>
          <a:p>
            <a:pPr lvl="0"/>
            <a:r>
              <a:rPr lang="fr-FR" b="1" noProof="0" dirty="0"/>
              <a:t>UTILISATION STANDARD</a:t>
            </a:r>
          </a:p>
          <a:p>
            <a:pPr lvl="0"/>
            <a:r>
              <a:rPr lang="fr-FR" sz="2000" noProof="0" dirty="0">
                <a:latin typeface="+mj-lt"/>
              </a:rPr>
              <a:t>Scannez pour identifier :</a:t>
            </a:r>
          </a:p>
          <a:p>
            <a:pPr lvl="1">
              <a:buFont typeface="Wingdings" panose="05000000000000000000" pitchFamily="2" charset="2"/>
              <a:buChar char="ü"/>
            </a:pPr>
            <a:r>
              <a:rPr lang="fr-FR" sz="2000" noProof="0" dirty="0">
                <a:latin typeface="+mj-lt"/>
              </a:rPr>
              <a:t>Les produits</a:t>
            </a:r>
          </a:p>
          <a:p>
            <a:pPr lvl="1">
              <a:buFont typeface="Wingdings" panose="05000000000000000000" pitchFamily="2" charset="2"/>
              <a:buChar char="ü"/>
            </a:pPr>
            <a:r>
              <a:rPr lang="fr-FR" sz="2000" noProof="0" dirty="0">
                <a:latin typeface="+mj-lt"/>
              </a:rPr>
              <a:t>Les colis et des boîtes</a:t>
            </a:r>
          </a:p>
          <a:p>
            <a:pPr lvl="1">
              <a:buFont typeface="Wingdings" panose="05000000000000000000" pitchFamily="2" charset="2"/>
              <a:buChar char="ü"/>
            </a:pPr>
            <a:r>
              <a:rPr lang="fr-FR" sz="2000" noProof="0" dirty="0">
                <a:latin typeface="+mj-lt"/>
              </a:rPr>
              <a:t>Les emplacements</a:t>
            </a:r>
          </a:p>
          <a:p>
            <a:pPr lvl="1">
              <a:buFont typeface="Wingdings" panose="05000000000000000000" pitchFamily="2" charset="2"/>
              <a:buChar char="ü"/>
            </a:pPr>
            <a:r>
              <a:rPr lang="fr-FR" sz="2000" noProof="0" dirty="0">
                <a:latin typeface="+mj-lt"/>
              </a:rPr>
              <a:t>Les opérations</a:t>
            </a:r>
          </a:p>
          <a:p>
            <a:pPr lvl="1">
              <a:buFont typeface="Wingdings" panose="05000000000000000000" pitchFamily="2" charset="2"/>
              <a:buChar char="ü"/>
            </a:pPr>
            <a:r>
              <a:rPr lang="fr-FR" sz="2000" noProof="0" dirty="0">
                <a:latin typeface="+mj-lt"/>
              </a:rPr>
              <a:t>Etc...</a:t>
            </a:r>
          </a:p>
          <a:p>
            <a:r>
              <a:rPr lang="fr-FR" sz="2000" noProof="0" dirty="0">
                <a:latin typeface="+mj-lt"/>
              </a:rPr>
              <a:t>Utilisez l'UAN ou un QR code</a:t>
            </a:r>
          </a:p>
          <a:p>
            <a:r>
              <a:rPr lang="fr-FR" sz="2000" noProof="0" dirty="0">
                <a:latin typeface="+mj-lt"/>
              </a:rPr>
              <a:t>Utilisez des QR codes complexes pour identifier        le contenu d'un colis</a:t>
            </a:r>
          </a:p>
          <a:p>
            <a:r>
              <a:rPr lang="fr-FR" sz="2000" noProof="0" dirty="0">
                <a:latin typeface="+mj-lt"/>
              </a:rPr>
              <a:t>Imprimez des codes-barres sur chaque document lié à l'inventaire</a:t>
            </a:r>
          </a:p>
        </p:txBody>
      </p:sp>
      <p:pic>
        <p:nvPicPr>
          <p:cNvPr id="3" name="Image 2" descr="Une image contenant texte, ordinateur, capture d’écran, affichage&#10;&#10;Le contenu généré par l’IA peut être incorrect.">
            <a:extLst>
              <a:ext uri="{FF2B5EF4-FFF2-40B4-BE49-F238E27FC236}">
                <a16:creationId xmlns:a16="http://schemas.microsoft.com/office/drawing/2014/main" id="{3695860D-649B-D18B-A388-BFE516E8EC6F}"/>
              </a:ext>
            </a:extLst>
          </p:cNvPr>
          <p:cNvPicPr>
            <a:picLocks noChangeAspect="1"/>
          </p:cNvPicPr>
          <p:nvPr/>
        </p:nvPicPr>
        <p:blipFill>
          <a:blip r:embed="rId3">
            <a:extLst>
              <a:ext uri="{28A0092B-C50C-407E-A947-70E740481C1C}">
                <a14:useLocalDpi xmlns:a14="http://schemas.microsoft.com/office/drawing/2010/main" val="0"/>
              </a:ext>
            </a:extLst>
          </a:blip>
          <a:srcRect l="9001" t="20837" r="9011" b="20829"/>
          <a:stretch/>
        </p:blipFill>
        <p:spPr>
          <a:xfrm>
            <a:off x="6600825" y="2564129"/>
            <a:ext cx="4431600" cy="3153027"/>
          </a:xfrm>
          <a:prstGeom prst="rect">
            <a:avLst/>
          </a:prstGeom>
        </p:spPr>
      </p:pic>
    </p:spTree>
    <p:extLst>
      <p:ext uri="{BB962C8B-B14F-4D97-AF65-F5344CB8AC3E}">
        <p14:creationId xmlns:p14="http://schemas.microsoft.com/office/powerpoint/2010/main" val="1909095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FD270FD7-2776-D06D-209A-E3F09F61B873}"/>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FA186756-55AB-7CBC-A788-ED34B790FE74}"/>
              </a:ext>
            </a:extLst>
          </p:cNvPr>
          <p:cNvSpPr txBox="1">
            <a:spLocks noGrp="1"/>
          </p:cNvSpPr>
          <p:nvPr>
            <p:ph type="title"/>
          </p:nvPr>
        </p:nvSpPr>
        <p:spPr/>
        <p:txBody>
          <a:bodyPr/>
          <a:lstStyle/>
          <a:p>
            <a:pPr lvl="0"/>
            <a:r>
              <a:rPr lang="fr-FR" noProof="0" dirty="0"/>
              <a:t>CODE BARRE</a:t>
            </a:r>
          </a:p>
        </p:txBody>
      </p:sp>
      <p:sp>
        <p:nvSpPr>
          <p:cNvPr id="12" name="Espace réservé du numéro de diapositive 11">
            <a:extLst>
              <a:ext uri="{FF2B5EF4-FFF2-40B4-BE49-F238E27FC236}">
                <a16:creationId xmlns:a16="http://schemas.microsoft.com/office/drawing/2014/main" id="{A4A6643F-4521-8B3B-E92A-F0062A6700E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2901E1E-E7A1-EBC1-60DC-E2920309FDD1}"/>
              </a:ext>
            </a:extLst>
          </p:cNvPr>
          <p:cNvSpPr>
            <a:spLocks noGrp="1"/>
          </p:cNvSpPr>
          <p:nvPr>
            <p:ph idx="4294967295"/>
          </p:nvPr>
        </p:nvSpPr>
        <p:spPr>
          <a:xfrm>
            <a:off x="838200" y="2097088"/>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29C436B-1F34-3965-8065-BFDD3ED657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9212" y="2514600"/>
            <a:ext cx="879812" cy="914400"/>
          </a:xfrm>
          <a:prstGeom prst="rect">
            <a:avLst/>
          </a:prstGeom>
        </p:spPr>
      </p:pic>
    </p:spTree>
    <p:extLst>
      <p:ext uri="{BB962C8B-B14F-4D97-AF65-F5344CB8AC3E}">
        <p14:creationId xmlns:p14="http://schemas.microsoft.com/office/powerpoint/2010/main" val="3858584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ACHATS</a:t>
            </a:r>
          </a:p>
        </p:txBody>
      </p:sp>
      <p:sp>
        <p:nvSpPr>
          <p:cNvPr id="12" name="Espace réservé du numéro de diapositive 11">
            <a:extLst>
              <a:ext uri="{FF2B5EF4-FFF2-40B4-BE49-F238E27FC236}">
                <a16:creationId xmlns:a16="http://schemas.microsoft.com/office/drawing/2014/main" id="{F9F40015-E25F-5896-94AF-3D81612CF15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EF3CD41-071E-A002-BF37-CA1D4F75DF3E}"/>
              </a:ext>
            </a:extLst>
          </p:cNvPr>
          <p:cNvSpPr>
            <a:spLocks noGrp="1"/>
          </p:cNvSpPr>
          <p:nvPr>
            <p:ph sz="half" idx="4294967295"/>
          </p:nvPr>
        </p:nvSpPr>
        <p:spPr>
          <a:xfrm>
            <a:off x="242258" y="2097088"/>
            <a:ext cx="6679942" cy="4630738"/>
          </a:xfrm>
        </p:spPr>
        <p:txBody>
          <a:bodyPr>
            <a:normAutofit lnSpcReduction="10000"/>
          </a:bodyPr>
          <a:lstStyle/>
          <a:p>
            <a:pPr lvl="0"/>
            <a:r>
              <a:rPr lang="fr-FR" b="1" noProof="0" dirty="0"/>
              <a:t>UTILISATION STANDARD</a:t>
            </a:r>
          </a:p>
          <a:p>
            <a:pPr lvl="1"/>
            <a:r>
              <a:rPr lang="fr-FR" sz="2000" noProof="0" dirty="0"/>
              <a:t>Créez des RFQ et convertissez-les en bons de commande</a:t>
            </a:r>
          </a:p>
          <a:p>
            <a:pPr lvl="1"/>
            <a:r>
              <a:rPr lang="fr-FR" sz="2000" noProof="0" dirty="0"/>
              <a:t>Accédez facilement à l'historique de vos achats sur un produit pour comparer</a:t>
            </a:r>
          </a:p>
          <a:p>
            <a:pPr lvl="1"/>
            <a:r>
              <a:rPr lang="fr-FR" sz="2000" noProof="0" dirty="0"/>
              <a:t>Définissez des accords avec vos fournisseurs, comparez les RFQ pour sélectionner le meilleur</a:t>
            </a:r>
          </a:p>
          <a:p>
            <a:pPr lvl="1"/>
            <a:r>
              <a:rPr lang="fr-FR" sz="2000" noProof="0" dirty="0"/>
              <a:t>Identifiez des noms spécifiques, références et prix par fournisseur pour une communication claire</a:t>
            </a:r>
          </a:p>
          <a:p>
            <a:pPr lvl="1"/>
            <a:r>
              <a:rPr lang="fr-FR" sz="2000" noProof="0" dirty="0"/>
              <a:t>Approuvez-en 3 étapes pour garantir le paiement juste</a:t>
            </a:r>
          </a:p>
          <a:p>
            <a:pPr lvl="1"/>
            <a:r>
              <a:rPr lang="fr-FR" sz="2000" noProof="0" dirty="0"/>
              <a:t>Validez selon une limite de prix par les managers</a:t>
            </a:r>
          </a:p>
          <a:p>
            <a:pPr lvl="1"/>
            <a:r>
              <a:rPr lang="fr-FR" sz="2000" noProof="0" dirty="0"/>
              <a:t>Ajoutez des produits au RFQ de différentes manières : via un catalogue, par référence, avec un assistant ou une saisie en grille</a:t>
            </a:r>
            <a:endParaRPr lang="fr-FR" sz="2800" noProof="0" dirty="0"/>
          </a:p>
        </p:txBody>
      </p:sp>
      <p:pic>
        <p:nvPicPr>
          <p:cNvPr id="3" name="Image 2" descr="Une image contenant texte, Appareils électroniques, capture d’écran, logiciel&#10;&#10;Le contenu généré par l’IA peut être incorrect.">
            <a:extLst>
              <a:ext uri="{FF2B5EF4-FFF2-40B4-BE49-F238E27FC236}">
                <a16:creationId xmlns:a16="http://schemas.microsoft.com/office/drawing/2014/main" id="{A4482DFB-7057-14C9-221C-4D3FB81FF626}"/>
              </a:ext>
            </a:extLst>
          </p:cNvPr>
          <p:cNvPicPr>
            <a:picLocks noChangeAspect="1"/>
          </p:cNvPicPr>
          <p:nvPr/>
        </p:nvPicPr>
        <p:blipFill>
          <a:blip r:embed="rId3">
            <a:extLst>
              <a:ext uri="{28A0092B-C50C-407E-A947-70E740481C1C}">
                <a14:useLocalDpi xmlns:a14="http://schemas.microsoft.com/office/drawing/2010/main" val="0"/>
              </a:ext>
            </a:extLst>
          </a:blip>
          <a:srcRect l="9005" t="20796" r="9025" b="20870"/>
          <a:stretch/>
        </p:blipFill>
        <p:spPr>
          <a:xfrm>
            <a:off x="7164458" y="2563779"/>
            <a:ext cx="4431600" cy="3153728"/>
          </a:xfrm>
          <a:prstGeom prst="rect">
            <a:avLst/>
          </a:prstGeom>
        </p:spPr>
      </p:pic>
    </p:spTree>
    <p:extLst>
      <p:ext uri="{BB962C8B-B14F-4D97-AF65-F5344CB8AC3E}">
        <p14:creationId xmlns:p14="http://schemas.microsoft.com/office/powerpoint/2010/main" val="11617769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49270EE5-43DC-9EB9-1F3E-EAE6CFB9020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FEFBC53A-3F4F-123D-21B3-D2109A8C69BD}"/>
              </a:ext>
            </a:extLst>
          </p:cNvPr>
          <p:cNvSpPr txBox="1">
            <a:spLocks noGrp="1"/>
          </p:cNvSpPr>
          <p:nvPr>
            <p:ph type="title"/>
          </p:nvPr>
        </p:nvSpPr>
        <p:spPr/>
        <p:txBody>
          <a:bodyPr/>
          <a:lstStyle/>
          <a:p>
            <a:pPr lvl="0"/>
            <a:r>
              <a:rPr lang="fr-FR" noProof="0" dirty="0"/>
              <a:t>ACHATS</a:t>
            </a:r>
          </a:p>
        </p:txBody>
      </p:sp>
      <p:sp>
        <p:nvSpPr>
          <p:cNvPr id="12" name="Espace réservé du numéro de diapositive 11">
            <a:extLst>
              <a:ext uri="{FF2B5EF4-FFF2-40B4-BE49-F238E27FC236}">
                <a16:creationId xmlns:a16="http://schemas.microsoft.com/office/drawing/2014/main" id="{8FA67895-1BA4-BC72-CE90-2301600198C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15F6F23B-8560-09F4-A807-76AACC363683}"/>
              </a:ext>
            </a:extLst>
          </p:cNvPr>
          <p:cNvSpPr>
            <a:spLocks noGrp="1"/>
          </p:cNvSpPr>
          <p:nvPr>
            <p:ph idx="4294967295"/>
          </p:nvPr>
        </p:nvSpPr>
        <p:spPr>
          <a:xfrm>
            <a:off x="838200" y="2088592"/>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905F8E04-EFE0-F572-D2D3-2C49CAE8F0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6430676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41710D50-DBC9-D474-8CED-40B45783B48A}"/>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B161A762-B662-6C39-1D3E-FAAF7D964C9C}"/>
              </a:ext>
            </a:extLst>
          </p:cNvPr>
          <p:cNvSpPr txBox="1">
            <a:spLocks noGrp="1"/>
          </p:cNvSpPr>
          <p:nvPr>
            <p:ph type="title"/>
          </p:nvPr>
        </p:nvSpPr>
        <p:spPr/>
        <p:txBody>
          <a:bodyPr/>
          <a:lstStyle/>
          <a:p>
            <a:pPr lvl="0"/>
            <a:r>
              <a:rPr lang="fr-FR" noProof="0" dirty="0"/>
              <a:t>ESG</a:t>
            </a:r>
          </a:p>
        </p:txBody>
      </p:sp>
      <p:sp>
        <p:nvSpPr>
          <p:cNvPr id="12" name="Espace réservé du numéro de diapositive 11">
            <a:extLst>
              <a:ext uri="{FF2B5EF4-FFF2-40B4-BE49-F238E27FC236}">
                <a16:creationId xmlns:a16="http://schemas.microsoft.com/office/drawing/2014/main" id="{AA551433-FD39-5070-0257-64CD489C77E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A9840543-3484-C634-64BC-AC7629289940}"/>
              </a:ext>
            </a:extLst>
          </p:cNvPr>
          <p:cNvSpPr>
            <a:spLocks noGrp="1"/>
          </p:cNvSpPr>
          <p:nvPr>
            <p:ph sz="half" idx="4294967295"/>
          </p:nvPr>
        </p:nvSpPr>
        <p:spPr>
          <a:xfrm>
            <a:off x="242258" y="2097088"/>
            <a:ext cx="6679942" cy="4630738"/>
          </a:xfrm>
        </p:spPr>
        <p:txBody>
          <a:bodyPr>
            <a:normAutofit fontScale="85000" lnSpcReduction="10000"/>
          </a:bodyPr>
          <a:lstStyle/>
          <a:p>
            <a:pPr lvl="0"/>
            <a:r>
              <a:rPr lang="fr-FR" sz="3300" b="1" noProof="0" dirty="0"/>
              <a:t>UTILISATION STANDARD</a:t>
            </a:r>
          </a:p>
          <a:p>
            <a:pPr lvl="0"/>
            <a:endParaRPr lang="fr-FR" sz="3300" b="1" noProof="0" dirty="0"/>
          </a:p>
          <a:p>
            <a:pPr lvl="1"/>
            <a:r>
              <a:rPr lang="fr-FR" dirty="0"/>
              <a:t>Relevez </a:t>
            </a:r>
            <a:r>
              <a:rPr lang="fr-FR" noProof="0" dirty="0"/>
              <a:t>vos émissions CO₂ en vous basant sur les écritures comptables et les factures, utilisant les facteurs d'émission de l'ADEME.</a:t>
            </a:r>
          </a:p>
          <a:p>
            <a:pPr lvl="1"/>
            <a:r>
              <a:rPr lang="fr-FR" noProof="0" dirty="0"/>
              <a:t>Assurez le suivi de la parité hommes-femmes, de la diversité et des écarts de rémunération via l'intégration des modules Employés et Paie.</a:t>
            </a:r>
          </a:p>
          <a:p>
            <a:pPr lvl="1"/>
            <a:r>
              <a:rPr lang="fr-FR" noProof="0" dirty="0"/>
              <a:t>Améliorer la gouvernance et le pilotage des actions de décarbonisation en créant des initiatives RSE</a:t>
            </a:r>
          </a:p>
          <a:p>
            <a:pPr lvl="1"/>
            <a:r>
              <a:rPr lang="fr-FR" dirty="0"/>
              <a:t>Gérez le R</a:t>
            </a:r>
            <a:r>
              <a:rPr lang="fr-FR" noProof="0" dirty="0" err="1"/>
              <a:t>eporting</a:t>
            </a:r>
            <a:r>
              <a:rPr lang="fr-FR" noProof="0" dirty="0"/>
              <a:t> et la Conformité en générant des rapports CSRD, exportables en PDF ou Excel.</a:t>
            </a:r>
          </a:p>
          <a:p>
            <a:pPr lvl="1"/>
            <a:r>
              <a:rPr lang="fr-FR" dirty="0"/>
              <a:t>Automatisez la collecte de données en l</a:t>
            </a:r>
            <a:r>
              <a:rPr lang="fr-FR" noProof="0" dirty="0" err="1"/>
              <a:t>ien</a:t>
            </a:r>
            <a:r>
              <a:rPr lang="fr-FR" noProof="0" dirty="0"/>
              <a:t> direct avec le parc automobile et les achats</a:t>
            </a:r>
          </a:p>
        </p:txBody>
      </p:sp>
      <p:pic>
        <p:nvPicPr>
          <p:cNvPr id="2" name="Image 1">
            <a:extLst>
              <a:ext uri="{FF2B5EF4-FFF2-40B4-BE49-F238E27FC236}">
                <a16:creationId xmlns:a16="http://schemas.microsoft.com/office/drawing/2014/main" id="{41775F31-C3BB-7977-4E08-D423CCCCB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4094" y="2514600"/>
            <a:ext cx="4409375" cy="2875280"/>
          </a:xfrm>
          <a:prstGeom prst="rect">
            <a:avLst/>
          </a:prstGeom>
        </p:spPr>
      </p:pic>
    </p:spTree>
    <p:extLst>
      <p:ext uri="{BB962C8B-B14F-4D97-AF65-F5344CB8AC3E}">
        <p14:creationId xmlns:p14="http://schemas.microsoft.com/office/powerpoint/2010/main" val="699159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9E8C142-87FD-639B-CB8C-76AD922430EF}"/>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11481D59-DE65-8CF4-113F-A92B3ACEE88E}"/>
              </a:ext>
            </a:extLst>
          </p:cNvPr>
          <p:cNvSpPr txBox="1">
            <a:spLocks noGrp="1"/>
          </p:cNvSpPr>
          <p:nvPr>
            <p:ph type="title"/>
          </p:nvPr>
        </p:nvSpPr>
        <p:spPr/>
        <p:txBody>
          <a:bodyPr/>
          <a:lstStyle/>
          <a:p>
            <a:pPr lvl="0"/>
            <a:r>
              <a:rPr lang="fr-FR" noProof="0" dirty="0"/>
              <a:t>ESG</a:t>
            </a:r>
          </a:p>
        </p:txBody>
      </p:sp>
      <p:sp>
        <p:nvSpPr>
          <p:cNvPr id="12" name="Espace réservé du numéro de diapositive 11">
            <a:extLst>
              <a:ext uri="{FF2B5EF4-FFF2-40B4-BE49-F238E27FC236}">
                <a16:creationId xmlns:a16="http://schemas.microsoft.com/office/drawing/2014/main" id="{B1415A60-100A-89FD-2928-CF459FE9F72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1B1593A-1AEC-7596-4D65-82A60D87DF54}"/>
              </a:ext>
            </a:extLst>
          </p:cNvPr>
          <p:cNvSpPr>
            <a:spLocks noGrp="1"/>
          </p:cNvSpPr>
          <p:nvPr>
            <p:ph idx="4294967295"/>
          </p:nvPr>
        </p:nvSpPr>
        <p:spPr>
          <a:xfrm>
            <a:off x="838200" y="2088592"/>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726734CA-6F9F-4555-2451-5AEACDFDE0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3123727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FABRICATION</a:t>
            </a:r>
          </a:p>
        </p:txBody>
      </p:sp>
      <p:sp>
        <p:nvSpPr>
          <p:cNvPr id="12" name="Espace réservé du numéro de diapositive 11">
            <a:extLst>
              <a:ext uri="{FF2B5EF4-FFF2-40B4-BE49-F238E27FC236}">
                <a16:creationId xmlns:a16="http://schemas.microsoft.com/office/drawing/2014/main" id="{12A6870E-F4D5-034E-0F43-D06BA1BA53E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CD0DDF47-2CE1-651C-5568-DEAF9E4F1F06}"/>
              </a:ext>
            </a:extLst>
          </p:cNvPr>
          <p:cNvSpPr>
            <a:spLocks noGrp="1"/>
          </p:cNvSpPr>
          <p:nvPr>
            <p:ph sz="half" idx="4294967295"/>
          </p:nvPr>
        </p:nvSpPr>
        <p:spPr>
          <a:xfrm>
            <a:off x="263525" y="2097088"/>
            <a:ext cx="6600825" cy="4630738"/>
          </a:xfrm>
        </p:spPr>
        <p:txBody>
          <a:bodyPr>
            <a:normAutofit/>
          </a:bodyPr>
          <a:lstStyle/>
          <a:p>
            <a:pPr lvl="0"/>
            <a:r>
              <a:rPr lang="fr-FR" b="1" noProof="0" dirty="0"/>
              <a:t>UTILISATION STANDARD</a:t>
            </a:r>
          </a:p>
          <a:p>
            <a:pPr lvl="1"/>
            <a:r>
              <a:rPr lang="fr-FR" sz="2000" noProof="0" dirty="0"/>
              <a:t>Créez vos nomenclatures (BOM), y compris les opérations et instructions</a:t>
            </a:r>
          </a:p>
          <a:p>
            <a:pPr lvl="1"/>
            <a:r>
              <a:rPr lang="fr-FR" sz="2000" noProof="0" dirty="0"/>
              <a:t>Analysez les coûts (matériaux / main-d'œuvre) d'une nomenclature</a:t>
            </a:r>
          </a:p>
          <a:p>
            <a:pPr lvl="1"/>
            <a:r>
              <a:rPr lang="fr-FR" sz="2000" noProof="0" dirty="0"/>
              <a:t>Produisez, sous-traitez ou assemblez grâce à la fabrication</a:t>
            </a:r>
          </a:p>
          <a:p>
            <a:pPr lvl="1"/>
            <a:r>
              <a:rPr lang="fr-FR" sz="2000" noProof="0" dirty="0"/>
              <a:t>Utilisez des écrans en usine pour afficher en temps réel les tâches à effectuer, les instructions et les contrôles qualité</a:t>
            </a:r>
          </a:p>
          <a:p>
            <a:pPr lvl="1"/>
            <a:r>
              <a:rPr lang="fr-FR" sz="2000" noProof="0" dirty="0"/>
              <a:t>Planifiez vos opérations</a:t>
            </a:r>
          </a:p>
          <a:p>
            <a:pPr lvl="1"/>
            <a:r>
              <a:rPr lang="fr-FR" sz="2000" noProof="0" dirty="0"/>
              <a:t>Adaptez la consommation des matériaux pour les produits de remplacement</a:t>
            </a:r>
          </a:p>
        </p:txBody>
      </p:sp>
      <p:pic>
        <p:nvPicPr>
          <p:cNvPr id="4" name="Image 3" descr="Une image contenant capture d’écran, texte, logiciel, ordinateur&#10;&#10;Le contenu généré par l’IA peut être incorrect.">
            <a:extLst>
              <a:ext uri="{FF2B5EF4-FFF2-40B4-BE49-F238E27FC236}">
                <a16:creationId xmlns:a16="http://schemas.microsoft.com/office/drawing/2014/main" id="{659A830D-D642-2E8B-D8E9-AF3D37114C25}"/>
              </a:ext>
            </a:extLst>
          </p:cNvPr>
          <p:cNvPicPr>
            <a:picLocks noChangeAspect="1"/>
          </p:cNvPicPr>
          <p:nvPr/>
        </p:nvPicPr>
        <p:blipFill>
          <a:blip r:embed="rId3">
            <a:extLst>
              <a:ext uri="{28A0092B-C50C-407E-A947-70E740481C1C}">
                <a14:useLocalDpi xmlns:a14="http://schemas.microsoft.com/office/drawing/2010/main" val="0"/>
              </a:ext>
            </a:extLst>
          </a:blip>
          <a:srcRect l="9014" t="20860" r="9071" b="20825"/>
          <a:stretch/>
        </p:blipFill>
        <p:spPr>
          <a:xfrm>
            <a:off x="6922200" y="2563569"/>
            <a:ext cx="4431600" cy="3154849"/>
          </a:xfrm>
          <a:prstGeom prst="rect">
            <a:avLst/>
          </a:prstGeom>
        </p:spPr>
      </p:pic>
    </p:spTree>
    <p:extLst>
      <p:ext uri="{BB962C8B-B14F-4D97-AF65-F5344CB8AC3E}">
        <p14:creationId xmlns:p14="http://schemas.microsoft.com/office/powerpoint/2010/main" val="24788363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03119AC0-1A0C-BB49-F6A5-9EB38F697F01}"/>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13DF1174-4268-3B77-57A5-0A526C592A2C}"/>
              </a:ext>
            </a:extLst>
          </p:cNvPr>
          <p:cNvSpPr txBox="1">
            <a:spLocks noGrp="1"/>
          </p:cNvSpPr>
          <p:nvPr>
            <p:ph type="title"/>
          </p:nvPr>
        </p:nvSpPr>
        <p:spPr/>
        <p:txBody>
          <a:bodyPr/>
          <a:lstStyle/>
          <a:p>
            <a:pPr lvl="0"/>
            <a:r>
              <a:rPr lang="fr-FR" noProof="0" dirty="0"/>
              <a:t>FABRICATION</a:t>
            </a:r>
          </a:p>
        </p:txBody>
      </p:sp>
      <p:sp>
        <p:nvSpPr>
          <p:cNvPr id="12" name="Espace réservé du numéro de diapositive 11">
            <a:extLst>
              <a:ext uri="{FF2B5EF4-FFF2-40B4-BE49-F238E27FC236}">
                <a16:creationId xmlns:a16="http://schemas.microsoft.com/office/drawing/2014/main" id="{4CAA2ECC-473E-0380-A2C7-322DF8B5EDE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6C4FFCA-E633-0F9D-00E9-45A173AF9C90}"/>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57E9E5F5-356A-84DD-AE44-0306B0CE91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334616" y="2514600"/>
            <a:ext cx="879812" cy="914400"/>
          </a:xfrm>
          <a:prstGeom prst="rect">
            <a:avLst/>
          </a:prstGeom>
        </p:spPr>
      </p:pic>
    </p:spTree>
    <p:extLst>
      <p:ext uri="{BB962C8B-B14F-4D97-AF65-F5344CB8AC3E}">
        <p14:creationId xmlns:p14="http://schemas.microsoft.com/office/powerpoint/2010/main" val="42700060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QUALITE</a:t>
            </a:r>
          </a:p>
        </p:txBody>
      </p:sp>
      <p:sp>
        <p:nvSpPr>
          <p:cNvPr id="12" name="Espace réservé du numéro de diapositive 11">
            <a:extLst>
              <a:ext uri="{FF2B5EF4-FFF2-40B4-BE49-F238E27FC236}">
                <a16:creationId xmlns:a16="http://schemas.microsoft.com/office/drawing/2014/main" id="{D23F55EA-77FC-5AE3-37BF-DDFC2B10DD5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403BB205-1493-21CA-D8EC-5AA4F60188D4}"/>
              </a:ext>
            </a:extLst>
          </p:cNvPr>
          <p:cNvSpPr>
            <a:spLocks noGrp="1"/>
          </p:cNvSpPr>
          <p:nvPr>
            <p:ph sz="half" idx="4294967295"/>
          </p:nvPr>
        </p:nvSpPr>
        <p:spPr>
          <a:xfrm>
            <a:off x="242258" y="2097088"/>
            <a:ext cx="6291618" cy="4630738"/>
          </a:xfrm>
        </p:spPr>
        <p:txBody>
          <a:bodyPr/>
          <a:lstStyle/>
          <a:p>
            <a:pPr lvl="0"/>
            <a:r>
              <a:rPr lang="fr-FR" b="1" noProof="0" dirty="0"/>
              <a:t>UTILISATION STANDARD</a:t>
            </a:r>
          </a:p>
          <a:p>
            <a:pPr lvl="1"/>
            <a:r>
              <a:rPr lang="fr-FR" sz="2000" noProof="0" dirty="0"/>
              <a:t>Intégrez des contrôles qualité dans les opérations d'inventaire</a:t>
            </a:r>
          </a:p>
          <a:p>
            <a:pPr lvl="1"/>
            <a:r>
              <a:rPr lang="fr-FR" sz="2000" noProof="0" dirty="0"/>
              <a:t>Choisissez les éléments à contrôler, définissez les instructions et rendez certains contrôles obligatoires</a:t>
            </a:r>
          </a:p>
          <a:p>
            <a:pPr lvl="1"/>
            <a:r>
              <a:rPr lang="fr-FR" sz="2000" noProof="0" dirty="0"/>
              <a:t>Intégrez les contrôles qualité dans les processus de fabrication</a:t>
            </a:r>
          </a:p>
          <a:p>
            <a:pPr lvl="1"/>
            <a:r>
              <a:rPr lang="fr-FR" sz="2000" noProof="0" dirty="0"/>
              <a:t>Générez des </a:t>
            </a:r>
            <a:r>
              <a:rPr lang="fr-FR" sz="2000" noProof="0" dirty="0" err="1"/>
              <a:t>ECOs</a:t>
            </a:r>
            <a:r>
              <a:rPr lang="fr-FR" sz="2000" noProof="0" dirty="0"/>
              <a:t> à partir des analyses qualité</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A93F726F-D935-EA5C-73E5-25FF4F2638DE}"/>
              </a:ext>
            </a:extLst>
          </p:cNvPr>
          <p:cNvPicPr>
            <a:picLocks noChangeAspect="1"/>
          </p:cNvPicPr>
          <p:nvPr/>
        </p:nvPicPr>
        <p:blipFill>
          <a:blip r:embed="rId3">
            <a:extLst>
              <a:ext uri="{28A0092B-C50C-407E-A947-70E740481C1C}">
                <a14:useLocalDpi xmlns:a14="http://schemas.microsoft.com/office/drawing/2010/main" val="0"/>
              </a:ext>
            </a:extLst>
          </a:blip>
          <a:srcRect l="9068" t="20763" r="8943" b="20902"/>
          <a:stretch/>
        </p:blipFill>
        <p:spPr>
          <a:xfrm>
            <a:off x="6600825" y="2564129"/>
            <a:ext cx="4431600" cy="3153028"/>
          </a:xfrm>
          <a:prstGeom prst="rect">
            <a:avLst/>
          </a:prstGeom>
        </p:spPr>
      </p:pic>
    </p:spTree>
    <p:extLst>
      <p:ext uri="{BB962C8B-B14F-4D97-AF65-F5344CB8AC3E}">
        <p14:creationId xmlns:p14="http://schemas.microsoft.com/office/powerpoint/2010/main" val="32274328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3DEB787-99BE-1652-C3A4-17CFBEA4DD15}"/>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DCE075D-D1F9-BEBA-EFAF-0AE1713999F1}"/>
              </a:ext>
            </a:extLst>
          </p:cNvPr>
          <p:cNvSpPr txBox="1">
            <a:spLocks noGrp="1"/>
          </p:cNvSpPr>
          <p:nvPr>
            <p:ph type="title"/>
          </p:nvPr>
        </p:nvSpPr>
        <p:spPr/>
        <p:txBody>
          <a:bodyPr/>
          <a:lstStyle/>
          <a:p>
            <a:pPr lvl="0"/>
            <a:r>
              <a:rPr lang="fr-FR" noProof="0" dirty="0"/>
              <a:t>QUALITE</a:t>
            </a:r>
          </a:p>
        </p:txBody>
      </p:sp>
      <p:sp>
        <p:nvSpPr>
          <p:cNvPr id="12" name="Espace réservé du numéro de diapositive 11">
            <a:extLst>
              <a:ext uri="{FF2B5EF4-FFF2-40B4-BE49-F238E27FC236}">
                <a16:creationId xmlns:a16="http://schemas.microsoft.com/office/drawing/2014/main" id="{09960C9F-600A-1F2D-6FA1-696F760CD98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C0DCD9D-28BC-55DB-1F3C-08EEFA3EFB59}"/>
              </a:ext>
            </a:extLst>
          </p:cNvPr>
          <p:cNvSpPr>
            <a:spLocks noGrp="1"/>
          </p:cNvSpPr>
          <p:nvPr>
            <p:ph idx="4294967295"/>
          </p:nvPr>
        </p:nvSpPr>
        <p:spPr>
          <a:xfrm>
            <a:off x="838200" y="2088592"/>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DE3ED442-DD09-10C4-5E65-D14B0528E7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3273224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PLM</a:t>
            </a:r>
          </a:p>
        </p:txBody>
      </p:sp>
      <p:sp>
        <p:nvSpPr>
          <p:cNvPr id="12" name="Espace réservé du numéro de diapositive 11">
            <a:extLst>
              <a:ext uri="{FF2B5EF4-FFF2-40B4-BE49-F238E27FC236}">
                <a16:creationId xmlns:a16="http://schemas.microsoft.com/office/drawing/2014/main" id="{0C70ACC6-10F5-416B-3FEB-9F42B5E6566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1B17FD64-4526-DB1A-38A9-E594CB5076FE}"/>
              </a:ext>
            </a:extLst>
          </p:cNvPr>
          <p:cNvSpPr>
            <a:spLocks noGrp="1"/>
          </p:cNvSpPr>
          <p:nvPr>
            <p:ph sz="half" idx="4294967295"/>
          </p:nvPr>
        </p:nvSpPr>
        <p:spPr>
          <a:xfrm>
            <a:off x="263525" y="2097088"/>
            <a:ext cx="6096000" cy="4630738"/>
          </a:xfrm>
        </p:spPr>
        <p:txBody>
          <a:bodyPr/>
          <a:lstStyle/>
          <a:p>
            <a:pPr lvl="0"/>
            <a:r>
              <a:rPr lang="fr-FR" b="1" noProof="0" dirty="0"/>
              <a:t>UTILISATION STANDARD</a:t>
            </a:r>
          </a:p>
          <a:p>
            <a:pPr lvl="1"/>
            <a:r>
              <a:rPr lang="fr-FR" sz="2000" noProof="0" dirty="0"/>
              <a:t>Suivez tous vos </a:t>
            </a:r>
            <a:r>
              <a:rPr lang="fr-FR" sz="2000" noProof="0" dirty="0" err="1"/>
              <a:t>ECOs</a:t>
            </a:r>
            <a:endParaRPr lang="fr-FR" sz="2000" noProof="0" dirty="0"/>
          </a:p>
          <a:p>
            <a:pPr lvl="1"/>
            <a:r>
              <a:rPr lang="fr-FR" sz="2000" noProof="0" dirty="0"/>
              <a:t>Modifiez les nomenclatures (BOM) et gérez leurs versions</a:t>
            </a:r>
          </a:p>
          <a:p>
            <a:pPr lvl="1"/>
            <a:r>
              <a:rPr lang="fr-FR" sz="2000" noProof="0" dirty="0"/>
              <a:t>Décidez d'écouler votre stock avant un changement de version d'une nomenclature</a:t>
            </a:r>
          </a:p>
          <a:p>
            <a:pPr lvl="1"/>
            <a:r>
              <a:rPr lang="fr-FR" sz="2000" noProof="0" dirty="0"/>
              <a:t>Gérez un workflow d'approbation pour valider vos modifications sur tous les aspects (finance, ingénierie, fabrication, achats…)</a:t>
            </a:r>
            <a:endParaRPr lang="fr-FR" noProof="0" dirty="0"/>
          </a:p>
          <a:p>
            <a:pPr lvl="1"/>
            <a:endParaRPr lang="fr-FR"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E14AFACA-A60C-87CB-012E-2BA195926498}"/>
              </a:ext>
            </a:extLst>
          </p:cNvPr>
          <p:cNvPicPr>
            <a:picLocks noChangeAspect="1"/>
          </p:cNvPicPr>
          <p:nvPr/>
        </p:nvPicPr>
        <p:blipFill>
          <a:blip r:embed="rId3">
            <a:extLst>
              <a:ext uri="{28A0092B-C50C-407E-A947-70E740481C1C}">
                <a14:useLocalDpi xmlns:a14="http://schemas.microsoft.com/office/drawing/2010/main" val="0"/>
              </a:ext>
            </a:extLst>
          </a:blip>
          <a:srcRect l="8958" t="20769" r="9125" b="20898"/>
          <a:stretch/>
        </p:blipFill>
        <p:spPr>
          <a:xfrm>
            <a:off x="6547200" y="2562725"/>
            <a:ext cx="4431600" cy="3155835"/>
          </a:xfrm>
          <a:prstGeom prst="rect">
            <a:avLst/>
          </a:prstGeom>
        </p:spPr>
      </p:pic>
    </p:spTree>
    <p:extLst>
      <p:ext uri="{BB962C8B-B14F-4D97-AF65-F5344CB8AC3E}">
        <p14:creationId xmlns:p14="http://schemas.microsoft.com/office/powerpoint/2010/main" val="1113054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5E9AF5A-B97B-212E-C817-7BAAF48231F9}"/>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92B6BE5D-1723-6C5F-BFAB-7FB8AE5C0FB8}"/>
              </a:ext>
            </a:extLst>
          </p:cNvPr>
          <p:cNvSpPr txBox="1">
            <a:spLocks noGrp="1"/>
          </p:cNvSpPr>
          <p:nvPr>
            <p:ph type="title"/>
          </p:nvPr>
        </p:nvSpPr>
        <p:spPr/>
        <p:txBody>
          <a:bodyPr/>
          <a:lstStyle/>
          <a:p>
            <a:pPr lvl="0"/>
            <a:r>
              <a:rPr lang="fr-FR" noProof="0" dirty="0"/>
              <a:t>PLM</a:t>
            </a:r>
          </a:p>
        </p:txBody>
      </p:sp>
      <p:sp>
        <p:nvSpPr>
          <p:cNvPr id="12" name="Espace réservé du numéro de diapositive 11">
            <a:extLst>
              <a:ext uri="{FF2B5EF4-FFF2-40B4-BE49-F238E27FC236}">
                <a16:creationId xmlns:a16="http://schemas.microsoft.com/office/drawing/2014/main" id="{FCFB9FC8-44BD-7ECC-1B07-488426EE715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39B99A81-9757-3FDC-C991-73F8A1567620}"/>
              </a:ext>
            </a:extLst>
          </p:cNvPr>
          <p:cNvSpPr>
            <a:spLocks noGrp="1"/>
          </p:cNvSpPr>
          <p:nvPr>
            <p:ph idx="4294967295"/>
          </p:nvPr>
        </p:nvSpPr>
        <p:spPr>
          <a:xfrm>
            <a:off x="838200" y="2119716"/>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4659CA6F-AD86-C5E7-B2E8-B83B695C62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5725233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MAINTENANCE</a:t>
            </a:r>
          </a:p>
        </p:txBody>
      </p:sp>
      <p:sp>
        <p:nvSpPr>
          <p:cNvPr id="12" name="Espace réservé du numéro de diapositive 11">
            <a:extLst>
              <a:ext uri="{FF2B5EF4-FFF2-40B4-BE49-F238E27FC236}">
                <a16:creationId xmlns:a16="http://schemas.microsoft.com/office/drawing/2014/main" id="{94244B00-F8D5-D24B-2359-4241B75FD36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2670D52-2107-7EA4-3BE3-B05724CF3CFB}"/>
              </a:ext>
            </a:extLst>
          </p:cNvPr>
          <p:cNvSpPr>
            <a:spLocks noGrp="1"/>
          </p:cNvSpPr>
          <p:nvPr>
            <p:ph sz="half" idx="4294967295"/>
          </p:nvPr>
        </p:nvSpPr>
        <p:spPr>
          <a:xfrm>
            <a:off x="263525" y="2097088"/>
            <a:ext cx="6096000" cy="4630738"/>
          </a:xfrm>
        </p:spPr>
        <p:txBody>
          <a:bodyPr/>
          <a:lstStyle/>
          <a:p>
            <a:pPr lvl="0"/>
            <a:r>
              <a:rPr lang="fr-FR" b="1" noProof="0" dirty="0"/>
              <a:t>UTILISATION STANDARD</a:t>
            </a:r>
          </a:p>
          <a:p>
            <a:pPr lvl="1"/>
            <a:r>
              <a:rPr lang="fr-FR" sz="2000" noProof="0" dirty="0"/>
              <a:t>Planifiez votre maintenance préventive</a:t>
            </a:r>
          </a:p>
          <a:p>
            <a:pPr lvl="1"/>
            <a:r>
              <a:rPr lang="fr-FR" sz="2000" noProof="0" dirty="0"/>
              <a:t>Organisez tous vos équipements et suivez leurs coûts</a:t>
            </a:r>
          </a:p>
          <a:p>
            <a:pPr lvl="1"/>
            <a:r>
              <a:rPr lang="fr-FR" sz="2000" noProof="0" dirty="0"/>
              <a:t>Gérez toutes les demandes imprévues, priorisez-les et suivez-les</a:t>
            </a:r>
          </a:p>
          <a:p>
            <a:pPr lvl="1"/>
            <a:r>
              <a:rPr lang="fr-FR" sz="2000" noProof="0" dirty="0"/>
              <a:t>Organisez votre équipe de maintenance en services pour séparer les compétences et les équipes</a:t>
            </a:r>
            <a:endParaRPr lang="fr-FR" sz="2800" noProof="0" dirty="0"/>
          </a:p>
        </p:txBody>
      </p:sp>
      <p:pic>
        <p:nvPicPr>
          <p:cNvPr id="3" name="Image 2" descr="Une image contenant texte, Appareils électroniques, capture d’écran, ordinateur&#10;&#10;Le contenu généré par l’IA peut être incorrect.">
            <a:extLst>
              <a:ext uri="{FF2B5EF4-FFF2-40B4-BE49-F238E27FC236}">
                <a16:creationId xmlns:a16="http://schemas.microsoft.com/office/drawing/2014/main" id="{D8738951-A8B0-B140-403F-84191F478405}"/>
              </a:ext>
            </a:extLst>
          </p:cNvPr>
          <p:cNvPicPr>
            <a:picLocks noChangeAspect="1"/>
          </p:cNvPicPr>
          <p:nvPr/>
        </p:nvPicPr>
        <p:blipFill>
          <a:blip r:embed="rId3">
            <a:extLst>
              <a:ext uri="{28A0092B-C50C-407E-A947-70E740481C1C}">
                <a14:useLocalDpi xmlns:a14="http://schemas.microsoft.com/office/drawing/2010/main" val="0"/>
              </a:ext>
            </a:extLst>
          </a:blip>
          <a:srcRect l="8983" t="20814" r="9101" b="20871"/>
          <a:stretch/>
        </p:blipFill>
        <p:spPr>
          <a:xfrm>
            <a:off x="6547200" y="2563218"/>
            <a:ext cx="4431600" cy="3154849"/>
          </a:xfrm>
          <a:prstGeom prst="rect">
            <a:avLst/>
          </a:prstGeom>
        </p:spPr>
      </p:pic>
    </p:spTree>
    <p:extLst>
      <p:ext uri="{BB962C8B-B14F-4D97-AF65-F5344CB8AC3E}">
        <p14:creationId xmlns:p14="http://schemas.microsoft.com/office/powerpoint/2010/main" val="32066608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A375FE6F-F350-6946-2671-2E07DB17A298}"/>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A15287D-6EA6-641E-8B31-503420331F8C}"/>
              </a:ext>
            </a:extLst>
          </p:cNvPr>
          <p:cNvSpPr txBox="1">
            <a:spLocks noGrp="1"/>
          </p:cNvSpPr>
          <p:nvPr>
            <p:ph type="title"/>
          </p:nvPr>
        </p:nvSpPr>
        <p:spPr/>
        <p:txBody>
          <a:bodyPr/>
          <a:lstStyle/>
          <a:p>
            <a:pPr lvl="0"/>
            <a:r>
              <a:rPr lang="fr-FR" noProof="0" dirty="0"/>
              <a:t>MAINTENANCE</a:t>
            </a:r>
          </a:p>
        </p:txBody>
      </p:sp>
      <p:sp>
        <p:nvSpPr>
          <p:cNvPr id="12" name="Espace réservé du numéro de diapositive 11">
            <a:extLst>
              <a:ext uri="{FF2B5EF4-FFF2-40B4-BE49-F238E27FC236}">
                <a16:creationId xmlns:a16="http://schemas.microsoft.com/office/drawing/2014/main" id="{5D835BE8-5C79-503D-516A-0823F6D8B6A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C041C4FF-FE1A-7A5A-FB5C-197DE73142C9}"/>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BC6DD4F6-1DE3-9D7A-D2ED-053E94962B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1878443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REPARATIONS</a:t>
            </a:r>
          </a:p>
        </p:txBody>
      </p:sp>
      <p:sp>
        <p:nvSpPr>
          <p:cNvPr id="12" name="Espace réservé du numéro de diapositive 11">
            <a:extLst>
              <a:ext uri="{FF2B5EF4-FFF2-40B4-BE49-F238E27FC236}">
                <a16:creationId xmlns:a16="http://schemas.microsoft.com/office/drawing/2014/main" id="{46D885ED-CF32-284B-2FE0-46C7FDACACE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3A676D00-D7A0-9657-2F66-1C7DEBC97732}"/>
              </a:ext>
            </a:extLst>
          </p:cNvPr>
          <p:cNvSpPr>
            <a:spLocks noGrp="1"/>
          </p:cNvSpPr>
          <p:nvPr>
            <p:ph sz="half" idx="4294967295"/>
          </p:nvPr>
        </p:nvSpPr>
        <p:spPr>
          <a:xfrm>
            <a:off x="263525" y="2097088"/>
            <a:ext cx="5181600" cy="4630738"/>
          </a:xfrm>
        </p:spPr>
        <p:txBody>
          <a:bodyPr/>
          <a:lstStyle/>
          <a:p>
            <a:pPr lvl="0"/>
            <a:r>
              <a:rPr lang="fr-FR" sz="2400" b="1" noProof="0" dirty="0"/>
              <a:t>UTILISATION STANDARD</a:t>
            </a:r>
          </a:p>
          <a:p>
            <a:pPr lvl="1"/>
            <a:r>
              <a:rPr lang="fr-FR" sz="2000" noProof="0" dirty="0"/>
              <a:t>Suivez toutes les demandes de réparation des clients et planifiez-les</a:t>
            </a:r>
          </a:p>
          <a:p>
            <a:pPr lvl="1"/>
            <a:r>
              <a:rPr lang="fr-FR" sz="2000" noProof="0" dirty="0"/>
              <a:t>Facturez le temps et les matériaux utilisés pour les réparations</a:t>
            </a:r>
          </a:p>
          <a:p>
            <a:pPr lvl="1"/>
            <a:r>
              <a:rPr lang="fr-FR" sz="2000" noProof="0" dirty="0"/>
              <a:t>Identifiez l’emplacement des produits dans votre centre de réparation</a:t>
            </a:r>
            <a:endParaRPr lang="fr-FR" sz="2800" noProof="0" dirty="0"/>
          </a:p>
        </p:txBody>
      </p:sp>
      <p:pic>
        <p:nvPicPr>
          <p:cNvPr id="3" name="Image 2" descr="Une image contenant texte, capture d’écran, ordinateur, logiciel&#10;&#10;Le contenu généré par l’IA peut être incorrect.">
            <a:extLst>
              <a:ext uri="{FF2B5EF4-FFF2-40B4-BE49-F238E27FC236}">
                <a16:creationId xmlns:a16="http://schemas.microsoft.com/office/drawing/2014/main" id="{E6AF6B7D-8483-55A9-6419-21B57BB92B16}"/>
              </a:ext>
            </a:extLst>
          </p:cNvPr>
          <p:cNvPicPr>
            <a:picLocks noChangeAspect="1"/>
          </p:cNvPicPr>
          <p:nvPr/>
        </p:nvPicPr>
        <p:blipFill>
          <a:blip r:embed="rId3">
            <a:extLst>
              <a:ext uri="{28A0092B-C50C-407E-A947-70E740481C1C}">
                <a14:useLocalDpi xmlns:a14="http://schemas.microsoft.com/office/drawing/2010/main" val="0"/>
              </a:ext>
            </a:extLst>
          </a:blip>
          <a:srcRect l="9002" t="20850" r="9045" b="20816"/>
          <a:stretch/>
        </p:blipFill>
        <p:spPr>
          <a:xfrm>
            <a:off x="6600825" y="2563428"/>
            <a:ext cx="4431600" cy="3154430"/>
          </a:xfrm>
          <a:prstGeom prst="rect">
            <a:avLst/>
          </a:prstGeom>
        </p:spPr>
      </p:pic>
    </p:spTree>
    <p:extLst>
      <p:ext uri="{BB962C8B-B14F-4D97-AF65-F5344CB8AC3E}">
        <p14:creationId xmlns:p14="http://schemas.microsoft.com/office/powerpoint/2010/main" val="42482334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15F6FBB1-1ADC-F430-B4CD-508EDBBCD3B3}"/>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B33727B6-4688-4A25-C5E2-A28592C9FC9C}"/>
              </a:ext>
            </a:extLst>
          </p:cNvPr>
          <p:cNvSpPr txBox="1">
            <a:spLocks noGrp="1"/>
          </p:cNvSpPr>
          <p:nvPr>
            <p:ph type="title"/>
          </p:nvPr>
        </p:nvSpPr>
        <p:spPr/>
        <p:txBody>
          <a:bodyPr/>
          <a:lstStyle/>
          <a:p>
            <a:pPr lvl="0"/>
            <a:r>
              <a:rPr lang="fr-FR" noProof="0" dirty="0"/>
              <a:t>REPARATIONS</a:t>
            </a:r>
          </a:p>
        </p:txBody>
      </p:sp>
      <p:sp>
        <p:nvSpPr>
          <p:cNvPr id="12" name="Espace réservé du numéro de diapositive 11">
            <a:extLst>
              <a:ext uri="{FF2B5EF4-FFF2-40B4-BE49-F238E27FC236}">
                <a16:creationId xmlns:a16="http://schemas.microsoft.com/office/drawing/2014/main" id="{F70C4B8E-3413-1154-34AC-205CFC9CE7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C9FF28DB-3B9D-555E-3757-F8DF38C2F18D}"/>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FE1AA1F9-D6F7-0498-4388-400247E3B3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0497015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PROJETS</a:t>
            </a:r>
          </a:p>
        </p:txBody>
      </p:sp>
      <p:sp>
        <p:nvSpPr>
          <p:cNvPr id="12" name="Espace réservé du numéro de diapositive 11">
            <a:extLst>
              <a:ext uri="{FF2B5EF4-FFF2-40B4-BE49-F238E27FC236}">
                <a16:creationId xmlns:a16="http://schemas.microsoft.com/office/drawing/2014/main" id="{E200900F-A018-27AC-07D1-44811D9D5A2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A3DA9EE-BCE5-BB6B-F67D-8006126D4B4A}"/>
              </a:ext>
            </a:extLst>
          </p:cNvPr>
          <p:cNvSpPr>
            <a:spLocks noGrp="1"/>
          </p:cNvSpPr>
          <p:nvPr>
            <p:ph sz="half" idx="4294967295"/>
          </p:nvPr>
        </p:nvSpPr>
        <p:spPr>
          <a:xfrm>
            <a:off x="263525" y="2097088"/>
            <a:ext cx="6096000" cy="4630738"/>
          </a:xfrm>
        </p:spPr>
        <p:txBody>
          <a:bodyPr>
            <a:normAutofit lnSpcReduction="10000"/>
          </a:bodyPr>
          <a:lstStyle/>
          <a:p>
            <a:pPr lvl="0"/>
            <a:r>
              <a:rPr lang="fr-FR" b="1" noProof="0" dirty="0"/>
              <a:t>UTILISATION STANDARD</a:t>
            </a:r>
          </a:p>
          <a:p>
            <a:pPr lvl="1"/>
            <a:r>
              <a:rPr lang="fr-FR" sz="2000" noProof="0" dirty="0"/>
              <a:t>Choisissez de créer un projet par client, par commande ou un projet partagé</a:t>
            </a:r>
          </a:p>
          <a:p>
            <a:pPr lvl="1"/>
            <a:r>
              <a:rPr lang="fr-FR" sz="2000" noProof="0" dirty="0"/>
              <a:t>Créez des modèles de projet</a:t>
            </a:r>
          </a:p>
          <a:p>
            <a:pPr lvl="1"/>
            <a:r>
              <a:rPr lang="fr-FR" sz="2000" noProof="0" dirty="0"/>
              <a:t>Organisez le flux des tâches par projet</a:t>
            </a:r>
          </a:p>
          <a:p>
            <a:pPr lvl="1"/>
            <a:r>
              <a:rPr lang="fr-FR" sz="2000" noProof="0" dirty="0"/>
              <a:t>Gérez le travail : planifiez, assignez, marquez comme terminé, liez les tâches</a:t>
            </a:r>
          </a:p>
          <a:p>
            <a:pPr lvl="1"/>
            <a:r>
              <a:rPr lang="fr-FR" sz="2000" noProof="0" dirty="0"/>
              <a:t>Visualisez des diagrammes de Gantt et des </a:t>
            </a:r>
            <a:r>
              <a:rPr lang="fr-FR" sz="2000" noProof="0" dirty="0" err="1"/>
              <a:t>burndown</a:t>
            </a:r>
            <a:r>
              <a:rPr lang="fr-FR" sz="2000" noProof="0" dirty="0"/>
              <a:t> charts</a:t>
            </a:r>
          </a:p>
          <a:p>
            <a:pPr lvl="1"/>
            <a:r>
              <a:rPr lang="fr-FR" sz="2000" noProof="0" dirty="0"/>
              <a:t>Suivez la marge de votre projet grâce à la comptabilité analytique</a:t>
            </a:r>
          </a:p>
          <a:p>
            <a:pPr lvl="1"/>
            <a:r>
              <a:rPr lang="fr-FR" sz="2000" noProof="0" dirty="0"/>
              <a:t>Regroupez tous les documents de votre projet en un seul espace</a:t>
            </a:r>
          </a:p>
          <a:p>
            <a:pPr lvl="1"/>
            <a:r>
              <a:rPr lang="fr-FR" sz="2000" noProof="0" dirty="0"/>
              <a:t>Partagez l’accès à votre projet avec vos clients</a:t>
            </a:r>
            <a:endParaRPr lang="fr-FR" sz="2800" noProof="0" dirty="0"/>
          </a:p>
        </p:txBody>
      </p:sp>
      <p:pic>
        <p:nvPicPr>
          <p:cNvPr id="3" name="Image 2" descr="Une image contenant Appareils électroniques, texte, capture d’écran, ordinateur&#10;&#10;Le contenu généré par l’IA peut être incorrect.">
            <a:extLst>
              <a:ext uri="{FF2B5EF4-FFF2-40B4-BE49-F238E27FC236}">
                <a16:creationId xmlns:a16="http://schemas.microsoft.com/office/drawing/2014/main" id="{2161B6DB-E119-6DE7-F695-886659F6B505}"/>
              </a:ext>
            </a:extLst>
          </p:cNvPr>
          <p:cNvPicPr>
            <a:picLocks noChangeAspect="1"/>
          </p:cNvPicPr>
          <p:nvPr/>
        </p:nvPicPr>
        <p:blipFill>
          <a:blip r:embed="rId3">
            <a:extLst>
              <a:ext uri="{28A0092B-C50C-407E-A947-70E740481C1C}">
                <a14:useLocalDpi xmlns:a14="http://schemas.microsoft.com/office/drawing/2010/main" val="0"/>
              </a:ext>
            </a:extLst>
          </a:blip>
          <a:srcRect l="8983" t="20850" r="9047" b="20816"/>
          <a:stretch/>
        </p:blipFill>
        <p:spPr>
          <a:xfrm>
            <a:off x="6623050" y="2563779"/>
            <a:ext cx="4431600" cy="3153727"/>
          </a:xfrm>
          <a:prstGeom prst="rect">
            <a:avLst/>
          </a:prstGeom>
        </p:spPr>
      </p:pic>
    </p:spTree>
    <p:extLst>
      <p:ext uri="{BB962C8B-B14F-4D97-AF65-F5344CB8AC3E}">
        <p14:creationId xmlns:p14="http://schemas.microsoft.com/office/powerpoint/2010/main" val="2791343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EF4175A4-45AD-DE3F-244E-F68F91204092}"/>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8478A9E5-1468-4F23-6FF6-067CDBE4BAC9}"/>
              </a:ext>
            </a:extLst>
          </p:cNvPr>
          <p:cNvSpPr txBox="1">
            <a:spLocks noGrp="1"/>
          </p:cNvSpPr>
          <p:nvPr>
            <p:ph type="title"/>
          </p:nvPr>
        </p:nvSpPr>
        <p:spPr/>
        <p:txBody>
          <a:bodyPr/>
          <a:lstStyle/>
          <a:p>
            <a:pPr lvl="0"/>
            <a:r>
              <a:rPr lang="fr-FR" noProof="0" dirty="0"/>
              <a:t>PROJETS</a:t>
            </a:r>
          </a:p>
        </p:txBody>
      </p:sp>
      <p:sp>
        <p:nvSpPr>
          <p:cNvPr id="12" name="Espace réservé du numéro de diapositive 11">
            <a:extLst>
              <a:ext uri="{FF2B5EF4-FFF2-40B4-BE49-F238E27FC236}">
                <a16:creationId xmlns:a16="http://schemas.microsoft.com/office/drawing/2014/main" id="{5E25849A-E347-1E16-F8ED-42BDAA5A1B7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B176878-F854-B188-1B66-2F3B91A662F9}"/>
              </a:ext>
            </a:extLst>
          </p:cNvPr>
          <p:cNvSpPr>
            <a:spLocks noGrp="1"/>
          </p:cNvSpPr>
          <p:nvPr>
            <p:ph idx="4294967295"/>
          </p:nvPr>
        </p:nvSpPr>
        <p:spPr>
          <a:xfrm>
            <a:off x="838200" y="2097088"/>
            <a:ext cx="10515600" cy="4667250"/>
          </a:xfrm>
        </p:spPr>
        <p:txBody>
          <a:bodyPr>
            <a:normAutofit/>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59EC0A54-3320-6B02-0D89-57E722FFBF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6851734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FEUILLES DE TEMPS</a:t>
            </a:r>
          </a:p>
        </p:txBody>
      </p:sp>
      <p:sp>
        <p:nvSpPr>
          <p:cNvPr id="12" name="Espace réservé du numéro de diapositive 11">
            <a:extLst>
              <a:ext uri="{FF2B5EF4-FFF2-40B4-BE49-F238E27FC236}">
                <a16:creationId xmlns:a16="http://schemas.microsoft.com/office/drawing/2014/main" id="{878EEAAC-91EC-C026-4275-9F144F4C534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B67C5AA0-A372-CA0A-9254-AABF2C05FD5B}"/>
              </a:ext>
            </a:extLst>
          </p:cNvPr>
          <p:cNvSpPr>
            <a:spLocks noGrp="1"/>
          </p:cNvSpPr>
          <p:nvPr>
            <p:ph sz="half" idx="4294967295"/>
          </p:nvPr>
        </p:nvSpPr>
        <p:spPr>
          <a:xfrm>
            <a:off x="281912" y="2097088"/>
            <a:ext cx="6077945" cy="4630738"/>
          </a:xfrm>
        </p:spPr>
        <p:txBody>
          <a:bodyPr/>
          <a:lstStyle/>
          <a:p>
            <a:pPr lvl="0"/>
            <a:r>
              <a:rPr lang="fr-FR" b="1" noProof="0" dirty="0"/>
              <a:t>UTILISATION STANDARD</a:t>
            </a:r>
          </a:p>
          <a:p>
            <a:pPr lvl="1"/>
            <a:r>
              <a:rPr lang="fr-FR" sz="2000" noProof="0" dirty="0"/>
              <a:t>Permettez à vos employés de saisir leur temps sur les tâches de projet, les réparations, les ordres de fabrication, la maintenance, etc.</a:t>
            </a:r>
          </a:p>
          <a:p>
            <a:pPr lvl="1"/>
            <a:r>
              <a:rPr lang="fr-FR" sz="2000" noProof="0" dirty="0"/>
              <a:t>Obtenez une vue globale du temps passé et analysez-le</a:t>
            </a:r>
          </a:p>
          <a:p>
            <a:pPr lvl="1"/>
            <a:r>
              <a:rPr lang="fr-FR" sz="2000" noProof="0" dirty="0"/>
              <a:t>Ajoutez des coûts par employé pour calculer le coût total</a:t>
            </a:r>
          </a:p>
          <a:p>
            <a:pPr lvl="1"/>
            <a:r>
              <a:rPr lang="fr-FR" sz="2000" noProof="0" dirty="0"/>
              <a:t>Laissez les managers approuver les feuilles de temps</a:t>
            </a:r>
          </a:p>
          <a:p>
            <a:pPr lvl="1"/>
            <a:r>
              <a:rPr lang="fr-FR" sz="2000" noProof="0" dirty="0"/>
              <a:t>Choisissez de facturer les feuilles de temps</a:t>
            </a:r>
            <a:endParaRPr lang="fr-FR" sz="2800" noProof="0" dirty="0"/>
          </a:p>
        </p:txBody>
      </p:sp>
      <p:pic>
        <p:nvPicPr>
          <p:cNvPr id="3" name="Image 2" descr="Une image contenant texte, capture d’écran, logiciel, Système d’exploitation&#10;&#10;Le contenu généré par l’IA peut être incorrect.">
            <a:extLst>
              <a:ext uri="{FF2B5EF4-FFF2-40B4-BE49-F238E27FC236}">
                <a16:creationId xmlns:a16="http://schemas.microsoft.com/office/drawing/2014/main" id="{D19EE53E-9C97-7CE4-2DDF-97B25FF313EB}"/>
              </a:ext>
            </a:extLst>
          </p:cNvPr>
          <p:cNvPicPr>
            <a:picLocks noChangeAspect="1"/>
          </p:cNvPicPr>
          <p:nvPr/>
        </p:nvPicPr>
        <p:blipFill>
          <a:blip r:embed="rId3">
            <a:extLst>
              <a:ext uri="{28A0092B-C50C-407E-A947-70E740481C1C}">
                <a14:useLocalDpi xmlns:a14="http://schemas.microsoft.com/office/drawing/2010/main" val="0"/>
              </a:ext>
            </a:extLst>
          </a:blip>
          <a:srcRect l="9037" t="20759" r="8993" b="20870"/>
          <a:stretch/>
        </p:blipFill>
        <p:spPr>
          <a:xfrm>
            <a:off x="6600825" y="2562790"/>
            <a:ext cx="4431600" cy="3155705"/>
          </a:xfrm>
          <a:prstGeom prst="rect">
            <a:avLst/>
          </a:prstGeom>
        </p:spPr>
      </p:pic>
    </p:spTree>
    <p:extLst>
      <p:ext uri="{BB962C8B-B14F-4D97-AF65-F5344CB8AC3E}">
        <p14:creationId xmlns:p14="http://schemas.microsoft.com/office/powerpoint/2010/main" val="20742543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221C9204-EB9A-BFDE-9E1E-58F80C152D95}"/>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8A770EE-8E05-2B2A-1176-665230D7A03B}"/>
              </a:ext>
            </a:extLst>
          </p:cNvPr>
          <p:cNvSpPr txBox="1">
            <a:spLocks noGrp="1"/>
          </p:cNvSpPr>
          <p:nvPr>
            <p:ph type="title"/>
          </p:nvPr>
        </p:nvSpPr>
        <p:spPr/>
        <p:txBody>
          <a:bodyPr/>
          <a:lstStyle/>
          <a:p>
            <a:pPr lvl="0"/>
            <a:r>
              <a:rPr lang="fr-FR" noProof="0" dirty="0"/>
              <a:t>FEUILLES DE TEMPS</a:t>
            </a:r>
          </a:p>
        </p:txBody>
      </p:sp>
      <p:sp>
        <p:nvSpPr>
          <p:cNvPr id="12" name="Espace réservé du numéro de diapositive 11">
            <a:extLst>
              <a:ext uri="{FF2B5EF4-FFF2-40B4-BE49-F238E27FC236}">
                <a16:creationId xmlns:a16="http://schemas.microsoft.com/office/drawing/2014/main" id="{5196746D-5787-725E-9150-C005F280CE5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7FDA5B82-FCE3-16B4-888D-D230CF66E398}"/>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F7B1ADB-8B8F-03E1-A3B3-EFBF40B7D7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5608246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SERVICE SUR SITE</a:t>
            </a:r>
          </a:p>
        </p:txBody>
      </p:sp>
      <p:sp>
        <p:nvSpPr>
          <p:cNvPr id="12" name="Espace réservé du numéro de diapositive 11">
            <a:extLst>
              <a:ext uri="{FF2B5EF4-FFF2-40B4-BE49-F238E27FC236}">
                <a16:creationId xmlns:a16="http://schemas.microsoft.com/office/drawing/2014/main" id="{3644E2F9-4F50-5EA8-7A91-EB453822A0F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19F3AC79-AE29-1A0B-0015-96333A31DF01}"/>
              </a:ext>
            </a:extLst>
          </p:cNvPr>
          <p:cNvSpPr>
            <a:spLocks noGrp="1"/>
          </p:cNvSpPr>
          <p:nvPr>
            <p:ph sz="half" idx="4294967295"/>
          </p:nvPr>
        </p:nvSpPr>
        <p:spPr>
          <a:xfrm>
            <a:off x="263525" y="2097088"/>
            <a:ext cx="6223379" cy="4630738"/>
          </a:xfrm>
        </p:spPr>
        <p:txBody>
          <a:bodyPr/>
          <a:lstStyle/>
          <a:p>
            <a:pPr lvl="0"/>
            <a:r>
              <a:rPr lang="fr-FR" b="1" noProof="0" dirty="0"/>
              <a:t>UTILISATION STANDARD</a:t>
            </a:r>
          </a:p>
          <a:p>
            <a:pPr lvl="1"/>
            <a:r>
              <a:rPr lang="fr-FR" sz="2000" noProof="0" dirty="0"/>
              <a:t>Planifiez vos interventions</a:t>
            </a:r>
          </a:p>
          <a:p>
            <a:pPr lvl="1"/>
            <a:r>
              <a:rPr lang="fr-FR" sz="2000" noProof="0" dirty="0"/>
              <a:t>Accédez directement à la carte et à l’itinéraire pour vous rendre sur site</a:t>
            </a:r>
          </a:p>
          <a:p>
            <a:pPr lvl="1"/>
            <a:r>
              <a:rPr lang="fr-FR" sz="2000" noProof="0" dirty="0"/>
              <a:t>Fournissez des instructions claires, prenez des photos et demandez à votre employé de signer</a:t>
            </a:r>
          </a:p>
          <a:p>
            <a:pPr lvl="1"/>
            <a:r>
              <a:rPr lang="fr-FR" sz="2000" noProof="0" dirty="0"/>
              <a:t>Facturez le temps et les matériaux</a:t>
            </a:r>
          </a:p>
          <a:p>
            <a:pPr lvl="1"/>
            <a:r>
              <a:rPr lang="fr-FR" sz="2000" noProof="0" dirty="0"/>
              <a:t>Faites valider et signer le rapport complet par le client</a:t>
            </a:r>
            <a:endParaRPr lang="fr-FR" sz="2800" noProof="0" dirty="0"/>
          </a:p>
        </p:txBody>
      </p:sp>
      <p:pic>
        <p:nvPicPr>
          <p:cNvPr id="3" name="Image 2" descr="Une image contenant texte, capture d’écran, affichage, ordinateur&#10;&#10;Le contenu généré par l’IA peut être incorrect.">
            <a:extLst>
              <a:ext uri="{FF2B5EF4-FFF2-40B4-BE49-F238E27FC236}">
                <a16:creationId xmlns:a16="http://schemas.microsoft.com/office/drawing/2014/main" id="{75F8613B-58F9-2707-427F-BADDB0FB0B0D}"/>
              </a:ext>
            </a:extLst>
          </p:cNvPr>
          <p:cNvPicPr>
            <a:picLocks noChangeAspect="1"/>
          </p:cNvPicPr>
          <p:nvPr/>
        </p:nvPicPr>
        <p:blipFill>
          <a:blip r:embed="rId3">
            <a:extLst>
              <a:ext uri="{28A0092B-C50C-407E-A947-70E740481C1C}">
                <a14:useLocalDpi xmlns:a14="http://schemas.microsoft.com/office/drawing/2010/main" val="0"/>
              </a:ext>
            </a:extLst>
          </a:blip>
          <a:srcRect l="8960" t="20860" r="9070" b="20805"/>
          <a:stretch/>
        </p:blipFill>
        <p:spPr>
          <a:xfrm>
            <a:off x="6547200" y="2563778"/>
            <a:ext cx="4431600" cy="3153730"/>
          </a:xfrm>
          <a:prstGeom prst="rect">
            <a:avLst/>
          </a:prstGeom>
        </p:spPr>
      </p:pic>
    </p:spTree>
    <p:extLst>
      <p:ext uri="{BB962C8B-B14F-4D97-AF65-F5344CB8AC3E}">
        <p14:creationId xmlns:p14="http://schemas.microsoft.com/office/powerpoint/2010/main" val="4568835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E4127C05-3D06-13B9-53E8-E3B16C12ADA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C329174B-F20A-6654-BA3A-94A77F942B60}"/>
              </a:ext>
            </a:extLst>
          </p:cNvPr>
          <p:cNvSpPr txBox="1">
            <a:spLocks noGrp="1"/>
          </p:cNvSpPr>
          <p:nvPr>
            <p:ph type="title"/>
          </p:nvPr>
        </p:nvSpPr>
        <p:spPr/>
        <p:txBody>
          <a:bodyPr/>
          <a:lstStyle/>
          <a:p>
            <a:pPr lvl="0"/>
            <a:r>
              <a:rPr lang="fr-FR" noProof="0" dirty="0"/>
              <a:t>SERVICE SUR SITE</a:t>
            </a:r>
          </a:p>
        </p:txBody>
      </p:sp>
      <p:sp>
        <p:nvSpPr>
          <p:cNvPr id="12" name="Espace réservé du numéro de diapositive 11">
            <a:extLst>
              <a:ext uri="{FF2B5EF4-FFF2-40B4-BE49-F238E27FC236}">
                <a16:creationId xmlns:a16="http://schemas.microsoft.com/office/drawing/2014/main" id="{48DFF2AC-EFF6-1DDA-6488-A4FF69F52A2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6496915-0845-95CD-87FC-F15DC55CCE48}"/>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73F0C82B-B61B-2DDD-6AAD-52A5F216CB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82859" y="2514600"/>
            <a:ext cx="879812" cy="914400"/>
          </a:xfrm>
          <a:prstGeom prst="rect">
            <a:avLst/>
          </a:prstGeom>
        </p:spPr>
      </p:pic>
    </p:spTree>
    <p:extLst>
      <p:ext uri="{BB962C8B-B14F-4D97-AF65-F5344CB8AC3E}">
        <p14:creationId xmlns:p14="http://schemas.microsoft.com/office/powerpoint/2010/main" val="13455294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097EA1FE-4C50-288C-D446-63505D15D417}"/>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831D2D0-4AD3-5A18-DCDF-489DF72F539F}"/>
              </a:ext>
            </a:extLst>
          </p:cNvPr>
          <p:cNvSpPr txBox="1">
            <a:spLocks noGrp="1"/>
          </p:cNvSpPr>
          <p:nvPr>
            <p:ph type="title"/>
          </p:nvPr>
        </p:nvSpPr>
        <p:spPr/>
        <p:txBody>
          <a:bodyPr/>
          <a:lstStyle/>
          <a:p>
            <a:pPr lvl="0"/>
            <a:r>
              <a:rPr lang="fr-FR" noProof="0" dirty="0"/>
              <a:t>FLEET </a:t>
            </a:r>
            <a:r>
              <a:rPr lang="fr-FR" sz="2400" noProof="0" dirty="0"/>
              <a:t>(PARC AUTOMOBILE)</a:t>
            </a:r>
            <a:endParaRPr lang="fr-FR" sz="4800" noProof="0" dirty="0"/>
          </a:p>
        </p:txBody>
      </p:sp>
      <p:sp>
        <p:nvSpPr>
          <p:cNvPr id="12" name="Espace réservé du numéro de diapositive 11">
            <a:extLst>
              <a:ext uri="{FF2B5EF4-FFF2-40B4-BE49-F238E27FC236}">
                <a16:creationId xmlns:a16="http://schemas.microsoft.com/office/drawing/2014/main" id="{5FE22E66-A3CF-CB32-19EF-ABC91EE9885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7D31C52B-4357-C072-4A65-023794F5A13C}"/>
              </a:ext>
            </a:extLst>
          </p:cNvPr>
          <p:cNvSpPr>
            <a:spLocks noGrp="1"/>
          </p:cNvSpPr>
          <p:nvPr>
            <p:ph sz="half" idx="4294967295"/>
          </p:nvPr>
        </p:nvSpPr>
        <p:spPr>
          <a:xfrm>
            <a:off x="263525" y="2097088"/>
            <a:ext cx="6852891" cy="4630738"/>
          </a:xfrm>
        </p:spPr>
        <p:txBody>
          <a:bodyPr>
            <a:normAutofit lnSpcReduction="10000"/>
          </a:bodyPr>
          <a:lstStyle/>
          <a:p>
            <a:pPr lvl="0"/>
            <a:r>
              <a:rPr lang="fr-FR" b="1" noProof="0" dirty="0"/>
              <a:t>UTILISATION STANDARD</a:t>
            </a:r>
          </a:p>
          <a:p>
            <a:pPr lvl="1"/>
            <a:r>
              <a:rPr lang="fr-FR" sz="2000" noProof="0" dirty="0"/>
              <a:t>Suivez chaque véhicule (immatriculation, modèle, kilométrage, affectation conducteur) et gérez les contrats associés : leasing, assurance, carte carburant, avec alertes d'échéance automatiques</a:t>
            </a:r>
          </a:p>
          <a:p>
            <a:pPr lvl="1"/>
            <a:r>
              <a:rPr lang="fr-FR" sz="2000" noProof="0" dirty="0"/>
              <a:t>Programmez les maintenances préventives, enregistrez les interventions correctives et recevez des alertes avant dépassement kilométrique ou date limite</a:t>
            </a:r>
          </a:p>
          <a:p>
            <a:pPr lvl="1"/>
            <a:r>
              <a:rPr lang="fr-FR" sz="2000" noProof="0" dirty="0"/>
              <a:t>Enregistrez toutes les dépenses par véhicule (carburant, réparations, assurance, amendes) et analysez le coût total de possession par véhicule, catégorie ou période</a:t>
            </a:r>
          </a:p>
          <a:p>
            <a:pPr lvl="1"/>
            <a:r>
              <a:rPr lang="fr-FR" sz="2000" noProof="0" dirty="0"/>
              <a:t>Générez des tableaux de bord sur l'utilisation du parc, identifiez les véhicules sous-utilisés et pilotez les renouvellements en toute visibilité</a:t>
            </a:r>
            <a:endParaRPr lang="fr-FR" sz="2800" noProof="0" dirty="0"/>
          </a:p>
        </p:txBody>
      </p:sp>
      <p:pic>
        <p:nvPicPr>
          <p:cNvPr id="2" name="Image 1">
            <a:extLst>
              <a:ext uri="{FF2B5EF4-FFF2-40B4-BE49-F238E27FC236}">
                <a16:creationId xmlns:a16="http://schemas.microsoft.com/office/drawing/2014/main" id="{51D89FA0-1DEC-8CDE-4AA6-D74397EFE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0671" y="2407532"/>
            <a:ext cx="4197950" cy="2737413"/>
          </a:xfrm>
          <a:prstGeom prst="rect">
            <a:avLst/>
          </a:prstGeom>
        </p:spPr>
      </p:pic>
    </p:spTree>
    <p:extLst>
      <p:ext uri="{BB962C8B-B14F-4D97-AF65-F5344CB8AC3E}">
        <p14:creationId xmlns:p14="http://schemas.microsoft.com/office/powerpoint/2010/main" val="5906455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3EA92B16-09E1-3D5F-7A3A-81D4ADC8357F}"/>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56632C51-3AE4-8DBC-4BAC-CD437E79FE82}"/>
              </a:ext>
            </a:extLst>
          </p:cNvPr>
          <p:cNvSpPr txBox="1">
            <a:spLocks noGrp="1"/>
          </p:cNvSpPr>
          <p:nvPr>
            <p:ph type="title"/>
          </p:nvPr>
        </p:nvSpPr>
        <p:spPr/>
        <p:txBody>
          <a:bodyPr/>
          <a:lstStyle/>
          <a:p>
            <a:pPr lvl="0"/>
            <a:r>
              <a:rPr lang="fr-FR" dirty="0"/>
              <a:t>FLEET </a:t>
            </a:r>
            <a:r>
              <a:rPr lang="fr-FR" sz="2400" dirty="0"/>
              <a:t>(PARC AUTOMOBILE)</a:t>
            </a:r>
            <a:endParaRPr lang="fr-FR" noProof="0" dirty="0"/>
          </a:p>
        </p:txBody>
      </p:sp>
      <p:sp>
        <p:nvSpPr>
          <p:cNvPr id="12" name="Espace réservé du numéro de diapositive 11">
            <a:extLst>
              <a:ext uri="{FF2B5EF4-FFF2-40B4-BE49-F238E27FC236}">
                <a16:creationId xmlns:a16="http://schemas.microsoft.com/office/drawing/2014/main" id="{FD327B28-FC69-8706-704B-7BCCEC3B3BA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BFA8A93-19D2-A79F-ED31-184749F45480}"/>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2AA2E89E-AAC5-3456-7075-B95CDD0FE9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82859" y="2514600"/>
            <a:ext cx="879812" cy="914400"/>
          </a:xfrm>
          <a:prstGeom prst="rect">
            <a:avLst/>
          </a:prstGeom>
        </p:spPr>
      </p:pic>
    </p:spTree>
    <p:extLst>
      <p:ext uri="{BB962C8B-B14F-4D97-AF65-F5344CB8AC3E}">
        <p14:creationId xmlns:p14="http://schemas.microsoft.com/office/powerpoint/2010/main" val="7222091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ASSISTANCE / TICKETING</a:t>
            </a:r>
          </a:p>
        </p:txBody>
      </p:sp>
      <p:sp>
        <p:nvSpPr>
          <p:cNvPr id="12" name="Espace réservé du numéro de diapositive 11">
            <a:extLst>
              <a:ext uri="{FF2B5EF4-FFF2-40B4-BE49-F238E27FC236}">
                <a16:creationId xmlns:a16="http://schemas.microsoft.com/office/drawing/2014/main" id="{BBCAFB6F-C641-015D-AD15-AB4BDCF166D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4EFBA40-564C-226A-598B-0A65CEB3A19E}"/>
              </a:ext>
            </a:extLst>
          </p:cNvPr>
          <p:cNvSpPr>
            <a:spLocks noGrp="1"/>
          </p:cNvSpPr>
          <p:nvPr>
            <p:ph sz="half" idx="4294967295"/>
          </p:nvPr>
        </p:nvSpPr>
        <p:spPr>
          <a:xfrm>
            <a:off x="263525" y="2090577"/>
            <a:ext cx="6373504" cy="4765458"/>
          </a:xfrm>
        </p:spPr>
        <p:txBody>
          <a:bodyPr>
            <a:normAutofit/>
          </a:bodyPr>
          <a:lstStyle/>
          <a:p>
            <a:pPr lvl="0"/>
            <a:r>
              <a:rPr lang="fr-FR" b="1" noProof="0" dirty="0"/>
              <a:t>UTILISATION STANDARD </a:t>
            </a:r>
          </a:p>
          <a:p>
            <a:pPr lvl="1"/>
            <a:r>
              <a:rPr lang="fr-FR" sz="2000" noProof="0" dirty="0"/>
              <a:t>Organisez votre gestion des tickets par équipes</a:t>
            </a:r>
          </a:p>
          <a:p>
            <a:pPr lvl="1"/>
            <a:r>
              <a:rPr lang="fr-FR" sz="2000" noProof="0" dirty="0"/>
              <a:t>Ayez un tableau de bord clair pour chaque employé</a:t>
            </a:r>
          </a:p>
          <a:p>
            <a:pPr lvl="1"/>
            <a:r>
              <a:rPr lang="fr-FR" sz="2000" noProof="0" dirty="0"/>
              <a:t>Automatisez l'attribution des tickets</a:t>
            </a:r>
          </a:p>
          <a:p>
            <a:pPr lvl="1"/>
            <a:r>
              <a:rPr lang="fr-FR" sz="2000" noProof="0" dirty="0"/>
              <a:t>Gérez vos SLA et recevez des alertes</a:t>
            </a:r>
          </a:p>
          <a:p>
            <a:pPr lvl="1"/>
            <a:r>
              <a:rPr lang="fr-FR" sz="2000" noProof="0" dirty="0"/>
              <a:t>Collectez la satisfaction client avec des enquêtes simples et automatisées</a:t>
            </a:r>
          </a:p>
          <a:p>
            <a:pPr lvl="1"/>
            <a:r>
              <a:rPr lang="fr-FR" sz="2000" noProof="0" dirty="0"/>
              <a:t>Créez des tickets de différentes manières :     e-mail, formulaire de site, chat, etc.</a:t>
            </a:r>
          </a:p>
          <a:p>
            <a:pPr lvl="1"/>
            <a:r>
              <a:rPr lang="fr-FR" sz="2000" noProof="0" dirty="0"/>
              <a:t>Suivez et facturez votre temps</a:t>
            </a:r>
          </a:p>
          <a:p>
            <a:pPr lvl="1"/>
            <a:r>
              <a:rPr lang="fr-FR" sz="2000" noProof="0" dirty="0"/>
              <a:t>Permettez au client d'accéder à ses tickets depuis le portail</a:t>
            </a:r>
          </a:p>
          <a:p>
            <a:pPr lvl="1"/>
            <a:r>
              <a:rPr lang="fr-FR" sz="2000" noProof="0" dirty="0"/>
              <a:t>Communiquez directement depuis les tickets</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52E61F34-B67D-1797-491A-1DC033D3A5C2}"/>
              </a:ext>
            </a:extLst>
          </p:cNvPr>
          <p:cNvPicPr>
            <a:picLocks noChangeAspect="1"/>
          </p:cNvPicPr>
          <p:nvPr/>
        </p:nvPicPr>
        <p:blipFill>
          <a:blip r:embed="rId3">
            <a:extLst>
              <a:ext uri="{28A0092B-C50C-407E-A947-70E740481C1C}">
                <a14:useLocalDpi xmlns:a14="http://schemas.microsoft.com/office/drawing/2010/main" val="0"/>
              </a:ext>
            </a:extLst>
          </a:blip>
          <a:srcRect l="8929" t="20830" r="9101" b="20800"/>
          <a:stretch/>
        </p:blipFill>
        <p:spPr>
          <a:xfrm>
            <a:off x="6637029" y="2562792"/>
            <a:ext cx="4431600" cy="3155701"/>
          </a:xfrm>
          <a:prstGeom prst="rect">
            <a:avLst/>
          </a:prstGeom>
        </p:spPr>
      </p:pic>
    </p:spTree>
    <p:extLst>
      <p:ext uri="{BB962C8B-B14F-4D97-AF65-F5344CB8AC3E}">
        <p14:creationId xmlns:p14="http://schemas.microsoft.com/office/powerpoint/2010/main" val="33629878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974E88D4-5447-DAE1-59F4-20754D4020F5}"/>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A8548387-1036-D1DB-1F08-F70AF030D0E0}"/>
              </a:ext>
            </a:extLst>
          </p:cNvPr>
          <p:cNvSpPr txBox="1">
            <a:spLocks noGrp="1"/>
          </p:cNvSpPr>
          <p:nvPr>
            <p:ph type="title"/>
          </p:nvPr>
        </p:nvSpPr>
        <p:spPr/>
        <p:txBody>
          <a:bodyPr/>
          <a:lstStyle/>
          <a:p>
            <a:pPr lvl="0"/>
            <a:r>
              <a:rPr lang="fr-FR" noProof="0" dirty="0"/>
              <a:t>ASSISTANCE / TICKETING</a:t>
            </a:r>
          </a:p>
        </p:txBody>
      </p:sp>
      <p:sp>
        <p:nvSpPr>
          <p:cNvPr id="12" name="Espace réservé du numéro de diapositive 11">
            <a:extLst>
              <a:ext uri="{FF2B5EF4-FFF2-40B4-BE49-F238E27FC236}">
                <a16:creationId xmlns:a16="http://schemas.microsoft.com/office/drawing/2014/main" id="{3052FCFA-0600-5627-7D8F-B9A03167119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A1543E08-936F-B3BC-2C48-5E0305740D64}"/>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507D42DF-BFFE-3E44-55A0-328214C2A1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0794334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PLANNING</a:t>
            </a:r>
          </a:p>
        </p:txBody>
      </p:sp>
      <p:sp>
        <p:nvSpPr>
          <p:cNvPr id="12" name="Espace réservé du numéro de diapositive 11">
            <a:extLst>
              <a:ext uri="{FF2B5EF4-FFF2-40B4-BE49-F238E27FC236}">
                <a16:creationId xmlns:a16="http://schemas.microsoft.com/office/drawing/2014/main" id="{E257855F-C603-4C35-FBF6-787E6D77F38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D1B73D4-7078-B394-740D-D07E3733E8C7}"/>
              </a:ext>
            </a:extLst>
          </p:cNvPr>
          <p:cNvSpPr>
            <a:spLocks noGrp="1"/>
          </p:cNvSpPr>
          <p:nvPr>
            <p:ph sz="half" idx="4294967295"/>
          </p:nvPr>
        </p:nvSpPr>
        <p:spPr>
          <a:xfrm>
            <a:off x="263524" y="2097088"/>
            <a:ext cx="5832475" cy="4630738"/>
          </a:xfrm>
        </p:spPr>
        <p:txBody>
          <a:bodyPr/>
          <a:lstStyle/>
          <a:p>
            <a:pPr lvl="0"/>
            <a:r>
              <a:rPr lang="fr-FR" b="1" noProof="0" dirty="0"/>
              <a:t>UTILISATION STANDARD</a:t>
            </a:r>
          </a:p>
          <a:p>
            <a:pPr lvl="1"/>
            <a:r>
              <a:rPr lang="fr-FR" sz="2000" noProof="0" dirty="0"/>
              <a:t>Organisez vos horaires</a:t>
            </a:r>
          </a:p>
          <a:p>
            <a:pPr lvl="1"/>
            <a:r>
              <a:rPr lang="fr-FR" sz="2000" noProof="0" dirty="0"/>
              <a:t>Assignez des employés aux différents shifts</a:t>
            </a:r>
          </a:p>
          <a:p>
            <a:pPr lvl="1"/>
            <a:r>
              <a:rPr lang="fr-FR" sz="2000" noProof="0" dirty="0"/>
              <a:t>Gérez les demandes de changement de shift</a:t>
            </a:r>
          </a:p>
          <a:p>
            <a:pPr lvl="1"/>
            <a:r>
              <a:rPr lang="fr-FR" sz="2000" noProof="0" dirty="0"/>
              <a:t>Validez et publiez votre planning</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9345C74E-7625-AEA6-864F-8C7AD157838E}"/>
              </a:ext>
            </a:extLst>
          </p:cNvPr>
          <p:cNvPicPr>
            <a:picLocks noChangeAspect="1"/>
          </p:cNvPicPr>
          <p:nvPr/>
        </p:nvPicPr>
        <p:blipFill>
          <a:blip r:embed="rId3">
            <a:extLst>
              <a:ext uri="{28A0092B-C50C-407E-A947-70E740481C1C}">
                <a14:useLocalDpi xmlns:a14="http://schemas.microsoft.com/office/drawing/2010/main" val="0"/>
              </a:ext>
            </a:extLst>
          </a:blip>
          <a:srcRect l="9067" t="20768" r="9016" b="20862"/>
          <a:stretch/>
        </p:blipFill>
        <p:spPr>
          <a:xfrm>
            <a:off x="6547200" y="2561737"/>
            <a:ext cx="4431600" cy="3157812"/>
          </a:xfrm>
          <a:prstGeom prst="rect">
            <a:avLst/>
          </a:prstGeom>
        </p:spPr>
      </p:pic>
    </p:spTree>
    <p:extLst>
      <p:ext uri="{BB962C8B-B14F-4D97-AF65-F5344CB8AC3E}">
        <p14:creationId xmlns:p14="http://schemas.microsoft.com/office/powerpoint/2010/main" val="22497014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1E3B8221-FC9E-B392-A3E0-7270FB500530}"/>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72AAB09B-1CC9-A31E-42BB-63E53AFE0E74}"/>
              </a:ext>
            </a:extLst>
          </p:cNvPr>
          <p:cNvSpPr txBox="1">
            <a:spLocks noGrp="1"/>
          </p:cNvSpPr>
          <p:nvPr>
            <p:ph type="title"/>
          </p:nvPr>
        </p:nvSpPr>
        <p:spPr/>
        <p:txBody>
          <a:bodyPr/>
          <a:lstStyle/>
          <a:p>
            <a:pPr lvl="0"/>
            <a:r>
              <a:rPr lang="fr-FR" noProof="0" dirty="0"/>
              <a:t>PLANNING</a:t>
            </a:r>
          </a:p>
        </p:txBody>
      </p:sp>
      <p:sp>
        <p:nvSpPr>
          <p:cNvPr id="12" name="Espace réservé du numéro de diapositive 11">
            <a:extLst>
              <a:ext uri="{FF2B5EF4-FFF2-40B4-BE49-F238E27FC236}">
                <a16:creationId xmlns:a16="http://schemas.microsoft.com/office/drawing/2014/main" id="{90E5E196-9F77-40A4-EFF3-F56996288B0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C2311270-434E-58F9-69FE-6588955F8149}"/>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323F876E-CF8A-D8FD-B4FF-857A2DA3BD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21453" y="2514600"/>
            <a:ext cx="879812" cy="914400"/>
          </a:xfrm>
          <a:prstGeom prst="rect">
            <a:avLst/>
          </a:prstGeom>
        </p:spPr>
      </p:pic>
    </p:spTree>
    <p:extLst>
      <p:ext uri="{BB962C8B-B14F-4D97-AF65-F5344CB8AC3E}">
        <p14:creationId xmlns:p14="http://schemas.microsoft.com/office/powerpoint/2010/main" val="27359547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EMAIL MARKETING</a:t>
            </a:r>
          </a:p>
        </p:txBody>
      </p:sp>
      <p:sp>
        <p:nvSpPr>
          <p:cNvPr id="12" name="Espace réservé du numéro de diapositive 11">
            <a:extLst>
              <a:ext uri="{FF2B5EF4-FFF2-40B4-BE49-F238E27FC236}">
                <a16:creationId xmlns:a16="http://schemas.microsoft.com/office/drawing/2014/main" id="{41FD78AC-8273-5C3A-202B-F8F4CEA9938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4B64952A-7306-B423-3418-A2F449C734A1}"/>
              </a:ext>
            </a:extLst>
          </p:cNvPr>
          <p:cNvSpPr>
            <a:spLocks noGrp="1"/>
          </p:cNvSpPr>
          <p:nvPr>
            <p:ph sz="half" idx="4294967295"/>
          </p:nvPr>
        </p:nvSpPr>
        <p:spPr>
          <a:xfrm>
            <a:off x="263524" y="2097088"/>
            <a:ext cx="5832476" cy="4630738"/>
          </a:xfrm>
        </p:spPr>
        <p:txBody>
          <a:bodyPr/>
          <a:lstStyle/>
          <a:p>
            <a:pPr lvl="0"/>
            <a:r>
              <a:rPr lang="fr-FR" b="1" noProof="0" dirty="0"/>
              <a:t>UTILISATION STANDARD</a:t>
            </a:r>
          </a:p>
          <a:p>
            <a:pPr lvl="1"/>
            <a:r>
              <a:rPr lang="fr-FR" sz="2000" noProof="0" dirty="0"/>
              <a:t>Envoyez des newsletters à partir d'un modèle d'email</a:t>
            </a:r>
          </a:p>
          <a:p>
            <a:pPr lvl="1"/>
            <a:r>
              <a:rPr lang="fr-FR" sz="2000" noProof="0" dirty="0"/>
              <a:t>Gérez vos listes de diffusion</a:t>
            </a:r>
          </a:p>
          <a:p>
            <a:pPr lvl="1"/>
            <a:r>
              <a:rPr lang="fr-FR" sz="2000" noProof="0" dirty="0"/>
              <a:t>Gérez vos listes noires</a:t>
            </a:r>
          </a:p>
          <a:p>
            <a:pPr lvl="1"/>
            <a:r>
              <a:rPr lang="fr-FR" sz="2000" noProof="0" dirty="0"/>
              <a:t>Analysez la livraison : ouvert, délivré, cliqué, répondu…</a:t>
            </a:r>
          </a:p>
          <a:p>
            <a:pPr lvl="1"/>
            <a:r>
              <a:rPr lang="fr-FR" sz="2000" noProof="0" dirty="0"/>
              <a:t>Analysez les raisons de désinscription</a:t>
            </a:r>
          </a:p>
          <a:p>
            <a:pPr lvl="1"/>
            <a:r>
              <a:rPr lang="fr-FR" sz="2000" noProof="0" dirty="0"/>
              <a:t>Permettez aux utilisateurs de sélectionner leurs favoris</a:t>
            </a:r>
          </a:p>
          <a:p>
            <a:pPr marL="457200" lvl="1" indent="0">
              <a:buNone/>
            </a:pPr>
            <a:endParaRPr lang="fr-FR" sz="2000" noProof="0" dirty="0"/>
          </a:p>
          <a:p>
            <a:r>
              <a:rPr lang="fr-FR" sz="2000" noProof="0" dirty="0"/>
              <a:t>Disponible également avec : marketing par SMS et marketing sur les réseaux sociaux.</a:t>
            </a:r>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0C588F5A-4DAD-1BCE-C512-B0FDC1E3964A}"/>
              </a:ext>
            </a:extLst>
          </p:cNvPr>
          <p:cNvPicPr>
            <a:picLocks noChangeAspect="1"/>
          </p:cNvPicPr>
          <p:nvPr/>
        </p:nvPicPr>
        <p:blipFill>
          <a:blip r:embed="rId3">
            <a:extLst>
              <a:ext uri="{28A0092B-C50C-407E-A947-70E740481C1C}">
                <a14:useLocalDpi xmlns:a14="http://schemas.microsoft.com/office/drawing/2010/main" val="0"/>
              </a:ext>
            </a:extLst>
          </a:blip>
          <a:srcRect l="9067" t="20768" r="9016" b="20862"/>
          <a:stretch/>
        </p:blipFill>
        <p:spPr>
          <a:xfrm>
            <a:off x="6547200" y="2561737"/>
            <a:ext cx="4431600" cy="3157812"/>
          </a:xfrm>
          <a:prstGeom prst="rect">
            <a:avLst/>
          </a:prstGeom>
        </p:spPr>
      </p:pic>
    </p:spTree>
    <p:extLst>
      <p:ext uri="{BB962C8B-B14F-4D97-AF65-F5344CB8AC3E}">
        <p14:creationId xmlns:p14="http://schemas.microsoft.com/office/powerpoint/2010/main" val="33933571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6F24464A-175F-BE81-3179-CF8212F47B8C}"/>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081A40C-BDD2-48C1-6B5C-569EAD62B5BF}"/>
              </a:ext>
            </a:extLst>
          </p:cNvPr>
          <p:cNvSpPr txBox="1">
            <a:spLocks noGrp="1"/>
          </p:cNvSpPr>
          <p:nvPr>
            <p:ph type="title"/>
          </p:nvPr>
        </p:nvSpPr>
        <p:spPr/>
        <p:txBody>
          <a:bodyPr/>
          <a:lstStyle/>
          <a:p>
            <a:pPr lvl="0"/>
            <a:r>
              <a:rPr lang="fr-FR" noProof="0" dirty="0"/>
              <a:t>EMAIL MARKETING</a:t>
            </a:r>
          </a:p>
        </p:txBody>
      </p:sp>
      <p:sp>
        <p:nvSpPr>
          <p:cNvPr id="12" name="Espace réservé du numéro de diapositive 11">
            <a:extLst>
              <a:ext uri="{FF2B5EF4-FFF2-40B4-BE49-F238E27FC236}">
                <a16:creationId xmlns:a16="http://schemas.microsoft.com/office/drawing/2014/main" id="{CA796204-3F41-20F1-3BF9-F1BC3D4D255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93AD36F-60D6-074E-2E92-AA7C344B6A13}"/>
              </a:ext>
            </a:extLst>
          </p:cNvPr>
          <p:cNvSpPr>
            <a:spLocks noGrp="1"/>
          </p:cNvSpPr>
          <p:nvPr>
            <p:ph idx="4294967295"/>
          </p:nvPr>
        </p:nvSpPr>
        <p:spPr>
          <a:xfrm>
            <a:off x="838200" y="2083925"/>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48AC25F2-A7E5-FEBD-14BA-29601326D2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40104286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MARKETING AUTOMATION</a:t>
            </a:r>
          </a:p>
        </p:txBody>
      </p:sp>
      <p:sp>
        <p:nvSpPr>
          <p:cNvPr id="12" name="Espace réservé du numéro de diapositive 11">
            <a:extLst>
              <a:ext uri="{FF2B5EF4-FFF2-40B4-BE49-F238E27FC236}">
                <a16:creationId xmlns:a16="http://schemas.microsoft.com/office/drawing/2014/main" id="{C5FE1821-C44D-5AF2-D699-7B0A2538D73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CAD50EC-A84E-0616-8B28-FE95B261B7AE}"/>
              </a:ext>
            </a:extLst>
          </p:cNvPr>
          <p:cNvSpPr>
            <a:spLocks noGrp="1"/>
          </p:cNvSpPr>
          <p:nvPr>
            <p:ph sz="half" idx="4294967295"/>
          </p:nvPr>
        </p:nvSpPr>
        <p:spPr>
          <a:xfrm>
            <a:off x="263525" y="2097088"/>
            <a:ext cx="6096000" cy="4630738"/>
          </a:xfrm>
        </p:spPr>
        <p:txBody>
          <a:bodyPr/>
          <a:lstStyle/>
          <a:p>
            <a:pPr lvl="0"/>
            <a:r>
              <a:rPr lang="fr-FR" b="1" noProof="0" dirty="0"/>
              <a:t>UTILISATION STANDARD </a:t>
            </a:r>
          </a:p>
          <a:p>
            <a:pPr lvl="1"/>
            <a:r>
              <a:rPr lang="fr-FR" sz="2000" noProof="0" dirty="0"/>
              <a:t>Créez des campagnes basées sur des déclencheurs (par e-mail, contact, commande, visite e-commerce, etc.)</a:t>
            </a:r>
          </a:p>
          <a:p>
            <a:pPr lvl="1"/>
            <a:r>
              <a:rPr lang="fr-FR" sz="2000" noProof="0" dirty="0"/>
              <a:t>Envoyez et suivez les e-mails</a:t>
            </a:r>
          </a:p>
          <a:p>
            <a:pPr lvl="1"/>
            <a:r>
              <a:rPr lang="fr-FR" sz="2000" noProof="0" dirty="0"/>
              <a:t>Automatisez également des actions dans le système : attribuer des points, modifier des champs, créer des actions pour les employés</a:t>
            </a:r>
          </a:p>
          <a:p>
            <a:pPr lvl="1"/>
            <a:r>
              <a:rPr lang="fr-FR" sz="2000" noProof="0" dirty="0"/>
              <a:t>Analysez les personnes dans les flux, les actions effectuées et les prochaines étapes à réaliser</a:t>
            </a:r>
            <a:endParaRPr lang="fr-FR" sz="2800" noProof="0" dirty="0"/>
          </a:p>
        </p:txBody>
      </p:sp>
      <p:pic>
        <p:nvPicPr>
          <p:cNvPr id="3" name="Image 2" descr="Une image contenant Appareils électroniques, texte, capture d’écran, ordinateur&#10;&#10;Le contenu généré par l’IA peut être incorrect.">
            <a:extLst>
              <a:ext uri="{FF2B5EF4-FFF2-40B4-BE49-F238E27FC236}">
                <a16:creationId xmlns:a16="http://schemas.microsoft.com/office/drawing/2014/main" id="{B69B42FF-FA12-4E78-4132-D1061B267954}"/>
              </a:ext>
            </a:extLst>
          </p:cNvPr>
          <p:cNvPicPr>
            <a:picLocks noChangeAspect="1"/>
          </p:cNvPicPr>
          <p:nvPr/>
        </p:nvPicPr>
        <p:blipFill>
          <a:blip r:embed="rId3">
            <a:extLst>
              <a:ext uri="{28A0092B-C50C-407E-A947-70E740481C1C}">
                <a14:useLocalDpi xmlns:a14="http://schemas.microsoft.com/office/drawing/2010/main" val="0"/>
              </a:ext>
            </a:extLst>
          </a:blip>
          <a:srcRect l="9148" t="20871" r="8937" b="20812"/>
          <a:stretch/>
        </p:blipFill>
        <p:spPr>
          <a:xfrm>
            <a:off x="6547200" y="2563218"/>
            <a:ext cx="4431600" cy="3154849"/>
          </a:xfrm>
          <a:prstGeom prst="rect">
            <a:avLst/>
          </a:prstGeom>
        </p:spPr>
      </p:pic>
    </p:spTree>
    <p:extLst>
      <p:ext uri="{BB962C8B-B14F-4D97-AF65-F5344CB8AC3E}">
        <p14:creationId xmlns:p14="http://schemas.microsoft.com/office/powerpoint/2010/main" val="11663108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C8F6312E-33A3-CA17-209C-38B90EBAB56C}"/>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750A40A0-0165-5AD8-A4BF-12DDA3EB16A4}"/>
              </a:ext>
            </a:extLst>
          </p:cNvPr>
          <p:cNvSpPr txBox="1">
            <a:spLocks noGrp="1"/>
          </p:cNvSpPr>
          <p:nvPr>
            <p:ph type="title"/>
          </p:nvPr>
        </p:nvSpPr>
        <p:spPr/>
        <p:txBody>
          <a:bodyPr/>
          <a:lstStyle/>
          <a:p>
            <a:pPr lvl="0"/>
            <a:r>
              <a:rPr lang="fr-FR" noProof="0" dirty="0"/>
              <a:t>MARKETING AUTOMATION</a:t>
            </a:r>
          </a:p>
        </p:txBody>
      </p:sp>
      <p:sp>
        <p:nvSpPr>
          <p:cNvPr id="12" name="Espace réservé du numéro de diapositive 11">
            <a:extLst>
              <a:ext uri="{FF2B5EF4-FFF2-40B4-BE49-F238E27FC236}">
                <a16:creationId xmlns:a16="http://schemas.microsoft.com/office/drawing/2014/main" id="{6EDD25D5-1455-0E0F-9F86-5E11DCA1A03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6F7E13D-E4E4-BF1B-15CC-8096BC2AD63C}"/>
              </a:ext>
            </a:extLst>
          </p:cNvPr>
          <p:cNvSpPr>
            <a:spLocks noGrp="1"/>
          </p:cNvSpPr>
          <p:nvPr>
            <p:ph idx="4294967295"/>
          </p:nvPr>
        </p:nvSpPr>
        <p:spPr>
          <a:xfrm>
            <a:off x="838200" y="2097088"/>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00874109-035F-C33B-04D1-65B73CC485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42258" y="2514600"/>
            <a:ext cx="879812" cy="914400"/>
          </a:xfrm>
          <a:prstGeom prst="rect">
            <a:avLst/>
          </a:prstGeom>
        </p:spPr>
      </p:pic>
    </p:spTree>
    <p:extLst>
      <p:ext uri="{BB962C8B-B14F-4D97-AF65-F5344CB8AC3E}">
        <p14:creationId xmlns:p14="http://schemas.microsoft.com/office/powerpoint/2010/main" val="3009333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SONDAGES</a:t>
            </a:r>
          </a:p>
        </p:txBody>
      </p:sp>
      <p:sp>
        <p:nvSpPr>
          <p:cNvPr id="12" name="Espace réservé du numéro de diapositive 11">
            <a:extLst>
              <a:ext uri="{FF2B5EF4-FFF2-40B4-BE49-F238E27FC236}">
                <a16:creationId xmlns:a16="http://schemas.microsoft.com/office/drawing/2014/main" id="{9598B2FE-37D6-6563-B140-038BE7444BD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864B137-18D3-5611-6FE7-8C31706D80D2}"/>
              </a:ext>
            </a:extLst>
          </p:cNvPr>
          <p:cNvSpPr>
            <a:spLocks noGrp="1"/>
          </p:cNvSpPr>
          <p:nvPr>
            <p:ph sz="half" idx="4294967295"/>
          </p:nvPr>
        </p:nvSpPr>
        <p:spPr>
          <a:xfrm>
            <a:off x="263525" y="2097088"/>
            <a:ext cx="6096000" cy="4630738"/>
          </a:xfrm>
        </p:spPr>
        <p:txBody>
          <a:bodyPr/>
          <a:lstStyle/>
          <a:p>
            <a:pPr lvl="0"/>
            <a:r>
              <a:rPr lang="fr-FR" b="1" noProof="0" dirty="0"/>
              <a:t>UTILISATION STANDARD</a:t>
            </a:r>
          </a:p>
          <a:p>
            <a:pPr lvl="1"/>
            <a:r>
              <a:rPr lang="fr-FR" sz="2000" noProof="0" dirty="0"/>
              <a:t>Envoyez des enquêtes, gérez le contenu et l'organisation</a:t>
            </a:r>
          </a:p>
          <a:p>
            <a:pPr lvl="1"/>
            <a:r>
              <a:rPr lang="fr-FR" sz="2000" noProof="0" dirty="0"/>
              <a:t>Créez des quiz et des certifications, comptez les points et délivrez des certificats</a:t>
            </a:r>
          </a:p>
          <a:p>
            <a:pPr lvl="1"/>
            <a:r>
              <a:rPr lang="fr-FR" sz="2000" noProof="0" dirty="0"/>
              <a:t>Créez des enquêtes en direct pour animer vos réunions</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18C372D1-29F8-C8A3-2802-5307EE79266C}"/>
              </a:ext>
            </a:extLst>
          </p:cNvPr>
          <p:cNvPicPr>
            <a:picLocks noChangeAspect="1"/>
          </p:cNvPicPr>
          <p:nvPr/>
        </p:nvPicPr>
        <p:blipFill>
          <a:blip r:embed="rId3">
            <a:extLst>
              <a:ext uri="{28A0092B-C50C-407E-A947-70E740481C1C}">
                <a14:useLocalDpi xmlns:a14="http://schemas.microsoft.com/office/drawing/2010/main" val="0"/>
              </a:ext>
            </a:extLst>
          </a:blip>
          <a:srcRect l="9067" t="20861" r="8962" b="20824"/>
          <a:stretch/>
        </p:blipFill>
        <p:spPr>
          <a:xfrm>
            <a:off x="6623050" y="2564272"/>
            <a:ext cx="4431600" cy="3152741"/>
          </a:xfrm>
          <a:prstGeom prst="rect">
            <a:avLst/>
          </a:prstGeom>
        </p:spPr>
      </p:pic>
    </p:spTree>
    <p:extLst>
      <p:ext uri="{BB962C8B-B14F-4D97-AF65-F5344CB8AC3E}">
        <p14:creationId xmlns:p14="http://schemas.microsoft.com/office/powerpoint/2010/main" val="3969656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F1CBD7F-17B2-AB77-721B-188A28D33D39}"/>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C1BD1ADA-A0C7-13FC-5343-0CC6BE5C1FF9}"/>
              </a:ext>
            </a:extLst>
          </p:cNvPr>
          <p:cNvSpPr txBox="1">
            <a:spLocks noGrp="1"/>
          </p:cNvSpPr>
          <p:nvPr>
            <p:ph type="title"/>
          </p:nvPr>
        </p:nvSpPr>
        <p:spPr/>
        <p:txBody>
          <a:bodyPr/>
          <a:lstStyle/>
          <a:p>
            <a:pPr lvl="0"/>
            <a:r>
              <a:rPr lang="fr-FR" noProof="0" dirty="0"/>
              <a:t>SONDAGES</a:t>
            </a:r>
          </a:p>
        </p:txBody>
      </p:sp>
      <p:sp>
        <p:nvSpPr>
          <p:cNvPr id="12" name="Espace réservé du numéro de diapositive 11">
            <a:extLst>
              <a:ext uri="{FF2B5EF4-FFF2-40B4-BE49-F238E27FC236}">
                <a16:creationId xmlns:a16="http://schemas.microsoft.com/office/drawing/2014/main" id="{31B88A67-61D9-687D-E24D-B62760CFEB0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32BDAFF-D5F8-D91B-F1B6-9B78537305A2}"/>
              </a:ext>
            </a:extLst>
          </p:cNvPr>
          <p:cNvSpPr>
            <a:spLocks noGrp="1"/>
          </p:cNvSpPr>
          <p:nvPr>
            <p:ph idx="4294967295"/>
          </p:nvPr>
        </p:nvSpPr>
        <p:spPr>
          <a:xfrm>
            <a:off x="838200" y="2097088"/>
            <a:ext cx="10515600" cy="4667250"/>
          </a:xfrm>
        </p:spPr>
        <p:txBody>
          <a:bodyPr/>
          <a:lstStyle/>
          <a:p>
            <a:pPr lvl="0"/>
            <a:r>
              <a:rPr lang="fr-FR" b="1" noProof="0" dirty="0"/>
              <a:t>CUSTOMISATIONS </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D307793B-42B4-9987-71FE-243E805997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42258" y="2514600"/>
            <a:ext cx="879812" cy="914400"/>
          </a:xfrm>
          <a:prstGeom prst="rect">
            <a:avLst/>
          </a:prstGeom>
        </p:spPr>
      </p:pic>
    </p:spTree>
    <p:extLst>
      <p:ext uri="{BB962C8B-B14F-4D97-AF65-F5344CB8AC3E}">
        <p14:creationId xmlns:p14="http://schemas.microsoft.com/office/powerpoint/2010/main" val="6994491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EMPLOYES</a:t>
            </a:r>
          </a:p>
        </p:txBody>
      </p:sp>
      <p:sp>
        <p:nvSpPr>
          <p:cNvPr id="12" name="Espace réservé du numéro de diapositive 11">
            <a:extLst>
              <a:ext uri="{FF2B5EF4-FFF2-40B4-BE49-F238E27FC236}">
                <a16:creationId xmlns:a16="http://schemas.microsoft.com/office/drawing/2014/main" id="{81E89199-49F4-E767-0A52-42015008542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9F6FDF9A-5CCC-B1B9-571A-94C0E1813455}"/>
              </a:ext>
            </a:extLst>
          </p:cNvPr>
          <p:cNvSpPr>
            <a:spLocks noGrp="1"/>
          </p:cNvSpPr>
          <p:nvPr>
            <p:ph sz="half" idx="4294967295"/>
          </p:nvPr>
        </p:nvSpPr>
        <p:spPr>
          <a:xfrm>
            <a:off x="263525" y="2097088"/>
            <a:ext cx="6096000" cy="4630738"/>
          </a:xfrm>
        </p:spPr>
        <p:txBody>
          <a:bodyPr>
            <a:normAutofit/>
          </a:bodyPr>
          <a:lstStyle/>
          <a:p>
            <a:pPr lvl="0"/>
            <a:r>
              <a:rPr lang="fr-FR" b="1" noProof="0" dirty="0"/>
              <a:t>UTILISATION STANDARD</a:t>
            </a:r>
          </a:p>
          <a:p>
            <a:pPr lvl="1"/>
            <a:r>
              <a:rPr lang="fr-FR" sz="2000" noProof="0" dirty="0"/>
              <a:t>Gérez votre répertoire d'employés</a:t>
            </a:r>
          </a:p>
          <a:p>
            <a:pPr lvl="1"/>
            <a:r>
              <a:rPr lang="fr-FR" sz="2000" noProof="0" dirty="0"/>
              <a:t>Utilisez un organigramme pour visualiser les niveaux de gestion</a:t>
            </a:r>
          </a:p>
          <a:p>
            <a:pPr lvl="1"/>
            <a:r>
              <a:rPr lang="fr-FR" sz="2000" noProof="0" dirty="0"/>
              <a:t>Séparez les informations professionnelles et privées</a:t>
            </a:r>
          </a:p>
          <a:p>
            <a:pPr lvl="1"/>
            <a:r>
              <a:rPr lang="fr-FR" sz="2000" noProof="0" dirty="0"/>
              <a:t>Organisez les documents des employés, contrats, signatures</a:t>
            </a:r>
          </a:p>
          <a:p>
            <a:pPr lvl="1"/>
            <a:r>
              <a:rPr lang="fr-FR" sz="2000" noProof="0" dirty="0"/>
              <a:t>Liez les employés aux recrutements</a:t>
            </a:r>
          </a:p>
          <a:p>
            <a:pPr lvl="1"/>
            <a:r>
              <a:rPr lang="fr-FR" sz="2000" noProof="0" dirty="0"/>
              <a:t>Définissez les compétences et certifications pour les unifier pour tous vos employés</a:t>
            </a:r>
          </a:p>
          <a:p>
            <a:pPr lvl="1"/>
            <a:r>
              <a:rPr lang="fr-FR" sz="2000" noProof="0" dirty="0"/>
              <a:t>Gérez les plans d'activité tels que l'</a:t>
            </a:r>
            <a:r>
              <a:rPr lang="fr-FR" sz="2000" noProof="0" dirty="0" err="1"/>
              <a:t>onboarding</a:t>
            </a:r>
            <a:r>
              <a:rPr lang="fr-FR" sz="2000" noProof="0" dirty="0"/>
              <a:t>, l'</a:t>
            </a:r>
            <a:r>
              <a:rPr lang="fr-FR" sz="2000" noProof="0" dirty="0" err="1"/>
              <a:t>offboarding</a:t>
            </a:r>
            <a:r>
              <a:rPr lang="fr-FR" sz="2000" noProof="0" dirty="0"/>
              <a:t>, et autres</a:t>
            </a:r>
            <a:endParaRPr lang="fr-FR" sz="2800" noProof="0" dirty="0"/>
          </a:p>
        </p:txBody>
      </p:sp>
      <p:pic>
        <p:nvPicPr>
          <p:cNvPr id="3" name="Image 2" descr="Une image contenant texte, capture d’écran, ordinateur, logiciel&#10;&#10;Le contenu généré par l’IA peut être incorrect.">
            <a:extLst>
              <a:ext uri="{FF2B5EF4-FFF2-40B4-BE49-F238E27FC236}">
                <a16:creationId xmlns:a16="http://schemas.microsoft.com/office/drawing/2014/main" id="{55C00095-576E-2510-A105-82B3708ED9D4}"/>
              </a:ext>
            </a:extLst>
          </p:cNvPr>
          <p:cNvPicPr>
            <a:picLocks noChangeAspect="1"/>
          </p:cNvPicPr>
          <p:nvPr/>
        </p:nvPicPr>
        <p:blipFill>
          <a:blip r:embed="rId3">
            <a:extLst>
              <a:ext uri="{28A0092B-C50C-407E-A947-70E740481C1C}">
                <a14:useLocalDpi xmlns:a14="http://schemas.microsoft.com/office/drawing/2010/main" val="0"/>
              </a:ext>
            </a:extLst>
          </a:blip>
          <a:srcRect l="9202" t="20817" r="8882" b="20867"/>
          <a:stretch/>
        </p:blipFill>
        <p:spPr>
          <a:xfrm>
            <a:off x="6547200" y="2563218"/>
            <a:ext cx="4431600" cy="3154849"/>
          </a:xfrm>
          <a:prstGeom prst="rect">
            <a:avLst/>
          </a:prstGeom>
        </p:spPr>
      </p:pic>
    </p:spTree>
    <p:extLst>
      <p:ext uri="{BB962C8B-B14F-4D97-AF65-F5344CB8AC3E}">
        <p14:creationId xmlns:p14="http://schemas.microsoft.com/office/powerpoint/2010/main" val="24222786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E0F6005-AFBA-15FF-2CE7-EFDBA3C8B2AA}"/>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190C9968-4451-A445-C0A4-A1F6CAA0DC34}"/>
              </a:ext>
            </a:extLst>
          </p:cNvPr>
          <p:cNvSpPr txBox="1">
            <a:spLocks noGrp="1"/>
          </p:cNvSpPr>
          <p:nvPr>
            <p:ph type="title"/>
          </p:nvPr>
        </p:nvSpPr>
        <p:spPr/>
        <p:txBody>
          <a:bodyPr/>
          <a:lstStyle/>
          <a:p>
            <a:pPr lvl="0"/>
            <a:r>
              <a:rPr lang="fr-FR" noProof="0" dirty="0"/>
              <a:t>EMPLOYES</a:t>
            </a:r>
          </a:p>
        </p:txBody>
      </p:sp>
      <p:sp>
        <p:nvSpPr>
          <p:cNvPr id="12" name="Espace réservé du numéro de diapositive 11">
            <a:extLst>
              <a:ext uri="{FF2B5EF4-FFF2-40B4-BE49-F238E27FC236}">
                <a16:creationId xmlns:a16="http://schemas.microsoft.com/office/drawing/2014/main" id="{92356FCE-9E2B-8CA6-85C0-9D83FBB6C2A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B3739BB2-634A-BE2B-74A5-00CF223640FA}"/>
              </a:ext>
            </a:extLst>
          </p:cNvPr>
          <p:cNvSpPr>
            <a:spLocks noGrp="1"/>
          </p:cNvSpPr>
          <p:nvPr>
            <p:ph idx="4294967295"/>
          </p:nvPr>
        </p:nvSpPr>
        <p:spPr>
          <a:xfrm>
            <a:off x="838200" y="2088592"/>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25509136-A71B-6558-785C-2BF8A6C14A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42258" y="2514600"/>
            <a:ext cx="879812" cy="914400"/>
          </a:xfrm>
          <a:prstGeom prst="rect">
            <a:avLst/>
          </a:prstGeom>
        </p:spPr>
      </p:pic>
    </p:spTree>
    <p:extLst>
      <p:ext uri="{BB962C8B-B14F-4D97-AF65-F5344CB8AC3E}">
        <p14:creationId xmlns:p14="http://schemas.microsoft.com/office/powerpoint/2010/main" val="35365825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137AC631-622F-8CB2-FDB1-AFCF7B83484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0D674581-0239-08EC-F106-A9D40F41F1F5}"/>
              </a:ext>
            </a:extLst>
          </p:cNvPr>
          <p:cNvSpPr txBox="1">
            <a:spLocks noGrp="1"/>
          </p:cNvSpPr>
          <p:nvPr>
            <p:ph type="title"/>
          </p:nvPr>
        </p:nvSpPr>
        <p:spPr/>
        <p:txBody>
          <a:bodyPr/>
          <a:lstStyle/>
          <a:p>
            <a:pPr lvl="0"/>
            <a:r>
              <a:rPr lang="fr-FR" noProof="0" dirty="0"/>
              <a:t>PAIE</a:t>
            </a:r>
          </a:p>
        </p:txBody>
      </p:sp>
      <p:sp>
        <p:nvSpPr>
          <p:cNvPr id="12" name="Espace réservé du numéro de diapositive 11">
            <a:extLst>
              <a:ext uri="{FF2B5EF4-FFF2-40B4-BE49-F238E27FC236}">
                <a16:creationId xmlns:a16="http://schemas.microsoft.com/office/drawing/2014/main" id="{D3A8A6C3-3AED-5ADD-7A24-91BC42441F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1697810-914D-A53E-D38F-5C51E2510651}"/>
              </a:ext>
            </a:extLst>
          </p:cNvPr>
          <p:cNvSpPr>
            <a:spLocks noGrp="1"/>
          </p:cNvSpPr>
          <p:nvPr>
            <p:ph sz="half" idx="4294967295"/>
          </p:nvPr>
        </p:nvSpPr>
        <p:spPr>
          <a:xfrm>
            <a:off x="253538" y="1868555"/>
            <a:ext cx="7014650" cy="4886131"/>
          </a:xfrm>
        </p:spPr>
        <p:txBody>
          <a:bodyPr>
            <a:normAutofit/>
          </a:bodyPr>
          <a:lstStyle/>
          <a:p>
            <a:pPr lvl="0"/>
            <a:r>
              <a:rPr lang="fr-FR" sz="3300" b="1" noProof="0" dirty="0"/>
              <a:t>UTILISATION STANDARD</a:t>
            </a:r>
          </a:p>
          <a:p>
            <a:pPr lvl="1"/>
            <a:r>
              <a:rPr lang="fr-FR" sz="2200" dirty="0"/>
              <a:t>Automatisez le calcul des salaires, cotisations sociales et déclarations légales pour éviter les erreurs et gagner du temps chaque mois.</a:t>
            </a:r>
          </a:p>
          <a:p>
            <a:pPr lvl="1"/>
            <a:r>
              <a:rPr lang="fr-FR" sz="2200" dirty="0"/>
              <a:t>Personnalisez les règles de paie (primes, avantages, absences) selon les conventions collectives et les spécificités de chaque employé.</a:t>
            </a:r>
          </a:p>
          <a:p>
            <a:pPr lvl="1"/>
            <a:r>
              <a:rPr lang="fr-FR" sz="2200" dirty="0"/>
              <a:t>Synchronisez les données avec la comptabilité et les ressources humaines pour une gestion unifiée et une traçabilité optimale.</a:t>
            </a:r>
          </a:p>
        </p:txBody>
      </p:sp>
      <p:pic>
        <p:nvPicPr>
          <p:cNvPr id="2" name="Image 1">
            <a:extLst>
              <a:ext uri="{FF2B5EF4-FFF2-40B4-BE49-F238E27FC236}">
                <a16:creationId xmlns:a16="http://schemas.microsoft.com/office/drawing/2014/main" id="{7F4878F4-614E-29C0-AA8B-AED6472E92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8554" y="2446020"/>
            <a:ext cx="4148395" cy="2842260"/>
          </a:xfrm>
          <a:prstGeom prst="rect">
            <a:avLst/>
          </a:prstGeom>
        </p:spPr>
      </p:pic>
    </p:spTree>
    <p:extLst>
      <p:ext uri="{BB962C8B-B14F-4D97-AF65-F5344CB8AC3E}">
        <p14:creationId xmlns:p14="http://schemas.microsoft.com/office/powerpoint/2010/main" val="39287996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A722223-95D8-03F3-6C0F-BE430761A0B0}"/>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8481926E-B78F-60DD-C657-8CF7D5B0430E}"/>
              </a:ext>
            </a:extLst>
          </p:cNvPr>
          <p:cNvSpPr txBox="1">
            <a:spLocks noGrp="1"/>
          </p:cNvSpPr>
          <p:nvPr>
            <p:ph type="title"/>
          </p:nvPr>
        </p:nvSpPr>
        <p:spPr/>
        <p:txBody>
          <a:bodyPr/>
          <a:lstStyle/>
          <a:p>
            <a:pPr lvl="0"/>
            <a:r>
              <a:rPr lang="fr-FR" noProof="0" dirty="0"/>
              <a:t>PAIE</a:t>
            </a:r>
          </a:p>
        </p:txBody>
      </p:sp>
      <p:sp>
        <p:nvSpPr>
          <p:cNvPr id="12" name="Espace réservé du numéro de diapositive 11">
            <a:extLst>
              <a:ext uri="{FF2B5EF4-FFF2-40B4-BE49-F238E27FC236}">
                <a16:creationId xmlns:a16="http://schemas.microsoft.com/office/drawing/2014/main" id="{D879949B-DFC7-B863-CD67-1AD65DA0721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A88CA416-E65E-331F-9D71-38413037C24C}"/>
              </a:ext>
            </a:extLst>
          </p:cNvPr>
          <p:cNvSpPr>
            <a:spLocks noGrp="1"/>
          </p:cNvSpPr>
          <p:nvPr>
            <p:ph idx="4294967295"/>
          </p:nvPr>
        </p:nvSpPr>
        <p:spPr>
          <a:xfrm>
            <a:off x="838200" y="2088592"/>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A4D9FEE-E02E-10E4-575E-D7430B7FEC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42258" y="2514600"/>
            <a:ext cx="879812" cy="914400"/>
          </a:xfrm>
          <a:prstGeom prst="rect">
            <a:avLst/>
          </a:prstGeom>
        </p:spPr>
      </p:pic>
    </p:spTree>
    <p:extLst>
      <p:ext uri="{BB962C8B-B14F-4D97-AF65-F5344CB8AC3E}">
        <p14:creationId xmlns:p14="http://schemas.microsoft.com/office/powerpoint/2010/main" val="32706287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NOTES DE FRAIS</a:t>
            </a:r>
          </a:p>
        </p:txBody>
      </p:sp>
      <p:sp>
        <p:nvSpPr>
          <p:cNvPr id="12" name="Espace réservé du numéro de diapositive 11">
            <a:extLst>
              <a:ext uri="{FF2B5EF4-FFF2-40B4-BE49-F238E27FC236}">
                <a16:creationId xmlns:a16="http://schemas.microsoft.com/office/drawing/2014/main" id="{F0D6E483-EEBB-1C7B-A750-E480E87C439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4B77E74-4239-038D-71A6-C75D223DC6A0}"/>
              </a:ext>
            </a:extLst>
          </p:cNvPr>
          <p:cNvSpPr>
            <a:spLocks noGrp="1"/>
          </p:cNvSpPr>
          <p:nvPr>
            <p:ph sz="half" idx="4294967295"/>
          </p:nvPr>
        </p:nvSpPr>
        <p:spPr>
          <a:xfrm>
            <a:off x="269230" y="2097088"/>
            <a:ext cx="6277970" cy="4630738"/>
          </a:xfrm>
        </p:spPr>
        <p:txBody>
          <a:bodyPr/>
          <a:lstStyle/>
          <a:p>
            <a:pPr lvl="0"/>
            <a:r>
              <a:rPr lang="fr-FR" b="1" noProof="0" dirty="0"/>
              <a:t>UTILISATION STANDARD</a:t>
            </a:r>
          </a:p>
          <a:p>
            <a:pPr lvl="1"/>
            <a:r>
              <a:rPr lang="fr-FR" sz="2000" noProof="0" dirty="0"/>
              <a:t>Permettez aux employés de capturer une photo de leurs dépenses pour en faciliter le traitement</a:t>
            </a:r>
          </a:p>
          <a:p>
            <a:pPr lvl="1"/>
            <a:r>
              <a:rPr lang="fr-FR" sz="2000" noProof="0" dirty="0"/>
              <a:t>Utilisez la reconnaissance optique de caractères (OCR) pour les identifier</a:t>
            </a:r>
          </a:p>
          <a:p>
            <a:pPr lvl="1"/>
            <a:r>
              <a:rPr lang="fr-FR" sz="2000" noProof="0" dirty="0"/>
              <a:t>Liez une dépense à un projet ou un client</a:t>
            </a:r>
          </a:p>
          <a:p>
            <a:pPr lvl="1"/>
            <a:r>
              <a:rPr lang="fr-FR" sz="2000" noProof="0" dirty="0"/>
              <a:t>Choisissez si l'employé a payé avec son propre moyen de paiement ou avec un moyen de paiement de l'entreprise</a:t>
            </a:r>
            <a:endParaRPr lang="fr-FR" sz="3200" noProof="0" dirty="0"/>
          </a:p>
        </p:txBody>
      </p:sp>
      <p:pic>
        <p:nvPicPr>
          <p:cNvPr id="3" name="Image 2" descr="Une image contenant texte, Appareils électroniques, capture d’écran, logiciel&#10;&#10;Le contenu généré par l’IA peut être incorrect.">
            <a:extLst>
              <a:ext uri="{FF2B5EF4-FFF2-40B4-BE49-F238E27FC236}">
                <a16:creationId xmlns:a16="http://schemas.microsoft.com/office/drawing/2014/main" id="{F0A577FE-AA9C-2213-0122-C0C8011CB3AC}"/>
              </a:ext>
            </a:extLst>
          </p:cNvPr>
          <p:cNvPicPr>
            <a:picLocks noChangeAspect="1"/>
          </p:cNvPicPr>
          <p:nvPr/>
        </p:nvPicPr>
        <p:blipFill>
          <a:blip r:embed="rId3">
            <a:extLst>
              <a:ext uri="{28A0092B-C50C-407E-A947-70E740481C1C}">
                <a14:useLocalDpi xmlns:a14="http://schemas.microsoft.com/office/drawing/2010/main" val="0"/>
              </a:ext>
            </a:extLst>
          </a:blip>
          <a:srcRect l="8983" t="20872" r="9046" b="20812"/>
          <a:stretch/>
        </p:blipFill>
        <p:spPr>
          <a:xfrm>
            <a:off x="6547200" y="2564273"/>
            <a:ext cx="4431600" cy="3152740"/>
          </a:xfrm>
          <a:prstGeom prst="rect">
            <a:avLst/>
          </a:prstGeom>
        </p:spPr>
      </p:pic>
    </p:spTree>
    <p:extLst>
      <p:ext uri="{BB962C8B-B14F-4D97-AF65-F5344CB8AC3E}">
        <p14:creationId xmlns:p14="http://schemas.microsoft.com/office/powerpoint/2010/main" val="36487401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50A1C21A-5628-D00B-7666-60E6BBF954D5}"/>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077AD70-7259-729B-2F59-7B61513F1BA3}"/>
              </a:ext>
            </a:extLst>
          </p:cNvPr>
          <p:cNvSpPr txBox="1">
            <a:spLocks noGrp="1"/>
          </p:cNvSpPr>
          <p:nvPr>
            <p:ph type="title"/>
          </p:nvPr>
        </p:nvSpPr>
        <p:spPr/>
        <p:txBody>
          <a:bodyPr/>
          <a:lstStyle/>
          <a:p>
            <a:pPr lvl="0"/>
            <a:r>
              <a:rPr lang="fr-FR" noProof="0" dirty="0"/>
              <a:t>NOTES DE FRAIS</a:t>
            </a:r>
          </a:p>
        </p:txBody>
      </p:sp>
      <p:sp>
        <p:nvSpPr>
          <p:cNvPr id="12" name="Espace réservé du numéro de diapositive 11">
            <a:extLst>
              <a:ext uri="{FF2B5EF4-FFF2-40B4-BE49-F238E27FC236}">
                <a16:creationId xmlns:a16="http://schemas.microsoft.com/office/drawing/2014/main" id="{9A9B55D8-835D-D9E9-CC32-AC14A2EF3E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DABF5FB-7D4A-97A7-6BF6-924213E17946}"/>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194C5D4C-FF59-3119-03EC-1F41C47918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1951768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CONGES</a:t>
            </a:r>
          </a:p>
        </p:txBody>
      </p:sp>
      <p:sp>
        <p:nvSpPr>
          <p:cNvPr id="14" name="Espace réservé du numéro de diapositive 13">
            <a:extLst>
              <a:ext uri="{FF2B5EF4-FFF2-40B4-BE49-F238E27FC236}">
                <a16:creationId xmlns:a16="http://schemas.microsoft.com/office/drawing/2014/main" id="{E20B35B4-DE42-8D78-F660-E350070164C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7A48543D-9780-A847-5D15-68B6DB321FE5}"/>
              </a:ext>
            </a:extLst>
          </p:cNvPr>
          <p:cNvSpPr>
            <a:spLocks noGrp="1"/>
          </p:cNvSpPr>
          <p:nvPr>
            <p:ph sz="half" idx="4294967295"/>
          </p:nvPr>
        </p:nvSpPr>
        <p:spPr>
          <a:xfrm>
            <a:off x="263525" y="2097088"/>
            <a:ext cx="6096000" cy="4630738"/>
          </a:xfrm>
        </p:spPr>
        <p:txBody>
          <a:bodyPr>
            <a:normAutofit/>
          </a:bodyPr>
          <a:lstStyle/>
          <a:p>
            <a:pPr lvl="0"/>
            <a:r>
              <a:rPr lang="fr-FR" b="1" noProof="0" dirty="0"/>
              <a:t>UTILISATION STANDARD </a:t>
            </a:r>
          </a:p>
          <a:p>
            <a:pPr lvl="1"/>
            <a:r>
              <a:rPr lang="fr-FR" sz="2000" noProof="0" dirty="0"/>
              <a:t>Accordez du temps de congé aux employés</a:t>
            </a:r>
          </a:p>
          <a:p>
            <a:pPr lvl="1"/>
            <a:r>
              <a:rPr lang="fr-FR" sz="2000" noProof="0" dirty="0"/>
              <a:t>Permettez-leur de demander un congé, avec validation de la direction en option</a:t>
            </a:r>
          </a:p>
          <a:p>
            <a:pPr lvl="1"/>
            <a:r>
              <a:rPr lang="fr-FR" sz="2000" noProof="0" dirty="0"/>
              <a:t>Automatisez les cas grâce aux plans d’accumulation de congés</a:t>
            </a:r>
          </a:p>
          <a:p>
            <a:pPr lvl="1"/>
            <a:r>
              <a:rPr lang="fr-FR" sz="2000" noProof="0" dirty="0"/>
              <a:t>Accédez à un calendrier public pour vérifier les présences, sans détail sur les congés</a:t>
            </a:r>
          </a:p>
          <a:p>
            <a:pPr lvl="1"/>
            <a:r>
              <a:rPr lang="fr-FR" sz="2000" noProof="0" dirty="0"/>
              <a:t>Tenez en compte les congés dans la planification, le support client et l’affectation des tâches</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BC12668B-DE5C-F0D5-39DF-E52040803B70}"/>
              </a:ext>
            </a:extLst>
          </p:cNvPr>
          <p:cNvPicPr>
            <a:picLocks noChangeAspect="1"/>
          </p:cNvPicPr>
          <p:nvPr/>
        </p:nvPicPr>
        <p:blipFill>
          <a:blip r:embed="rId3">
            <a:extLst>
              <a:ext uri="{28A0092B-C50C-407E-A947-70E740481C1C}">
                <a14:useLocalDpi xmlns:a14="http://schemas.microsoft.com/office/drawing/2010/main" val="0"/>
              </a:ext>
            </a:extLst>
          </a:blip>
          <a:srcRect l="8929" t="20859" r="9100" b="20826"/>
          <a:stretch/>
        </p:blipFill>
        <p:spPr>
          <a:xfrm>
            <a:off x="6547200" y="2564271"/>
            <a:ext cx="4431600" cy="3152743"/>
          </a:xfrm>
          <a:prstGeom prst="rect">
            <a:avLst/>
          </a:prstGeom>
        </p:spPr>
      </p:pic>
    </p:spTree>
    <p:extLst>
      <p:ext uri="{BB962C8B-B14F-4D97-AF65-F5344CB8AC3E}">
        <p14:creationId xmlns:p14="http://schemas.microsoft.com/office/powerpoint/2010/main" val="25377170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8D36D42-4B1F-F724-5931-8B8742A19B94}"/>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C72D978B-CB42-DDDF-B00E-C591EFD875C0}"/>
              </a:ext>
            </a:extLst>
          </p:cNvPr>
          <p:cNvSpPr txBox="1">
            <a:spLocks noGrp="1"/>
          </p:cNvSpPr>
          <p:nvPr>
            <p:ph type="title"/>
          </p:nvPr>
        </p:nvSpPr>
        <p:spPr/>
        <p:txBody>
          <a:bodyPr/>
          <a:lstStyle/>
          <a:p>
            <a:pPr lvl="0"/>
            <a:r>
              <a:rPr lang="fr-FR" noProof="0" dirty="0"/>
              <a:t>CONGES</a:t>
            </a:r>
          </a:p>
        </p:txBody>
      </p:sp>
      <p:sp>
        <p:nvSpPr>
          <p:cNvPr id="12" name="Espace réservé du numéro de diapositive 11">
            <a:extLst>
              <a:ext uri="{FF2B5EF4-FFF2-40B4-BE49-F238E27FC236}">
                <a16:creationId xmlns:a16="http://schemas.microsoft.com/office/drawing/2014/main" id="{F0952770-6089-0485-C578-69BFD792E3F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AA34D0C-0DCC-D259-BD48-832542FDBF04}"/>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62217F67-9670-D889-9C4C-070D1236B5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7808732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F176ABAB-5952-A96E-7AE9-B6BE669BF75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E56CCD25-D27F-93AB-BCDF-DEBD04D60C95}"/>
              </a:ext>
            </a:extLst>
          </p:cNvPr>
          <p:cNvSpPr txBox="1">
            <a:spLocks noGrp="1"/>
          </p:cNvSpPr>
          <p:nvPr>
            <p:ph type="title"/>
          </p:nvPr>
        </p:nvSpPr>
        <p:spPr>
          <a:xfrm>
            <a:off x="838200" y="182826"/>
            <a:ext cx="10515600" cy="1325563"/>
          </a:xfrm>
        </p:spPr>
        <p:txBody>
          <a:bodyPr anchor="ctr">
            <a:normAutofit/>
          </a:bodyPr>
          <a:lstStyle/>
          <a:p>
            <a:pPr lvl="0"/>
            <a:r>
              <a:rPr lang="fr-FR" noProof="0" dirty="0"/>
              <a:t>PRESENCE</a:t>
            </a:r>
          </a:p>
        </p:txBody>
      </p:sp>
      <p:sp>
        <p:nvSpPr>
          <p:cNvPr id="11" name="Espace réservé du texte 10">
            <a:extLst>
              <a:ext uri="{FF2B5EF4-FFF2-40B4-BE49-F238E27FC236}">
                <a16:creationId xmlns:a16="http://schemas.microsoft.com/office/drawing/2014/main" id="{421071DE-C0EC-89B0-C245-7E8B7D245393}"/>
              </a:ext>
            </a:extLst>
          </p:cNvPr>
          <p:cNvSpPr>
            <a:spLocks noGrp="1"/>
          </p:cNvSpPr>
          <p:nvPr>
            <p:ph sz="half" idx="1"/>
          </p:nvPr>
        </p:nvSpPr>
        <p:spPr>
          <a:xfrm>
            <a:off x="484517" y="2021305"/>
            <a:ext cx="5535283" cy="4155658"/>
          </a:xfrm>
        </p:spPr>
        <p:txBody>
          <a:bodyPr vert="horz" lIns="91440" tIns="45720" rIns="91440" bIns="45720" rtlCol="0">
            <a:normAutofit fontScale="92500" lnSpcReduction="10000"/>
          </a:bodyPr>
          <a:lstStyle/>
          <a:p>
            <a:r>
              <a:rPr lang="fr-FR" sz="3000" b="1" dirty="0"/>
              <a:t>UTILISATION</a:t>
            </a:r>
            <a:r>
              <a:rPr lang="fr-FR" b="1" dirty="0"/>
              <a:t> STANDARD </a:t>
            </a:r>
          </a:p>
          <a:p>
            <a:pPr lvl="1"/>
            <a:r>
              <a:rPr lang="fr-FR" sz="1800" dirty="0"/>
              <a:t>Enregistrez en temps réel les entrées et sorties des employés via l'interface Odoo, lecteur de badge de présence, application mobile (intégration de terminaux de pointage)</a:t>
            </a:r>
          </a:p>
          <a:p>
            <a:pPr lvl="1"/>
            <a:r>
              <a:rPr lang="fr-FR" sz="1800" dirty="0"/>
              <a:t>Visualisez les heures travaillées par employé, détectez les anomalies (retards, oublis de pointage) et analysez les écarts vs les horaires théoriques</a:t>
            </a:r>
          </a:p>
          <a:p>
            <a:pPr lvl="1"/>
            <a:r>
              <a:rPr lang="fr-FR" sz="1800" dirty="0"/>
              <a:t>Analysez les données de présence qui alimentent automatiquement les feuilles de temps, le calcul des congés, des heures supplémentaires et de la paie</a:t>
            </a:r>
          </a:p>
          <a:p>
            <a:pPr lvl="1"/>
            <a:r>
              <a:rPr lang="fr-FR" sz="1800" dirty="0"/>
              <a:t>Générez des rapports de présence par période, département ou employé, et exportez les données pour vos obligations légales ou votre logiciel de paie</a:t>
            </a:r>
          </a:p>
        </p:txBody>
      </p:sp>
      <p:sp>
        <p:nvSpPr>
          <p:cNvPr id="14" name="Espace réservé du numéro de diapositive 13">
            <a:extLst>
              <a:ext uri="{FF2B5EF4-FFF2-40B4-BE49-F238E27FC236}">
                <a16:creationId xmlns:a16="http://schemas.microsoft.com/office/drawing/2014/main" id="{E190249A-2BCB-4EC2-7FEF-5B4EE815E8B1}"/>
              </a:ext>
            </a:extLst>
          </p:cNvPr>
          <p:cNvSpPr>
            <a:spLocks noGrp="1"/>
          </p:cNvSpPr>
          <p:nvPr>
            <p:ph type="sldNum" sz="quarter" idx="10"/>
          </p:nvPr>
        </p:nvSpPr>
        <p:spPr>
          <a:xfrm>
            <a:off x="0" y="6490909"/>
            <a:ext cx="484517" cy="365125"/>
          </a:xfrm>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fld id="{0BD8C093-821D-4512-ACE4-8E8BF2045851}" type="slidenum">
              <a:rPr kumimoji="0" lang="fr-FR" b="1"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96</a:t>
            </a:fld>
            <a:endParaRPr kumimoji="0" lang="fr-FR" b="1" i="0" u="none" strike="noStrike" kern="1200" cap="none" spc="0" normalizeH="0" baseline="0" noProof="0">
              <a:ln>
                <a:noFill/>
              </a:ln>
              <a:effectLst/>
              <a:uLnTx/>
              <a:uFillTx/>
            </a:endParaRPr>
          </a:p>
        </p:txBody>
      </p:sp>
      <p:pic>
        <p:nvPicPr>
          <p:cNvPr id="2" name="Image 1">
            <a:extLst>
              <a:ext uri="{FF2B5EF4-FFF2-40B4-BE49-F238E27FC236}">
                <a16:creationId xmlns:a16="http://schemas.microsoft.com/office/drawing/2014/main" id="{4263DBCA-9D17-787B-73C2-483371B10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39" y="2446020"/>
            <a:ext cx="4756048" cy="3101340"/>
          </a:xfrm>
          <a:prstGeom prst="rect">
            <a:avLst/>
          </a:prstGeom>
        </p:spPr>
      </p:pic>
    </p:spTree>
    <p:extLst>
      <p:ext uri="{BB962C8B-B14F-4D97-AF65-F5344CB8AC3E}">
        <p14:creationId xmlns:p14="http://schemas.microsoft.com/office/powerpoint/2010/main" val="25478889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A1A6F50-C03D-7C12-B22C-210145D1CDF0}"/>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B1938EC4-78E1-0B11-D7AB-2AFAED504348}"/>
              </a:ext>
            </a:extLst>
          </p:cNvPr>
          <p:cNvSpPr txBox="1">
            <a:spLocks noGrp="1"/>
          </p:cNvSpPr>
          <p:nvPr>
            <p:ph type="title"/>
          </p:nvPr>
        </p:nvSpPr>
        <p:spPr/>
        <p:txBody>
          <a:bodyPr/>
          <a:lstStyle/>
          <a:p>
            <a:pPr lvl="0"/>
            <a:r>
              <a:rPr lang="fr-FR" noProof="0" dirty="0"/>
              <a:t>PRESENCE</a:t>
            </a:r>
          </a:p>
        </p:txBody>
      </p:sp>
      <p:sp>
        <p:nvSpPr>
          <p:cNvPr id="12" name="Espace réservé du numéro de diapositive 11">
            <a:extLst>
              <a:ext uri="{FF2B5EF4-FFF2-40B4-BE49-F238E27FC236}">
                <a16:creationId xmlns:a16="http://schemas.microsoft.com/office/drawing/2014/main" id="{1B434C6A-8511-04FB-416B-F7F92A312B3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0B33FBD-953E-32B4-BCC8-5AE7B980510B}"/>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7A3598B-0770-9325-173C-DDB54BE212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4302057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RECRUTEMENT</a:t>
            </a:r>
          </a:p>
        </p:txBody>
      </p:sp>
      <p:sp>
        <p:nvSpPr>
          <p:cNvPr id="12" name="Espace réservé du numéro de diapositive 11">
            <a:extLst>
              <a:ext uri="{FF2B5EF4-FFF2-40B4-BE49-F238E27FC236}">
                <a16:creationId xmlns:a16="http://schemas.microsoft.com/office/drawing/2014/main" id="{98172B47-928C-D383-ADF4-700B5486146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5B38184-5229-D17C-E0C6-150F2E3B211C}"/>
              </a:ext>
            </a:extLst>
          </p:cNvPr>
          <p:cNvSpPr>
            <a:spLocks noGrp="1"/>
          </p:cNvSpPr>
          <p:nvPr>
            <p:ph sz="half" idx="4294967295"/>
          </p:nvPr>
        </p:nvSpPr>
        <p:spPr>
          <a:xfrm>
            <a:off x="242258" y="2097088"/>
            <a:ext cx="6096000" cy="4630738"/>
          </a:xfrm>
        </p:spPr>
        <p:txBody>
          <a:bodyPr/>
          <a:lstStyle/>
          <a:p>
            <a:pPr lvl="0"/>
            <a:r>
              <a:rPr lang="fr-FR" b="1" noProof="0" dirty="0"/>
              <a:t>UTILISATION STANDARD</a:t>
            </a:r>
          </a:p>
          <a:p>
            <a:pPr lvl="1"/>
            <a:r>
              <a:rPr lang="fr-FR" sz="2000" noProof="0" dirty="0"/>
              <a:t>Publiez des offres d'emploi sur votre site web</a:t>
            </a:r>
          </a:p>
          <a:p>
            <a:pPr lvl="1"/>
            <a:r>
              <a:rPr lang="fr-FR" sz="2000" noProof="0" dirty="0"/>
              <a:t>Créez des adresses e-mail pour postuler</a:t>
            </a:r>
          </a:p>
          <a:p>
            <a:pPr lvl="1"/>
            <a:r>
              <a:rPr lang="fr-FR" sz="2000" noProof="0" dirty="0"/>
              <a:t>Gérez et communiquez directement depuis le système</a:t>
            </a:r>
          </a:p>
          <a:p>
            <a:pPr lvl="1"/>
            <a:r>
              <a:rPr lang="fr-FR" sz="2000" noProof="0" dirty="0"/>
              <a:t>Personnalisez votre processus de recrutement</a:t>
            </a:r>
          </a:p>
          <a:p>
            <a:pPr lvl="1"/>
            <a:r>
              <a:rPr lang="fr-FR" sz="2000" noProof="0" dirty="0"/>
              <a:t>Créez un employé directement à partir des informations de recrutement</a:t>
            </a:r>
          </a:p>
          <a:p>
            <a:pPr lvl="1"/>
            <a:r>
              <a:rPr lang="fr-FR" sz="2000" noProof="0" dirty="0"/>
              <a:t>Automatisez les envois d'e-mails à chaque étape</a:t>
            </a:r>
            <a:endParaRPr lang="fr-FR" sz="2800" noProof="0" dirty="0"/>
          </a:p>
        </p:txBody>
      </p:sp>
      <p:pic>
        <p:nvPicPr>
          <p:cNvPr id="3" name="Image 2" descr="Une image contenant texte, capture d’écran, affichage, logiciel&#10;&#10;Le contenu généré par l’IA peut être incorrect.">
            <a:extLst>
              <a:ext uri="{FF2B5EF4-FFF2-40B4-BE49-F238E27FC236}">
                <a16:creationId xmlns:a16="http://schemas.microsoft.com/office/drawing/2014/main" id="{89AE4203-5511-E99D-0176-868D840FA1E5}"/>
              </a:ext>
            </a:extLst>
          </p:cNvPr>
          <p:cNvPicPr>
            <a:picLocks noChangeAspect="1"/>
          </p:cNvPicPr>
          <p:nvPr/>
        </p:nvPicPr>
        <p:blipFill>
          <a:blip r:embed="rId3">
            <a:extLst>
              <a:ext uri="{28A0092B-C50C-407E-A947-70E740481C1C}">
                <a14:useLocalDpi xmlns:a14="http://schemas.microsoft.com/office/drawing/2010/main" val="0"/>
              </a:ext>
            </a:extLst>
          </a:blip>
          <a:srcRect l="9013" t="20773" r="9072" b="20856"/>
          <a:stretch/>
        </p:blipFill>
        <p:spPr>
          <a:xfrm>
            <a:off x="6547200" y="2561737"/>
            <a:ext cx="4431600" cy="3157811"/>
          </a:xfrm>
          <a:prstGeom prst="rect">
            <a:avLst/>
          </a:prstGeom>
        </p:spPr>
      </p:pic>
    </p:spTree>
    <p:extLst>
      <p:ext uri="{BB962C8B-B14F-4D97-AF65-F5344CB8AC3E}">
        <p14:creationId xmlns:p14="http://schemas.microsoft.com/office/powerpoint/2010/main" val="23090504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3BE0BAFE-D1E1-BC60-88EA-CD4EBECDBC9C}"/>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7862D19C-E28D-69A4-C250-3F9CAEE32B06}"/>
              </a:ext>
            </a:extLst>
          </p:cNvPr>
          <p:cNvSpPr txBox="1">
            <a:spLocks noGrp="1"/>
          </p:cNvSpPr>
          <p:nvPr>
            <p:ph type="title"/>
          </p:nvPr>
        </p:nvSpPr>
        <p:spPr/>
        <p:txBody>
          <a:bodyPr/>
          <a:lstStyle/>
          <a:p>
            <a:pPr lvl="0"/>
            <a:r>
              <a:rPr lang="fr-FR" noProof="0" dirty="0"/>
              <a:t>RECRUTEMENT</a:t>
            </a:r>
          </a:p>
        </p:txBody>
      </p:sp>
      <p:sp>
        <p:nvSpPr>
          <p:cNvPr id="12" name="Espace réservé du numéro de diapositive 11">
            <a:extLst>
              <a:ext uri="{FF2B5EF4-FFF2-40B4-BE49-F238E27FC236}">
                <a16:creationId xmlns:a16="http://schemas.microsoft.com/office/drawing/2014/main" id="{7696CEB3-78D2-6858-76B4-7BCF32A0B2A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E4DA2678-50BF-093D-BDED-2D34D7FE6338}"/>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A4D8CCF0-D7E7-0119-9780-B2073E8BC1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5613630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EVALUATIONS</a:t>
            </a:r>
          </a:p>
        </p:txBody>
      </p:sp>
      <p:sp>
        <p:nvSpPr>
          <p:cNvPr id="12" name="Espace réservé du numéro de diapositive 11">
            <a:extLst>
              <a:ext uri="{FF2B5EF4-FFF2-40B4-BE49-F238E27FC236}">
                <a16:creationId xmlns:a16="http://schemas.microsoft.com/office/drawing/2014/main" id="{9B8F97E3-A83C-6AF2-C8FA-128E39E83DB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058B480-449A-22A4-94B0-A660CC2D3F89}"/>
              </a:ext>
            </a:extLst>
          </p:cNvPr>
          <p:cNvSpPr>
            <a:spLocks noGrp="1"/>
          </p:cNvSpPr>
          <p:nvPr>
            <p:ph sz="half" idx="4294967295"/>
          </p:nvPr>
        </p:nvSpPr>
        <p:spPr>
          <a:xfrm>
            <a:off x="263524" y="2097088"/>
            <a:ext cx="6069037" cy="4630738"/>
          </a:xfrm>
        </p:spPr>
        <p:txBody>
          <a:bodyPr>
            <a:normAutofit/>
          </a:bodyPr>
          <a:lstStyle/>
          <a:p>
            <a:pPr lvl="0"/>
            <a:r>
              <a:rPr lang="fr-FR" b="1" noProof="0" dirty="0"/>
              <a:t>UTILISATION STANDARD</a:t>
            </a:r>
          </a:p>
          <a:p>
            <a:pPr lvl="1"/>
            <a:r>
              <a:rPr lang="fr-FR" sz="2000" noProof="0" dirty="0"/>
              <a:t>Créez des évaluations récurrentes pour vos employés</a:t>
            </a:r>
          </a:p>
          <a:p>
            <a:pPr lvl="1"/>
            <a:r>
              <a:rPr lang="fr-FR" sz="2000" noProof="0" dirty="0"/>
              <a:t>Obtenez un accompagnement intuitif grâce aux modèles de questions : pour les employés et les managers</a:t>
            </a:r>
          </a:p>
          <a:p>
            <a:pPr lvl="1"/>
            <a:r>
              <a:rPr lang="fr-FR" sz="2000" noProof="0" dirty="0"/>
              <a:t>Désignez le manager en charge de l'évaluation</a:t>
            </a:r>
          </a:p>
          <a:p>
            <a:pPr lvl="1"/>
            <a:r>
              <a:rPr lang="fr-FR" sz="2000" noProof="0" dirty="0"/>
              <a:t>Ayez une vue rapide de toutes les évaluations passées</a:t>
            </a:r>
          </a:p>
          <a:p>
            <a:pPr lvl="1"/>
            <a:r>
              <a:rPr lang="fr-FR" sz="2000" noProof="0" dirty="0"/>
              <a:t>Suivez l'atteinte des objectifs et liez-les au CV de l'employé</a:t>
            </a:r>
            <a:endParaRPr lang="fr-FR" sz="2800" noProof="0" dirty="0"/>
          </a:p>
        </p:txBody>
      </p:sp>
      <p:pic>
        <p:nvPicPr>
          <p:cNvPr id="3" name="Image 2" descr="Une image contenant texte, capture d’écran, ordinateur, logiciel&#10;&#10;Le contenu généré par l’IA peut être incorrect.">
            <a:extLst>
              <a:ext uri="{FF2B5EF4-FFF2-40B4-BE49-F238E27FC236}">
                <a16:creationId xmlns:a16="http://schemas.microsoft.com/office/drawing/2014/main" id="{9BBDC9B2-BD5C-8B11-CBB2-DF14210326BF}"/>
              </a:ext>
            </a:extLst>
          </p:cNvPr>
          <p:cNvPicPr>
            <a:picLocks noChangeAspect="1"/>
          </p:cNvPicPr>
          <p:nvPr/>
        </p:nvPicPr>
        <p:blipFill>
          <a:blip r:embed="rId3">
            <a:extLst>
              <a:ext uri="{28A0092B-C50C-407E-A947-70E740481C1C}">
                <a14:useLocalDpi xmlns:a14="http://schemas.microsoft.com/office/drawing/2010/main" val="0"/>
              </a:ext>
            </a:extLst>
          </a:blip>
          <a:srcRect l="9123" t="20864" r="8962" b="20821"/>
          <a:stretch/>
        </p:blipFill>
        <p:spPr>
          <a:xfrm>
            <a:off x="6600825" y="2563218"/>
            <a:ext cx="4431600" cy="3154850"/>
          </a:xfrm>
          <a:prstGeom prst="rect">
            <a:avLst/>
          </a:prstGeom>
        </p:spPr>
      </p:pic>
    </p:spTree>
    <p:extLst>
      <p:ext uri="{BB962C8B-B14F-4D97-AF65-F5344CB8AC3E}">
        <p14:creationId xmlns:p14="http://schemas.microsoft.com/office/powerpoint/2010/main" val="18649336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1B3B2DBA-8552-1181-64F7-722B6F25A485}"/>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E8A23409-C48F-21C7-68B1-47EBBB802852}"/>
              </a:ext>
            </a:extLst>
          </p:cNvPr>
          <p:cNvSpPr txBox="1">
            <a:spLocks noGrp="1"/>
          </p:cNvSpPr>
          <p:nvPr>
            <p:ph type="title"/>
          </p:nvPr>
        </p:nvSpPr>
        <p:spPr/>
        <p:txBody>
          <a:bodyPr/>
          <a:lstStyle/>
          <a:p>
            <a:pPr lvl="0"/>
            <a:r>
              <a:rPr lang="fr-FR" noProof="0" dirty="0"/>
              <a:t>EVALUATIONS</a:t>
            </a:r>
          </a:p>
        </p:txBody>
      </p:sp>
      <p:sp>
        <p:nvSpPr>
          <p:cNvPr id="12" name="Espace réservé du numéro de diapositive 11">
            <a:extLst>
              <a:ext uri="{FF2B5EF4-FFF2-40B4-BE49-F238E27FC236}">
                <a16:creationId xmlns:a16="http://schemas.microsoft.com/office/drawing/2014/main" id="{2DF1B025-C218-3280-337F-DD7F9759C36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D8B9F412-FCC1-D5B9-A130-2DAFB76C6458}"/>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33780832-703C-2788-7487-50C093E296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1165385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DOCUMENTS</a:t>
            </a:r>
          </a:p>
        </p:txBody>
      </p:sp>
      <p:sp>
        <p:nvSpPr>
          <p:cNvPr id="12" name="Espace réservé du numéro de diapositive 11">
            <a:extLst>
              <a:ext uri="{FF2B5EF4-FFF2-40B4-BE49-F238E27FC236}">
                <a16:creationId xmlns:a16="http://schemas.microsoft.com/office/drawing/2014/main" id="{8D3ADC66-D184-B45B-3204-8800FC8F82E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7CF8D95-8013-3186-87EC-BB0891044F65}"/>
              </a:ext>
            </a:extLst>
          </p:cNvPr>
          <p:cNvSpPr>
            <a:spLocks noGrp="1"/>
          </p:cNvSpPr>
          <p:nvPr>
            <p:ph sz="half" idx="4294967295"/>
          </p:nvPr>
        </p:nvSpPr>
        <p:spPr>
          <a:xfrm>
            <a:off x="263525" y="2097088"/>
            <a:ext cx="6096000" cy="4630738"/>
          </a:xfrm>
        </p:spPr>
        <p:txBody>
          <a:bodyPr/>
          <a:lstStyle/>
          <a:p>
            <a:pPr lvl="0"/>
            <a:r>
              <a:rPr lang="fr-FR" b="1" noProof="0" dirty="0"/>
              <a:t>UTILISATION STANDARD</a:t>
            </a:r>
          </a:p>
          <a:p>
            <a:pPr lvl="1"/>
            <a:r>
              <a:rPr lang="fr-FR" sz="2000" noProof="0" dirty="0"/>
              <a:t>Centralisez tous vos documents au même endroit</a:t>
            </a:r>
          </a:p>
          <a:p>
            <a:pPr lvl="1"/>
            <a:r>
              <a:rPr lang="fr-FR" sz="2000" noProof="0" dirty="0"/>
              <a:t>Bénéficiez d’une organisation automatique des documents</a:t>
            </a:r>
          </a:p>
          <a:p>
            <a:pPr lvl="1"/>
            <a:r>
              <a:rPr lang="fr-FR" sz="2000" noProof="0" dirty="0"/>
              <a:t>Envoyez et recevez des documents via un portail partagé</a:t>
            </a:r>
          </a:p>
          <a:p>
            <a:pPr lvl="1"/>
            <a:r>
              <a:rPr lang="fr-FR" sz="2000" noProof="0" dirty="0"/>
              <a:t>Regroupez les documents des applications Odoo au même endroit</a:t>
            </a:r>
          </a:p>
          <a:p>
            <a:pPr lvl="1"/>
            <a:r>
              <a:rPr lang="fr-FR" sz="2000" noProof="0" dirty="0"/>
              <a:t>Recherchez facilement par texte dans vos documents</a:t>
            </a:r>
            <a:endParaRPr lang="fr-FR" sz="3200" noProof="0" dirty="0"/>
          </a:p>
        </p:txBody>
      </p:sp>
      <p:pic>
        <p:nvPicPr>
          <p:cNvPr id="3" name="Image 2" descr="Une image contenant texte, capture d’écran, affichage, multimédia&#10;&#10;Le contenu généré par l’IA peut être incorrect.">
            <a:extLst>
              <a:ext uri="{FF2B5EF4-FFF2-40B4-BE49-F238E27FC236}">
                <a16:creationId xmlns:a16="http://schemas.microsoft.com/office/drawing/2014/main" id="{C99A3441-3787-5E5E-EA56-7922D77BD8E4}"/>
              </a:ext>
            </a:extLst>
          </p:cNvPr>
          <p:cNvPicPr>
            <a:picLocks noChangeAspect="1"/>
          </p:cNvPicPr>
          <p:nvPr/>
        </p:nvPicPr>
        <p:blipFill>
          <a:blip r:embed="rId3">
            <a:extLst>
              <a:ext uri="{28A0092B-C50C-407E-A947-70E740481C1C}">
                <a14:useLocalDpi xmlns:a14="http://schemas.microsoft.com/office/drawing/2010/main" val="0"/>
              </a:ext>
            </a:extLst>
          </a:blip>
          <a:srcRect l="9037" t="20846" r="8993" b="20839"/>
          <a:stretch/>
        </p:blipFill>
        <p:spPr>
          <a:xfrm>
            <a:off x="6547200" y="2564272"/>
            <a:ext cx="4431600" cy="3152741"/>
          </a:xfrm>
          <a:prstGeom prst="rect">
            <a:avLst/>
          </a:prstGeom>
        </p:spPr>
      </p:pic>
    </p:spTree>
    <p:extLst>
      <p:ext uri="{BB962C8B-B14F-4D97-AF65-F5344CB8AC3E}">
        <p14:creationId xmlns:p14="http://schemas.microsoft.com/office/powerpoint/2010/main" val="22993408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C9ADC786-940F-C9F9-584D-6D2CA5B4156A}"/>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8B4FF8F6-1FD6-E8C5-3656-79EAB42320B1}"/>
              </a:ext>
            </a:extLst>
          </p:cNvPr>
          <p:cNvSpPr txBox="1">
            <a:spLocks noGrp="1"/>
          </p:cNvSpPr>
          <p:nvPr>
            <p:ph type="title"/>
          </p:nvPr>
        </p:nvSpPr>
        <p:spPr/>
        <p:txBody>
          <a:bodyPr/>
          <a:lstStyle/>
          <a:p>
            <a:pPr lvl="0"/>
            <a:r>
              <a:rPr lang="fr-FR" noProof="0" dirty="0"/>
              <a:t>DOCUMENTS</a:t>
            </a:r>
          </a:p>
        </p:txBody>
      </p:sp>
      <p:sp>
        <p:nvSpPr>
          <p:cNvPr id="12" name="Espace réservé du numéro de diapositive 11">
            <a:extLst>
              <a:ext uri="{FF2B5EF4-FFF2-40B4-BE49-F238E27FC236}">
                <a16:creationId xmlns:a16="http://schemas.microsoft.com/office/drawing/2014/main" id="{F84A4913-2056-FE14-8C02-8CF2E91BD53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CB26A04B-FFF7-FC84-C98A-7D5731ADC894}"/>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DE84E73B-7603-A8B8-61C4-C86EF4E477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6376652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87A960CC-AC70-EA72-026B-8AA8BFBA4A2C}"/>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4B60A08-848D-4AD6-F452-D97FB23BB8F7}"/>
              </a:ext>
            </a:extLst>
          </p:cNvPr>
          <p:cNvSpPr txBox="1">
            <a:spLocks noGrp="1"/>
          </p:cNvSpPr>
          <p:nvPr>
            <p:ph type="title"/>
          </p:nvPr>
        </p:nvSpPr>
        <p:spPr/>
        <p:txBody>
          <a:bodyPr/>
          <a:lstStyle/>
          <a:p>
            <a:pPr lvl="0"/>
            <a:r>
              <a:rPr lang="fr-FR" noProof="0" dirty="0"/>
              <a:t>NINJA DASHBOARD</a:t>
            </a:r>
          </a:p>
        </p:txBody>
      </p:sp>
      <p:sp>
        <p:nvSpPr>
          <p:cNvPr id="12" name="Espace réservé du numéro de diapositive 11">
            <a:extLst>
              <a:ext uri="{FF2B5EF4-FFF2-40B4-BE49-F238E27FC236}">
                <a16:creationId xmlns:a16="http://schemas.microsoft.com/office/drawing/2014/main" id="{BF2B63CC-A89A-5E9E-6B77-12D76CDF916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0431E686-0F20-92C4-CCF3-CB04D4C0BA01}"/>
              </a:ext>
            </a:extLst>
          </p:cNvPr>
          <p:cNvSpPr>
            <a:spLocks noGrp="1"/>
          </p:cNvSpPr>
          <p:nvPr>
            <p:ph sz="half" idx="4294967295"/>
          </p:nvPr>
        </p:nvSpPr>
        <p:spPr>
          <a:xfrm>
            <a:off x="263525" y="2097088"/>
            <a:ext cx="6000797" cy="4630738"/>
          </a:xfrm>
        </p:spPr>
        <p:txBody>
          <a:bodyPr/>
          <a:lstStyle/>
          <a:p>
            <a:pPr lvl="0"/>
            <a:r>
              <a:rPr lang="fr-FR" b="1" noProof="0" dirty="0"/>
              <a:t>UTILISATION STANDARD</a:t>
            </a:r>
          </a:p>
          <a:p>
            <a:pPr lvl="1"/>
            <a:r>
              <a:rPr lang="fr-FR" sz="2000" noProof="0" dirty="0"/>
              <a:t>Obtenez une vue d'ensemble de votre activité</a:t>
            </a:r>
          </a:p>
          <a:p>
            <a:pPr lvl="1"/>
            <a:r>
              <a:rPr lang="fr-FR" sz="2000" noProof="0" dirty="0"/>
              <a:t>Construisez votre propre tableau de bord avec des données provenant d'Odoo et de sources externes</a:t>
            </a:r>
          </a:p>
          <a:p>
            <a:pPr lvl="1"/>
            <a:r>
              <a:rPr lang="fr-FR" sz="2000" noProof="0" dirty="0"/>
              <a:t>Choisissez le mode d’affichage de vos données</a:t>
            </a:r>
          </a:p>
          <a:p>
            <a:pPr lvl="1"/>
            <a:r>
              <a:rPr lang="fr-FR" sz="2000" noProof="0" dirty="0"/>
              <a:t>Utilisez tous les tableaux de bord préconfigurés</a:t>
            </a:r>
            <a:endParaRPr lang="fr-FR" sz="2800" noProof="0" dirty="0"/>
          </a:p>
        </p:txBody>
      </p:sp>
      <p:pic>
        <p:nvPicPr>
          <p:cNvPr id="3" name="Image 2" descr="Une image contenant texte, capture d’écran, ordinateur, logiciel&#10;&#10;Le contenu généré par l’IA peut être incorrect.">
            <a:extLst>
              <a:ext uri="{FF2B5EF4-FFF2-40B4-BE49-F238E27FC236}">
                <a16:creationId xmlns:a16="http://schemas.microsoft.com/office/drawing/2014/main" id="{CBB14EF9-702C-3768-A114-25572BEDD569}"/>
              </a:ext>
            </a:extLst>
          </p:cNvPr>
          <p:cNvPicPr>
            <a:picLocks noChangeAspect="1"/>
          </p:cNvPicPr>
          <p:nvPr/>
        </p:nvPicPr>
        <p:blipFill>
          <a:blip r:embed="rId3">
            <a:extLst>
              <a:ext uri="{28A0092B-C50C-407E-A947-70E740481C1C}">
                <a14:useLocalDpi xmlns:a14="http://schemas.microsoft.com/office/drawing/2010/main" val="0"/>
              </a:ext>
            </a:extLst>
          </a:blip>
          <a:srcRect l="8983" t="20847" r="9101" b="20837"/>
          <a:stretch/>
        </p:blipFill>
        <p:spPr>
          <a:xfrm>
            <a:off x="6600825" y="2549570"/>
            <a:ext cx="4431600" cy="3154850"/>
          </a:xfrm>
          <a:prstGeom prst="rect">
            <a:avLst/>
          </a:prstGeom>
        </p:spPr>
      </p:pic>
    </p:spTree>
    <p:extLst>
      <p:ext uri="{BB962C8B-B14F-4D97-AF65-F5344CB8AC3E}">
        <p14:creationId xmlns:p14="http://schemas.microsoft.com/office/powerpoint/2010/main" val="36509559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657644C8-D69E-F2E2-F97B-740415A7E3C3}"/>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C1678B0-402F-0812-CFE5-84EF07D9E72B}"/>
              </a:ext>
            </a:extLst>
          </p:cNvPr>
          <p:cNvSpPr txBox="1">
            <a:spLocks noGrp="1"/>
          </p:cNvSpPr>
          <p:nvPr>
            <p:ph type="title"/>
          </p:nvPr>
        </p:nvSpPr>
        <p:spPr/>
        <p:txBody>
          <a:bodyPr/>
          <a:lstStyle/>
          <a:p>
            <a:pPr lvl="0"/>
            <a:r>
              <a:rPr lang="fr-FR" noProof="0" dirty="0"/>
              <a:t>NINJA DASHBOARD</a:t>
            </a:r>
          </a:p>
        </p:txBody>
      </p:sp>
      <p:sp>
        <p:nvSpPr>
          <p:cNvPr id="12" name="Espace réservé du numéro de diapositive 11">
            <a:extLst>
              <a:ext uri="{FF2B5EF4-FFF2-40B4-BE49-F238E27FC236}">
                <a16:creationId xmlns:a16="http://schemas.microsoft.com/office/drawing/2014/main" id="{9E307B7C-A1CF-9BFA-81E0-F07705C5CEA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1BE3A79-C756-2205-044A-F2CBD3598A08}"/>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3803CDE0-E6D6-00A5-1242-027916DB93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0929430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NETTOYAGE DES DONNEES</a:t>
            </a:r>
          </a:p>
        </p:txBody>
      </p:sp>
      <p:sp>
        <p:nvSpPr>
          <p:cNvPr id="12" name="Espace réservé du numéro de diapositive 11">
            <a:extLst>
              <a:ext uri="{FF2B5EF4-FFF2-40B4-BE49-F238E27FC236}">
                <a16:creationId xmlns:a16="http://schemas.microsoft.com/office/drawing/2014/main" id="{F239BF19-06BF-7EEE-AA8F-742AC6BF7DD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BB7BFA7E-F65C-2C1A-42B3-B84179ED3393}"/>
              </a:ext>
            </a:extLst>
          </p:cNvPr>
          <p:cNvSpPr>
            <a:spLocks noGrp="1"/>
          </p:cNvSpPr>
          <p:nvPr>
            <p:ph sz="half" idx="4294967295"/>
          </p:nvPr>
        </p:nvSpPr>
        <p:spPr>
          <a:xfrm>
            <a:off x="263524" y="2097088"/>
            <a:ext cx="5832475" cy="4630738"/>
          </a:xfrm>
        </p:spPr>
        <p:txBody>
          <a:bodyPr/>
          <a:lstStyle/>
          <a:p>
            <a:pPr lvl="0"/>
            <a:r>
              <a:rPr lang="fr-FR" b="1" noProof="0" dirty="0"/>
              <a:t>UTILISATION STANDARD</a:t>
            </a:r>
          </a:p>
          <a:p>
            <a:pPr lvl="1"/>
            <a:r>
              <a:rPr lang="fr-FR" sz="2000" noProof="0" dirty="0"/>
              <a:t>Supprimez tous les doublons</a:t>
            </a:r>
          </a:p>
          <a:p>
            <a:pPr lvl="1"/>
            <a:r>
              <a:rPr lang="fr-FR" sz="2000" noProof="0" dirty="0"/>
              <a:t>Nettoyez / standardisez les champs (comme le champ téléphone)</a:t>
            </a:r>
          </a:p>
          <a:p>
            <a:pPr lvl="1"/>
            <a:r>
              <a:rPr lang="fr-FR" sz="2000" noProof="0" dirty="0"/>
              <a:t>Gérez facilement les données RGPD</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06064A12-112E-D051-AFD8-3CF81ACA78D5}"/>
              </a:ext>
            </a:extLst>
          </p:cNvPr>
          <p:cNvPicPr>
            <a:picLocks noChangeAspect="1"/>
          </p:cNvPicPr>
          <p:nvPr/>
        </p:nvPicPr>
        <p:blipFill>
          <a:blip r:embed="rId3">
            <a:extLst>
              <a:ext uri="{28A0092B-C50C-407E-A947-70E740481C1C}">
                <a14:useLocalDpi xmlns:a14="http://schemas.microsoft.com/office/drawing/2010/main" val="0"/>
              </a:ext>
            </a:extLst>
          </a:blip>
          <a:srcRect l="8984" t="20846" r="9046" b="20838"/>
          <a:stretch/>
        </p:blipFill>
        <p:spPr>
          <a:xfrm>
            <a:off x="6547200" y="2564272"/>
            <a:ext cx="4431600" cy="3152741"/>
          </a:xfrm>
          <a:prstGeom prst="rect">
            <a:avLst/>
          </a:prstGeom>
        </p:spPr>
      </p:pic>
    </p:spTree>
    <p:extLst>
      <p:ext uri="{BB962C8B-B14F-4D97-AF65-F5344CB8AC3E}">
        <p14:creationId xmlns:p14="http://schemas.microsoft.com/office/powerpoint/2010/main" val="36377505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C6261EE2-7A86-E0F2-A052-F2EA12201962}"/>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14B8AAFF-06E9-04ED-46E6-7CCAB3E3B51A}"/>
              </a:ext>
            </a:extLst>
          </p:cNvPr>
          <p:cNvSpPr txBox="1">
            <a:spLocks noGrp="1"/>
          </p:cNvSpPr>
          <p:nvPr>
            <p:ph type="title"/>
          </p:nvPr>
        </p:nvSpPr>
        <p:spPr/>
        <p:txBody>
          <a:bodyPr/>
          <a:lstStyle/>
          <a:p>
            <a:pPr lvl="0"/>
            <a:r>
              <a:rPr lang="fr-FR" noProof="0" dirty="0"/>
              <a:t>NETTOYAGE DES DONNEES</a:t>
            </a:r>
          </a:p>
        </p:txBody>
      </p:sp>
      <p:sp>
        <p:nvSpPr>
          <p:cNvPr id="12" name="Espace réservé du numéro de diapositive 11">
            <a:extLst>
              <a:ext uri="{FF2B5EF4-FFF2-40B4-BE49-F238E27FC236}">
                <a16:creationId xmlns:a16="http://schemas.microsoft.com/office/drawing/2014/main" id="{A0D1CD1D-4EC0-A60F-C3E7-8D93587AE4E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B4819880-6A29-E315-DDAF-DF41265D4549}"/>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633D5027-65A7-2C06-AEC6-21E0EE40B7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0422232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DROITS D’ACCES</a:t>
            </a:r>
          </a:p>
        </p:txBody>
      </p:sp>
      <p:sp>
        <p:nvSpPr>
          <p:cNvPr id="12" name="Espace réservé du numéro de diapositive 11">
            <a:extLst>
              <a:ext uri="{FF2B5EF4-FFF2-40B4-BE49-F238E27FC236}">
                <a16:creationId xmlns:a16="http://schemas.microsoft.com/office/drawing/2014/main" id="{D0A90B74-BA25-0ECC-1534-C68C5A1DEC5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76388E6-9667-8E2C-45B6-2BCC24D3F65B}"/>
              </a:ext>
            </a:extLst>
          </p:cNvPr>
          <p:cNvSpPr>
            <a:spLocks noGrp="1"/>
          </p:cNvSpPr>
          <p:nvPr>
            <p:ph sz="half" idx="4294967295"/>
          </p:nvPr>
        </p:nvSpPr>
        <p:spPr>
          <a:xfrm>
            <a:off x="263525" y="2097088"/>
            <a:ext cx="6096000" cy="4630738"/>
          </a:xfrm>
        </p:spPr>
        <p:txBody>
          <a:bodyPr/>
          <a:lstStyle/>
          <a:p>
            <a:pPr lvl="0"/>
            <a:r>
              <a:rPr lang="fr-FR" b="1" noProof="0" dirty="0"/>
              <a:t>UTILISATION STANDARD</a:t>
            </a:r>
          </a:p>
          <a:p>
            <a:pPr lvl="1"/>
            <a:r>
              <a:rPr lang="fr-FR" sz="2000" noProof="0" dirty="0"/>
              <a:t>Sélectionnez les droits à attribuer pour chaque application</a:t>
            </a:r>
          </a:p>
          <a:p>
            <a:pPr lvl="1"/>
            <a:r>
              <a:rPr lang="fr-FR" sz="2000" noProof="0" dirty="0"/>
              <a:t>Utilisez les droits préconfigurés</a:t>
            </a:r>
          </a:p>
          <a:p>
            <a:pPr lvl="1"/>
            <a:r>
              <a:rPr lang="fr-FR" sz="2000" noProof="0" dirty="0"/>
              <a:t>Gérez les groupes et contrôlez l'accès par utilisateur</a:t>
            </a:r>
            <a:endParaRPr lang="fr-FR" sz="2800" noProof="0" dirty="0"/>
          </a:p>
        </p:txBody>
      </p:sp>
      <p:pic>
        <p:nvPicPr>
          <p:cNvPr id="3" name="Image 2" descr="Une image contenant texte, capture d’écran, affichage, logiciel&#10;&#10;Le contenu généré par l’IA peut être incorrect.">
            <a:extLst>
              <a:ext uri="{FF2B5EF4-FFF2-40B4-BE49-F238E27FC236}">
                <a16:creationId xmlns:a16="http://schemas.microsoft.com/office/drawing/2014/main" id="{D49DEAA9-A7E1-9831-2CE3-978B880D9676}"/>
              </a:ext>
            </a:extLst>
          </p:cNvPr>
          <p:cNvPicPr>
            <a:picLocks noChangeAspect="1"/>
          </p:cNvPicPr>
          <p:nvPr/>
        </p:nvPicPr>
        <p:blipFill>
          <a:blip r:embed="rId3">
            <a:extLst>
              <a:ext uri="{28A0092B-C50C-407E-A947-70E740481C1C}">
                <a14:useLocalDpi xmlns:a14="http://schemas.microsoft.com/office/drawing/2010/main" val="0"/>
              </a:ext>
            </a:extLst>
          </a:blip>
          <a:srcRect l="8929" t="20833" r="9101" b="20797"/>
          <a:stretch/>
        </p:blipFill>
        <p:spPr>
          <a:xfrm>
            <a:off x="6547200" y="2562791"/>
            <a:ext cx="4431600" cy="3155704"/>
          </a:xfrm>
          <a:prstGeom prst="rect">
            <a:avLst/>
          </a:prstGeom>
        </p:spPr>
      </p:pic>
    </p:spTree>
    <p:extLst>
      <p:ext uri="{BB962C8B-B14F-4D97-AF65-F5344CB8AC3E}">
        <p14:creationId xmlns:p14="http://schemas.microsoft.com/office/powerpoint/2010/main" val="26734629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4108FAFD-6817-9336-7AA0-7E4FE8B56EFF}"/>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33014952-B01E-DDBD-60B7-D36D0738B0CC}"/>
              </a:ext>
            </a:extLst>
          </p:cNvPr>
          <p:cNvSpPr txBox="1">
            <a:spLocks noGrp="1"/>
          </p:cNvSpPr>
          <p:nvPr>
            <p:ph type="title"/>
          </p:nvPr>
        </p:nvSpPr>
        <p:spPr/>
        <p:txBody>
          <a:bodyPr/>
          <a:lstStyle/>
          <a:p>
            <a:pPr lvl="0"/>
            <a:r>
              <a:rPr lang="fr-FR" noProof="0" dirty="0"/>
              <a:t>DROITS D’ACCES</a:t>
            </a:r>
          </a:p>
        </p:txBody>
      </p:sp>
      <p:sp>
        <p:nvSpPr>
          <p:cNvPr id="12" name="Espace réservé du numéro de diapositive 11">
            <a:extLst>
              <a:ext uri="{FF2B5EF4-FFF2-40B4-BE49-F238E27FC236}">
                <a16:creationId xmlns:a16="http://schemas.microsoft.com/office/drawing/2014/main" id="{D01755D7-2550-6DC5-5054-A17AF01BBE5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16C7DD9B-0245-E0A5-CF2A-8E9B41DE8EBE}"/>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FE103505-207F-26A2-7459-FC2E060A28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7036967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E-LEARNING</a:t>
            </a:r>
          </a:p>
        </p:txBody>
      </p:sp>
      <p:sp>
        <p:nvSpPr>
          <p:cNvPr id="12" name="Espace réservé du numéro de diapositive 11">
            <a:extLst>
              <a:ext uri="{FF2B5EF4-FFF2-40B4-BE49-F238E27FC236}">
                <a16:creationId xmlns:a16="http://schemas.microsoft.com/office/drawing/2014/main" id="{568672FE-942E-84EB-9BF4-1DCC0935BD8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F97ACA9-C75B-C063-6926-B5CF341F1942}"/>
              </a:ext>
            </a:extLst>
          </p:cNvPr>
          <p:cNvSpPr>
            <a:spLocks noGrp="1"/>
          </p:cNvSpPr>
          <p:nvPr>
            <p:ph sz="half" idx="4294967295"/>
          </p:nvPr>
        </p:nvSpPr>
        <p:spPr>
          <a:xfrm>
            <a:off x="263524" y="2097088"/>
            <a:ext cx="5832475" cy="4630738"/>
          </a:xfrm>
        </p:spPr>
        <p:txBody>
          <a:bodyPr/>
          <a:lstStyle/>
          <a:p>
            <a:pPr lvl="0"/>
            <a:r>
              <a:rPr lang="fr-FR" b="1" noProof="0" dirty="0"/>
              <a:t>UTILISATION STANDARD</a:t>
            </a:r>
          </a:p>
          <a:p>
            <a:pPr lvl="1"/>
            <a:r>
              <a:rPr lang="fr-FR" sz="2000" noProof="0" dirty="0"/>
              <a:t>Créez une plateforme de cours</a:t>
            </a:r>
          </a:p>
          <a:p>
            <a:pPr lvl="1"/>
            <a:r>
              <a:rPr lang="fr-FR" sz="2000" noProof="0" dirty="0"/>
              <a:t>Publiez votre plateforme sur votre site web</a:t>
            </a:r>
          </a:p>
          <a:p>
            <a:pPr lvl="1"/>
            <a:r>
              <a:rPr lang="fr-FR" sz="2000" noProof="0" dirty="0"/>
              <a:t>Vendez vos cours</a:t>
            </a:r>
          </a:p>
          <a:p>
            <a:pPr lvl="1"/>
            <a:r>
              <a:rPr lang="fr-FR" sz="2000" noProof="0" dirty="0"/>
              <a:t>Délivrez des certificats et évaluez les niveaux avec des enquêtes</a:t>
            </a:r>
            <a:endParaRPr lang="fr-FR" sz="2800"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F073B702-07BB-1D6D-506F-E996B7D289DF}"/>
              </a:ext>
            </a:extLst>
          </p:cNvPr>
          <p:cNvPicPr>
            <a:picLocks noChangeAspect="1"/>
          </p:cNvPicPr>
          <p:nvPr/>
        </p:nvPicPr>
        <p:blipFill>
          <a:blip r:embed="rId3">
            <a:extLst>
              <a:ext uri="{28A0092B-C50C-407E-A947-70E740481C1C}">
                <a14:useLocalDpi xmlns:a14="http://schemas.microsoft.com/office/drawing/2010/main" val="0"/>
              </a:ext>
            </a:extLst>
          </a:blip>
          <a:srcRect l="9148" t="20846" r="8937" b="20783"/>
          <a:stretch/>
        </p:blipFill>
        <p:spPr>
          <a:xfrm>
            <a:off x="6600825" y="2561737"/>
            <a:ext cx="4431600" cy="3157812"/>
          </a:xfrm>
          <a:prstGeom prst="rect">
            <a:avLst/>
          </a:prstGeom>
        </p:spPr>
      </p:pic>
    </p:spTree>
    <p:extLst>
      <p:ext uri="{BB962C8B-B14F-4D97-AF65-F5344CB8AC3E}">
        <p14:creationId xmlns:p14="http://schemas.microsoft.com/office/powerpoint/2010/main" val="39390916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070997F5-8553-FFFB-3E5B-2E69D0D45334}"/>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EC57949-44F6-ED07-5D8A-F18AC0B97384}"/>
              </a:ext>
            </a:extLst>
          </p:cNvPr>
          <p:cNvSpPr txBox="1">
            <a:spLocks noGrp="1"/>
          </p:cNvSpPr>
          <p:nvPr>
            <p:ph type="title"/>
          </p:nvPr>
        </p:nvSpPr>
        <p:spPr/>
        <p:txBody>
          <a:bodyPr/>
          <a:lstStyle/>
          <a:p>
            <a:pPr lvl="0"/>
            <a:r>
              <a:rPr lang="fr-FR" noProof="0" dirty="0"/>
              <a:t>E-LEARNING</a:t>
            </a:r>
          </a:p>
        </p:txBody>
      </p:sp>
      <p:sp>
        <p:nvSpPr>
          <p:cNvPr id="12" name="Espace réservé du numéro de diapositive 11">
            <a:extLst>
              <a:ext uri="{FF2B5EF4-FFF2-40B4-BE49-F238E27FC236}">
                <a16:creationId xmlns:a16="http://schemas.microsoft.com/office/drawing/2014/main" id="{3D004603-96BB-3D31-8973-94FEA5383F3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F4972644-6678-2746-6EBA-25E444A6B163}"/>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D1F1F617-9F9E-B948-A3F2-14D63AF555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61970028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EVENEMENTS</a:t>
            </a:r>
          </a:p>
        </p:txBody>
      </p:sp>
      <p:sp>
        <p:nvSpPr>
          <p:cNvPr id="12" name="Espace réservé du numéro de diapositive 11">
            <a:extLst>
              <a:ext uri="{FF2B5EF4-FFF2-40B4-BE49-F238E27FC236}">
                <a16:creationId xmlns:a16="http://schemas.microsoft.com/office/drawing/2014/main" id="{8F2D1343-A4AC-7A37-6F11-4D92DBA712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9AA9FE79-68F7-1C37-5C88-1583CDE0741F}"/>
              </a:ext>
            </a:extLst>
          </p:cNvPr>
          <p:cNvSpPr>
            <a:spLocks noGrp="1"/>
          </p:cNvSpPr>
          <p:nvPr>
            <p:ph sz="half" idx="4294967295"/>
          </p:nvPr>
        </p:nvSpPr>
        <p:spPr>
          <a:xfrm>
            <a:off x="263525" y="2097088"/>
            <a:ext cx="6096000" cy="3492500"/>
          </a:xfrm>
        </p:spPr>
        <p:txBody>
          <a:bodyPr/>
          <a:lstStyle/>
          <a:p>
            <a:pPr lvl="0"/>
            <a:r>
              <a:rPr lang="fr-FR" b="1" noProof="0" dirty="0"/>
              <a:t>UTILISATION STANDARD</a:t>
            </a:r>
          </a:p>
          <a:p>
            <a:pPr lvl="1"/>
            <a:r>
              <a:rPr lang="fr-FR" sz="2000" noProof="0" dirty="0"/>
              <a:t>Organisez facilement vos propres événements</a:t>
            </a:r>
          </a:p>
          <a:p>
            <a:pPr lvl="1"/>
            <a:r>
              <a:rPr lang="fr-FR" sz="2000" noProof="0" dirty="0"/>
              <a:t>Publiez-les sur votre site web</a:t>
            </a:r>
          </a:p>
          <a:p>
            <a:pPr lvl="1"/>
            <a:r>
              <a:rPr lang="fr-FR" sz="2000" noProof="0" dirty="0"/>
              <a:t>Vendez des billets pour votre événement</a:t>
            </a:r>
          </a:p>
          <a:p>
            <a:pPr lvl="1"/>
            <a:r>
              <a:rPr lang="fr-FR" sz="2000" noProof="0" dirty="0"/>
              <a:t>Contactez et gérez la communication avec les participants</a:t>
            </a:r>
          </a:p>
          <a:p>
            <a:pPr lvl="1"/>
            <a:r>
              <a:rPr lang="fr-FR" sz="2000" noProof="0" dirty="0"/>
              <a:t>Organisez et réservez des intervenants</a:t>
            </a:r>
          </a:p>
          <a:p>
            <a:pPr lvl="1"/>
            <a:r>
              <a:rPr lang="fr-FR" sz="2000" noProof="0" dirty="0"/>
              <a:t>Gérez « sur site » : badges, QR codes, accueil…</a:t>
            </a:r>
            <a:endParaRPr lang="fr-FR" sz="3200" noProof="0" dirty="0"/>
          </a:p>
          <a:p>
            <a:pPr lvl="1"/>
            <a:endParaRPr lang="fr-FR" noProof="0" dirty="0"/>
          </a:p>
        </p:txBody>
      </p:sp>
      <p:pic>
        <p:nvPicPr>
          <p:cNvPr id="3" name="Image 2" descr="Une image contenant texte, capture d’écran, logiciel, ordinateur&#10;&#10;Le contenu généré par l’IA peut être incorrect.">
            <a:extLst>
              <a:ext uri="{FF2B5EF4-FFF2-40B4-BE49-F238E27FC236}">
                <a16:creationId xmlns:a16="http://schemas.microsoft.com/office/drawing/2014/main" id="{5078E0BD-45F6-3E39-7BBC-111C1B65C808}"/>
              </a:ext>
            </a:extLst>
          </p:cNvPr>
          <p:cNvPicPr>
            <a:picLocks noChangeAspect="1"/>
          </p:cNvPicPr>
          <p:nvPr/>
        </p:nvPicPr>
        <p:blipFill>
          <a:blip r:embed="rId3">
            <a:extLst>
              <a:ext uri="{28A0092B-C50C-407E-A947-70E740481C1C}">
                <a14:useLocalDpi xmlns:a14="http://schemas.microsoft.com/office/drawing/2010/main" val="0"/>
              </a:ext>
            </a:extLst>
          </a:blip>
          <a:srcRect l="8984" t="20888" r="9046" b="20796"/>
          <a:stretch/>
        </p:blipFill>
        <p:spPr>
          <a:xfrm>
            <a:off x="6600825" y="2536976"/>
            <a:ext cx="4431600" cy="3152742"/>
          </a:xfrm>
          <a:prstGeom prst="rect">
            <a:avLst/>
          </a:prstGeom>
        </p:spPr>
      </p:pic>
    </p:spTree>
    <p:extLst>
      <p:ext uri="{BB962C8B-B14F-4D97-AF65-F5344CB8AC3E}">
        <p14:creationId xmlns:p14="http://schemas.microsoft.com/office/powerpoint/2010/main" val="7344457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8D0946A5-8AD4-4C69-E909-99DFB14488E0}"/>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E058FEB2-CC76-3D0B-B94C-DF381852AF29}"/>
              </a:ext>
            </a:extLst>
          </p:cNvPr>
          <p:cNvSpPr txBox="1">
            <a:spLocks noGrp="1"/>
          </p:cNvSpPr>
          <p:nvPr>
            <p:ph type="title"/>
          </p:nvPr>
        </p:nvSpPr>
        <p:spPr/>
        <p:txBody>
          <a:bodyPr/>
          <a:lstStyle/>
          <a:p>
            <a:pPr lvl="0"/>
            <a:r>
              <a:rPr lang="fr-FR" noProof="0" dirty="0"/>
              <a:t>EVENEMENTS</a:t>
            </a:r>
          </a:p>
        </p:txBody>
      </p:sp>
      <p:sp>
        <p:nvSpPr>
          <p:cNvPr id="12" name="Espace réservé du numéro de diapositive 11">
            <a:extLst>
              <a:ext uri="{FF2B5EF4-FFF2-40B4-BE49-F238E27FC236}">
                <a16:creationId xmlns:a16="http://schemas.microsoft.com/office/drawing/2014/main" id="{35AADE67-2AD9-F97E-A331-89272182027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D3AB60DC-BED3-1D38-DBAA-77A766F52C4D}"/>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72FF57AC-0B85-2E04-D955-46B60D5775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8286080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VALIDATION</a:t>
            </a:r>
          </a:p>
        </p:txBody>
      </p:sp>
      <p:sp>
        <p:nvSpPr>
          <p:cNvPr id="12" name="Espace réservé du numéro de diapositive 11">
            <a:extLst>
              <a:ext uri="{FF2B5EF4-FFF2-40B4-BE49-F238E27FC236}">
                <a16:creationId xmlns:a16="http://schemas.microsoft.com/office/drawing/2014/main" id="{340291AF-8867-040F-7FFE-70F2A20FAF4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9266F095-AEC9-B6B3-4FC8-DFD9D730F9F5}"/>
              </a:ext>
            </a:extLst>
          </p:cNvPr>
          <p:cNvSpPr>
            <a:spLocks noGrp="1"/>
          </p:cNvSpPr>
          <p:nvPr>
            <p:ph sz="half" idx="4294967295"/>
          </p:nvPr>
        </p:nvSpPr>
        <p:spPr>
          <a:xfrm>
            <a:off x="263525" y="2097088"/>
            <a:ext cx="6096000" cy="4630738"/>
          </a:xfrm>
        </p:spPr>
        <p:txBody>
          <a:bodyPr/>
          <a:lstStyle/>
          <a:p>
            <a:pPr lvl="0"/>
            <a:r>
              <a:rPr lang="fr-FR" b="1" noProof="0" dirty="0"/>
              <a:t>UTILISATION STANDARD</a:t>
            </a:r>
          </a:p>
          <a:p>
            <a:pPr lvl="1"/>
            <a:r>
              <a:rPr lang="fr-FR" sz="2000" noProof="0" dirty="0"/>
              <a:t>Passez au sans papier avec les approbations en ligne</a:t>
            </a:r>
          </a:p>
          <a:p>
            <a:pPr lvl="1"/>
            <a:r>
              <a:rPr lang="fr-FR" sz="2000" noProof="0" dirty="0"/>
              <a:t>Créez toutes les approbations nécessaires, sélectionnez le nombre et les validateurs</a:t>
            </a:r>
          </a:p>
          <a:p>
            <a:pPr lvl="1"/>
            <a:r>
              <a:rPr lang="fr-FR" sz="2000" noProof="0" dirty="0"/>
              <a:t>Liez les approbations à la création d'éléments tels que les bons de commande</a:t>
            </a:r>
            <a:endParaRPr lang="fr-FR" sz="3200" noProof="0" dirty="0"/>
          </a:p>
        </p:txBody>
      </p:sp>
      <p:pic>
        <p:nvPicPr>
          <p:cNvPr id="3" name="Image 2" descr="Une image contenant Appareils électroniques, texte, capture d’écran, multimédia&#10;&#10;Le contenu généré par l’IA peut être incorrect.">
            <a:extLst>
              <a:ext uri="{FF2B5EF4-FFF2-40B4-BE49-F238E27FC236}">
                <a16:creationId xmlns:a16="http://schemas.microsoft.com/office/drawing/2014/main" id="{82A7FDF4-49AA-C997-838E-ABC0D41A6406}"/>
              </a:ext>
            </a:extLst>
          </p:cNvPr>
          <p:cNvPicPr>
            <a:picLocks noChangeAspect="1"/>
          </p:cNvPicPr>
          <p:nvPr/>
        </p:nvPicPr>
        <p:blipFill>
          <a:blip r:embed="rId3">
            <a:extLst>
              <a:ext uri="{28A0092B-C50C-407E-A947-70E740481C1C}">
                <a14:useLocalDpi xmlns:a14="http://schemas.microsoft.com/office/drawing/2010/main" val="0"/>
              </a:ext>
            </a:extLst>
          </a:blip>
          <a:srcRect l="9068" t="20842" r="8961" b="20842"/>
          <a:stretch/>
        </p:blipFill>
        <p:spPr>
          <a:xfrm>
            <a:off x="6547200" y="2564271"/>
            <a:ext cx="4431600" cy="3152744"/>
          </a:xfrm>
          <a:prstGeom prst="rect">
            <a:avLst/>
          </a:prstGeom>
        </p:spPr>
      </p:pic>
    </p:spTree>
    <p:extLst>
      <p:ext uri="{BB962C8B-B14F-4D97-AF65-F5344CB8AC3E}">
        <p14:creationId xmlns:p14="http://schemas.microsoft.com/office/powerpoint/2010/main" val="363863437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F50B12D7-C362-052C-014C-E48B364149CF}"/>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5C88F1E-9B1F-F7AD-D09E-7C1A804D4324}"/>
              </a:ext>
            </a:extLst>
          </p:cNvPr>
          <p:cNvSpPr txBox="1">
            <a:spLocks noGrp="1"/>
          </p:cNvSpPr>
          <p:nvPr>
            <p:ph type="title"/>
          </p:nvPr>
        </p:nvSpPr>
        <p:spPr/>
        <p:txBody>
          <a:bodyPr/>
          <a:lstStyle/>
          <a:p>
            <a:pPr lvl="0"/>
            <a:r>
              <a:rPr lang="fr-FR" noProof="0" dirty="0"/>
              <a:t>VALIDATION</a:t>
            </a:r>
          </a:p>
        </p:txBody>
      </p:sp>
      <p:sp>
        <p:nvSpPr>
          <p:cNvPr id="12" name="Espace réservé du numéro de diapositive 11">
            <a:extLst>
              <a:ext uri="{FF2B5EF4-FFF2-40B4-BE49-F238E27FC236}">
                <a16:creationId xmlns:a16="http://schemas.microsoft.com/office/drawing/2014/main" id="{8C29367F-3AED-88AC-6327-F14452066DE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A9AAB26B-A0EF-2AC4-AEAE-8ACAD8DF90C5}"/>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93F0EC80-4094-F337-6075-B9CCD58310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86611907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OBJECTIFS</a:t>
            </a:r>
          </a:p>
        </p:txBody>
      </p:sp>
      <p:sp>
        <p:nvSpPr>
          <p:cNvPr id="12" name="Espace réservé du numéro de diapositive 11">
            <a:extLst>
              <a:ext uri="{FF2B5EF4-FFF2-40B4-BE49-F238E27FC236}">
                <a16:creationId xmlns:a16="http://schemas.microsoft.com/office/drawing/2014/main" id="{5B5D85BF-B021-B59D-B067-04A1646F36F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7FD21AD1-483F-42F3-1090-DFBFD50B5BA7}"/>
              </a:ext>
            </a:extLst>
          </p:cNvPr>
          <p:cNvSpPr>
            <a:spLocks noGrp="1"/>
          </p:cNvSpPr>
          <p:nvPr>
            <p:ph sz="half" idx="4294967295"/>
          </p:nvPr>
        </p:nvSpPr>
        <p:spPr>
          <a:xfrm>
            <a:off x="255582" y="2097088"/>
            <a:ext cx="6291618" cy="4630738"/>
          </a:xfrm>
        </p:spPr>
        <p:txBody>
          <a:bodyPr/>
          <a:lstStyle/>
          <a:p>
            <a:pPr lvl="0"/>
            <a:r>
              <a:rPr lang="fr-FR" b="1" noProof="0" dirty="0"/>
              <a:t>UTILISATION STANDARD</a:t>
            </a:r>
          </a:p>
          <a:p>
            <a:pPr lvl="1"/>
            <a:r>
              <a:rPr lang="fr-FR" sz="2000" noProof="0" dirty="0"/>
              <a:t>Calculez les scores basés sur les données Odoo</a:t>
            </a:r>
          </a:p>
          <a:p>
            <a:pPr lvl="1"/>
            <a:r>
              <a:rPr lang="fr-FR" sz="2000" noProof="0" dirty="0"/>
              <a:t>Donnez des objectifs aux employés et mesurez leur réalisation</a:t>
            </a:r>
          </a:p>
          <a:p>
            <a:pPr lvl="2"/>
            <a:r>
              <a:rPr lang="fr-FR" noProof="0" dirty="0"/>
              <a:t>Objectifs de vente</a:t>
            </a:r>
          </a:p>
          <a:p>
            <a:pPr lvl="2"/>
            <a:r>
              <a:rPr lang="fr-FR" noProof="0" dirty="0"/>
              <a:t>Objectifs de rentabilité de l'entreprise</a:t>
            </a:r>
          </a:p>
          <a:p>
            <a:pPr lvl="2"/>
            <a:r>
              <a:rPr lang="fr-FR" noProof="0" dirty="0"/>
              <a:t>Objectifs de temps de production</a:t>
            </a:r>
          </a:p>
          <a:p>
            <a:pPr lvl="2"/>
            <a:r>
              <a:rPr lang="fr-FR" noProof="0" dirty="0"/>
              <a:t>Etc...</a:t>
            </a:r>
          </a:p>
        </p:txBody>
      </p:sp>
      <p:pic>
        <p:nvPicPr>
          <p:cNvPr id="3" name="Image 2" descr="Une image contenant texte, capture d’écran, ordinateur, logiciel&#10;&#10;Le contenu généré par l’IA peut être incorrect.">
            <a:extLst>
              <a:ext uri="{FF2B5EF4-FFF2-40B4-BE49-F238E27FC236}">
                <a16:creationId xmlns:a16="http://schemas.microsoft.com/office/drawing/2014/main" id="{CFC73822-4BE1-748F-658F-1516F1ADA548}"/>
              </a:ext>
            </a:extLst>
          </p:cNvPr>
          <p:cNvPicPr>
            <a:picLocks noChangeAspect="1"/>
          </p:cNvPicPr>
          <p:nvPr/>
        </p:nvPicPr>
        <p:blipFill>
          <a:blip r:embed="rId3">
            <a:extLst>
              <a:ext uri="{28A0092B-C50C-407E-A947-70E740481C1C}">
                <a14:useLocalDpi xmlns:a14="http://schemas.microsoft.com/office/drawing/2010/main" val="0"/>
              </a:ext>
            </a:extLst>
          </a:blip>
          <a:srcRect l="9037" t="20859" r="8993" b="20826"/>
          <a:stretch/>
        </p:blipFill>
        <p:spPr>
          <a:xfrm>
            <a:off x="6600825" y="2564272"/>
            <a:ext cx="4431600" cy="3152741"/>
          </a:xfrm>
          <a:prstGeom prst="rect">
            <a:avLst/>
          </a:prstGeom>
        </p:spPr>
      </p:pic>
    </p:spTree>
    <p:extLst>
      <p:ext uri="{BB962C8B-B14F-4D97-AF65-F5344CB8AC3E}">
        <p14:creationId xmlns:p14="http://schemas.microsoft.com/office/powerpoint/2010/main" val="370749116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B41085A5-14A9-2048-5A2C-52BD897AB0C7}"/>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EC980471-8E95-1EE9-8519-C2AE04411DE5}"/>
              </a:ext>
            </a:extLst>
          </p:cNvPr>
          <p:cNvSpPr txBox="1">
            <a:spLocks noGrp="1"/>
          </p:cNvSpPr>
          <p:nvPr>
            <p:ph type="title"/>
          </p:nvPr>
        </p:nvSpPr>
        <p:spPr/>
        <p:txBody>
          <a:bodyPr/>
          <a:lstStyle/>
          <a:p>
            <a:pPr lvl="0"/>
            <a:r>
              <a:rPr lang="fr-FR" noProof="0" dirty="0"/>
              <a:t>OBJECTIFS</a:t>
            </a:r>
          </a:p>
        </p:txBody>
      </p:sp>
      <p:sp>
        <p:nvSpPr>
          <p:cNvPr id="12" name="Espace réservé du numéro de diapositive 11">
            <a:extLst>
              <a:ext uri="{FF2B5EF4-FFF2-40B4-BE49-F238E27FC236}">
                <a16:creationId xmlns:a16="http://schemas.microsoft.com/office/drawing/2014/main" id="{77A5FDFD-AF49-BC64-EA03-F21D62C80DC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733C5A7-9071-9EA4-1B57-45935A4F0992}"/>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922D7686-EE43-385D-312C-2E26AA41E9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17405152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85360EB3-1F78-4A4E-40D5-55F2B326B76B}"/>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4E415637-DD4E-15D0-34DF-070912423633}"/>
              </a:ext>
            </a:extLst>
          </p:cNvPr>
          <p:cNvSpPr txBox="1">
            <a:spLocks noGrp="1"/>
          </p:cNvSpPr>
          <p:nvPr>
            <p:ph type="title"/>
          </p:nvPr>
        </p:nvSpPr>
        <p:spPr/>
        <p:txBody>
          <a:bodyPr/>
          <a:lstStyle/>
          <a:p>
            <a:pPr lvl="0"/>
            <a:r>
              <a:rPr lang="fr-FR" noProof="0" dirty="0"/>
              <a:t>SIGNATURE</a:t>
            </a:r>
          </a:p>
        </p:txBody>
      </p:sp>
      <p:sp>
        <p:nvSpPr>
          <p:cNvPr id="12" name="Espace réservé du numéro de diapositive 11">
            <a:extLst>
              <a:ext uri="{FF2B5EF4-FFF2-40B4-BE49-F238E27FC236}">
                <a16:creationId xmlns:a16="http://schemas.microsoft.com/office/drawing/2014/main" id="{64B55844-65FA-FF85-2AB8-BBFFBC39AF5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DAF5FB8E-504B-94F5-1AAC-CD256E24011B}"/>
              </a:ext>
            </a:extLst>
          </p:cNvPr>
          <p:cNvSpPr>
            <a:spLocks noGrp="1"/>
          </p:cNvSpPr>
          <p:nvPr>
            <p:ph idx="4294967295"/>
          </p:nvPr>
        </p:nvSpPr>
        <p:spPr>
          <a:xfrm>
            <a:off x="484517" y="2006221"/>
            <a:ext cx="7142922" cy="4667250"/>
          </a:xfrm>
        </p:spPr>
        <p:txBody>
          <a:bodyPr>
            <a:normAutofit/>
          </a:bodyPr>
          <a:lstStyle/>
          <a:p>
            <a:pPr lvl="0"/>
            <a:r>
              <a:rPr lang="fr-FR" sz="2000" b="1" noProof="0" dirty="0"/>
              <a:t>UTILISATION STANDARD</a:t>
            </a:r>
          </a:p>
          <a:p>
            <a:pPr lvl="1"/>
            <a:r>
              <a:rPr lang="fr-FR" sz="1600" noProof="0" dirty="0"/>
              <a:t>Créez et envoyez des documents à signer en quelques clics </a:t>
            </a:r>
          </a:p>
          <a:p>
            <a:pPr lvl="2"/>
            <a:r>
              <a:rPr lang="fr-FR" sz="1600" dirty="0"/>
              <a:t>Modèles configurables (champs, zones de signature, multi-signataires) </a:t>
            </a:r>
          </a:p>
          <a:p>
            <a:pPr lvl="2"/>
            <a:r>
              <a:rPr lang="fr-FR" sz="1600" dirty="0"/>
              <a:t>Signature intégrée à vos devis, contrats, bons de commande et rapports d'intervention.</a:t>
            </a:r>
          </a:p>
          <a:p>
            <a:pPr lvl="2"/>
            <a:r>
              <a:rPr lang="fr-FR" sz="1600" dirty="0"/>
              <a:t>Signature sur tout types d’appareil (desktop, tablette, mobile)</a:t>
            </a:r>
          </a:p>
          <a:p>
            <a:pPr lvl="1"/>
            <a:r>
              <a:rPr lang="fr-FR" sz="1600" dirty="0"/>
              <a:t>Authentifiez les signataires par SMS, email ou certificat électronique </a:t>
            </a:r>
            <a:r>
              <a:rPr lang="fr-FR" sz="1600" b="1" dirty="0"/>
              <a:t>(Reconnue en Europe selon la norme </a:t>
            </a:r>
            <a:r>
              <a:rPr lang="fr-FR" sz="1600" b="1" dirty="0" err="1"/>
              <a:t>eIDAS</a:t>
            </a:r>
            <a:r>
              <a:rPr lang="fr-FR" sz="1600" b="1" dirty="0"/>
              <a:t>)</a:t>
            </a:r>
          </a:p>
          <a:p>
            <a:pPr lvl="1"/>
            <a:r>
              <a:rPr lang="fr-FR" sz="1600" noProof="0" dirty="0"/>
              <a:t>Suivez et pilotez vos demandes en temps réel</a:t>
            </a:r>
          </a:p>
          <a:p>
            <a:pPr lvl="2"/>
            <a:r>
              <a:rPr lang="fr-FR" sz="1600" dirty="0"/>
              <a:t>Statut à chaque étape (envoyé, ouvert, signé, refusé)</a:t>
            </a:r>
          </a:p>
          <a:p>
            <a:pPr lvl="2"/>
            <a:r>
              <a:rPr lang="fr-FR" sz="1600" dirty="0"/>
              <a:t>Relances automatiques des signataires en attente</a:t>
            </a:r>
          </a:p>
          <a:p>
            <a:pPr lvl="1"/>
            <a:r>
              <a:rPr lang="fr-FR" sz="1600" dirty="0"/>
              <a:t>Générer un certificat de complétion avec horodatage et piste d’audit complète</a:t>
            </a:r>
            <a:endParaRPr lang="fr-FR" sz="1600" noProof="0" dirty="0"/>
          </a:p>
          <a:p>
            <a:pPr lvl="1"/>
            <a:r>
              <a:rPr lang="fr-FR" sz="1600" dirty="0"/>
              <a:t>Archivez </a:t>
            </a:r>
            <a:r>
              <a:rPr lang="fr-FR" sz="1600" noProof="0" dirty="0"/>
              <a:t>automatiquement les documents signés dans Odoo Documents.</a:t>
            </a:r>
          </a:p>
        </p:txBody>
      </p:sp>
      <p:pic>
        <p:nvPicPr>
          <p:cNvPr id="2" name="Image 1">
            <a:extLst>
              <a:ext uri="{FF2B5EF4-FFF2-40B4-BE49-F238E27FC236}">
                <a16:creationId xmlns:a16="http://schemas.microsoft.com/office/drawing/2014/main" id="{59CDA548-1615-E405-6E0E-A24A0E5A3E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6835" y="2476500"/>
            <a:ext cx="4031540" cy="2628900"/>
          </a:xfrm>
          <a:prstGeom prst="rect">
            <a:avLst/>
          </a:prstGeom>
        </p:spPr>
      </p:pic>
    </p:spTree>
    <p:extLst>
      <p:ext uri="{BB962C8B-B14F-4D97-AF65-F5344CB8AC3E}">
        <p14:creationId xmlns:p14="http://schemas.microsoft.com/office/powerpoint/2010/main" val="9262970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9F317847-87DA-76AA-7654-EE8A344D96F1}"/>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F3065AE8-CB4D-AC56-D2B7-B29793DCA506}"/>
              </a:ext>
            </a:extLst>
          </p:cNvPr>
          <p:cNvSpPr txBox="1">
            <a:spLocks noGrp="1"/>
          </p:cNvSpPr>
          <p:nvPr>
            <p:ph type="title"/>
          </p:nvPr>
        </p:nvSpPr>
        <p:spPr/>
        <p:txBody>
          <a:bodyPr/>
          <a:lstStyle/>
          <a:p>
            <a:pPr lvl="0"/>
            <a:r>
              <a:rPr lang="fr-FR" noProof="0" dirty="0"/>
              <a:t>SIGNATURE</a:t>
            </a:r>
          </a:p>
        </p:txBody>
      </p:sp>
      <p:sp>
        <p:nvSpPr>
          <p:cNvPr id="12" name="Espace réservé du numéro de diapositive 11">
            <a:extLst>
              <a:ext uri="{FF2B5EF4-FFF2-40B4-BE49-F238E27FC236}">
                <a16:creationId xmlns:a16="http://schemas.microsoft.com/office/drawing/2014/main" id="{410B66CA-FE30-25B5-4B9D-897F4341EC6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83F083AC-7590-A517-5EE5-4348EC85B902}"/>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6D710F42-C41E-A604-A974-D6E3CC97A9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4903563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681A24E1-30A0-34D8-5D03-A7E0528F1B1A}"/>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3ACF02B7-1253-F742-79E2-3D6B7FA4D314}"/>
              </a:ext>
            </a:extLst>
          </p:cNvPr>
          <p:cNvSpPr txBox="1">
            <a:spLocks noGrp="1"/>
          </p:cNvSpPr>
          <p:nvPr>
            <p:ph type="title"/>
          </p:nvPr>
        </p:nvSpPr>
        <p:spPr/>
        <p:txBody>
          <a:bodyPr/>
          <a:lstStyle/>
          <a:p>
            <a:pPr lvl="0"/>
            <a:r>
              <a:rPr lang="fr-FR" noProof="0" dirty="0"/>
              <a:t>EQUITY (CAPITAUX PROPRES)</a:t>
            </a:r>
          </a:p>
        </p:txBody>
      </p:sp>
      <p:sp>
        <p:nvSpPr>
          <p:cNvPr id="12" name="Espace réservé du numéro de diapositive 11">
            <a:extLst>
              <a:ext uri="{FF2B5EF4-FFF2-40B4-BE49-F238E27FC236}">
                <a16:creationId xmlns:a16="http://schemas.microsoft.com/office/drawing/2014/main" id="{63E8573B-B194-2731-E630-4262B084C78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3BCC248-58CA-0E00-6FD4-E3AAAF4CDE28}"/>
              </a:ext>
            </a:extLst>
          </p:cNvPr>
          <p:cNvSpPr>
            <a:spLocks noGrp="1"/>
          </p:cNvSpPr>
          <p:nvPr>
            <p:ph idx="4294967295"/>
          </p:nvPr>
        </p:nvSpPr>
        <p:spPr>
          <a:xfrm>
            <a:off x="484517" y="2006221"/>
            <a:ext cx="6055431" cy="4667250"/>
          </a:xfrm>
        </p:spPr>
        <p:txBody>
          <a:bodyPr>
            <a:normAutofit lnSpcReduction="10000"/>
          </a:bodyPr>
          <a:lstStyle/>
          <a:p>
            <a:pPr lvl="0"/>
            <a:r>
              <a:rPr lang="fr-FR" b="1" noProof="0" dirty="0"/>
              <a:t>UTILISATION STANDARD</a:t>
            </a:r>
          </a:p>
          <a:p>
            <a:pPr lvl="0"/>
            <a:endParaRPr lang="fr-FR" b="1" noProof="0" dirty="0"/>
          </a:p>
          <a:p>
            <a:pPr lvl="1"/>
            <a:r>
              <a:rPr lang="fr-FR" sz="2000" dirty="0"/>
              <a:t>Centralisez la structure du capital et la répartition entre associés ou actionnaires.</a:t>
            </a:r>
          </a:p>
          <a:p>
            <a:pPr lvl="1"/>
            <a:endParaRPr lang="fr-FR" sz="2000" dirty="0"/>
          </a:p>
          <a:p>
            <a:pPr lvl="1"/>
            <a:r>
              <a:rPr lang="fr-FR" sz="2000" dirty="0"/>
              <a:t>Enregistrez les mouvements de capital (apports, rachats, cessions) en temps réel.</a:t>
            </a:r>
          </a:p>
          <a:p>
            <a:pPr lvl="1"/>
            <a:endParaRPr lang="fr-FR" sz="2000" dirty="0"/>
          </a:p>
          <a:p>
            <a:pPr lvl="1"/>
            <a:r>
              <a:rPr lang="fr-FR" sz="2000" dirty="0"/>
              <a:t>Générez des rapports détaillés pour le suivi légal et financier des capitaux propres.</a:t>
            </a:r>
          </a:p>
          <a:p>
            <a:pPr lvl="1"/>
            <a:endParaRPr lang="fr-FR" sz="2000" dirty="0"/>
          </a:p>
          <a:p>
            <a:pPr lvl="1"/>
            <a:r>
              <a:rPr lang="fr-FR" sz="2000" dirty="0"/>
              <a:t>Synchronisez automatiquement les données avec la comptabilité pour une cohérence optimale.</a:t>
            </a:r>
          </a:p>
        </p:txBody>
      </p:sp>
      <p:pic>
        <p:nvPicPr>
          <p:cNvPr id="2" name="Image 1">
            <a:extLst>
              <a:ext uri="{FF2B5EF4-FFF2-40B4-BE49-F238E27FC236}">
                <a16:creationId xmlns:a16="http://schemas.microsoft.com/office/drawing/2014/main" id="{4C66855D-C968-EB37-BFC7-88591E3AD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5528" y="2303362"/>
            <a:ext cx="4481955" cy="2922608"/>
          </a:xfrm>
          <a:prstGeom prst="rect">
            <a:avLst/>
          </a:prstGeom>
        </p:spPr>
      </p:pic>
    </p:spTree>
    <p:extLst>
      <p:ext uri="{BB962C8B-B14F-4D97-AF65-F5344CB8AC3E}">
        <p14:creationId xmlns:p14="http://schemas.microsoft.com/office/powerpoint/2010/main" val="243551001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6A4AF623-FFFC-FECB-8AA8-7C4A3D04DD5E}"/>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D3B0B017-EC5A-3F2F-BAB2-BAF50B21B119}"/>
              </a:ext>
            </a:extLst>
          </p:cNvPr>
          <p:cNvSpPr txBox="1">
            <a:spLocks noGrp="1"/>
          </p:cNvSpPr>
          <p:nvPr>
            <p:ph type="title"/>
          </p:nvPr>
        </p:nvSpPr>
        <p:spPr/>
        <p:txBody>
          <a:bodyPr/>
          <a:lstStyle/>
          <a:p>
            <a:pPr lvl="0"/>
            <a:r>
              <a:rPr lang="fr-FR" dirty="0"/>
              <a:t>EQUITY (CAPITAUX PROPRES)</a:t>
            </a:r>
            <a:endParaRPr lang="fr-FR" noProof="0" dirty="0"/>
          </a:p>
        </p:txBody>
      </p:sp>
      <p:sp>
        <p:nvSpPr>
          <p:cNvPr id="12" name="Espace réservé du numéro de diapositive 11">
            <a:extLst>
              <a:ext uri="{FF2B5EF4-FFF2-40B4-BE49-F238E27FC236}">
                <a16:creationId xmlns:a16="http://schemas.microsoft.com/office/drawing/2014/main" id="{7BF22FFF-3A80-50CA-2764-59BFBE14924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52B89C5A-8C49-2920-DB78-EAD46E14080B}"/>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099444BC-38CE-99BA-C930-A44B6B539C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6871594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23A02F67-A0C4-46CB-BF2B-5C3EF346C7C7}"/>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774442E9-9A20-3344-BA40-7F2813323613}"/>
              </a:ext>
            </a:extLst>
          </p:cNvPr>
          <p:cNvSpPr txBox="1">
            <a:spLocks noGrp="1"/>
          </p:cNvSpPr>
          <p:nvPr>
            <p:ph type="title"/>
          </p:nvPr>
        </p:nvSpPr>
        <p:spPr/>
        <p:txBody>
          <a:bodyPr/>
          <a:lstStyle/>
          <a:p>
            <a:pPr lvl="0"/>
            <a:r>
              <a:rPr lang="fr-FR" noProof="0" dirty="0"/>
              <a:t>AI </a:t>
            </a:r>
            <a:r>
              <a:rPr lang="fr-FR" sz="2800" noProof="0" dirty="0"/>
              <a:t>(INTELLIGENCE ARTIFICIELLE)</a:t>
            </a:r>
          </a:p>
        </p:txBody>
      </p:sp>
      <p:sp>
        <p:nvSpPr>
          <p:cNvPr id="12" name="Espace réservé du numéro de diapositive 11">
            <a:extLst>
              <a:ext uri="{FF2B5EF4-FFF2-40B4-BE49-F238E27FC236}">
                <a16:creationId xmlns:a16="http://schemas.microsoft.com/office/drawing/2014/main" id="{2FCF390D-C2D0-EAD0-A711-4D710D0CCF6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6949D642-45C3-A35D-69F8-7BD3E0C90C68}"/>
              </a:ext>
            </a:extLst>
          </p:cNvPr>
          <p:cNvSpPr>
            <a:spLocks noGrp="1"/>
          </p:cNvSpPr>
          <p:nvPr>
            <p:ph idx="4294967295"/>
          </p:nvPr>
        </p:nvSpPr>
        <p:spPr>
          <a:xfrm>
            <a:off x="484517" y="2006221"/>
            <a:ext cx="6055431" cy="4667250"/>
          </a:xfrm>
        </p:spPr>
        <p:txBody>
          <a:bodyPr>
            <a:normAutofit/>
          </a:bodyPr>
          <a:lstStyle/>
          <a:p>
            <a:pPr lvl="0"/>
            <a:r>
              <a:rPr lang="fr-FR" b="1" noProof="0" dirty="0"/>
              <a:t>UTILISATION STANDARD</a:t>
            </a:r>
          </a:p>
          <a:p>
            <a:pPr lvl="1"/>
            <a:r>
              <a:rPr lang="fr-FR" sz="2200" dirty="0"/>
              <a:t>Analysez vos données en temps réel (ventes, stocks, tendances clients) grâce à des algorithmes prédictifs et des insights actionnables.</a:t>
            </a:r>
          </a:p>
          <a:p>
            <a:pPr lvl="1"/>
            <a:r>
              <a:rPr lang="fr-FR" sz="2200" dirty="0"/>
              <a:t>Personnalisez l’expérience client avec des recommandations intelligentes (produits, services) basées sur l’historique et le comportement d’achat.</a:t>
            </a:r>
          </a:p>
          <a:p>
            <a:pPr lvl="1"/>
            <a:r>
              <a:rPr lang="fr-FR" sz="2200" dirty="0"/>
              <a:t>Intégrez l’IA à vos workflows existants (CRM, Comptabilité, RH) pour une prise de décision plus rapide et une productivité accrue.</a:t>
            </a:r>
          </a:p>
        </p:txBody>
      </p:sp>
      <p:pic>
        <p:nvPicPr>
          <p:cNvPr id="2" name="Image 1">
            <a:extLst>
              <a:ext uri="{FF2B5EF4-FFF2-40B4-BE49-F238E27FC236}">
                <a16:creationId xmlns:a16="http://schemas.microsoft.com/office/drawing/2014/main" id="{D96E940B-AEC3-AE0D-E6B6-F45AA8994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4465" y="2349659"/>
            <a:ext cx="4570706" cy="2980481"/>
          </a:xfrm>
          <a:prstGeom prst="rect">
            <a:avLst/>
          </a:prstGeom>
        </p:spPr>
      </p:pic>
    </p:spTree>
    <p:extLst>
      <p:ext uri="{BB962C8B-B14F-4D97-AF65-F5344CB8AC3E}">
        <p14:creationId xmlns:p14="http://schemas.microsoft.com/office/powerpoint/2010/main" val="34137325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2A2E6AB5-181E-A750-56E1-789A44AEAD9B}"/>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646CDD87-EA60-A33D-776B-9512C4628500}"/>
              </a:ext>
            </a:extLst>
          </p:cNvPr>
          <p:cNvSpPr txBox="1">
            <a:spLocks noGrp="1"/>
          </p:cNvSpPr>
          <p:nvPr>
            <p:ph type="title"/>
          </p:nvPr>
        </p:nvSpPr>
        <p:spPr/>
        <p:txBody>
          <a:bodyPr/>
          <a:lstStyle/>
          <a:p>
            <a:pPr lvl="0"/>
            <a:r>
              <a:rPr lang="fr-FR" dirty="0"/>
              <a:t>AI </a:t>
            </a:r>
            <a:r>
              <a:rPr lang="fr-FR" sz="2800" dirty="0"/>
              <a:t>(INTELLIGENCE ARTIFICIELLE)</a:t>
            </a:r>
            <a:endParaRPr lang="fr-FR" sz="2800" noProof="0" dirty="0"/>
          </a:p>
        </p:txBody>
      </p:sp>
      <p:sp>
        <p:nvSpPr>
          <p:cNvPr id="12" name="Espace réservé du numéro de diapositive 11">
            <a:extLst>
              <a:ext uri="{FF2B5EF4-FFF2-40B4-BE49-F238E27FC236}">
                <a16:creationId xmlns:a16="http://schemas.microsoft.com/office/drawing/2014/main" id="{53D188CE-442A-391D-9F37-411CBFB55A9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39622974-A04C-2F5B-DD48-B85C61A9453E}"/>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EF58AE71-77E8-ACA0-C46C-108B5C7840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300555998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10"/>
          <p:cNvSpPr txBox="1">
            <a:spLocks noGrp="1"/>
          </p:cNvSpPr>
          <p:nvPr>
            <p:ph type="title"/>
          </p:nvPr>
        </p:nvSpPr>
        <p:spPr/>
        <p:txBody>
          <a:bodyPr/>
          <a:lstStyle/>
          <a:p>
            <a:pPr lvl="0"/>
            <a:r>
              <a:rPr lang="fr-FR" noProof="0" dirty="0"/>
              <a:t>MISE EN PRODUCTION</a:t>
            </a:r>
          </a:p>
        </p:txBody>
      </p:sp>
      <p:sp>
        <p:nvSpPr>
          <p:cNvPr id="12" name="Espace réservé du numéro de diapositive 11">
            <a:extLst>
              <a:ext uri="{FF2B5EF4-FFF2-40B4-BE49-F238E27FC236}">
                <a16:creationId xmlns:a16="http://schemas.microsoft.com/office/drawing/2014/main" id="{62B33E9C-DD6F-6C34-342E-FC5D1F76632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2D541B42-07AE-D9A4-5178-DF195163E584}"/>
              </a:ext>
            </a:extLst>
          </p:cNvPr>
          <p:cNvSpPr>
            <a:spLocks noGrp="1"/>
          </p:cNvSpPr>
          <p:nvPr>
            <p:ph idx="4294967295"/>
          </p:nvPr>
        </p:nvSpPr>
        <p:spPr>
          <a:xfrm>
            <a:off x="838200" y="2097088"/>
            <a:ext cx="10515600" cy="4667250"/>
          </a:xfrm>
        </p:spPr>
        <p:txBody>
          <a:bodyPr/>
          <a:lstStyle/>
          <a:p>
            <a:pPr lvl="0"/>
            <a:r>
              <a:rPr lang="fr-FR" b="1" noProof="0" dirty="0"/>
              <a:t>UTILISATION STANDARD</a:t>
            </a:r>
          </a:p>
          <a:p>
            <a:pPr lvl="1"/>
            <a:r>
              <a:rPr lang="fr-FR" sz="2000" noProof="0" dirty="0"/>
              <a:t>Nous planifierons et validerons la communication avec vous</a:t>
            </a:r>
          </a:p>
          <a:p>
            <a:pPr lvl="1"/>
            <a:r>
              <a:rPr lang="fr-FR" sz="2000" noProof="0" dirty="0"/>
              <a:t>Nous prévoyons d'être sur site avec vous</a:t>
            </a:r>
          </a:p>
          <a:p>
            <a:pPr lvl="1"/>
            <a:r>
              <a:rPr lang="fr-FR" sz="2000" noProof="0" dirty="0"/>
              <a:t>Nous réservons du temps pour un premier support lors des premiers jours après la mise en production dans le cadre du projet</a:t>
            </a:r>
            <a:endParaRPr lang="fr-FR" sz="2800" noProof="0" dirty="0"/>
          </a:p>
        </p:txBody>
      </p:sp>
    </p:spTree>
    <p:extLst>
      <p:ext uri="{BB962C8B-B14F-4D97-AF65-F5344CB8AC3E}">
        <p14:creationId xmlns:p14="http://schemas.microsoft.com/office/powerpoint/2010/main" val="2960831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496">
          <a:extLst>
            <a:ext uri="{FF2B5EF4-FFF2-40B4-BE49-F238E27FC236}">
              <a16:creationId xmlns:a16="http://schemas.microsoft.com/office/drawing/2014/main" id="{D426512A-922E-9D5C-ED8D-9DAE7951F6F0}"/>
            </a:ext>
          </a:extLst>
        </p:cNvPr>
        <p:cNvGrpSpPr/>
        <p:nvPr/>
      </p:nvGrpSpPr>
      <p:grpSpPr>
        <a:xfrm>
          <a:off x="0" y="0"/>
          <a:ext cx="0" cy="0"/>
          <a:chOff x="0" y="0"/>
          <a:chExt cx="0" cy="0"/>
        </a:xfrm>
      </p:grpSpPr>
      <p:sp>
        <p:nvSpPr>
          <p:cNvPr id="2497" name="Google Shape;2497;p10">
            <a:extLst>
              <a:ext uri="{FF2B5EF4-FFF2-40B4-BE49-F238E27FC236}">
                <a16:creationId xmlns:a16="http://schemas.microsoft.com/office/drawing/2014/main" id="{D0B2C337-79C9-7A9D-A3B7-0527F23F252C}"/>
              </a:ext>
            </a:extLst>
          </p:cNvPr>
          <p:cNvSpPr txBox="1">
            <a:spLocks noGrp="1"/>
          </p:cNvSpPr>
          <p:nvPr>
            <p:ph type="title"/>
          </p:nvPr>
        </p:nvSpPr>
        <p:spPr/>
        <p:txBody>
          <a:bodyPr/>
          <a:lstStyle/>
          <a:p>
            <a:pPr lvl="0"/>
            <a:r>
              <a:rPr lang="fr-FR" noProof="0" dirty="0"/>
              <a:t>MISE EN PRODUCTION</a:t>
            </a:r>
          </a:p>
        </p:txBody>
      </p:sp>
      <p:sp>
        <p:nvSpPr>
          <p:cNvPr id="12" name="Espace réservé du numéro de diapositive 11">
            <a:extLst>
              <a:ext uri="{FF2B5EF4-FFF2-40B4-BE49-F238E27FC236}">
                <a16:creationId xmlns:a16="http://schemas.microsoft.com/office/drawing/2014/main" id="{2733FCCB-FA78-1171-31F9-715541D934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11" name="Espace réservé du texte 10">
            <a:extLst>
              <a:ext uri="{FF2B5EF4-FFF2-40B4-BE49-F238E27FC236}">
                <a16:creationId xmlns:a16="http://schemas.microsoft.com/office/drawing/2014/main" id="{BEA1F84A-6C88-8CA0-D50D-5291D70CED01}"/>
              </a:ext>
            </a:extLst>
          </p:cNvPr>
          <p:cNvSpPr>
            <a:spLocks noGrp="1"/>
          </p:cNvSpPr>
          <p:nvPr>
            <p:ph idx="4294967295"/>
          </p:nvPr>
        </p:nvSpPr>
        <p:spPr>
          <a:xfrm>
            <a:off x="838200" y="2097088"/>
            <a:ext cx="10515600" cy="4667250"/>
          </a:xfrm>
        </p:spPr>
        <p:txBody>
          <a:bodyPr/>
          <a:lstStyle/>
          <a:p>
            <a:pPr lvl="0"/>
            <a:r>
              <a:rPr lang="fr-FR" b="1" noProof="0" dirty="0"/>
              <a:t>CUSTOMISATIONS</a:t>
            </a:r>
          </a:p>
          <a:p>
            <a:pPr lvl="1"/>
            <a:r>
              <a:rPr lang="fr-FR" sz="2000" noProof="0" dirty="0"/>
              <a:t>Mettez l’accent sur les principaux changements, difficultés, coûts, développeurs spécifiques pour couvrir les besoins importants – Donnez une liste des besoins dans ce cas</a:t>
            </a:r>
          </a:p>
        </p:txBody>
      </p:sp>
      <p:pic>
        <p:nvPicPr>
          <p:cNvPr id="2" name="Graphique 1" descr="Stylo avec un remplissage uni">
            <a:extLst>
              <a:ext uri="{FF2B5EF4-FFF2-40B4-BE49-F238E27FC236}">
                <a16:creationId xmlns:a16="http://schemas.microsoft.com/office/drawing/2014/main" id="{1D1B215F-6CE1-FCDC-F688-F401363DD7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263525" y="2514600"/>
            <a:ext cx="879812" cy="914400"/>
          </a:xfrm>
          <a:prstGeom prst="rect">
            <a:avLst/>
          </a:prstGeom>
        </p:spPr>
      </p:pic>
    </p:spTree>
    <p:extLst>
      <p:ext uri="{BB962C8B-B14F-4D97-AF65-F5344CB8AC3E}">
        <p14:creationId xmlns:p14="http://schemas.microsoft.com/office/powerpoint/2010/main" val="242632750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534"/>
        <p:cNvGrpSpPr/>
        <p:nvPr/>
      </p:nvGrpSpPr>
      <p:grpSpPr>
        <a:xfrm>
          <a:off x="0" y="0"/>
          <a:ext cx="0" cy="0"/>
          <a:chOff x="0" y="0"/>
          <a:chExt cx="0" cy="0"/>
        </a:xfrm>
      </p:grpSpPr>
      <p:sp>
        <p:nvSpPr>
          <p:cNvPr id="2" name="Titre 1">
            <a:extLst>
              <a:ext uri="{FF2B5EF4-FFF2-40B4-BE49-F238E27FC236}">
                <a16:creationId xmlns:a16="http://schemas.microsoft.com/office/drawing/2014/main" id="{6AA6DE64-13D4-4F3E-EB1D-53611ABFEDDB}"/>
              </a:ext>
            </a:extLst>
          </p:cNvPr>
          <p:cNvSpPr>
            <a:spLocks noGrp="1"/>
          </p:cNvSpPr>
          <p:nvPr>
            <p:ph type="ctrTitle"/>
          </p:nvPr>
        </p:nvSpPr>
        <p:spPr>
          <a:xfrm>
            <a:off x="263525" y="2719821"/>
            <a:ext cx="5880100" cy="1418355"/>
          </a:xfrm>
        </p:spPr>
        <p:txBody>
          <a:bodyPr/>
          <a:lstStyle/>
          <a:p>
            <a:r>
              <a:rPr lang="fr-FR" noProof="0" dirty="0"/>
              <a:t>LISTE </a:t>
            </a:r>
            <a:br>
              <a:rPr lang="fr-FR" noProof="0" dirty="0"/>
            </a:br>
            <a:r>
              <a:rPr lang="fr-FR" noProof="0" dirty="0"/>
              <a:t>DES TÂCHES</a:t>
            </a:r>
          </a:p>
        </p:txBody>
      </p:sp>
      <p:sp>
        <p:nvSpPr>
          <p:cNvPr id="4" name="Espace réservé du numéro de diapositive 3">
            <a:extLst>
              <a:ext uri="{FF2B5EF4-FFF2-40B4-BE49-F238E27FC236}">
                <a16:creationId xmlns:a16="http://schemas.microsoft.com/office/drawing/2014/main" id="{87131698-8893-4A10-9A7B-0CA79B130C7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2872A60-1B10-409F-A3C9-AF13F971E75A}" type="slidenum">
              <a:rPr kumimoji="0" lang="fr-FR" sz="1200" b="1" i="0" u="none" strike="noStrike" kern="1200" cap="none" spc="0" normalizeH="0" baseline="0" noProof="0" smtClean="0">
                <a:ln>
                  <a:noFill/>
                </a:ln>
                <a:solidFill>
                  <a:prstClr val="white"/>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126</a:t>
            </a:fld>
            <a:endParaRPr kumimoji="0" lang="fr-FR" sz="1200" b="1" i="0" u="none" strike="noStrike" kern="1200" cap="none" spc="0" normalizeH="0" baseline="0" noProof="0" dirty="0">
              <a:ln>
                <a:noFill/>
              </a:ln>
              <a:solidFill>
                <a:prstClr val="white"/>
              </a:solidFill>
              <a:effectLst/>
              <a:uLnTx/>
              <a:uFillTx/>
              <a:latin typeface="Tahoma"/>
              <a:ea typeface="+mn-ea"/>
              <a:cs typeface="+mn-cs"/>
            </a:endParaRPr>
          </a:p>
        </p:txBody>
      </p:sp>
      <p:pic>
        <p:nvPicPr>
          <p:cNvPr id="3" name="Graphique 2">
            <a:extLst>
              <a:ext uri="{FF2B5EF4-FFF2-40B4-BE49-F238E27FC236}">
                <a16:creationId xmlns:a16="http://schemas.microsoft.com/office/drawing/2014/main" id="{74CB58B5-3AFF-7660-FB7B-E7FA3D5D9A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85393" y="664529"/>
            <a:ext cx="4421799" cy="4421799"/>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68FA2AF-C14D-7686-B0ED-BCC0F3C894B8}"/>
              </a:ext>
            </a:extLst>
          </p:cNvPr>
          <p:cNvSpPr>
            <a:spLocks noGrp="1"/>
          </p:cNvSpPr>
          <p:nvPr>
            <p:ph type="title"/>
          </p:nvPr>
        </p:nvSpPr>
        <p:spPr/>
        <p:txBody>
          <a:bodyPr/>
          <a:lstStyle/>
          <a:p>
            <a:r>
              <a:rPr lang="fr-FR" noProof="0" dirty="0"/>
              <a:t>Phase 1 (MVP)</a:t>
            </a:r>
          </a:p>
        </p:txBody>
      </p:sp>
      <p:sp>
        <p:nvSpPr>
          <p:cNvPr id="5" name="Espace réservé du numéro de diapositive 4">
            <a:extLst>
              <a:ext uri="{FF2B5EF4-FFF2-40B4-BE49-F238E27FC236}">
                <a16:creationId xmlns:a16="http://schemas.microsoft.com/office/drawing/2014/main" id="{93BC8159-9A16-1500-4A41-4E4DC400C93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Espace réservé du texte 6">
            <a:extLst>
              <a:ext uri="{FF2B5EF4-FFF2-40B4-BE49-F238E27FC236}">
                <a16:creationId xmlns:a16="http://schemas.microsoft.com/office/drawing/2014/main" id="{742B7C78-7FC9-46E3-E525-1FEDFF05594F}"/>
              </a:ext>
            </a:extLst>
          </p:cNvPr>
          <p:cNvSpPr>
            <a:spLocks noGrp="1"/>
          </p:cNvSpPr>
          <p:nvPr>
            <p:ph type="body" idx="4294967295"/>
          </p:nvPr>
        </p:nvSpPr>
        <p:spPr>
          <a:xfrm>
            <a:off x="263525" y="2434460"/>
            <a:ext cx="5157788" cy="823912"/>
          </a:xfrm>
        </p:spPr>
        <p:txBody>
          <a:bodyPr/>
          <a:lstStyle/>
          <a:p>
            <a:r>
              <a:rPr lang="fr-FR" b="1" noProof="0" dirty="0"/>
              <a:t>VOS BESOINS COUVERTS</a:t>
            </a:r>
          </a:p>
        </p:txBody>
      </p:sp>
      <p:sp>
        <p:nvSpPr>
          <p:cNvPr id="8" name="Espace réservé du contenu 7">
            <a:extLst>
              <a:ext uri="{FF2B5EF4-FFF2-40B4-BE49-F238E27FC236}">
                <a16:creationId xmlns:a16="http://schemas.microsoft.com/office/drawing/2014/main" id="{C355A0EF-0AD6-E0DF-E277-9E56F97704A6}"/>
              </a:ext>
            </a:extLst>
          </p:cNvPr>
          <p:cNvSpPr>
            <a:spLocks noGrp="1"/>
          </p:cNvSpPr>
          <p:nvPr>
            <p:ph sz="half" idx="4294967295"/>
          </p:nvPr>
        </p:nvSpPr>
        <p:spPr>
          <a:xfrm>
            <a:off x="263525" y="3076033"/>
            <a:ext cx="5157788" cy="3921125"/>
          </a:xfrm>
        </p:spPr>
        <p:txBody>
          <a:bodyPr>
            <a:normAutofit/>
          </a:bodyPr>
          <a:lstStyle/>
          <a:p>
            <a:r>
              <a:rPr lang="fr-FR" sz="2000" noProof="0" dirty="0"/>
              <a:t>Insérer les besoins couverts en quelques points, ex : </a:t>
            </a:r>
          </a:p>
          <a:p>
            <a:r>
              <a:rPr lang="fr-FR" sz="2000" noProof="0" dirty="0"/>
              <a:t>Chaine de facturation</a:t>
            </a:r>
          </a:p>
          <a:p>
            <a:r>
              <a:rPr lang="fr-FR" sz="2000" noProof="0" dirty="0"/>
              <a:t>Gestion de votre entrepôt</a:t>
            </a:r>
          </a:p>
          <a:p>
            <a:r>
              <a:rPr lang="fr-FR" sz="2000" noProof="0" dirty="0"/>
              <a:t>Données actuelles et nécessaire pour le fonctionnement seulement</a:t>
            </a:r>
          </a:p>
        </p:txBody>
      </p:sp>
      <p:sp>
        <p:nvSpPr>
          <p:cNvPr id="9" name="Espace réservé du texte 8">
            <a:extLst>
              <a:ext uri="{FF2B5EF4-FFF2-40B4-BE49-F238E27FC236}">
                <a16:creationId xmlns:a16="http://schemas.microsoft.com/office/drawing/2014/main" id="{F1E4A148-4060-737F-07FF-C6C5C803B7E2}"/>
              </a:ext>
            </a:extLst>
          </p:cNvPr>
          <p:cNvSpPr>
            <a:spLocks noGrp="1"/>
          </p:cNvSpPr>
          <p:nvPr>
            <p:ph type="body" sz="quarter" idx="4294967295"/>
          </p:nvPr>
        </p:nvSpPr>
        <p:spPr>
          <a:xfrm>
            <a:off x="6600825" y="2439616"/>
            <a:ext cx="5183187" cy="823912"/>
          </a:xfrm>
        </p:spPr>
        <p:txBody>
          <a:bodyPr/>
          <a:lstStyle/>
          <a:p>
            <a:r>
              <a:rPr lang="fr-FR" b="1" noProof="0" dirty="0"/>
              <a:t>CHIFFRES CLÉS</a:t>
            </a:r>
          </a:p>
        </p:txBody>
      </p:sp>
      <p:sp>
        <p:nvSpPr>
          <p:cNvPr id="10" name="Espace réservé du contenu 9">
            <a:extLst>
              <a:ext uri="{FF2B5EF4-FFF2-40B4-BE49-F238E27FC236}">
                <a16:creationId xmlns:a16="http://schemas.microsoft.com/office/drawing/2014/main" id="{8DFF76D0-C66C-6821-9048-FAE2141DD708}"/>
              </a:ext>
            </a:extLst>
          </p:cNvPr>
          <p:cNvSpPr>
            <a:spLocks noGrp="1"/>
          </p:cNvSpPr>
          <p:nvPr>
            <p:ph sz="quarter" idx="4294967295"/>
          </p:nvPr>
        </p:nvSpPr>
        <p:spPr>
          <a:xfrm>
            <a:off x="6600825" y="3076033"/>
            <a:ext cx="5183187" cy="3921125"/>
          </a:xfrm>
        </p:spPr>
        <p:txBody>
          <a:bodyPr>
            <a:normAutofit/>
          </a:bodyPr>
          <a:lstStyle/>
          <a:p>
            <a:r>
              <a:rPr lang="fr-FR" sz="2000" noProof="0" dirty="0"/>
              <a:t>Nombre d’heures : </a:t>
            </a:r>
            <a:r>
              <a:rPr lang="fr-FR" sz="2000" noProof="0" dirty="0" err="1"/>
              <a:t>XXXh</a:t>
            </a:r>
            <a:endParaRPr lang="fr-FR" sz="2000" noProof="0" dirty="0"/>
          </a:p>
          <a:p>
            <a:r>
              <a:rPr lang="fr-FR" sz="2000" noProof="0" dirty="0"/>
              <a:t>Durée de la phase : </a:t>
            </a:r>
            <a:r>
              <a:rPr lang="fr-FR" sz="2000" noProof="0" dirty="0" err="1"/>
              <a:t>Xmois</a:t>
            </a:r>
            <a:endParaRPr lang="fr-FR" sz="2000" noProof="0" dirty="0"/>
          </a:p>
          <a:p>
            <a:r>
              <a:rPr lang="fr-FR" sz="2000" noProof="0" dirty="0"/>
              <a:t>Date de go live estimée : DATE</a:t>
            </a:r>
          </a:p>
        </p:txBody>
      </p:sp>
      <p:sp>
        <p:nvSpPr>
          <p:cNvPr id="4" name="ZoneTexte 3">
            <a:extLst>
              <a:ext uri="{FF2B5EF4-FFF2-40B4-BE49-F238E27FC236}">
                <a16:creationId xmlns:a16="http://schemas.microsoft.com/office/drawing/2014/main" id="{F187F4CD-1FB6-D54C-5F1B-DF64C1F2C9C7}"/>
              </a:ext>
            </a:extLst>
          </p:cNvPr>
          <p:cNvSpPr txBox="1"/>
          <p:nvPr/>
        </p:nvSpPr>
        <p:spPr>
          <a:xfrm rot="732307">
            <a:off x="8249404" y="553018"/>
            <a:ext cx="3702423" cy="103094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Tahoma"/>
                <a:ea typeface="+mn-ea"/>
                <a:cs typeface="+mn-cs"/>
              </a:rPr>
              <a:t>Should</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be</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checked</a:t>
            </a:r>
            <a:r>
              <a:rPr kumimoji="0" lang="fr-FR" sz="1800" b="0" i="0" u="none" strike="noStrike" kern="1200" cap="none" spc="0" normalizeH="0" baseline="0" noProof="0" dirty="0">
                <a:ln>
                  <a:noFill/>
                </a:ln>
                <a:solidFill>
                  <a:prstClr val="white"/>
                </a:solidFill>
                <a:effectLst/>
                <a:uLnTx/>
                <a:uFillTx/>
                <a:latin typeface="Tahoma"/>
                <a:ea typeface="+mn-ea"/>
                <a:cs typeface="+mn-cs"/>
              </a:rPr>
              <a:t> and </a:t>
            </a:r>
            <a:r>
              <a:rPr kumimoji="0" lang="fr-FR" sz="1800" b="0" i="0" u="none" strike="noStrike" kern="1200" cap="none" spc="0" normalizeH="0" baseline="0" noProof="0" dirty="0" err="1">
                <a:ln>
                  <a:noFill/>
                </a:ln>
                <a:solidFill>
                  <a:prstClr val="white"/>
                </a:solidFill>
                <a:effectLst/>
                <a:uLnTx/>
                <a:uFillTx/>
                <a:latin typeface="Tahoma"/>
                <a:ea typeface="+mn-ea"/>
                <a:cs typeface="+mn-cs"/>
              </a:rPr>
              <a:t>validated</a:t>
            </a:r>
            <a:r>
              <a:rPr kumimoji="0" lang="fr-FR" sz="1800" b="0" i="0" u="none" strike="noStrike" kern="1200" cap="none" spc="0" normalizeH="0" baseline="0" noProof="0" dirty="0">
                <a:ln>
                  <a:noFill/>
                </a:ln>
                <a:solidFill>
                  <a:prstClr val="white"/>
                </a:solidFill>
                <a:effectLst/>
                <a:uLnTx/>
                <a:uFillTx/>
                <a:latin typeface="Tahoma"/>
                <a:ea typeface="+mn-ea"/>
                <a:cs typeface="+mn-cs"/>
              </a:rPr>
              <a:t> by the sale</a:t>
            </a:r>
          </a:p>
        </p:txBody>
      </p:sp>
    </p:spTree>
    <p:extLst>
      <p:ext uri="{BB962C8B-B14F-4D97-AF65-F5344CB8AC3E}">
        <p14:creationId xmlns:p14="http://schemas.microsoft.com/office/powerpoint/2010/main" val="296255562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68FA2AF-C14D-7686-B0ED-BCC0F3C894B8}"/>
              </a:ext>
            </a:extLst>
          </p:cNvPr>
          <p:cNvSpPr>
            <a:spLocks noGrp="1"/>
          </p:cNvSpPr>
          <p:nvPr>
            <p:ph type="title"/>
          </p:nvPr>
        </p:nvSpPr>
        <p:spPr/>
        <p:txBody>
          <a:bodyPr/>
          <a:lstStyle/>
          <a:p>
            <a:r>
              <a:rPr lang="fr-FR" noProof="0" dirty="0"/>
              <a:t>Phase 2</a:t>
            </a:r>
          </a:p>
        </p:txBody>
      </p:sp>
      <p:sp>
        <p:nvSpPr>
          <p:cNvPr id="5" name="Espace réservé du numéro de diapositive 4">
            <a:extLst>
              <a:ext uri="{FF2B5EF4-FFF2-40B4-BE49-F238E27FC236}">
                <a16:creationId xmlns:a16="http://schemas.microsoft.com/office/drawing/2014/main" id="{93BC8159-9A16-1500-4A41-4E4DC400C93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Espace réservé du texte 6">
            <a:extLst>
              <a:ext uri="{FF2B5EF4-FFF2-40B4-BE49-F238E27FC236}">
                <a16:creationId xmlns:a16="http://schemas.microsoft.com/office/drawing/2014/main" id="{742B7C78-7FC9-46E3-E525-1FEDFF05594F}"/>
              </a:ext>
            </a:extLst>
          </p:cNvPr>
          <p:cNvSpPr>
            <a:spLocks noGrp="1"/>
          </p:cNvSpPr>
          <p:nvPr>
            <p:ph type="body" idx="4294967295"/>
          </p:nvPr>
        </p:nvSpPr>
        <p:spPr>
          <a:xfrm>
            <a:off x="263525" y="2430751"/>
            <a:ext cx="5157788" cy="823912"/>
          </a:xfrm>
        </p:spPr>
        <p:txBody>
          <a:bodyPr/>
          <a:lstStyle/>
          <a:p>
            <a:r>
              <a:rPr lang="fr-FR" b="1" noProof="0" dirty="0"/>
              <a:t>VOS BESOINS COUVERTS</a:t>
            </a:r>
          </a:p>
        </p:txBody>
      </p:sp>
      <p:sp>
        <p:nvSpPr>
          <p:cNvPr id="8" name="Espace réservé du contenu 7">
            <a:extLst>
              <a:ext uri="{FF2B5EF4-FFF2-40B4-BE49-F238E27FC236}">
                <a16:creationId xmlns:a16="http://schemas.microsoft.com/office/drawing/2014/main" id="{C355A0EF-0AD6-E0DF-E277-9E56F97704A6}"/>
              </a:ext>
            </a:extLst>
          </p:cNvPr>
          <p:cNvSpPr>
            <a:spLocks noGrp="1"/>
          </p:cNvSpPr>
          <p:nvPr>
            <p:ph sz="half" idx="4294967295"/>
          </p:nvPr>
        </p:nvSpPr>
        <p:spPr>
          <a:xfrm>
            <a:off x="263525" y="3104535"/>
            <a:ext cx="5157788" cy="3921125"/>
          </a:xfrm>
        </p:spPr>
        <p:txBody>
          <a:bodyPr>
            <a:normAutofit/>
          </a:bodyPr>
          <a:lstStyle/>
          <a:p>
            <a:r>
              <a:rPr lang="fr-FR" sz="2000" noProof="0" dirty="0"/>
              <a:t>Insérer les besoins couverts en quelques points, ex : </a:t>
            </a:r>
          </a:p>
          <a:p>
            <a:r>
              <a:rPr lang="fr-FR" sz="2000" noProof="0" dirty="0"/>
              <a:t>Gestion de la production</a:t>
            </a:r>
          </a:p>
          <a:p>
            <a:r>
              <a:rPr lang="fr-FR" sz="2000" noProof="0" dirty="0"/>
              <a:t>Reprise de l’historique</a:t>
            </a:r>
          </a:p>
        </p:txBody>
      </p:sp>
      <p:sp>
        <p:nvSpPr>
          <p:cNvPr id="9" name="Espace réservé du texte 8">
            <a:extLst>
              <a:ext uri="{FF2B5EF4-FFF2-40B4-BE49-F238E27FC236}">
                <a16:creationId xmlns:a16="http://schemas.microsoft.com/office/drawing/2014/main" id="{F1E4A148-4060-737F-07FF-C6C5C803B7E2}"/>
              </a:ext>
            </a:extLst>
          </p:cNvPr>
          <p:cNvSpPr>
            <a:spLocks noGrp="1"/>
          </p:cNvSpPr>
          <p:nvPr>
            <p:ph type="body" sz="quarter" idx="4294967295"/>
          </p:nvPr>
        </p:nvSpPr>
        <p:spPr>
          <a:xfrm>
            <a:off x="6600825" y="2421035"/>
            <a:ext cx="5183187" cy="823912"/>
          </a:xfrm>
        </p:spPr>
        <p:txBody>
          <a:bodyPr/>
          <a:lstStyle/>
          <a:p>
            <a:r>
              <a:rPr lang="fr-FR" b="1" noProof="0" dirty="0"/>
              <a:t>CHIFFRES CLÉS</a:t>
            </a:r>
          </a:p>
        </p:txBody>
      </p:sp>
      <p:sp>
        <p:nvSpPr>
          <p:cNvPr id="10" name="Espace réservé du contenu 9">
            <a:extLst>
              <a:ext uri="{FF2B5EF4-FFF2-40B4-BE49-F238E27FC236}">
                <a16:creationId xmlns:a16="http://schemas.microsoft.com/office/drawing/2014/main" id="{8DFF76D0-C66C-6821-9048-FAE2141DD708}"/>
              </a:ext>
            </a:extLst>
          </p:cNvPr>
          <p:cNvSpPr>
            <a:spLocks noGrp="1"/>
          </p:cNvSpPr>
          <p:nvPr>
            <p:ph sz="quarter" idx="4294967295"/>
          </p:nvPr>
        </p:nvSpPr>
        <p:spPr>
          <a:xfrm>
            <a:off x="6600825" y="3104535"/>
            <a:ext cx="5183187" cy="3921125"/>
          </a:xfrm>
        </p:spPr>
        <p:txBody>
          <a:bodyPr>
            <a:normAutofit/>
          </a:bodyPr>
          <a:lstStyle/>
          <a:p>
            <a:r>
              <a:rPr lang="fr-FR" sz="2000" noProof="0" dirty="0"/>
              <a:t>Nombre d’heures : </a:t>
            </a:r>
            <a:r>
              <a:rPr lang="fr-FR" sz="2000" noProof="0" dirty="0" err="1"/>
              <a:t>XXXh</a:t>
            </a:r>
            <a:endParaRPr lang="fr-FR" sz="2000" noProof="0" dirty="0"/>
          </a:p>
          <a:p>
            <a:r>
              <a:rPr lang="fr-FR" sz="2000" noProof="0" dirty="0"/>
              <a:t>Durée de la phase : </a:t>
            </a:r>
            <a:r>
              <a:rPr lang="fr-FR" sz="2000" noProof="0" dirty="0" err="1"/>
              <a:t>Xmois</a:t>
            </a:r>
            <a:endParaRPr lang="fr-FR" sz="2000" noProof="0" dirty="0"/>
          </a:p>
          <a:p>
            <a:r>
              <a:rPr lang="fr-FR" sz="2000" noProof="0" dirty="0"/>
              <a:t>Date de go live estimée : DATE</a:t>
            </a:r>
          </a:p>
        </p:txBody>
      </p:sp>
      <p:sp>
        <p:nvSpPr>
          <p:cNvPr id="11" name="ZoneTexte 10">
            <a:extLst>
              <a:ext uri="{FF2B5EF4-FFF2-40B4-BE49-F238E27FC236}">
                <a16:creationId xmlns:a16="http://schemas.microsoft.com/office/drawing/2014/main" id="{3322BD0B-91FA-4FC7-6035-A664701D9EBC}"/>
              </a:ext>
            </a:extLst>
          </p:cNvPr>
          <p:cNvSpPr txBox="1"/>
          <p:nvPr/>
        </p:nvSpPr>
        <p:spPr>
          <a:xfrm rot="732307">
            <a:off x="8249404" y="553018"/>
            <a:ext cx="3702423" cy="103094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Tahoma"/>
                <a:ea typeface="+mn-ea"/>
                <a:cs typeface="+mn-cs"/>
              </a:rPr>
              <a:t>Should</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be</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checked</a:t>
            </a:r>
            <a:r>
              <a:rPr kumimoji="0" lang="fr-FR" sz="1800" b="0" i="0" u="none" strike="noStrike" kern="1200" cap="none" spc="0" normalizeH="0" baseline="0" noProof="0" dirty="0">
                <a:ln>
                  <a:noFill/>
                </a:ln>
                <a:solidFill>
                  <a:prstClr val="white"/>
                </a:solidFill>
                <a:effectLst/>
                <a:uLnTx/>
                <a:uFillTx/>
                <a:latin typeface="Tahoma"/>
                <a:ea typeface="+mn-ea"/>
                <a:cs typeface="+mn-cs"/>
              </a:rPr>
              <a:t> and </a:t>
            </a:r>
            <a:r>
              <a:rPr kumimoji="0" lang="fr-FR" sz="1800" b="0" i="0" u="none" strike="noStrike" kern="1200" cap="none" spc="0" normalizeH="0" baseline="0" noProof="0" dirty="0" err="1">
                <a:ln>
                  <a:noFill/>
                </a:ln>
                <a:solidFill>
                  <a:prstClr val="white"/>
                </a:solidFill>
                <a:effectLst/>
                <a:uLnTx/>
                <a:uFillTx/>
                <a:latin typeface="Tahoma"/>
                <a:ea typeface="+mn-ea"/>
                <a:cs typeface="+mn-cs"/>
              </a:rPr>
              <a:t>validated</a:t>
            </a:r>
            <a:r>
              <a:rPr kumimoji="0" lang="fr-FR" sz="1800" b="0" i="0" u="none" strike="noStrike" kern="1200" cap="none" spc="0" normalizeH="0" baseline="0" noProof="0" dirty="0">
                <a:ln>
                  <a:noFill/>
                </a:ln>
                <a:solidFill>
                  <a:prstClr val="white"/>
                </a:solidFill>
                <a:effectLst/>
                <a:uLnTx/>
                <a:uFillTx/>
                <a:latin typeface="Tahoma"/>
                <a:ea typeface="+mn-ea"/>
                <a:cs typeface="+mn-cs"/>
              </a:rPr>
              <a:t> by the sale</a:t>
            </a:r>
          </a:p>
        </p:txBody>
      </p:sp>
    </p:spTree>
    <p:extLst>
      <p:ext uri="{BB962C8B-B14F-4D97-AF65-F5344CB8AC3E}">
        <p14:creationId xmlns:p14="http://schemas.microsoft.com/office/powerpoint/2010/main" val="177708690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508"/>
        <p:cNvGrpSpPr/>
        <p:nvPr/>
      </p:nvGrpSpPr>
      <p:grpSpPr>
        <a:xfrm>
          <a:off x="0" y="0"/>
          <a:ext cx="0" cy="0"/>
          <a:chOff x="0" y="0"/>
          <a:chExt cx="0" cy="0"/>
        </a:xfrm>
      </p:grpSpPr>
      <p:sp>
        <p:nvSpPr>
          <p:cNvPr id="2509" name="Google Shape;2509;p12"/>
          <p:cNvSpPr txBox="1">
            <a:spLocks noGrp="1"/>
          </p:cNvSpPr>
          <p:nvPr>
            <p:ph type="ctrTitle"/>
          </p:nvPr>
        </p:nvSpPr>
        <p:spPr>
          <a:xfrm>
            <a:off x="263525" y="1898649"/>
            <a:ext cx="5880100" cy="3060700"/>
          </a:xfrm>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3600"/>
              <a:buFont typeface="Open Sans Light"/>
              <a:buNone/>
            </a:pPr>
            <a:r>
              <a:rPr lang="fr-FR" noProof="0" dirty="0"/>
              <a:t>OFFRE</a:t>
            </a:r>
          </a:p>
        </p:txBody>
      </p:sp>
      <p:sp>
        <p:nvSpPr>
          <p:cNvPr id="2" name="Espace réservé du numéro de diapositive 1">
            <a:extLst>
              <a:ext uri="{FF2B5EF4-FFF2-40B4-BE49-F238E27FC236}">
                <a16:creationId xmlns:a16="http://schemas.microsoft.com/office/drawing/2014/main" id="{45D242F1-4F79-F6D9-B335-D3A1ADB5C44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2872A60-1B10-409F-A3C9-AF13F971E75A}" type="slidenum">
              <a:rPr kumimoji="0" lang="fr-FR" sz="1200" b="1" i="0" u="none" strike="noStrike" kern="1200" cap="none" spc="0" normalizeH="0" baseline="0" noProof="0" smtClean="0">
                <a:ln>
                  <a:noFill/>
                </a:ln>
                <a:solidFill>
                  <a:prstClr val="white"/>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129</a:t>
            </a:fld>
            <a:endParaRPr kumimoji="0" lang="fr-FR" sz="1200" b="1" i="0" u="none" strike="noStrike" kern="1200" cap="none" spc="0" normalizeH="0" baseline="0" noProof="0" dirty="0">
              <a:ln>
                <a:noFill/>
              </a:ln>
              <a:solidFill>
                <a:prstClr val="white"/>
              </a:solidFill>
              <a:effectLst/>
              <a:uLnTx/>
              <a:uFillTx/>
              <a:latin typeface="Tahoma"/>
              <a:ea typeface="+mn-ea"/>
              <a:cs typeface="+mn-cs"/>
            </a:endParaRPr>
          </a:p>
        </p:txBody>
      </p:sp>
      <p:pic>
        <p:nvPicPr>
          <p:cNvPr id="6" name="Graphique 5">
            <a:extLst>
              <a:ext uri="{FF2B5EF4-FFF2-40B4-BE49-F238E27FC236}">
                <a16:creationId xmlns:a16="http://schemas.microsoft.com/office/drawing/2014/main" id="{482F33AA-38ED-58F8-1CCD-9E841E6473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87478" y="1269000"/>
            <a:ext cx="4320000" cy="432000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03C810-CF3F-4C1B-4964-75D1EB9CA874}"/>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40A23455-A8C2-390F-ECDD-916EF5F1836B}"/>
              </a:ext>
            </a:extLst>
          </p:cNvPr>
          <p:cNvSpPr>
            <a:spLocks noGrp="1"/>
          </p:cNvSpPr>
          <p:nvPr>
            <p:ph type="body" sz="quarter" idx="13"/>
          </p:nvPr>
        </p:nvSpPr>
        <p:spPr>
          <a:xfrm>
            <a:off x="1824212" y="4613046"/>
            <a:ext cx="2472755" cy="707922"/>
          </a:xfrm>
        </p:spPr>
        <p:txBody>
          <a:bodyPr anchor="ctr">
            <a:noAutofit/>
          </a:bodyPr>
          <a:lstStyle/>
          <a:p>
            <a:pPr lvl="0">
              <a:lnSpc>
                <a:spcPct val="100000"/>
              </a:lnSpc>
              <a:spcBef>
                <a:spcPts val="0"/>
              </a:spcBef>
              <a:defRPr/>
            </a:pPr>
            <a:r>
              <a:rPr lang="fr-FR" b="1" noProof="0" dirty="0">
                <a:solidFill>
                  <a:srgbClr val="212529"/>
                </a:solidFill>
                <a:latin typeface="+mn-lt"/>
              </a:rPr>
              <a:t>LOCAL</a:t>
            </a:r>
          </a:p>
        </p:txBody>
      </p:sp>
      <p:sp>
        <p:nvSpPr>
          <p:cNvPr id="10" name="Espace réservé du texte 9">
            <a:extLst>
              <a:ext uri="{FF2B5EF4-FFF2-40B4-BE49-F238E27FC236}">
                <a16:creationId xmlns:a16="http://schemas.microsoft.com/office/drawing/2014/main" id="{F7263ECA-8C7C-92FD-0ED0-E76922A354B2}"/>
              </a:ext>
            </a:extLst>
          </p:cNvPr>
          <p:cNvSpPr>
            <a:spLocks noGrp="1"/>
          </p:cNvSpPr>
          <p:nvPr>
            <p:ph type="body" sz="quarter" idx="14"/>
          </p:nvPr>
        </p:nvSpPr>
        <p:spPr>
          <a:xfrm>
            <a:off x="4870796" y="4609569"/>
            <a:ext cx="2472756" cy="707922"/>
          </a:xfrm>
        </p:spPr>
        <p:txBody>
          <a:bodyPr anchor="ctr">
            <a:normAutofit/>
          </a:bodyPr>
          <a:lstStyle/>
          <a:p>
            <a:pPr lvl="0">
              <a:lnSpc>
                <a:spcPct val="100000"/>
              </a:lnSpc>
              <a:spcBef>
                <a:spcPts val="0"/>
              </a:spcBef>
              <a:defRPr/>
            </a:pPr>
            <a:r>
              <a:rPr lang="fr-FR" b="1" noProof="0" dirty="0">
                <a:solidFill>
                  <a:srgbClr val="212529"/>
                </a:solidFill>
                <a:latin typeface="+mn-lt"/>
              </a:rPr>
              <a:t>HYBRIDE</a:t>
            </a:r>
          </a:p>
        </p:txBody>
      </p:sp>
      <p:sp>
        <p:nvSpPr>
          <p:cNvPr id="11" name="Espace réservé du texte 10">
            <a:extLst>
              <a:ext uri="{FF2B5EF4-FFF2-40B4-BE49-F238E27FC236}">
                <a16:creationId xmlns:a16="http://schemas.microsoft.com/office/drawing/2014/main" id="{456F4FC8-0F32-665D-AB6E-5D3BCDB7A8F5}"/>
              </a:ext>
            </a:extLst>
          </p:cNvPr>
          <p:cNvSpPr>
            <a:spLocks noGrp="1"/>
          </p:cNvSpPr>
          <p:nvPr>
            <p:ph type="body" sz="quarter" idx="15"/>
          </p:nvPr>
        </p:nvSpPr>
        <p:spPr>
          <a:xfrm>
            <a:off x="7917381" y="4609569"/>
            <a:ext cx="2453237" cy="707922"/>
          </a:xfrm>
        </p:spPr>
        <p:txBody>
          <a:bodyPr anchor="ctr">
            <a:noAutofit/>
          </a:bodyPr>
          <a:lstStyle/>
          <a:p>
            <a:pPr lvl="0">
              <a:lnSpc>
                <a:spcPct val="100000"/>
              </a:lnSpc>
              <a:spcBef>
                <a:spcPts val="0"/>
              </a:spcBef>
              <a:defRPr/>
            </a:pPr>
            <a:r>
              <a:rPr lang="fr-FR" b="1" noProof="0" dirty="0">
                <a:solidFill>
                  <a:srgbClr val="212529"/>
                </a:solidFill>
                <a:latin typeface="+mn-lt"/>
              </a:rPr>
              <a:t>OFFSHORE</a:t>
            </a:r>
          </a:p>
        </p:txBody>
      </p:sp>
      <p:sp>
        <p:nvSpPr>
          <p:cNvPr id="5" name="Titre 4">
            <a:extLst>
              <a:ext uri="{FF2B5EF4-FFF2-40B4-BE49-F238E27FC236}">
                <a16:creationId xmlns:a16="http://schemas.microsoft.com/office/drawing/2014/main" id="{86D5C3F8-ABF3-DF02-7FEC-D7D234140415}"/>
              </a:ext>
            </a:extLst>
          </p:cNvPr>
          <p:cNvSpPr>
            <a:spLocks noGrp="1"/>
          </p:cNvSpPr>
          <p:nvPr>
            <p:ph type="title"/>
          </p:nvPr>
        </p:nvSpPr>
        <p:spPr/>
        <p:txBody>
          <a:bodyPr/>
          <a:lstStyle/>
          <a:p>
            <a:r>
              <a:rPr lang="fr-FR" noProof="0" dirty="0">
                <a:latin typeface="+mj-lt"/>
              </a:rPr>
              <a:t>NOS MODES DE PROJETS</a:t>
            </a:r>
            <a:br>
              <a:rPr lang="fr-FR" noProof="0" dirty="0">
                <a:latin typeface="+mj-lt"/>
              </a:rPr>
            </a:br>
            <a:r>
              <a:rPr lang="fr-FR" b="0" noProof="0" dirty="0">
                <a:latin typeface="+mj-lt"/>
              </a:rPr>
              <a:t>LOCAL, HYBRIDE OU OFFSHORE</a:t>
            </a:r>
            <a:endParaRPr lang="fr-FR" noProof="0" dirty="0">
              <a:latin typeface="+mj-lt"/>
            </a:endParaRPr>
          </a:p>
        </p:txBody>
      </p:sp>
      <p:grpSp>
        <p:nvGrpSpPr>
          <p:cNvPr id="4" name="Google Shape;10649;p75">
            <a:extLst>
              <a:ext uri="{FF2B5EF4-FFF2-40B4-BE49-F238E27FC236}">
                <a16:creationId xmlns:a16="http://schemas.microsoft.com/office/drawing/2014/main" id="{EF757227-C28B-86B8-8200-20EB9676C31E}"/>
              </a:ext>
            </a:extLst>
          </p:cNvPr>
          <p:cNvGrpSpPr/>
          <p:nvPr/>
        </p:nvGrpSpPr>
        <p:grpSpPr>
          <a:xfrm>
            <a:off x="2797474" y="3372863"/>
            <a:ext cx="501052" cy="570090"/>
            <a:chOff x="1529350" y="258825"/>
            <a:chExt cx="423475" cy="481825"/>
          </a:xfrm>
          <a:solidFill>
            <a:schemeClr val="bg1"/>
          </a:solidFill>
        </p:grpSpPr>
        <p:sp>
          <p:nvSpPr>
            <p:cNvPr id="12" name="Google Shape;10650;p75">
              <a:extLst>
                <a:ext uri="{FF2B5EF4-FFF2-40B4-BE49-F238E27FC236}">
                  <a16:creationId xmlns:a16="http://schemas.microsoft.com/office/drawing/2014/main" id="{32BBAD0E-C7A0-C5BD-5675-510E080D6E14}"/>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13" name="Google Shape;10651;p75">
              <a:extLst>
                <a:ext uri="{FF2B5EF4-FFF2-40B4-BE49-F238E27FC236}">
                  <a16:creationId xmlns:a16="http://schemas.microsoft.com/office/drawing/2014/main" id="{05B70FCD-1558-1CCA-65A3-FCA3AFAE46A6}"/>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sp>
        <p:nvSpPr>
          <p:cNvPr id="14" name="Ellipse 13">
            <a:extLst>
              <a:ext uri="{FF2B5EF4-FFF2-40B4-BE49-F238E27FC236}">
                <a16:creationId xmlns:a16="http://schemas.microsoft.com/office/drawing/2014/main" id="{47C4BEFA-2617-CF87-8E39-BF5E4AE92346}"/>
              </a:ext>
            </a:extLst>
          </p:cNvPr>
          <p:cNvSpPr/>
          <p:nvPr/>
        </p:nvSpPr>
        <p:spPr>
          <a:xfrm>
            <a:off x="2539936" y="3149844"/>
            <a:ext cx="1016128" cy="101612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solidFill>
                  <a:prstClr val="white"/>
                </a:solidFill>
              </a:ln>
              <a:solidFill>
                <a:prstClr val="white"/>
              </a:solidFill>
              <a:effectLst/>
              <a:uLnTx/>
              <a:uFillTx/>
              <a:latin typeface="Trebuchet MS"/>
              <a:ea typeface="+mn-ea"/>
              <a:cs typeface="+mn-cs"/>
            </a:endParaRPr>
          </a:p>
        </p:txBody>
      </p:sp>
      <p:grpSp>
        <p:nvGrpSpPr>
          <p:cNvPr id="27" name="Groupe 26">
            <a:extLst>
              <a:ext uri="{FF2B5EF4-FFF2-40B4-BE49-F238E27FC236}">
                <a16:creationId xmlns:a16="http://schemas.microsoft.com/office/drawing/2014/main" id="{C665EFA0-95B7-155F-5EF3-7601B9329D47}"/>
              </a:ext>
            </a:extLst>
          </p:cNvPr>
          <p:cNvGrpSpPr/>
          <p:nvPr/>
        </p:nvGrpSpPr>
        <p:grpSpPr>
          <a:xfrm>
            <a:off x="5466016" y="3044198"/>
            <a:ext cx="769604" cy="769604"/>
            <a:chOff x="5587936" y="3173349"/>
            <a:chExt cx="1016128" cy="1016128"/>
          </a:xfrm>
        </p:grpSpPr>
        <p:grpSp>
          <p:nvGrpSpPr>
            <p:cNvPr id="23" name="Google Shape;10649;p75">
              <a:extLst>
                <a:ext uri="{FF2B5EF4-FFF2-40B4-BE49-F238E27FC236}">
                  <a16:creationId xmlns:a16="http://schemas.microsoft.com/office/drawing/2014/main" id="{E8256084-5EA7-E982-005A-E30201D47539}"/>
                </a:ext>
              </a:extLst>
            </p:cNvPr>
            <p:cNvGrpSpPr/>
            <p:nvPr/>
          </p:nvGrpSpPr>
          <p:grpSpPr>
            <a:xfrm>
              <a:off x="5845474" y="3396368"/>
              <a:ext cx="501052" cy="570090"/>
              <a:chOff x="1529350" y="258825"/>
              <a:chExt cx="423475" cy="481825"/>
            </a:xfrm>
            <a:solidFill>
              <a:schemeClr val="bg1"/>
            </a:solidFill>
          </p:grpSpPr>
          <p:sp>
            <p:nvSpPr>
              <p:cNvPr id="24" name="Google Shape;10650;p75">
                <a:extLst>
                  <a:ext uri="{FF2B5EF4-FFF2-40B4-BE49-F238E27FC236}">
                    <a16:creationId xmlns:a16="http://schemas.microsoft.com/office/drawing/2014/main" id="{1A872FBB-0727-7375-7448-1932C8ECA662}"/>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25" name="Google Shape;10651;p75">
                <a:extLst>
                  <a:ext uri="{FF2B5EF4-FFF2-40B4-BE49-F238E27FC236}">
                    <a16:creationId xmlns:a16="http://schemas.microsoft.com/office/drawing/2014/main" id="{16C4C20C-CEC2-B497-3B48-502D6E026855}"/>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sp>
          <p:nvSpPr>
            <p:cNvPr id="26" name="Ellipse 25">
              <a:extLst>
                <a:ext uri="{FF2B5EF4-FFF2-40B4-BE49-F238E27FC236}">
                  <a16:creationId xmlns:a16="http://schemas.microsoft.com/office/drawing/2014/main" id="{4AB6B9F3-E82C-7AA1-D2D6-090D074E1DA6}"/>
                </a:ext>
              </a:extLst>
            </p:cNvPr>
            <p:cNvSpPr/>
            <p:nvPr/>
          </p:nvSpPr>
          <p:spPr>
            <a:xfrm>
              <a:off x="5587936" y="3173349"/>
              <a:ext cx="1016128" cy="101612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solidFill>
                    <a:prstClr val="white"/>
                  </a:solidFill>
                </a:ln>
                <a:solidFill>
                  <a:prstClr val="white"/>
                </a:solidFill>
                <a:effectLst/>
                <a:uLnTx/>
                <a:uFillTx/>
                <a:latin typeface="Trebuchet MS"/>
                <a:ea typeface="+mn-ea"/>
                <a:cs typeface="+mn-cs"/>
              </a:endParaRPr>
            </a:p>
          </p:txBody>
        </p:sp>
      </p:grpSp>
      <p:grpSp>
        <p:nvGrpSpPr>
          <p:cNvPr id="32" name="Google Shape;10649;p75">
            <a:extLst>
              <a:ext uri="{FF2B5EF4-FFF2-40B4-BE49-F238E27FC236}">
                <a16:creationId xmlns:a16="http://schemas.microsoft.com/office/drawing/2014/main" id="{4E5CFAC8-610D-ECDC-1F91-E9620600453A}"/>
              </a:ext>
            </a:extLst>
          </p:cNvPr>
          <p:cNvGrpSpPr/>
          <p:nvPr/>
        </p:nvGrpSpPr>
        <p:grpSpPr>
          <a:xfrm>
            <a:off x="6185100" y="3767853"/>
            <a:ext cx="379491" cy="431780"/>
            <a:chOff x="1529350" y="258825"/>
            <a:chExt cx="423475" cy="481825"/>
          </a:xfrm>
          <a:solidFill>
            <a:schemeClr val="bg1"/>
          </a:solidFill>
        </p:grpSpPr>
        <p:sp>
          <p:nvSpPr>
            <p:cNvPr id="34" name="Google Shape;10650;p75">
              <a:extLst>
                <a:ext uri="{FF2B5EF4-FFF2-40B4-BE49-F238E27FC236}">
                  <a16:creationId xmlns:a16="http://schemas.microsoft.com/office/drawing/2014/main" id="{4DF554E9-9626-FEF6-14AE-087761EFEE80}"/>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5" name="Google Shape;10651;p75">
              <a:extLst>
                <a:ext uri="{FF2B5EF4-FFF2-40B4-BE49-F238E27FC236}">
                  <a16:creationId xmlns:a16="http://schemas.microsoft.com/office/drawing/2014/main" id="{57AFB37F-18D5-6148-B583-21C99EB07A79}"/>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sp>
        <p:nvSpPr>
          <p:cNvPr id="38" name="Ellipse 37">
            <a:extLst>
              <a:ext uri="{FF2B5EF4-FFF2-40B4-BE49-F238E27FC236}">
                <a16:creationId xmlns:a16="http://schemas.microsoft.com/office/drawing/2014/main" id="{DC07EC1C-D7D6-FDDA-B330-739A41E0F6FC}"/>
              </a:ext>
            </a:extLst>
          </p:cNvPr>
          <p:cNvSpPr/>
          <p:nvPr/>
        </p:nvSpPr>
        <p:spPr>
          <a:xfrm>
            <a:off x="8474610" y="3061739"/>
            <a:ext cx="769604" cy="76960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solidFill>
                  <a:prstClr val="white"/>
                </a:solidFill>
              </a:ln>
              <a:solidFill>
                <a:prstClr val="white"/>
              </a:solidFill>
              <a:effectLst/>
              <a:uLnTx/>
              <a:uFillTx/>
              <a:latin typeface="Trebuchet MS"/>
              <a:ea typeface="+mn-ea"/>
              <a:cs typeface="+mn-cs"/>
            </a:endParaRPr>
          </a:p>
        </p:txBody>
      </p:sp>
      <p:grpSp>
        <p:nvGrpSpPr>
          <p:cNvPr id="41" name="Google Shape;10649;p75">
            <a:extLst>
              <a:ext uri="{FF2B5EF4-FFF2-40B4-BE49-F238E27FC236}">
                <a16:creationId xmlns:a16="http://schemas.microsoft.com/office/drawing/2014/main" id="{F951C2F9-9732-7AB3-6617-28598A8B3AF9}"/>
              </a:ext>
            </a:extLst>
          </p:cNvPr>
          <p:cNvGrpSpPr/>
          <p:nvPr/>
        </p:nvGrpSpPr>
        <p:grpSpPr>
          <a:xfrm>
            <a:off x="9193694" y="3785394"/>
            <a:ext cx="379491" cy="431780"/>
            <a:chOff x="1529350" y="258825"/>
            <a:chExt cx="423475" cy="481825"/>
          </a:xfrm>
          <a:solidFill>
            <a:schemeClr val="bg1"/>
          </a:solidFill>
        </p:grpSpPr>
        <p:sp>
          <p:nvSpPr>
            <p:cNvPr id="42" name="Google Shape;10650;p75">
              <a:extLst>
                <a:ext uri="{FF2B5EF4-FFF2-40B4-BE49-F238E27FC236}">
                  <a16:creationId xmlns:a16="http://schemas.microsoft.com/office/drawing/2014/main" id="{EE581DC8-51F1-352C-5239-AB6195F105E7}"/>
                </a:ext>
              </a:extLst>
            </p:cNvPr>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43" name="Google Shape;10651;p75">
              <a:extLst>
                <a:ext uri="{FF2B5EF4-FFF2-40B4-BE49-F238E27FC236}">
                  <a16:creationId xmlns:a16="http://schemas.microsoft.com/office/drawing/2014/main" id="{BFEB2BDE-CC74-7A8E-5CEC-5814B6B71FC0}"/>
                </a:ext>
              </a:extLst>
            </p:cNvPr>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sp>
        <p:nvSpPr>
          <p:cNvPr id="2" name="Espace réservé du numéro de diapositive 1">
            <a:extLst>
              <a:ext uri="{FF2B5EF4-FFF2-40B4-BE49-F238E27FC236}">
                <a16:creationId xmlns:a16="http://schemas.microsoft.com/office/drawing/2014/main" id="{ECE4D790-5186-E918-722F-B9D490B7081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130</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Tree>
    <p:extLst>
      <p:ext uri="{BB962C8B-B14F-4D97-AF65-F5344CB8AC3E}">
        <p14:creationId xmlns:p14="http://schemas.microsoft.com/office/powerpoint/2010/main" val="42231411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7C32F396-0A8F-ED8E-BE48-6B551A79A37E}"/>
              </a:ext>
            </a:extLst>
          </p:cNvPr>
          <p:cNvSpPr>
            <a:spLocks noGrp="1"/>
          </p:cNvSpPr>
          <p:nvPr>
            <p:ph type="body" sz="quarter" idx="14"/>
          </p:nvPr>
        </p:nvSpPr>
        <p:spPr>
          <a:xfrm>
            <a:off x="808176" y="4575275"/>
            <a:ext cx="1896833" cy="480483"/>
          </a:xfrm>
        </p:spPr>
        <p:txBody>
          <a:bodyPr anchor="ctr">
            <a:normAutofit/>
          </a:bodyPr>
          <a:lstStyle/>
          <a:p>
            <a:r>
              <a:rPr lang="fr-FR" sz="1400" b="1" noProof="0" dirty="0"/>
              <a:t>Analyse</a:t>
            </a:r>
          </a:p>
        </p:txBody>
      </p:sp>
      <p:sp>
        <p:nvSpPr>
          <p:cNvPr id="12" name="Espace réservé du texte 11">
            <a:extLst>
              <a:ext uri="{FF2B5EF4-FFF2-40B4-BE49-F238E27FC236}">
                <a16:creationId xmlns:a16="http://schemas.microsoft.com/office/drawing/2014/main" id="{32BE3B57-20A5-D0A9-BE56-3BF8423BD0BA}"/>
              </a:ext>
            </a:extLst>
          </p:cNvPr>
          <p:cNvSpPr>
            <a:spLocks noGrp="1"/>
          </p:cNvSpPr>
          <p:nvPr>
            <p:ph type="body" sz="quarter" idx="15"/>
          </p:nvPr>
        </p:nvSpPr>
        <p:spPr>
          <a:xfrm>
            <a:off x="3464895" y="4462047"/>
            <a:ext cx="2386348" cy="706939"/>
          </a:xfrm>
        </p:spPr>
        <p:txBody>
          <a:bodyPr anchor="ctr">
            <a:normAutofit/>
          </a:bodyPr>
          <a:lstStyle/>
          <a:p>
            <a:r>
              <a:rPr lang="fr-FR" sz="1400" b="1" noProof="0" dirty="0"/>
              <a:t>Licences et hébergement</a:t>
            </a:r>
          </a:p>
          <a:p>
            <a:r>
              <a:rPr lang="fr-FR" sz="1300" i="1" noProof="0" dirty="0"/>
              <a:t>/an, Facturé par Odoo</a:t>
            </a:r>
          </a:p>
        </p:txBody>
      </p:sp>
      <p:sp>
        <p:nvSpPr>
          <p:cNvPr id="13" name="Espace réservé du texte 12">
            <a:extLst>
              <a:ext uri="{FF2B5EF4-FFF2-40B4-BE49-F238E27FC236}">
                <a16:creationId xmlns:a16="http://schemas.microsoft.com/office/drawing/2014/main" id="{D8BBD250-A7A5-D022-F675-83676AC29E6B}"/>
              </a:ext>
            </a:extLst>
          </p:cNvPr>
          <p:cNvSpPr>
            <a:spLocks noGrp="1"/>
          </p:cNvSpPr>
          <p:nvPr>
            <p:ph type="body" sz="quarter" idx="16"/>
          </p:nvPr>
        </p:nvSpPr>
        <p:spPr>
          <a:xfrm>
            <a:off x="9484236" y="4575275"/>
            <a:ext cx="1881861" cy="480483"/>
          </a:xfrm>
        </p:spPr>
        <p:txBody>
          <a:bodyPr anchor="ctr">
            <a:normAutofit/>
          </a:bodyPr>
          <a:lstStyle/>
          <a:p>
            <a:r>
              <a:rPr lang="fr-FR" sz="1400" b="1" noProof="0" dirty="0"/>
              <a:t>Achats de modules supplémentaires</a:t>
            </a:r>
          </a:p>
        </p:txBody>
      </p:sp>
      <p:sp>
        <p:nvSpPr>
          <p:cNvPr id="15" name="Espace réservé du texte 14">
            <a:extLst>
              <a:ext uri="{FF2B5EF4-FFF2-40B4-BE49-F238E27FC236}">
                <a16:creationId xmlns:a16="http://schemas.microsoft.com/office/drawing/2014/main" id="{A1B5F088-7990-7D59-411B-FADFE592F346}"/>
              </a:ext>
            </a:extLst>
          </p:cNvPr>
          <p:cNvSpPr>
            <a:spLocks noGrp="1"/>
          </p:cNvSpPr>
          <p:nvPr>
            <p:ph type="body" sz="quarter" idx="18"/>
          </p:nvPr>
        </p:nvSpPr>
        <p:spPr>
          <a:xfrm>
            <a:off x="6597732" y="4575275"/>
            <a:ext cx="1881861" cy="480483"/>
          </a:xfrm>
        </p:spPr>
        <p:txBody>
          <a:bodyPr anchor="ctr">
            <a:normAutofit/>
          </a:bodyPr>
          <a:lstStyle/>
          <a:p>
            <a:r>
              <a:rPr lang="fr-FR" sz="1400" b="1" noProof="0" dirty="0"/>
              <a:t>Implémentation</a:t>
            </a:r>
          </a:p>
        </p:txBody>
      </p:sp>
      <p:sp>
        <p:nvSpPr>
          <p:cNvPr id="7" name="Titre 6">
            <a:extLst>
              <a:ext uri="{FF2B5EF4-FFF2-40B4-BE49-F238E27FC236}">
                <a16:creationId xmlns:a16="http://schemas.microsoft.com/office/drawing/2014/main" id="{E3C40A50-0A93-BCA6-93F0-1DE666F2AE9A}"/>
              </a:ext>
            </a:extLst>
          </p:cNvPr>
          <p:cNvSpPr>
            <a:spLocks noGrp="1"/>
          </p:cNvSpPr>
          <p:nvPr>
            <p:ph type="title"/>
          </p:nvPr>
        </p:nvSpPr>
        <p:spPr/>
        <p:txBody>
          <a:bodyPr/>
          <a:lstStyle/>
          <a:p>
            <a:r>
              <a:rPr lang="fr-FR" noProof="0" dirty="0"/>
              <a:t>NOTRE OFFRE DE PRIX</a:t>
            </a:r>
          </a:p>
        </p:txBody>
      </p:sp>
      <p:sp>
        <p:nvSpPr>
          <p:cNvPr id="5" name="Espace réservé du numéro de diapositive 4">
            <a:extLst>
              <a:ext uri="{FF2B5EF4-FFF2-40B4-BE49-F238E27FC236}">
                <a16:creationId xmlns:a16="http://schemas.microsoft.com/office/drawing/2014/main" id="{935E0A44-0E33-E3CB-60DD-A5912259F0DB}"/>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131</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grpSp>
        <p:nvGrpSpPr>
          <p:cNvPr id="23" name="Google Shape;10712;p75">
            <a:extLst>
              <a:ext uri="{FF2B5EF4-FFF2-40B4-BE49-F238E27FC236}">
                <a16:creationId xmlns:a16="http://schemas.microsoft.com/office/drawing/2014/main" id="{8C45EC9C-C4A3-E800-422B-A0E72CA755F1}"/>
              </a:ext>
            </a:extLst>
          </p:cNvPr>
          <p:cNvGrpSpPr/>
          <p:nvPr/>
        </p:nvGrpSpPr>
        <p:grpSpPr>
          <a:xfrm>
            <a:off x="1351343" y="3014279"/>
            <a:ext cx="828000" cy="828000"/>
            <a:chOff x="5045500" y="842250"/>
            <a:chExt cx="503875" cy="481850"/>
          </a:xfrm>
          <a:solidFill>
            <a:schemeClr val="bg1"/>
          </a:solidFill>
        </p:grpSpPr>
        <p:sp>
          <p:nvSpPr>
            <p:cNvPr id="24" name="Google Shape;10713;p75">
              <a:extLst>
                <a:ext uri="{FF2B5EF4-FFF2-40B4-BE49-F238E27FC236}">
                  <a16:creationId xmlns:a16="http://schemas.microsoft.com/office/drawing/2014/main" id="{C6046427-81EA-3696-3F30-867636271AD1}"/>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25" name="Google Shape;10714;p75">
              <a:extLst>
                <a:ext uri="{FF2B5EF4-FFF2-40B4-BE49-F238E27FC236}">
                  <a16:creationId xmlns:a16="http://schemas.microsoft.com/office/drawing/2014/main" id="{CC2D59DF-EA26-CB66-3A7B-826E3E22388A}"/>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grpSp>
        <p:nvGrpSpPr>
          <p:cNvPr id="27" name="Groupe 26">
            <a:extLst>
              <a:ext uri="{FF2B5EF4-FFF2-40B4-BE49-F238E27FC236}">
                <a16:creationId xmlns:a16="http://schemas.microsoft.com/office/drawing/2014/main" id="{CCE36300-328E-A84D-4064-DA7ECC5EC6CB}"/>
              </a:ext>
            </a:extLst>
          </p:cNvPr>
          <p:cNvGrpSpPr/>
          <p:nvPr/>
        </p:nvGrpSpPr>
        <p:grpSpPr>
          <a:xfrm>
            <a:off x="4094200" y="2958682"/>
            <a:ext cx="1127738" cy="940633"/>
            <a:chOff x="4062122" y="2853000"/>
            <a:chExt cx="1191894" cy="994145"/>
          </a:xfrm>
        </p:grpSpPr>
        <p:pic>
          <p:nvPicPr>
            <p:cNvPr id="17" name="Graphic 50">
              <a:extLst>
                <a:ext uri="{FF2B5EF4-FFF2-40B4-BE49-F238E27FC236}">
                  <a16:creationId xmlns:a16="http://schemas.microsoft.com/office/drawing/2014/main" id="{1DEF78C1-EEB9-923D-C301-947B036D91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70069" y="2853000"/>
              <a:ext cx="576000" cy="576000"/>
            </a:xfrm>
            <a:prstGeom prst="rect">
              <a:avLst/>
            </a:prstGeom>
          </p:spPr>
        </p:pic>
        <p:pic>
          <p:nvPicPr>
            <p:cNvPr id="26" name="Graphique 25">
              <a:extLst>
                <a:ext uri="{FF2B5EF4-FFF2-40B4-BE49-F238E27FC236}">
                  <a16:creationId xmlns:a16="http://schemas.microsoft.com/office/drawing/2014/main" id="{B5C113C2-BFCB-BBE7-AAEC-48B8B8BE8A9F}"/>
                </a:ext>
              </a:extLst>
            </p:cNvPr>
            <p:cNvPicPr>
              <a:picLocks noChangeAspect="1"/>
            </p:cNvPicPr>
            <p:nvPr/>
          </p:nvPicPr>
          <p:blipFill>
            <a:blip>
              <a:extLst>
                <a:ext uri="{96DAC541-7B7A-43D3-8B79-37D633B846F1}">
                  <asvg:svgBlip xmlns:asvg="http://schemas.microsoft.com/office/drawing/2016/SVG/main" r:embed="rId4"/>
                </a:ext>
              </a:extLst>
            </a:blip>
            <a:srcRect b="24142"/>
            <a:stretch>
              <a:fillRect/>
            </a:stretch>
          </p:blipFill>
          <p:spPr>
            <a:xfrm>
              <a:off x="4062122" y="3360148"/>
              <a:ext cx="1191894" cy="486997"/>
            </a:xfrm>
            <a:prstGeom prst="rect">
              <a:avLst/>
            </a:prstGeom>
          </p:spPr>
        </p:pic>
      </p:grpSp>
      <p:sp>
        <p:nvSpPr>
          <p:cNvPr id="28" name="ZoneTexte 27">
            <a:extLst>
              <a:ext uri="{FF2B5EF4-FFF2-40B4-BE49-F238E27FC236}">
                <a16:creationId xmlns:a16="http://schemas.microsoft.com/office/drawing/2014/main" id="{382BE814-AB72-8DF8-0E6F-E19212E9F327}"/>
              </a:ext>
            </a:extLst>
          </p:cNvPr>
          <p:cNvSpPr txBox="1"/>
          <p:nvPr/>
        </p:nvSpPr>
        <p:spPr>
          <a:xfrm>
            <a:off x="2649340" y="3115388"/>
            <a:ext cx="104916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212529"/>
                </a:solidFill>
                <a:effectLst/>
                <a:uLnTx/>
                <a:uFillTx/>
                <a:latin typeface="Trebuchet MS"/>
                <a:ea typeface="+mn-ea"/>
                <a:cs typeface="+mn-cs"/>
              </a:rPr>
              <a:t>GO</a:t>
            </a:r>
            <a:br>
              <a:rPr kumimoji="0" lang="fr-FR" sz="1800" b="0" i="0" u="none" strike="noStrike" kern="1200" cap="none" spc="0" normalizeH="0" baseline="0" noProof="0" dirty="0">
                <a:ln>
                  <a:noFill/>
                </a:ln>
                <a:solidFill>
                  <a:srgbClr val="212529"/>
                </a:solidFill>
                <a:effectLst/>
                <a:uLnTx/>
                <a:uFillTx/>
                <a:latin typeface="Trebuchet MS"/>
                <a:ea typeface="+mn-ea"/>
                <a:cs typeface="+mn-cs"/>
              </a:rPr>
            </a:br>
            <a:r>
              <a:rPr kumimoji="0" lang="fr-FR" sz="1800" b="0" i="0" u="none" strike="noStrike" kern="1200" cap="none" spc="0" normalizeH="0" baseline="0" noProof="0" dirty="0">
                <a:ln>
                  <a:noFill/>
                </a:ln>
                <a:solidFill>
                  <a:srgbClr val="212529"/>
                </a:solidFill>
                <a:effectLst/>
                <a:uLnTx/>
                <a:uFillTx/>
                <a:latin typeface="Trebuchet MS"/>
                <a:ea typeface="+mn-ea"/>
                <a:cs typeface="+mn-cs"/>
              </a:rPr>
              <a:t>NO GO</a:t>
            </a:r>
          </a:p>
        </p:txBody>
      </p:sp>
      <p:grpSp>
        <p:nvGrpSpPr>
          <p:cNvPr id="29" name="Google Shape;11558;p77">
            <a:extLst>
              <a:ext uri="{FF2B5EF4-FFF2-40B4-BE49-F238E27FC236}">
                <a16:creationId xmlns:a16="http://schemas.microsoft.com/office/drawing/2014/main" id="{8E15B290-39EE-E4CB-E90B-87C39E18B89F}"/>
              </a:ext>
            </a:extLst>
          </p:cNvPr>
          <p:cNvGrpSpPr/>
          <p:nvPr/>
        </p:nvGrpSpPr>
        <p:grpSpPr>
          <a:xfrm>
            <a:off x="10003175" y="3014279"/>
            <a:ext cx="828000" cy="828000"/>
            <a:chOff x="-62154300" y="3743950"/>
            <a:chExt cx="318200" cy="317450"/>
          </a:xfrm>
          <a:solidFill>
            <a:schemeClr val="bg1"/>
          </a:solidFill>
        </p:grpSpPr>
        <p:sp>
          <p:nvSpPr>
            <p:cNvPr id="30" name="Google Shape;11559;p77">
              <a:extLst>
                <a:ext uri="{FF2B5EF4-FFF2-40B4-BE49-F238E27FC236}">
                  <a16:creationId xmlns:a16="http://schemas.microsoft.com/office/drawing/2014/main" id="{9299D3B0-6B5F-C6DB-56F6-77F95F2C44D0}"/>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31" name="Google Shape;11560;p77">
              <a:extLst>
                <a:ext uri="{FF2B5EF4-FFF2-40B4-BE49-F238E27FC236}">
                  <a16:creationId xmlns:a16="http://schemas.microsoft.com/office/drawing/2014/main" id="{4BBE206F-CD67-D531-8CFF-4DC44D927F9A}"/>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212529"/>
                </a:solidFill>
                <a:effectLst/>
                <a:uLnTx/>
                <a:uFillTx/>
                <a:latin typeface="Trebuchet MS"/>
                <a:ea typeface="+mn-ea"/>
                <a:cs typeface="+mn-cs"/>
              </a:endParaRPr>
            </a:p>
          </p:txBody>
        </p:sp>
      </p:grpSp>
      <p:grpSp>
        <p:nvGrpSpPr>
          <p:cNvPr id="32" name="Google Shape;10957;p75">
            <a:extLst>
              <a:ext uri="{FF2B5EF4-FFF2-40B4-BE49-F238E27FC236}">
                <a16:creationId xmlns:a16="http://schemas.microsoft.com/office/drawing/2014/main" id="{6527DF7B-DC9E-9BC2-1BC5-C46743D78E58}"/>
              </a:ext>
            </a:extLst>
          </p:cNvPr>
          <p:cNvGrpSpPr/>
          <p:nvPr/>
        </p:nvGrpSpPr>
        <p:grpSpPr>
          <a:xfrm>
            <a:off x="7113189" y="3019146"/>
            <a:ext cx="828000" cy="827999"/>
            <a:chOff x="898875" y="4399275"/>
            <a:chExt cx="483700" cy="481850"/>
          </a:xfrm>
          <a:solidFill>
            <a:schemeClr val="bg1"/>
          </a:solidFill>
        </p:grpSpPr>
        <p:sp>
          <p:nvSpPr>
            <p:cNvPr id="33" name="Google Shape;10958;p75">
              <a:extLst>
                <a:ext uri="{FF2B5EF4-FFF2-40B4-BE49-F238E27FC236}">
                  <a16:creationId xmlns:a16="http://schemas.microsoft.com/office/drawing/2014/main" id="{9261D402-64DE-9C89-3654-5E2D45A34803}"/>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4" name="Google Shape;10959;p75">
              <a:extLst>
                <a:ext uri="{FF2B5EF4-FFF2-40B4-BE49-F238E27FC236}">
                  <a16:creationId xmlns:a16="http://schemas.microsoft.com/office/drawing/2014/main" id="{FB90E7BB-CCE0-9A45-FDE9-C231945F89F4}"/>
                </a:ext>
              </a:extLst>
            </p:cNvPr>
            <p:cNvSpPr/>
            <p:nvPr/>
          </p:nvSpPr>
          <p:spPr>
            <a:xfrm>
              <a:off x="1138025" y="4763350"/>
              <a:ext cx="25" cy="25"/>
            </a:xfrm>
            <a:custGeom>
              <a:avLst/>
              <a:gdLst/>
              <a:ahLst/>
              <a:cxnLst/>
              <a:rect l="l" t="t" r="r" b="b"/>
              <a:pathLst>
                <a:path w="1" h="1" extrusionOk="0">
                  <a:moveTo>
                    <a:pt x="1" y="0"/>
                  </a:move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5" name="Google Shape;10960;p75">
              <a:extLst>
                <a:ext uri="{FF2B5EF4-FFF2-40B4-BE49-F238E27FC236}">
                  <a16:creationId xmlns:a16="http://schemas.microsoft.com/office/drawing/2014/main" id="{5D6696A8-ECE4-782D-97F9-644064EE7306}"/>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6" name="Google Shape;10961;p75">
              <a:extLst>
                <a:ext uri="{FF2B5EF4-FFF2-40B4-BE49-F238E27FC236}">
                  <a16:creationId xmlns:a16="http://schemas.microsoft.com/office/drawing/2014/main" id="{A034C53E-B514-34B7-A5CD-5A9F0C56A1A4}"/>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7" name="Google Shape;10962;p75">
              <a:extLst>
                <a:ext uri="{FF2B5EF4-FFF2-40B4-BE49-F238E27FC236}">
                  <a16:creationId xmlns:a16="http://schemas.microsoft.com/office/drawing/2014/main" id="{86207EC4-7BBA-71A8-532D-7235F6475E91}"/>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8" name="Google Shape;10963;p75">
              <a:extLst>
                <a:ext uri="{FF2B5EF4-FFF2-40B4-BE49-F238E27FC236}">
                  <a16:creationId xmlns:a16="http://schemas.microsoft.com/office/drawing/2014/main" id="{6E5F54EB-626F-F2AA-A7B0-E984070281A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39" name="Google Shape;10964;p75">
              <a:extLst>
                <a:ext uri="{FF2B5EF4-FFF2-40B4-BE49-F238E27FC236}">
                  <a16:creationId xmlns:a16="http://schemas.microsoft.com/office/drawing/2014/main" id="{AF2E1F87-839F-AF57-5C43-B1B507C54FEA}"/>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sp>
          <p:nvSpPr>
            <p:cNvPr id="40" name="Google Shape;10965;p75">
              <a:extLst>
                <a:ext uri="{FF2B5EF4-FFF2-40B4-BE49-F238E27FC236}">
                  <a16:creationId xmlns:a16="http://schemas.microsoft.com/office/drawing/2014/main" id="{6C239E57-733C-C452-3A11-4013046F3F3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dirty="0">
                <a:ln>
                  <a:noFill/>
                </a:ln>
                <a:solidFill>
                  <a:srgbClr val="435D74"/>
                </a:solidFill>
                <a:effectLst/>
                <a:uLnTx/>
                <a:uFillTx/>
                <a:latin typeface="Trebuchet MS"/>
                <a:ea typeface="+mn-ea"/>
                <a:cs typeface="+mn-cs"/>
              </a:endParaRPr>
            </a:p>
          </p:txBody>
        </p:sp>
      </p:grpSp>
      <p:cxnSp>
        <p:nvCxnSpPr>
          <p:cNvPr id="42" name="Connecteur droit 41">
            <a:extLst>
              <a:ext uri="{FF2B5EF4-FFF2-40B4-BE49-F238E27FC236}">
                <a16:creationId xmlns:a16="http://schemas.microsoft.com/office/drawing/2014/main" id="{6E0D9A32-8E7E-C4BE-534F-D1E2C6E348F7}"/>
              </a:ext>
            </a:extLst>
          </p:cNvPr>
          <p:cNvCxnSpPr/>
          <p:nvPr/>
        </p:nvCxnSpPr>
        <p:spPr>
          <a:xfrm>
            <a:off x="2926272" y="3429000"/>
            <a:ext cx="4953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25757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9E1FDCC-22D5-6122-2EAD-5572DD52D94E}"/>
              </a:ext>
            </a:extLst>
          </p:cNvPr>
          <p:cNvSpPr>
            <a:spLocks noGrp="1"/>
          </p:cNvSpPr>
          <p:nvPr>
            <p:ph type="title"/>
          </p:nvPr>
        </p:nvSpPr>
        <p:spPr/>
        <p:txBody>
          <a:bodyPr/>
          <a:lstStyle/>
          <a:p>
            <a:r>
              <a:rPr lang="fr-FR" noProof="0" dirty="0">
                <a:latin typeface="+mj-lt"/>
              </a:rPr>
              <a:t>DIVERSES</a:t>
            </a:r>
            <a:r>
              <a:rPr lang="fr-FR" noProof="0" dirty="0">
                <a:latin typeface="+mn-lt"/>
              </a:rPr>
              <a:t> OPTIONS </a:t>
            </a:r>
            <a:br>
              <a:rPr lang="fr-FR" noProof="0" dirty="0">
                <a:latin typeface="+mn-lt"/>
              </a:rPr>
            </a:br>
            <a:r>
              <a:rPr lang="fr-FR" b="0" noProof="0" dirty="0">
                <a:latin typeface="+mn-lt"/>
              </a:rPr>
              <a:t>D'HÉBERGEMENT ODOO</a:t>
            </a:r>
          </a:p>
        </p:txBody>
      </p:sp>
      <p:grpSp>
        <p:nvGrpSpPr>
          <p:cNvPr id="10" name="Group 16">
            <a:extLst>
              <a:ext uri="{FF2B5EF4-FFF2-40B4-BE49-F238E27FC236}">
                <a16:creationId xmlns:a16="http://schemas.microsoft.com/office/drawing/2014/main" id="{466BC1D9-32D9-C7AF-027F-A6840808CCF1}"/>
              </a:ext>
            </a:extLst>
          </p:cNvPr>
          <p:cNvGrpSpPr/>
          <p:nvPr/>
        </p:nvGrpSpPr>
        <p:grpSpPr>
          <a:xfrm>
            <a:off x="4404483" y="2219807"/>
            <a:ext cx="3367426" cy="3376907"/>
            <a:chOff x="4404483" y="2219807"/>
            <a:chExt cx="3367426" cy="3376907"/>
          </a:xfrm>
        </p:grpSpPr>
        <p:grpSp>
          <p:nvGrpSpPr>
            <p:cNvPr id="11" name="Group 12">
              <a:extLst>
                <a:ext uri="{FF2B5EF4-FFF2-40B4-BE49-F238E27FC236}">
                  <a16:creationId xmlns:a16="http://schemas.microsoft.com/office/drawing/2014/main" id="{B30A96B4-156A-E59E-D1C0-78B3461C9F2E}"/>
                </a:ext>
              </a:extLst>
            </p:cNvPr>
            <p:cNvGrpSpPr/>
            <p:nvPr/>
          </p:nvGrpSpPr>
          <p:grpSpPr>
            <a:xfrm>
              <a:off x="4404483" y="2219807"/>
              <a:ext cx="2951942" cy="2932278"/>
              <a:chOff x="583061" y="2480934"/>
              <a:chExt cx="2951942" cy="2932278"/>
            </a:xfrm>
          </p:grpSpPr>
          <p:sp>
            <p:nvSpPr>
              <p:cNvPr id="16" name="Rectangle: Rounded Corners 1">
                <a:extLst>
                  <a:ext uri="{FF2B5EF4-FFF2-40B4-BE49-F238E27FC236}">
                    <a16:creationId xmlns:a16="http://schemas.microsoft.com/office/drawing/2014/main" id="{9CECDBFE-0C7A-9191-CCAD-5492AFA27857}"/>
                  </a:ext>
                </a:extLst>
              </p:cNvPr>
              <p:cNvSpPr/>
              <p:nvPr/>
            </p:nvSpPr>
            <p:spPr>
              <a:xfrm>
                <a:off x="583061" y="2480934"/>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7" name="Rectangle: Rounded Corners 7">
                <a:extLst>
                  <a:ext uri="{FF2B5EF4-FFF2-40B4-BE49-F238E27FC236}">
                    <a16:creationId xmlns:a16="http://schemas.microsoft.com/office/drawing/2014/main" id="{86DD63A1-E4FD-0DE0-CEF7-6821B4F096C6}"/>
                  </a:ext>
                </a:extLst>
              </p:cNvPr>
              <p:cNvSpPr/>
              <p:nvPr/>
            </p:nvSpPr>
            <p:spPr>
              <a:xfrm>
                <a:off x="693396" y="288209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18" name="TextBox 26">
                <a:extLst>
                  <a:ext uri="{FF2B5EF4-FFF2-40B4-BE49-F238E27FC236}">
                    <a16:creationId xmlns:a16="http://schemas.microsoft.com/office/drawing/2014/main" id="{10937009-BAFE-BFD1-B77F-A3E86D518B82}"/>
                  </a:ext>
                </a:extLst>
              </p:cNvPr>
              <p:cNvSpPr txBox="1"/>
              <p:nvPr/>
            </p:nvSpPr>
            <p:spPr>
              <a:xfrm>
                <a:off x="1394753"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Trebuchet MS"/>
                    <a:ea typeface="+mn-ea"/>
                    <a:cs typeface="+mn-cs"/>
                  </a:rPr>
                  <a:t>ODOO CLOUD (SAAS)</a:t>
                </a:r>
              </a:p>
            </p:txBody>
          </p:sp>
          <p:sp>
            <p:nvSpPr>
              <p:cNvPr id="19" name="TextBox 34">
                <a:extLst>
                  <a:ext uri="{FF2B5EF4-FFF2-40B4-BE49-F238E27FC236}">
                    <a16:creationId xmlns:a16="http://schemas.microsoft.com/office/drawing/2014/main" id="{66D2EE1E-D61A-94D1-40A1-F4077B1AAB45}"/>
                  </a:ext>
                </a:extLst>
              </p:cNvPr>
              <p:cNvSpPr txBox="1"/>
              <p:nvPr/>
            </p:nvSpPr>
            <p:spPr>
              <a:xfrm>
                <a:off x="702633" y="2867888"/>
                <a:ext cx="2709960" cy="2405321"/>
              </a:xfrm>
              <a:prstGeom prst="rect">
                <a:avLst/>
              </a:prstGeom>
            </p:spPr>
            <p:txBody>
              <a:bodyPr vert="horz" wrap="none" lIns="91440" tIns="45720" rIns="91440" bIns="45720" rtlCol="0" anchor="t">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Aucun coût supplémentaire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Toujours à jour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Pas d'apps.odoo.com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Pas de développement</a:t>
                </a:r>
              </a:p>
            </p:txBody>
          </p:sp>
        </p:grpSp>
        <p:grpSp>
          <p:nvGrpSpPr>
            <p:cNvPr id="12" name="Group 52">
              <a:extLst>
                <a:ext uri="{FF2B5EF4-FFF2-40B4-BE49-F238E27FC236}">
                  <a16:creationId xmlns:a16="http://schemas.microsoft.com/office/drawing/2014/main" id="{75D508E0-9F78-E133-6AAE-EDFC8AF26693}"/>
                </a:ext>
              </a:extLst>
            </p:cNvPr>
            <p:cNvGrpSpPr/>
            <p:nvPr/>
          </p:nvGrpSpPr>
          <p:grpSpPr>
            <a:xfrm>
              <a:off x="6835567" y="4660372"/>
              <a:ext cx="936342" cy="936342"/>
              <a:chOff x="2268062" y="898165"/>
              <a:chExt cx="936342" cy="936342"/>
            </a:xfrm>
          </p:grpSpPr>
          <p:sp>
            <p:nvSpPr>
              <p:cNvPr id="13" name="Oval 29">
                <a:extLst>
                  <a:ext uri="{FF2B5EF4-FFF2-40B4-BE49-F238E27FC236}">
                    <a16:creationId xmlns:a16="http://schemas.microsoft.com/office/drawing/2014/main" id="{A4B35710-D3E4-BAD4-CD34-21621ECED0BB}"/>
                  </a:ext>
                </a:extLst>
              </p:cNvPr>
              <p:cNvSpPr/>
              <p:nvPr/>
            </p:nvSpPr>
            <p:spPr>
              <a:xfrm>
                <a:off x="2268062" y="898165"/>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14" name="Graphic 41">
                <a:extLst>
                  <a:ext uri="{FF2B5EF4-FFF2-40B4-BE49-F238E27FC236}">
                    <a16:creationId xmlns:a16="http://schemas.microsoft.com/office/drawing/2014/main" id="{C006B819-D49C-9542-6B85-BAD6797DD7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17650" y="1454554"/>
                <a:ext cx="661700" cy="356411"/>
              </a:xfrm>
              <a:prstGeom prst="rect">
                <a:avLst/>
              </a:prstGeom>
            </p:spPr>
          </p:pic>
          <p:pic>
            <p:nvPicPr>
              <p:cNvPr id="15" name="Graphic 43">
                <a:extLst>
                  <a:ext uri="{FF2B5EF4-FFF2-40B4-BE49-F238E27FC236}">
                    <a16:creationId xmlns:a16="http://schemas.microsoft.com/office/drawing/2014/main" id="{1D6BC44A-48CB-7B63-66C6-9D749787CD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9766" y="906728"/>
                <a:ext cx="717469" cy="717469"/>
              </a:xfrm>
              <a:prstGeom prst="rect">
                <a:avLst/>
              </a:prstGeom>
            </p:spPr>
          </p:pic>
        </p:grpSp>
      </p:grpSp>
      <p:grpSp>
        <p:nvGrpSpPr>
          <p:cNvPr id="20" name="Group 17">
            <a:extLst>
              <a:ext uri="{FF2B5EF4-FFF2-40B4-BE49-F238E27FC236}">
                <a16:creationId xmlns:a16="http://schemas.microsoft.com/office/drawing/2014/main" id="{B51C0A6A-10E9-F89A-0D67-D176A4C60B8A}"/>
              </a:ext>
            </a:extLst>
          </p:cNvPr>
          <p:cNvGrpSpPr/>
          <p:nvPr/>
        </p:nvGrpSpPr>
        <p:grpSpPr>
          <a:xfrm>
            <a:off x="659962" y="2219807"/>
            <a:ext cx="3367426" cy="3376907"/>
            <a:chOff x="659962" y="2219807"/>
            <a:chExt cx="3367426" cy="3376907"/>
          </a:xfrm>
        </p:grpSpPr>
        <p:grpSp>
          <p:nvGrpSpPr>
            <p:cNvPr id="21" name="Group 9">
              <a:extLst>
                <a:ext uri="{FF2B5EF4-FFF2-40B4-BE49-F238E27FC236}">
                  <a16:creationId xmlns:a16="http://schemas.microsoft.com/office/drawing/2014/main" id="{A63BC568-D0C3-8D82-FE71-40869ED46D4C}"/>
                </a:ext>
              </a:extLst>
            </p:cNvPr>
            <p:cNvGrpSpPr/>
            <p:nvPr/>
          </p:nvGrpSpPr>
          <p:grpSpPr>
            <a:xfrm>
              <a:off x="659962" y="2219807"/>
              <a:ext cx="2951942" cy="2932278"/>
              <a:chOff x="8203089" y="2480934"/>
              <a:chExt cx="2951942" cy="2932278"/>
            </a:xfrm>
          </p:grpSpPr>
          <p:grpSp>
            <p:nvGrpSpPr>
              <p:cNvPr id="25" name="Group 82">
                <a:extLst>
                  <a:ext uri="{FF2B5EF4-FFF2-40B4-BE49-F238E27FC236}">
                    <a16:creationId xmlns:a16="http://schemas.microsoft.com/office/drawing/2014/main" id="{7E3F463D-363B-8347-6CBA-6E93CF27FDC6}"/>
                  </a:ext>
                </a:extLst>
              </p:cNvPr>
              <p:cNvGrpSpPr/>
              <p:nvPr/>
            </p:nvGrpSpPr>
            <p:grpSpPr>
              <a:xfrm>
                <a:off x="8203089" y="2480934"/>
                <a:ext cx="2951942" cy="2932278"/>
                <a:chOff x="4394951" y="2459770"/>
                <a:chExt cx="2951942" cy="2932278"/>
              </a:xfrm>
            </p:grpSpPr>
            <p:sp>
              <p:nvSpPr>
                <p:cNvPr id="28" name="Rectangle: Rounded Corners 83">
                  <a:extLst>
                    <a:ext uri="{FF2B5EF4-FFF2-40B4-BE49-F238E27FC236}">
                      <a16:creationId xmlns:a16="http://schemas.microsoft.com/office/drawing/2014/main" id="{E767B5BA-02AF-A10B-8498-D02A118F9BC0}"/>
                    </a:ext>
                  </a:extLst>
                </p:cNvPr>
                <p:cNvSpPr/>
                <p:nvPr/>
              </p:nvSpPr>
              <p:spPr>
                <a:xfrm>
                  <a:off x="4394951" y="2459770"/>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29" name="Rectangle: Rounded Corners 84">
                  <a:extLst>
                    <a:ext uri="{FF2B5EF4-FFF2-40B4-BE49-F238E27FC236}">
                      <a16:creationId xmlns:a16="http://schemas.microsoft.com/office/drawing/2014/main" id="{DC9EA64B-ECBA-1D41-E6E7-2BC09F2EFF0F}"/>
                    </a:ext>
                  </a:extLst>
                </p:cNvPr>
                <p:cNvSpPr/>
                <p:nvPr/>
              </p:nvSpPr>
              <p:spPr>
                <a:xfrm>
                  <a:off x="4505286" y="288153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grpSp>
          <p:sp>
            <p:nvSpPr>
              <p:cNvPr id="26" name="TextBox 37">
                <a:extLst>
                  <a:ext uri="{FF2B5EF4-FFF2-40B4-BE49-F238E27FC236}">
                    <a16:creationId xmlns:a16="http://schemas.microsoft.com/office/drawing/2014/main" id="{E1F83E9A-9329-CB0C-698C-DDE769FD7D51}"/>
                  </a:ext>
                </a:extLst>
              </p:cNvPr>
              <p:cNvSpPr txBox="1"/>
              <p:nvPr/>
            </p:nvSpPr>
            <p:spPr>
              <a:xfrm>
                <a:off x="8343555" y="2874384"/>
                <a:ext cx="2687629" cy="2425695"/>
              </a:xfrm>
              <a:prstGeom prst="rect">
                <a:avLst/>
              </a:prstGeom>
            </p:spPr>
            <p:txBody>
              <a:bodyPr vert="horz" wrap="none" lIns="91440" tIns="45720" rIns="91440" bIns="45720" rtlCol="0" anchor="t">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La connaissance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l'installation d'Odoo est requise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Un contrat clair et réel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de services d'hébergement 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nécessaire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Il existe des limitations 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des difficultés dans la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de projet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Vous devez effectuer des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 mises à jour de sécurité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Vous devez disposer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d'une équipe DSI</a:t>
                </a:r>
              </a:p>
            </p:txBody>
          </p:sp>
          <p:sp>
            <p:nvSpPr>
              <p:cNvPr id="27" name="TextBox 28">
                <a:extLst>
                  <a:ext uri="{FF2B5EF4-FFF2-40B4-BE49-F238E27FC236}">
                    <a16:creationId xmlns:a16="http://schemas.microsoft.com/office/drawing/2014/main" id="{FBA563AB-1C59-CC97-AFD8-17D047ADE615}"/>
                  </a:ext>
                </a:extLst>
              </p:cNvPr>
              <p:cNvSpPr txBox="1"/>
              <p:nvPr/>
            </p:nvSpPr>
            <p:spPr>
              <a:xfrm>
                <a:off x="8977260"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Trebuchet MS"/>
                    <a:ea typeface="+mn-ea"/>
                    <a:cs typeface="+mn-cs"/>
                  </a:rPr>
                  <a:t>SUR SITE</a:t>
                </a:r>
              </a:p>
            </p:txBody>
          </p:sp>
        </p:grpSp>
        <p:grpSp>
          <p:nvGrpSpPr>
            <p:cNvPr id="22" name="Group 55">
              <a:extLst>
                <a:ext uri="{FF2B5EF4-FFF2-40B4-BE49-F238E27FC236}">
                  <a16:creationId xmlns:a16="http://schemas.microsoft.com/office/drawing/2014/main" id="{C1132FC2-7906-DD09-7A29-7259D8024802}"/>
                </a:ext>
              </a:extLst>
            </p:cNvPr>
            <p:cNvGrpSpPr/>
            <p:nvPr/>
          </p:nvGrpSpPr>
          <p:grpSpPr>
            <a:xfrm>
              <a:off x="3091046" y="4660372"/>
              <a:ext cx="936342" cy="936342"/>
              <a:chOff x="2268062" y="4937871"/>
              <a:chExt cx="936342" cy="936342"/>
            </a:xfrm>
          </p:grpSpPr>
          <p:sp>
            <p:nvSpPr>
              <p:cNvPr id="23" name="Oval 33">
                <a:extLst>
                  <a:ext uri="{FF2B5EF4-FFF2-40B4-BE49-F238E27FC236}">
                    <a16:creationId xmlns:a16="http://schemas.microsoft.com/office/drawing/2014/main" id="{95D60F2F-D96A-7F00-5C8A-9D9C5B6C980C}"/>
                  </a:ext>
                </a:extLst>
              </p:cNvPr>
              <p:cNvSpPr/>
              <p:nvPr/>
            </p:nvSpPr>
            <p:spPr>
              <a:xfrm>
                <a:off x="2268062" y="4937871"/>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24" name="Graphic 47">
                <a:extLst>
                  <a:ext uri="{FF2B5EF4-FFF2-40B4-BE49-F238E27FC236}">
                    <a16:creationId xmlns:a16="http://schemas.microsoft.com/office/drawing/2014/main" id="{8285968A-3793-A763-9116-2DC5524D63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30233" y="5100042"/>
                <a:ext cx="612000" cy="612000"/>
              </a:xfrm>
              <a:prstGeom prst="rect">
                <a:avLst/>
              </a:prstGeom>
            </p:spPr>
          </p:pic>
        </p:grpSp>
      </p:grpSp>
      <p:grpSp>
        <p:nvGrpSpPr>
          <p:cNvPr id="30" name="Group 6">
            <a:extLst>
              <a:ext uri="{FF2B5EF4-FFF2-40B4-BE49-F238E27FC236}">
                <a16:creationId xmlns:a16="http://schemas.microsoft.com/office/drawing/2014/main" id="{C17C0293-226C-8A04-F17D-AF7CCD504D46}"/>
              </a:ext>
            </a:extLst>
          </p:cNvPr>
          <p:cNvGrpSpPr/>
          <p:nvPr/>
        </p:nvGrpSpPr>
        <p:grpSpPr>
          <a:xfrm>
            <a:off x="8148674" y="2159203"/>
            <a:ext cx="3383364" cy="3437511"/>
            <a:chOff x="8148674" y="2159203"/>
            <a:chExt cx="3383364" cy="3437511"/>
          </a:xfrm>
        </p:grpSpPr>
        <p:grpSp>
          <p:nvGrpSpPr>
            <p:cNvPr id="31" name="Group 10">
              <a:extLst>
                <a:ext uri="{FF2B5EF4-FFF2-40B4-BE49-F238E27FC236}">
                  <a16:creationId xmlns:a16="http://schemas.microsoft.com/office/drawing/2014/main" id="{A07A1CDD-DF81-389B-7141-68423DA68899}"/>
                </a:ext>
              </a:extLst>
            </p:cNvPr>
            <p:cNvGrpSpPr/>
            <p:nvPr/>
          </p:nvGrpSpPr>
          <p:grpSpPr>
            <a:xfrm>
              <a:off x="8148674" y="2219807"/>
              <a:ext cx="2951942" cy="2932278"/>
              <a:chOff x="4327252" y="2480934"/>
              <a:chExt cx="2951942" cy="2932278"/>
            </a:xfrm>
          </p:grpSpPr>
          <p:grpSp>
            <p:nvGrpSpPr>
              <p:cNvPr id="40" name="Group 76">
                <a:extLst>
                  <a:ext uri="{FF2B5EF4-FFF2-40B4-BE49-F238E27FC236}">
                    <a16:creationId xmlns:a16="http://schemas.microsoft.com/office/drawing/2014/main" id="{D2BC0575-FB90-91B7-61D0-2AB10E412C92}"/>
                  </a:ext>
                </a:extLst>
              </p:cNvPr>
              <p:cNvGrpSpPr/>
              <p:nvPr/>
            </p:nvGrpSpPr>
            <p:grpSpPr>
              <a:xfrm>
                <a:off x="4327252" y="2480934"/>
                <a:ext cx="2951942" cy="2932278"/>
                <a:chOff x="4394951" y="2459770"/>
                <a:chExt cx="2951942" cy="2932278"/>
              </a:xfrm>
            </p:grpSpPr>
            <p:sp>
              <p:nvSpPr>
                <p:cNvPr id="43" name="Rectangle: Rounded Corners 64">
                  <a:extLst>
                    <a:ext uri="{FF2B5EF4-FFF2-40B4-BE49-F238E27FC236}">
                      <a16:creationId xmlns:a16="http://schemas.microsoft.com/office/drawing/2014/main" id="{63ABA52A-1020-C5D8-068D-A729AA86053B}"/>
                    </a:ext>
                  </a:extLst>
                </p:cNvPr>
                <p:cNvSpPr/>
                <p:nvPr/>
              </p:nvSpPr>
              <p:spPr>
                <a:xfrm>
                  <a:off x="4394951" y="2459770"/>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44" name="Rectangle: Rounded Corners 66">
                  <a:extLst>
                    <a:ext uri="{FF2B5EF4-FFF2-40B4-BE49-F238E27FC236}">
                      <a16:creationId xmlns:a16="http://schemas.microsoft.com/office/drawing/2014/main" id="{6829A835-20DE-9473-0DE4-B0649E35EC39}"/>
                    </a:ext>
                  </a:extLst>
                </p:cNvPr>
                <p:cNvSpPr/>
                <p:nvPr/>
              </p:nvSpPr>
              <p:spPr>
                <a:xfrm>
                  <a:off x="4505286" y="288153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grpSp>
          <p:sp>
            <p:nvSpPr>
              <p:cNvPr id="41" name="TextBox 77">
                <a:extLst>
                  <a:ext uri="{FF2B5EF4-FFF2-40B4-BE49-F238E27FC236}">
                    <a16:creationId xmlns:a16="http://schemas.microsoft.com/office/drawing/2014/main" id="{CBA15F1D-AC40-BF7E-BE2B-2C5E59FA22F8}"/>
                  </a:ext>
                </a:extLst>
              </p:cNvPr>
              <p:cNvSpPr txBox="1"/>
              <p:nvPr/>
            </p:nvSpPr>
            <p:spPr>
              <a:xfrm>
                <a:off x="5220639"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Trebuchet MS"/>
                    <a:ea typeface="+mn-ea"/>
                    <a:cs typeface="+mn-cs"/>
                  </a:rPr>
                  <a:t>ODOO SH (PAAS)</a:t>
                </a:r>
              </a:p>
            </p:txBody>
          </p:sp>
          <p:sp>
            <p:nvSpPr>
              <p:cNvPr id="42" name="TextBox 35">
                <a:extLst>
                  <a:ext uri="{FF2B5EF4-FFF2-40B4-BE49-F238E27FC236}">
                    <a16:creationId xmlns:a16="http://schemas.microsoft.com/office/drawing/2014/main" id="{FEE2AC1A-1461-2030-E47E-4747DEFE6648}"/>
                  </a:ext>
                </a:extLst>
              </p:cNvPr>
              <p:cNvSpPr txBox="1"/>
              <p:nvPr/>
            </p:nvSpPr>
            <p:spPr>
              <a:xfrm>
                <a:off x="4449662" y="2877992"/>
                <a:ext cx="2714922" cy="2425695"/>
              </a:xfrm>
              <a:prstGeom prst="rect">
                <a:avLst/>
              </a:prstGeom>
            </p:spPr>
            <p:txBody>
              <a:bodyPr vert="horz" wrap="none" lIns="91440" tIns="45720" rIns="91440" bIns="45720" rtlCol="0" anchor="t">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Coût supplémentaire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Tout intégré pour une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de projet efficace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Tous les correctifs de sécurité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Automatiques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Hébergement et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à faible coût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latin typeface="Trebuchet MS"/>
                    <a:ea typeface="+mn-ea"/>
                    <a:cs typeface="+mn-cs"/>
                  </a:rPr>
                  <a:t>Odoo Studio inclus</a:t>
                </a:r>
              </a:p>
            </p:txBody>
          </p:sp>
        </p:grpSp>
        <p:grpSp>
          <p:nvGrpSpPr>
            <p:cNvPr id="32" name="Group 3">
              <a:extLst>
                <a:ext uri="{FF2B5EF4-FFF2-40B4-BE49-F238E27FC236}">
                  <a16:creationId xmlns:a16="http://schemas.microsoft.com/office/drawing/2014/main" id="{99BE6F20-6EF3-E9A3-A420-E18AF1819CAC}"/>
                </a:ext>
              </a:extLst>
            </p:cNvPr>
            <p:cNvGrpSpPr/>
            <p:nvPr/>
          </p:nvGrpSpPr>
          <p:grpSpPr>
            <a:xfrm>
              <a:off x="10595696" y="4660372"/>
              <a:ext cx="936342" cy="936342"/>
              <a:chOff x="10595696" y="4660372"/>
              <a:chExt cx="936342" cy="936342"/>
            </a:xfrm>
          </p:grpSpPr>
          <p:grpSp>
            <p:nvGrpSpPr>
              <p:cNvPr id="36" name="Group 54">
                <a:extLst>
                  <a:ext uri="{FF2B5EF4-FFF2-40B4-BE49-F238E27FC236}">
                    <a16:creationId xmlns:a16="http://schemas.microsoft.com/office/drawing/2014/main" id="{DC42CBFC-70BA-3AA4-1443-87DD021E0695}"/>
                  </a:ext>
                </a:extLst>
              </p:cNvPr>
              <p:cNvGrpSpPr/>
              <p:nvPr/>
            </p:nvGrpSpPr>
            <p:grpSpPr>
              <a:xfrm>
                <a:off x="10595696" y="4660372"/>
                <a:ext cx="936342" cy="936342"/>
                <a:chOff x="2268062" y="2974057"/>
                <a:chExt cx="936342" cy="936342"/>
              </a:xfrm>
            </p:grpSpPr>
            <p:sp>
              <p:nvSpPr>
                <p:cNvPr id="38" name="Oval 31">
                  <a:extLst>
                    <a:ext uri="{FF2B5EF4-FFF2-40B4-BE49-F238E27FC236}">
                      <a16:creationId xmlns:a16="http://schemas.microsoft.com/office/drawing/2014/main" id="{3942621A-1BCA-CDB6-ABA5-C9C9B8F01D6A}"/>
                    </a:ext>
                  </a:extLst>
                </p:cNvPr>
                <p:cNvSpPr/>
                <p:nvPr/>
              </p:nvSpPr>
              <p:spPr>
                <a:xfrm>
                  <a:off x="2268062" y="2974057"/>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39" name="Graphic 50">
                  <a:extLst>
                    <a:ext uri="{FF2B5EF4-FFF2-40B4-BE49-F238E27FC236}">
                      <a16:creationId xmlns:a16="http://schemas.microsoft.com/office/drawing/2014/main" id="{51AC699F-6400-31E6-C412-DFC7AC2DF40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58893" y="3039088"/>
                  <a:ext cx="576000" cy="576000"/>
                </a:xfrm>
                <a:prstGeom prst="rect">
                  <a:avLst/>
                </a:prstGeom>
              </p:spPr>
            </p:pic>
          </p:grpSp>
          <p:pic>
            <p:nvPicPr>
              <p:cNvPr id="37" name="Graphic 2">
                <a:extLst>
                  <a:ext uri="{FF2B5EF4-FFF2-40B4-BE49-F238E27FC236}">
                    <a16:creationId xmlns:a16="http://schemas.microsoft.com/office/drawing/2014/main" id="{F7297FE0-7390-A6CA-474B-E3771F9242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46825" y="5224770"/>
                <a:ext cx="661700" cy="356411"/>
              </a:xfrm>
              <a:prstGeom prst="rect">
                <a:avLst/>
              </a:prstGeom>
            </p:spPr>
          </p:pic>
        </p:grpSp>
        <p:grpSp>
          <p:nvGrpSpPr>
            <p:cNvPr id="33" name="Group 8">
              <a:extLst>
                <a:ext uri="{FF2B5EF4-FFF2-40B4-BE49-F238E27FC236}">
                  <a16:creationId xmlns:a16="http://schemas.microsoft.com/office/drawing/2014/main" id="{FA7F0C78-799D-03A6-4D9B-9FA97B5CB908}"/>
                </a:ext>
              </a:extLst>
            </p:cNvPr>
            <p:cNvGrpSpPr/>
            <p:nvPr/>
          </p:nvGrpSpPr>
          <p:grpSpPr>
            <a:xfrm>
              <a:off x="10791137" y="2159203"/>
              <a:ext cx="566415" cy="566415"/>
              <a:chOff x="7070264" y="2151039"/>
              <a:chExt cx="566415" cy="566415"/>
            </a:xfrm>
          </p:grpSpPr>
          <p:sp>
            <p:nvSpPr>
              <p:cNvPr id="34" name="Oval 11">
                <a:extLst>
                  <a:ext uri="{FF2B5EF4-FFF2-40B4-BE49-F238E27FC236}">
                    <a16:creationId xmlns:a16="http://schemas.microsoft.com/office/drawing/2014/main" id="{346F5767-AFF9-04E8-DF82-B789A34537DF}"/>
                  </a:ext>
                </a:extLst>
              </p:cNvPr>
              <p:cNvSpPr/>
              <p:nvPr/>
            </p:nvSpPr>
            <p:spPr>
              <a:xfrm>
                <a:off x="7070264" y="2151039"/>
                <a:ext cx="566415" cy="566415"/>
              </a:xfrm>
              <a:prstGeom prst="ellipse">
                <a:avLst/>
              </a:prstGeom>
              <a:solidFill>
                <a:schemeClr val="bg1"/>
              </a:solidFill>
              <a:ln w="63500">
                <a:solidFill>
                  <a:srgbClr val="13B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35" name="Graphic 15">
                <a:extLst>
                  <a:ext uri="{FF2B5EF4-FFF2-40B4-BE49-F238E27FC236}">
                    <a16:creationId xmlns:a16="http://schemas.microsoft.com/office/drawing/2014/main" id="{1AACED7D-63C6-8075-0C87-BA63E07A6B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87172" y="2250695"/>
                <a:ext cx="367103" cy="367103"/>
              </a:xfrm>
              <a:prstGeom prst="rect">
                <a:avLst/>
              </a:prstGeom>
            </p:spPr>
          </p:pic>
        </p:grpSp>
      </p:grpSp>
      <p:sp>
        <p:nvSpPr>
          <p:cNvPr id="2" name="Espace réservé du numéro de diapositive 1">
            <a:extLst>
              <a:ext uri="{FF2B5EF4-FFF2-40B4-BE49-F238E27FC236}">
                <a16:creationId xmlns:a16="http://schemas.microsoft.com/office/drawing/2014/main" id="{E74F9AD9-DFE3-0666-A540-FC2B36D69EC8}"/>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132</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Tree>
    <p:extLst>
      <p:ext uri="{BB962C8B-B14F-4D97-AF65-F5344CB8AC3E}">
        <p14:creationId xmlns:p14="http://schemas.microsoft.com/office/powerpoint/2010/main" val="7601347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D99BBFAE-F23E-B8C2-F1A0-34363CD5C1C8}"/>
              </a:ext>
            </a:extLst>
          </p:cNvPr>
          <p:cNvSpPr>
            <a:spLocks noGrp="1"/>
          </p:cNvSpPr>
          <p:nvPr>
            <p:ph type="body" sz="quarter" idx="10"/>
          </p:nvPr>
        </p:nvSpPr>
        <p:spPr/>
        <p:txBody>
          <a:bodyPr>
            <a:normAutofit/>
          </a:bodyPr>
          <a:lstStyle/>
          <a:p>
            <a:r>
              <a:rPr lang="fr-FR" sz="2000" noProof="0" dirty="0">
                <a:latin typeface="+mn-lt"/>
              </a:rPr>
              <a:t>Licences</a:t>
            </a:r>
          </a:p>
          <a:p>
            <a:r>
              <a:rPr lang="fr-FR" sz="2000" noProof="0" dirty="0">
                <a:latin typeface="+mn-lt"/>
              </a:rPr>
              <a:t>Odoo</a:t>
            </a:r>
          </a:p>
        </p:txBody>
      </p:sp>
      <p:sp>
        <p:nvSpPr>
          <p:cNvPr id="5" name="Espace réservé du texte 4">
            <a:extLst>
              <a:ext uri="{FF2B5EF4-FFF2-40B4-BE49-F238E27FC236}">
                <a16:creationId xmlns:a16="http://schemas.microsoft.com/office/drawing/2014/main" id="{A1DE8262-F581-4A3C-3C1A-080D88617060}"/>
              </a:ext>
            </a:extLst>
          </p:cNvPr>
          <p:cNvSpPr>
            <a:spLocks noGrp="1"/>
          </p:cNvSpPr>
          <p:nvPr>
            <p:ph type="body" sz="quarter" idx="11"/>
          </p:nvPr>
        </p:nvSpPr>
        <p:spPr/>
        <p:txBody>
          <a:bodyPr>
            <a:normAutofit/>
          </a:bodyPr>
          <a:lstStyle/>
          <a:p>
            <a:r>
              <a:rPr lang="fr-FR" sz="2000" noProof="0" dirty="0">
                <a:latin typeface="+mn-lt"/>
              </a:rPr>
              <a:t>Hébergement</a:t>
            </a:r>
          </a:p>
          <a:p>
            <a:r>
              <a:rPr lang="fr-FR" sz="2000" noProof="0" dirty="0">
                <a:latin typeface="+mn-lt"/>
              </a:rPr>
              <a:t>Odoo.SH</a:t>
            </a:r>
          </a:p>
        </p:txBody>
      </p:sp>
      <p:sp>
        <p:nvSpPr>
          <p:cNvPr id="6" name="Espace réservé du texte 5">
            <a:extLst>
              <a:ext uri="{FF2B5EF4-FFF2-40B4-BE49-F238E27FC236}">
                <a16:creationId xmlns:a16="http://schemas.microsoft.com/office/drawing/2014/main" id="{F866D680-C32F-892C-8521-E69958BE33DC}"/>
              </a:ext>
            </a:extLst>
          </p:cNvPr>
          <p:cNvSpPr>
            <a:spLocks noGrp="1"/>
          </p:cNvSpPr>
          <p:nvPr>
            <p:ph type="body" sz="quarter" idx="13"/>
          </p:nvPr>
        </p:nvSpPr>
        <p:spPr>
          <a:xfrm>
            <a:off x="1841500" y="4425950"/>
            <a:ext cx="3625850" cy="717550"/>
          </a:xfrm>
        </p:spPr>
        <p:txBody>
          <a:bodyPr anchor="ctr">
            <a:noAutofit/>
          </a:bodyPr>
          <a:lstStyle/>
          <a:p>
            <a:r>
              <a:rPr lang="fr-FR" sz="1600" b="1" noProof="0" dirty="0">
                <a:latin typeface="+mn-lt"/>
              </a:rPr>
              <a:t>29,90€ /m/utilisateur la 1</a:t>
            </a:r>
            <a:r>
              <a:rPr lang="fr-FR" sz="1600" b="1" baseline="30000" noProof="0" dirty="0">
                <a:latin typeface="+mn-lt"/>
              </a:rPr>
              <a:t>ère</a:t>
            </a:r>
            <a:r>
              <a:rPr lang="fr-FR" sz="1600" b="1" noProof="0" dirty="0">
                <a:latin typeface="+mn-lt"/>
              </a:rPr>
              <a:t> année</a:t>
            </a:r>
          </a:p>
          <a:p>
            <a:r>
              <a:rPr lang="fr-FR" sz="1400" noProof="0" dirty="0">
                <a:latin typeface="+mn-lt"/>
              </a:rPr>
              <a:t>37,40€ /m/utilisateur les années suivantes</a:t>
            </a:r>
          </a:p>
        </p:txBody>
      </p:sp>
      <p:sp>
        <p:nvSpPr>
          <p:cNvPr id="3" name="Titre 2">
            <a:extLst>
              <a:ext uri="{FF2B5EF4-FFF2-40B4-BE49-F238E27FC236}">
                <a16:creationId xmlns:a16="http://schemas.microsoft.com/office/drawing/2014/main" id="{87351F49-758A-17E8-B019-B8AF6EB65813}"/>
              </a:ext>
            </a:extLst>
          </p:cNvPr>
          <p:cNvSpPr>
            <a:spLocks noGrp="1"/>
          </p:cNvSpPr>
          <p:nvPr>
            <p:ph type="title"/>
          </p:nvPr>
        </p:nvSpPr>
        <p:spPr/>
        <p:txBody>
          <a:bodyPr/>
          <a:lstStyle/>
          <a:p>
            <a:r>
              <a:rPr lang="fr-FR" noProof="0" dirty="0">
                <a:latin typeface="+mn-lt"/>
              </a:rPr>
              <a:t>License Odoo</a:t>
            </a:r>
            <a:endParaRPr lang="fr-FR" b="0" noProof="0" dirty="0">
              <a:latin typeface="+mn-lt"/>
            </a:endParaRPr>
          </a:p>
        </p:txBody>
      </p:sp>
      <p:sp>
        <p:nvSpPr>
          <p:cNvPr id="8" name="Espace réservé du texte 5">
            <a:extLst>
              <a:ext uri="{FF2B5EF4-FFF2-40B4-BE49-F238E27FC236}">
                <a16:creationId xmlns:a16="http://schemas.microsoft.com/office/drawing/2014/main" id="{FCBD70E2-8320-EE60-3F7F-785EB4D8B88F}"/>
              </a:ext>
            </a:extLst>
          </p:cNvPr>
          <p:cNvSpPr txBox="1">
            <a:spLocks/>
          </p:cNvSpPr>
          <p:nvPr/>
        </p:nvSpPr>
        <p:spPr>
          <a:xfrm>
            <a:off x="6815925" y="4425950"/>
            <a:ext cx="3625850" cy="71755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highlight>
                  <a:srgbClr val="FFFF00"/>
                </a:highlight>
                <a:uLnTx/>
                <a:uFillTx/>
                <a:latin typeface="Trebuchet MS"/>
                <a:ea typeface="+mn-ea"/>
                <a:cs typeface="+mn-cs"/>
              </a:rPr>
              <a:t>29,90</a:t>
            </a:r>
            <a:r>
              <a:rPr kumimoji="0" lang="fr-FR" sz="1600" b="1" i="0" u="none" strike="noStrike" kern="1200" cap="none" spc="0" normalizeH="0" baseline="0" noProof="0" dirty="0">
                <a:ln>
                  <a:noFill/>
                </a:ln>
                <a:solidFill>
                  <a:srgbClr val="212529"/>
                </a:solidFill>
                <a:effectLst/>
                <a:uLnTx/>
                <a:uFillTx/>
                <a:latin typeface="Trebuchet MS"/>
                <a:ea typeface="+mn-ea"/>
                <a:cs typeface="+mn-cs"/>
              </a:rPr>
              <a:t>€ /mois</a:t>
            </a:r>
            <a:endParaRPr kumimoji="0" lang="fr-FR" sz="16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9" name="Espace réservé du texte 5">
            <a:extLst>
              <a:ext uri="{FF2B5EF4-FFF2-40B4-BE49-F238E27FC236}">
                <a16:creationId xmlns:a16="http://schemas.microsoft.com/office/drawing/2014/main" id="{A8ADAA8D-BFDD-65BE-46F6-CE6168A7100E}"/>
              </a:ext>
            </a:extLst>
          </p:cNvPr>
          <p:cNvSpPr txBox="1">
            <a:spLocks/>
          </p:cNvSpPr>
          <p:nvPr/>
        </p:nvSpPr>
        <p:spPr>
          <a:xfrm>
            <a:off x="1795862" y="5668010"/>
            <a:ext cx="8600275" cy="71755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1" i="0" u="none" strike="noStrike" kern="1200" cap="none" spc="0" normalizeH="0" baseline="0" noProof="0" dirty="0">
                <a:ln>
                  <a:noFill/>
                </a:ln>
                <a:solidFill>
                  <a:srgbClr val="212529"/>
                </a:solidFill>
                <a:effectLst/>
                <a:uLnTx/>
                <a:uFillTx/>
                <a:latin typeface="Trebuchet MS"/>
                <a:ea typeface="+mn-ea"/>
                <a:cs typeface="+mn-cs"/>
              </a:rPr>
              <a:t>Pour </a:t>
            </a:r>
            <a:r>
              <a:rPr kumimoji="0" lang="fr-FR" sz="2000" b="1" i="0" u="none" strike="noStrike" kern="1200" cap="none" spc="0" normalizeH="0" baseline="0" noProof="0" dirty="0">
                <a:ln>
                  <a:noFill/>
                </a:ln>
                <a:solidFill>
                  <a:srgbClr val="212529"/>
                </a:solidFill>
                <a:effectLst/>
                <a:highlight>
                  <a:srgbClr val="FFFF00"/>
                </a:highlight>
                <a:uLnTx/>
                <a:uFillTx/>
                <a:latin typeface="Trebuchet MS"/>
                <a:ea typeface="+mn-ea"/>
                <a:cs typeface="+mn-cs"/>
              </a:rPr>
              <a:t>XXX</a:t>
            </a:r>
            <a:r>
              <a:rPr kumimoji="0" lang="fr-FR" sz="2000" b="1" i="0" u="none" strike="noStrike" kern="1200" cap="none" spc="0" normalizeH="0" baseline="0" noProof="0" dirty="0">
                <a:ln>
                  <a:noFill/>
                </a:ln>
                <a:solidFill>
                  <a:srgbClr val="212529"/>
                </a:solidFill>
                <a:effectLst/>
                <a:uLnTx/>
                <a:uFillTx/>
                <a:latin typeface="Trebuchet MS"/>
                <a:ea typeface="+mn-ea"/>
                <a:cs typeface="+mn-cs"/>
              </a:rPr>
              <a:t> utilisateurs : </a:t>
            </a:r>
            <a:r>
              <a:rPr kumimoji="0" lang="fr-FR" sz="2000" b="1" i="0" u="none" strike="noStrike" kern="1200" cap="none" spc="0" normalizeH="0" baseline="0" noProof="0" dirty="0">
                <a:ln>
                  <a:noFill/>
                </a:ln>
                <a:solidFill>
                  <a:srgbClr val="212529"/>
                </a:solidFill>
                <a:effectLst/>
                <a:highlight>
                  <a:srgbClr val="FFFF00"/>
                </a:highlight>
                <a:uLnTx/>
                <a:uFillTx/>
                <a:latin typeface="Trebuchet MS"/>
                <a:ea typeface="+mn-ea"/>
                <a:cs typeface="+mn-cs"/>
              </a:rPr>
              <a:t>XXX</a:t>
            </a:r>
            <a:r>
              <a:rPr kumimoji="0" lang="fr-FR" sz="2000" b="1" i="0" u="none" strike="noStrike" kern="1200" cap="none" spc="0" normalizeH="0" baseline="0" noProof="0" dirty="0">
                <a:ln>
                  <a:noFill/>
                </a:ln>
                <a:solidFill>
                  <a:srgbClr val="212529"/>
                </a:solidFill>
                <a:effectLst/>
                <a:uLnTx/>
                <a:uFillTx/>
                <a:latin typeface="Trebuchet MS"/>
                <a:ea typeface="+mn-ea"/>
                <a:cs typeface="+mn-cs"/>
              </a:rPr>
              <a:t>€ la première année</a:t>
            </a:r>
          </a:p>
        </p:txBody>
      </p:sp>
      <p:sp>
        <p:nvSpPr>
          <p:cNvPr id="2" name="Espace réservé du numéro de diapositive 1">
            <a:extLst>
              <a:ext uri="{FF2B5EF4-FFF2-40B4-BE49-F238E27FC236}">
                <a16:creationId xmlns:a16="http://schemas.microsoft.com/office/drawing/2014/main" id="{B10E9C5A-13F1-8FEC-2257-F5BE9D55B6FA}"/>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133</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7" name="ZoneTexte 3">
            <a:extLst>
              <a:ext uri="{FF2B5EF4-FFF2-40B4-BE49-F238E27FC236}">
                <a16:creationId xmlns:a16="http://schemas.microsoft.com/office/drawing/2014/main" id="{8C89CD86-F007-C879-DD59-A9E86F1B45A5}"/>
              </a:ext>
            </a:extLst>
          </p:cNvPr>
          <p:cNvSpPr txBox="1"/>
          <p:nvPr/>
        </p:nvSpPr>
        <p:spPr>
          <a:xfrm rot="732307">
            <a:off x="8249404" y="553018"/>
            <a:ext cx="3702423" cy="103094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Tahoma"/>
                <a:ea typeface="+mn-ea"/>
                <a:cs typeface="+mn-cs"/>
              </a:rPr>
              <a:t>Ask</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your</a:t>
            </a:r>
            <a:r>
              <a:rPr kumimoji="0" lang="fr-FR" sz="1800" b="0" i="0" u="none" strike="noStrike" kern="1200" cap="none" spc="0" normalizeH="0" baseline="0" noProof="0" dirty="0">
                <a:ln>
                  <a:noFill/>
                </a:ln>
                <a:solidFill>
                  <a:prstClr val="white"/>
                </a:solidFill>
                <a:effectLst/>
                <a:uLnTx/>
                <a:uFillTx/>
                <a:latin typeface="Tahoma"/>
                <a:ea typeface="+mn-ea"/>
                <a:cs typeface="+mn-cs"/>
              </a:rPr>
              <a:t> Odoo </a:t>
            </a:r>
            <a:r>
              <a:rPr kumimoji="0" lang="fr-FR" sz="1800" b="0" i="0" u="none" strike="noStrike" kern="1200" cap="none" spc="0" normalizeH="0" baseline="0" noProof="0" dirty="0" err="1">
                <a:ln>
                  <a:noFill/>
                </a:ln>
                <a:solidFill>
                  <a:prstClr val="white"/>
                </a:solidFill>
                <a:effectLst/>
                <a:uLnTx/>
                <a:uFillTx/>
                <a:latin typeface="Tahoma"/>
                <a:ea typeface="+mn-ea"/>
                <a:cs typeface="+mn-cs"/>
              </a:rPr>
              <a:t>Account</a:t>
            </a:r>
            <a:r>
              <a:rPr kumimoji="0" lang="fr-FR" sz="1800" b="0" i="0" u="none" strike="noStrike" kern="1200" cap="none" spc="0" normalizeH="0" baseline="0" noProof="0" dirty="0">
                <a:ln>
                  <a:noFill/>
                </a:ln>
                <a:solidFill>
                  <a:prstClr val="white"/>
                </a:solidFill>
                <a:effectLst/>
                <a:uLnTx/>
                <a:uFillTx/>
                <a:latin typeface="Tahoma"/>
                <a:ea typeface="+mn-ea"/>
                <a:cs typeface="+mn-cs"/>
              </a:rPr>
              <a:t> Manager to </a:t>
            </a:r>
            <a:r>
              <a:rPr kumimoji="0" lang="fr-FR" sz="1800" b="0" i="0" u="none" strike="noStrike" kern="1200" cap="none" spc="0" normalizeH="0" baseline="0" noProof="0" dirty="0" err="1">
                <a:ln>
                  <a:noFill/>
                </a:ln>
                <a:solidFill>
                  <a:prstClr val="white"/>
                </a:solidFill>
                <a:effectLst/>
                <a:uLnTx/>
                <a:uFillTx/>
                <a:latin typeface="Tahoma"/>
                <a:ea typeface="+mn-ea"/>
                <a:cs typeface="+mn-cs"/>
              </a:rPr>
              <a:t>be</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here</a:t>
            </a:r>
            <a:r>
              <a:rPr kumimoji="0" lang="fr-FR" sz="1800" b="0" i="0" u="none" strike="noStrike" kern="1200" cap="none" spc="0" normalizeH="0" baseline="0" noProof="0" dirty="0">
                <a:ln>
                  <a:noFill/>
                </a:ln>
                <a:solidFill>
                  <a:prstClr val="white"/>
                </a:solidFill>
                <a:effectLst/>
                <a:uLnTx/>
                <a:uFillTx/>
                <a:latin typeface="Tahoma"/>
                <a:ea typeface="+mn-ea"/>
                <a:cs typeface="+mn-cs"/>
              </a:rPr>
              <a:t> and to </a:t>
            </a:r>
            <a:r>
              <a:rPr kumimoji="0" lang="fr-FR" sz="1800" b="0" i="0" u="none" strike="noStrike" kern="1200" cap="none" spc="0" normalizeH="0" baseline="0" noProof="0" dirty="0" err="1">
                <a:ln>
                  <a:noFill/>
                </a:ln>
                <a:solidFill>
                  <a:prstClr val="white"/>
                </a:solidFill>
                <a:effectLst/>
                <a:uLnTx/>
                <a:uFillTx/>
                <a:latin typeface="Tahoma"/>
                <a:ea typeface="+mn-ea"/>
                <a:cs typeface="+mn-cs"/>
              </a:rPr>
              <a:t>present</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different</a:t>
            </a:r>
            <a:r>
              <a:rPr kumimoji="0" lang="fr-FR" sz="1800" b="0" i="0" u="none" strike="noStrike" kern="1200" cap="none" spc="0" normalizeH="0" baseline="0" noProof="0" dirty="0">
                <a:ln>
                  <a:noFill/>
                </a:ln>
                <a:solidFill>
                  <a:prstClr val="white"/>
                </a:solidFill>
                <a:effectLst/>
                <a:uLnTx/>
                <a:uFillTx/>
                <a:latin typeface="Tahoma"/>
                <a:ea typeface="+mn-ea"/>
                <a:cs typeface="+mn-cs"/>
              </a:rPr>
              <a:t> Options 3 </a:t>
            </a:r>
            <a:r>
              <a:rPr kumimoji="0" lang="fr-FR" sz="1800" b="0" i="0" u="none" strike="noStrike" kern="1200" cap="none" spc="0" normalizeH="0" baseline="0" noProof="0" dirty="0" err="1">
                <a:ln>
                  <a:noFill/>
                </a:ln>
                <a:solidFill>
                  <a:prstClr val="white"/>
                </a:solidFill>
                <a:effectLst/>
                <a:uLnTx/>
                <a:uFillTx/>
                <a:latin typeface="Tahoma"/>
                <a:ea typeface="+mn-ea"/>
                <a:cs typeface="+mn-cs"/>
              </a:rPr>
              <a:t>years</a:t>
            </a:r>
            <a:r>
              <a:rPr kumimoji="0" lang="fr-FR" sz="1800" b="0" i="0" u="none" strike="noStrike" kern="1200" cap="none" spc="0" normalizeH="0" baseline="0" noProof="0" dirty="0">
                <a:ln>
                  <a:noFill/>
                </a:ln>
                <a:solidFill>
                  <a:prstClr val="white"/>
                </a:solidFill>
                <a:effectLst/>
                <a:uLnTx/>
                <a:uFillTx/>
                <a:latin typeface="Tahoma"/>
                <a:ea typeface="+mn-ea"/>
                <a:cs typeface="+mn-cs"/>
              </a:rPr>
              <a:t>, 5 </a:t>
            </a:r>
            <a:r>
              <a:rPr kumimoji="0" lang="fr-FR" sz="1800" b="0" i="0" u="none" strike="noStrike" kern="1200" cap="none" spc="0" normalizeH="0" baseline="0" noProof="0" dirty="0" err="1">
                <a:ln>
                  <a:noFill/>
                </a:ln>
                <a:solidFill>
                  <a:prstClr val="white"/>
                </a:solidFill>
                <a:effectLst/>
                <a:uLnTx/>
                <a:uFillTx/>
                <a:latin typeface="Tahoma"/>
                <a:ea typeface="+mn-ea"/>
                <a:cs typeface="+mn-cs"/>
              </a:rPr>
              <a:t>years</a:t>
            </a:r>
            <a:endParaRPr kumimoji="0" lang="fr-FR" sz="1800" b="0" i="0" u="none" strike="noStrike" kern="1200" cap="none" spc="0" normalizeH="0" baseline="0" noProof="0" dirty="0">
              <a:ln>
                <a:noFill/>
              </a:ln>
              <a:solidFill>
                <a:prstClr val="white"/>
              </a:solidFill>
              <a:effectLst/>
              <a:uLnTx/>
              <a:uFillTx/>
              <a:latin typeface="Tahoma"/>
              <a:ea typeface="+mn-ea"/>
              <a:cs typeface="+mn-cs"/>
            </a:endParaRPr>
          </a:p>
        </p:txBody>
      </p:sp>
    </p:spTree>
    <p:extLst>
      <p:ext uri="{BB962C8B-B14F-4D97-AF65-F5344CB8AC3E}">
        <p14:creationId xmlns:p14="http://schemas.microsoft.com/office/powerpoint/2010/main" val="20167687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4249-D7B9-7768-00CC-EFAA43FFD8D9}"/>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D78B20A5-EDF3-CA4F-FBBC-481EC4B60857}"/>
              </a:ext>
            </a:extLst>
          </p:cNvPr>
          <p:cNvSpPr>
            <a:spLocks noGrp="1"/>
          </p:cNvSpPr>
          <p:nvPr>
            <p:ph type="title"/>
          </p:nvPr>
        </p:nvSpPr>
        <p:spPr/>
        <p:txBody>
          <a:bodyPr>
            <a:normAutofit/>
          </a:bodyPr>
          <a:lstStyle/>
          <a:p>
            <a:r>
              <a:rPr lang="fr-FR" noProof="0" dirty="0"/>
              <a:t>APPROCHE BUDGÉTAIRE</a:t>
            </a:r>
            <a:br>
              <a:rPr lang="fr-FR" noProof="0" dirty="0"/>
            </a:br>
            <a:r>
              <a:rPr lang="fr-FR" b="0" noProof="0" dirty="0"/>
              <a:t>NOS NIVEAUX D’EXPERTISE</a:t>
            </a:r>
            <a:r>
              <a:rPr lang="fr-FR" noProof="0" dirty="0"/>
              <a:t> - FRANCE</a:t>
            </a:r>
            <a:endParaRPr lang="fr-FR" b="0" noProof="0" dirty="0"/>
          </a:p>
        </p:txBody>
      </p:sp>
      <p:sp>
        <p:nvSpPr>
          <p:cNvPr id="11" name="Espace réservé du numéro de diapositive 10">
            <a:extLst>
              <a:ext uri="{FF2B5EF4-FFF2-40B4-BE49-F238E27FC236}">
                <a16:creationId xmlns:a16="http://schemas.microsoft.com/office/drawing/2014/main" id="{021215CF-B671-0BE8-2550-C1DC60BCF01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134</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grpSp>
        <p:nvGrpSpPr>
          <p:cNvPr id="31" name="Groupe 30">
            <a:extLst>
              <a:ext uri="{FF2B5EF4-FFF2-40B4-BE49-F238E27FC236}">
                <a16:creationId xmlns:a16="http://schemas.microsoft.com/office/drawing/2014/main" id="{540D7922-73C4-F823-E3C8-46D8F0DC8A40}"/>
              </a:ext>
            </a:extLst>
          </p:cNvPr>
          <p:cNvGrpSpPr/>
          <p:nvPr/>
        </p:nvGrpSpPr>
        <p:grpSpPr>
          <a:xfrm>
            <a:off x="308632" y="2620344"/>
            <a:ext cx="2717800" cy="2775315"/>
            <a:chOff x="484517" y="2242973"/>
            <a:chExt cx="2717800" cy="2775315"/>
          </a:xfrm>
        </p:grpSpPr>
        <p:pic>
          <p:nvPicPr>
            <p:cNvPr id="16" name="Graphique 15">
              <a:extLst>
                <a:ext uri="{FF2B5EF4-FFF2-40B4-BE49-F238E27FC236}">
                  <a16:creationId xmlns:a16="http://schemas.microsoft.com/office/drawing/2014/main" id="{FB003DBA-7B59-E773-5E3B-D9D3C9E33F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030" y="2242973"/>
              <a:ext cx="1628775" cy="1200150"/>
            </a:xfrm>
            <a:prstGeom prst="rect">
              <a:avLst/>
            </a:prstGeom>
          </p:spPr>
        </p:pic>
        <p:sp>
          <p:nvSpPr>
            <p:cNvPr id="24" name="Espace réservé du texte 10">
              <a:extLst>
                <a:ext uri="{FF2B5EF4-FFF2-40B4-BE49-F238E27FC236}">
                  <a16:creationId xmlns:a16="http://schemas.microsoft.com/office/drawing/2014/main" id="{19F0BA5C-1A87-7393-570D-835C53374B0A}"/>
                </a:ext>
              </a:extLst>
            </p:cNvPr>
            <p:cNvSpPr txBox="1">
              <a:spLocks/>
            </p:cNvSpPr>
            <p:nvPr/>
          </p:nvSpPr>
          <p:spPr>
            <a:xfrm>
              <a:off x="484517"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110.00 EUR/h HT</a:t>
              </a:r>
            </a:p>
          </p:txBody>
        </p:sp>
      </p:grpSp>
      <p:grpSp>
        <p:nvGrpSpPr>
          <p:cNvPr id="32" name="Groupe 31">
            <a:extLst>
              <a:ext uri="{FF2B5EF4-FFF2-40B4-BE49-F238E27FC236}">
                <a16:creationId xmlns:a16="http://schemas.microsoft.com/office/drawing/2014/main" id="{31B1507B-2C26-951F-79E8-7051A2A849AE}"/>
              </a:ext>
            </a:extLst>
          </p:cNvPr>
          <p:cNvGrpSpPr/>
          <p:nvPr/>
        </p:nvGrpSpPr>
        <p:grpSpPr>
          <a:xfrm>
            <a:off x="3260944" y="2520496"/>
            <a:ext cx="2717800" cy="2875163"/>
            <a:chOff x="3409949" y="2143125"/>
            <a:chExt cx="2717800" cy="2875163"/>
          </a:xfrm>
        </p:grpSpPr>
        <p:pic>
          <p:nvPicPr>
            <p:cNvPr id="22" name="Graphique 21">
              <a:extLst>
                <a:ext uri="{FF2B5EF4-FFF2-40B4-BE49-F238E27FC236}">
                  <a16:creationId xmlns:a16="http://schemas.microsoft.com/office/drawing/2014/main" id="{D8629E81-FEC0-0907-53B4-EABE725EC8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54462" y="2143125"/>
              <a:ext cx="1628775" cy="1285875"/>
            </a:xfrm>
            <a:prstGeom prst="rect">
              <a:avLst/>
            </a:prstGeom>
          </p:spPr>
        </p:pic>
        <p:sp>
          <p:nvSpPr>
            <p:cNvPr id="28" name="Espace réservé du texte 10">
              <a:extLst>
                <a:ext uri="{FF2B5EF4-FFF2-40B4-BE49-F238E27FC236}">
                  <a16:creationId xmlns:a16="http://schemas.microsoft.com/office/drawing/2014/main" id="{CB57D612-8233-5472-AF47-3BA06398005C}"/>
                </a:ext>
              </a:extLst>
            </p:cNvPr>
            <p:cNvSpPr txBox="1">
              <a:spLocks/>
            </p:cNvSpPr>
            <p:nvPr/>
          </p:nvSpPr>
          <p:spPr>
            <a:xfrm>
              <a:off x="3409949"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Certifié</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130.00 EUR/h HT</a:t>
              </a:r>
            </a:p>
          </p:txBody>
        </p:sp>
      </p:grpSp>
      <p:grpSp>
        <p:nvGrpSpPr>
          <p:cNvPr id="34" name="Groupe 33">
            <a:extLst>
              <a:ext uri="{FF2B5EF4-FFF2-40B4-BE49-F238E27FC236}">
                <a16:creationId xmlns:a16="http://schemas.microsoft.com/office/drawing/2014/main" id="{388E06A4-F137-AC43-E58C-AF4AF47B06EF}"/>
              </a:ext>
            </a:extLst>
          </p:cNvPr>
          <p:cNvGrpSpPr/>
          <p:nvPr/>
        </p:nvGrpSpPr>
        <p:grpSpPr>
          <a:xfrm>
            <a:off x="6213256" y="2425246"/>
            <a:ext cx="2717800" cy="2970412"/>
            <a:chOff x="6032170" y="2047875"/>
            <a:chExt cx="2717800" cy="2970412"/>
          </a:xfrm>
        </p:grpSpPr>
        <p:pic>
          <p:nvPicPr>
            <p:cNvPr id="18" name="Graphique 17">
              <a:extLst>
                <a:ext uri="{FF2B5EF4-FFF2-40B4-BE49-F238E27FC236}">
                  <a16:creationId xmlns:a16="http://schemas.microsoft.com/office/drawing/2014/main" id="{5142898A-08A1-31A2-9566-FA78DBC470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6683" y="2047875"/>
              <a:ext cx="1628775" cy="1381125"/>
            </a:xfrm>
            <a:prstGeom prst="rect">
              <a:avLst/>
            </a:prstGeom>
          </p:spPr>
        </p:pic>
        <p:sp>
          <p:nvSpPr>
            <p:cNvPr id="29" name="Espace réservé du texte 10">
              <a:extLst>
                <a:ext uri="{FF2B5EF4-FFF2-40B4-BE49-F238E27FC236}">
                  <a16:creationId xmlns:a16="http://schemas.microsoft.com/office/drawing/2014/main" id="{E2C3DEC7-620F-2AA7-B45C-FD1D7F7D37CC}"/>
                </a:ext>
              </a:extLst>
            </p:cNvPr>
            <p:cNvSpPr txBox="1">
              <a:spLocks/>
            </p:cNvSpPr>
            <p:nvPr/>
          </p:nvSpPr>
          <p:spPr>
            <a:xfrm>
              <a:off x="6032170" y="3692724"/>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Master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150.00 EUR/h HT</a:t>
              </a:r>
            </a:p>
          </p:txBody>
        </p:sp>
      </p:grpSp>
      <p:grpSp>
        <p:nvGrpSpPr>
          <p:cNvPr id="33" name="Groupe 32">
            <a:extLst>
              <a:ext uri="{FF2B5EF4-FFF2-40B4-BE49-F238E27FC236}">
                <a16:creationId xmlns:a16="http://schemas.microsoft.com/office/drawing/2014/main" id="{C7FB3EC3-DB4B-F24E-ECDB-83C8429684D1}"/>
              </a:ext>
            </a:extLst>
          </p:cNvPr>
          <p:cNvGrpSpPr/>
          <p:nvPr/>
        </p:nvGrpSpPr>
        <p:grpSpPr>
          <a:xfrm>
            <a:off x="9165568" y="2556460"/>
            <a:ext cx="2717800" cy="2839197"/>
            <a:chOff x="8654392" y="2179089"/>
            <a:chExt cx="2717800" cy="2839197"/>
          </a:xfrm>
        </p:grpSpPr>
        <p:pic>
          <p:nvPicPr>
            <p:cNvPr id="20" name="Graphique 19">
              <a:extLst>
                <a:ext uri="{FF2B5EF4-FFF2-40B4-BE49-F238E27FC236}">
                  <a16:creationId xmlns:a16="http://schemas.microsoft.com/office/drawing/2014/main" id="{95C416FA-6F2F-57B8-BB67-8A7A98F031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98905" y="2179089"/>
              <a:ext cx="1628775" cy="1266825"/>
            </a:xfrm>
            <a:prstGeom prst="rect">
              <a:avLst/>
            </a:prstGeom>
          </p:spPr>
        </p:pic>
        <p:sp>
          <p:nvSpPr>
            <p:cNvPr id="30" name="Espace réservé du texte 10">
              <a:extLst>
                <a:ext uri="{FF2B5EF4-FFF2-40B4-BE49-F238E27FC236}">
                  <a16:creationId xmlns:a16="http://schemas.microsoft.com/office/drawing/2014/main" id="{542F3E60-3D79-CF32-B67F-E88751482B61}"/>
                </a:ext>
              </a:extLst>
            </p:cNvPr>
            <p:cNvSpPr txBox="1">
              <a:spLocks/>
            </p:cNvSpPr>
            <p:nvPr/>
          </p:nvSpPr>
          <p:spPr>
            <a:xfrm>
              <a:off x="8654392" y="3692723"/>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a:t>
              </a:r>
              <a:r>
                <a:rPr kumimoji="0" lang="fr-FR" sz="1600" b="1" i="0" u="none" strike="noStrike" kern="1200" cap="none" spc="0" normalizeH="0" baseline="0" noProof="0" dirty="0" err="1">
                  <a:ln>
                    <a:noFill/>
                  </a:ln>
                  <a:solidFill>
                    <a:srgbClr val="212529"/>
                  </a:solidFill>
                  <a:effectLst/>
                  <a:uLnTx/>
                  <a:uFillTx/>
                  <a:latin typeface="Trebuchet MS" panose="020B0603020202020204" pitchFamily="34" charset="0"/>
                  <a:ea typeface="+mn-ea"/>
                  <a:cs typeface="+mn-cs"/>
                </a:rPr>
                <a:t>Legend</a:t>
              </a:r>
              <a:endPar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180.00 EUR/h HT</a:t>
              </a:r>
            </a:p>
          </p:txBody>
        </p:sp>
      </p:grpSp>
    </p:spTree>
    <p:extLst>
      <p:ext uri="{BB962C8B-B14F-4D97-AF65-F5344CB8AC3E}">
        <p14:creationId xmlns:p14="http://schemas.microsoft.com/office/powerpoint/2010/main" val="225220408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5939FD-34A4-EE6A-1635-AD0223FAC404}"/>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428DF11A-8B6B-0BC7-E988-A5688E1C0E3A}"/>
              </a:ext>
            </a:extLst>
          </p:cNvPr>
          <p:cNvSpPr>
            <a:spLocks noGrp="1"/>
          </p:cNvSpPr>
          <p:nvPr>
            <p:ph type="title"/>
          </p:nvPr>
        </p:nvSpPr>
        <p:spPr/>
        <p:txBody>
          <a:bodyPr>
            <a:normAutofit fontScale="90000"/>
          </a:bodyPr>
          <a:lstStyle/>
          <a:p>
            <a:r>
              <a:rPr lang="fr-FR" noProof="0" dirty="0"/>
              <a:t>APPROCHE BUDGÉTAIRE</a:t>
            </a:r>
            <a:br>
              <a:rPr lang="fr-FR" noProof="0" dirty="0"/>
            </a:br>
            <a:r>
              <a:rPr lang="fr-FR" b="0" noProof="0" dirty="0"/>
              <a:t>NOS NIVEAUX D’EXPERTISE - LUXEMBOURG</a:t>
            </a:r>
          </a:p>
        </p:txBody>
      </p:sp>
      <p:sp>
        <p:nvSpPr>
          <p:cNvPr id="11" name="Espace réservé du numéro de diapositive 10">
            <a:extLst>
              <a:ext uri="{FF2B5EF4-FFF2-40B4-BE49-F238E27FC236}">
                <a16:creationId xmlns:a16="http://schemas.microsoft.com/office/drawing/2014/main" id="{D96B9A0E-4746-83D6-D35C-F77290B1A4C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135</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grpSp>
        <p:nvGrpSpPr>
          <p:cNvPr id="31" name="Groupe 30">
            <a:extLst>
              <a:ext uri="{FF2B5EF4-FFF2-40B4-BE49-F238E27FC236}">
                <a16:creationId xmlns:a16="http://schemas.microsoft.com/office/drawing/2014/main" id="{1B3223DB-065C-8352-F0BA-F80959E28263}"/>
              </a:ext>
            </a:extLst>
          </p:cNvPr>
          <p:cNvGrpSpPr/>
          <p:nvPr/>
        </p:nvGrpSpPr>
        <p:grpSpPr>
          <a:xfrm>
            <a:off x="193920" y="2620344"/>
            <a:ext cx="2952312" cy="2775313"/>
            <a:chOff x="369805" y="2242973"/>
            <a:chExt cx="2952312" cy="2775313"/>
          </a:xfrm>
        </p:grpSpPr>
        <p:pic>
          <p:nvPicPr>
            <p:cNvPr id="16" name="Graphique 15">
              <a:extLst>
                <a:ext uri="{FF2B5EF4-FFF2-40B4-BE49-F238E27FC236}">
                  <a16:creationId xmlns:a16="http://schemas.microsoft.com/office/drawing/2014/main" id="{E8D590E7-2B96-409C-F556-F4F5FBE2BE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030" y="2242973"/>
              <a:ext cx="1628775" cy="1200150"/>
            </a:xfrm>
            <a:prstGeom prst="rect">
              <a:avLst/>
            </a:prstGeom>
          </p:spPr>
        </p:pic>
        <p:sp>
          <p:nvSpPr>
            <p:cNvPr id="24" name="Espace réservé du texte 10">
              <a:extLst>
                <a:ext uri="{FF2B5EF4-FFF2-40B4-BE49-F238E27FC236}">
                  <a16:creationId xmlns:a16="http://schemas.microsoft.com/office/drawing/2014/main" id="{0616CC85-D0C6-F572-A8C7-7D15A14CE529}"/>
                </a:ext>
              </a:extLst>
            </p:cNvPr>
            <p:cNvSpPr txBox="1">
              <a:spLocks/>
            </p:cNvSpPr>
            <p:nvPr/>
          </p:nvSpPr>
          <p:spPr>
            <a:xfrm>
              <a:off x="369805" y="3692723"/>
              <a:ext cx="2952312"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120.00 EUR/h HT</a:t>
              </a:r>
            </a:p>
          </p:txBody>
        </p:sp>
      </p:grpSp>
      <p:grpSp>
        <p:nvGrpSpPr>
          <p:cNvPr id="32" name="Groupe 31">
            <a:extLst>
              <a:ext uri="{FF2B5EF4-FFF2-40B4-BE49-F238E27FC236}">
                <a16:creationId xmlns:a16="http://schemas.microsoft.com/office/drawing/2014/main" id="{99549505-0380-CEDF-2DA6-B9501200363F}"/>
              </a:ext>
            </a:extLst>
          </p:cNvPr>
          <p:cNvGrpSpPr/>
          <p:nvPr/>
        </p:nvGrpSpPr>
        <p:grpSpPr>
          <a:xfrm>
            <a:off x="3260944" y="2520496"/>
            <a:ext cx="2717800" cy="2875163"/>
            <a:chOff x="3409949" y="2143125"/>
            <a:chExt cx="2717800" cy="2875163"/>
          </a:xfrm>
        </p:grpSpPr>
        <p:pic>
          <p:nvPicPr>
            <p:cNvPr id="22" name="Graphique 21">
              <a:extLst>
                <a:ext uri="{FF2B5EF4-FFF2-40B4-BE49-F238E27FC236}">
                  <a16:creationId xmlns:a16="http://schemas.microsoft.com/office/drawing/2014/main" id="{27D98445-C194-B3E0-B2CE-B8A2B810F4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54462" y="2143125"/>
              <a:ext cx="1628775" cy="1285875"/>
            </a:xfrm>
            <a:prstGeom prst="rect">
              <a:avLst/>
            </a:prstGeom>
          </p:spPr>
        </p:pic>
        <p:sp>
          <p:nvSpPr>
            <p:cNvPr id="28" name="Espace réservé du texte 10">
              <a:extLst>
                <a:ext uri="{FF2B5EF4-FFF2-40B4-BE49-F238E27FC236}">
                  <a16:creationId xmlns:a16="http://schemas.microsoft.com/office/drawing/2014/main" id="{8278B791-B3CF-2490-1BB2-D2A232FD574C}"/>
                </a:ext>
              </a:extLst>
            </p:cNvPr>
            <p:cNvSpPr txBox="1">
              <a:spLocks/>
            </p:cNvSpPr>
            <p:nvPr/>
          </p:nvSpPr>
          <p:spPr>
            <a:xfrm>
              <a:off x="3409949"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Certifié</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138.00 EUR/h HT</a:t>
              </a:r>
            </a:p>
          </p:txBody>
        </p:sp>
      </p:grpSp>
      <p:grpSp>
        <p:nvGrpSpPr>
          <p:cNvPr id="34" name="Groupe 33">
            <a:extLst>
              <a:ext uri="{FF2B5EF4-FFF2-40B4-BE49-F238E27FC236}">
                <a16:creationId xmlns:a16="http://schemas.microsoft.com/office/drawing/2014/main" id="{24681FE6-BE73-26C8-DEFF-C52892AE6964}"/>
              </a:ext>
            </a:extLst>
          </p:cNvPr>
          <p:cNvGrpSpPr/>
          <p:nvPr/>
        </p:nvGrpSpPr>
        <p:grpSpPr>
          <a:xfrm>
            <a:off x="6213256" y="2425246"/>
            <a:ext cx="2717800" cy="2970412"/>
            <a:chOff x="6032170" y="2047875"/>
            <a:chExt cx="2717800" cy="2970412"/>
          </a:xfrm>
        </p:grpSpPr>
        <p:pic>
          <p:nvPicPr>
            <p:cNvPr id="18" name="Graphique 17">
              <a:extLst>
                <a:ext uri="{FF2B5EF4-FFF2-40B4-BE49-F238E27FC236}">
                  <a16:creationId xmlns:a16="http://schemas.microsoft.com/office/drawing/2014/main" id="{9B03F717-BF78-E19D-66A6-2EDAA886DB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6683" y="2047875"/>
              <a:ext cx="1628775" cy="1381125"/>
            </a:xfrm>
            <a:prstGeom prst="rect">
              <a:avLst/>
            </a:prstGeom>
          </p:spPr>
        </p:pic>
        <p:sp>
          <p:nvSpPr>
            <p:cNvPr id="29" name="Espace réservé du texte 10">
              <a:extLst>
                <a:ext uri="{FF2B5EF4-FFF2-40B4-BE49-F238E27FC236}">
                  <a16:creationId xmlns:a16="http://schemas.microsoft.com/office/drawing/2014/main" id="{C52CA4EB-F256-BB78-8B48-E6D136EE6867}"/>
                </a:ext>
              </a:extLst>
            </p:cNvPr>
            <p:cNvSpPr txBox="1">
              <a:spLocks/>
            </p:cNvSpPr>
            <p:nvPr/>
          </p:nvSpPr>
          <p:spPr>
            <a:xfrm>
              <a:off x="6032170" y="3692724"/>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Master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155.00 EUR/h HT</a:t>
              </a:r>
            </a:p>
          </p:txBody>
        </p:sp>
      </p:grpSp>
      <p:grpSp>
        <p:nvGrpSpPr>
          <p:cNvPr id="33" name="Groupe 32">
            <a:extLst>
              <a:ext uri="{FF2B5EF4-FFF2-40B4-BE49-F238E27FC236}">
                <a16:creationId xmlns:a16="http://schemas.microsoft.com/office/drawing/2014/main" id="{D4446502-599B-5021-B95F-66B279E30E9E}"/>
              </a:ext>
            </a:extLst>
          </p:cNvPr>
          <p:cNvGrpSpPr/>
          <p:nvPr/>
        </p:nvGrpSpPr>
        <p:grpSpPr>
          <a:xfrm>
            <a:off x="9165568" y="2556460"/>
            <a:ext cx="2717800" cy="2839197"/>
            <a:chOff x="8654392" y="2179089"/>
            <a:chExt cx="2717800" cy="2839197"/>
          </a:xfrm>
        </p:grpSpPr>
        <p:pic>
          <p:nvPicPr>
            <p:cNvPr id="20" name="Graphique 19">
              <a:extLst>
                <a:ext uri="{FF2B5EF4-FFF2-40B4-BE49-F238E27FC236}">
                  <a16:creationId xmlns:a16="http://schemas.microsoft.com/office/drawing/2014/main" id="{84ABF439-BF5C-DAE8-17E9-CC37E33B20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98905" y="2179089"/>
              <a:ext cx="1628775" cy="1266825"/>
            </a:xfrm>
            <a:prstGeom prst="rect">
              <a:avLst/>
            </a:prstGeom>
          </p:spPr>
        </p:pic>
        <p:sp>
          <p:nvSpPr>
            <p:cNvPr id="30" name="Espace réservé du texte 10">
              <a:extLst>
                <a:ext uri="{FF2B5EF4-FFF2-40B4-BE49-F238E27FC236}">
                  <a16:creationId xmlns:a16="http://schemas.microsoft.com/office/drawing/2014/main" id="{4C389FAC-892B-9D68-5C14-ACA347164F3E}"/>
                </a:ext>
              </a:extLst>
            </p:cNvPr>
            <p:cNvSpPr txBox="1">
              <a:spLocks/>
            </p:cNvSpPr>
            <p:nvPr/>
          </p:nvSpPr>
          <p:spPr>
            <a:xfrm>
              <a:off x="8654392" y="3692723"/>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a:t>
              </a:r>
              <a:r>
                <a:rPr kumimoji="0" lang="fr-FR" sz="1600" b="1" i="0" u="none" strike="noStrike" kern="1200" cap="none" spc="0" normalizeH="0" baseline="0" noProof="0" dirty="0" err="1">
                  <a:ln>
                    <a:noFill/>
                  </a:ln>
                  <a:solidFill>
                    <a:srgbClr val="212529"/>
                  </a:solidFill>
                  <a:effectLst/>
                  <a:uLnTx/>
                  <a:uFillTx/>
                  <a:latin typeface="Trebuchet MS" panose="020B0603020202020204" pitchFamily="34" charset="0"/>
                  <a:ea typeface="+mn-ea"/>
                  <a:cs typeface="+mn-cs"/>
                </a:rPr>
                <a:t>Legend</a:t>
              </a:r>
              <a:endPar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180.00 EUR/h HT</a:t>
              </a:r>
            </a:p>
          </p:txBody>
        </p:sp>
      </p:grpSp>
    </p:spTree>
    <p:extLst>
      <p:ext uri="{BB962C8B-B14F-4D97-AF65-F5344CB8AC3E}">
        <p14:creationId xmlns:p14="http://schemas.microsoft.com/office/powerpoint/2010/main" val="16378925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65D45F-CE0F-7E1D-9BF0-3C207B172226}"/>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9A659074-62D1-2F32-223B-06B08490DC9A}"/>
              </a:ext>
            </a:extLst>
          </p:cNvPr>
          <p:cNvSpPr>
            <a:spLocks noGrp="1"/>
          </p:cNvSpPr>
          <p:nvPr>
            <p:ph type="title"/>
          </p:nvPr>
        </p:nvSpPr>
        <p:spPr/>
        <p:txBody>
          <a:bodyPr>
            <a:normAutofit fontScale="90000"/>
          </a:bodyPr>
          <a:lstStyle/>
          <a:p>
            <a:r>
              <a:rPr lang="fr-FR" noProof="0" dirty="0"/>
              <a:t>APPROCHE BUDGÉTAIRE</a:t>
            </a:r>
            <a:br>
              <a:rPr lang="fr-FR" noProof="0" dirty="0"/>
            </a:br>
            <a:r>
              <a:rPr lang="fr-FR" b="0" noProof="0" dirty="0"/>
              <a:t>NOS NIVEAUX D’EXPERTISE - MADAGASCAR</a:t>
            </a:r>
          </a:p>
        </p:txBody>
      </p:sp>
      <p:sp>
        <p:nvSpPr>
          <p:cNvPr id="11" name="Espace réservé du numéro de diapositive 10">
            <a:extLst>
              <a:ext uri="{FF2B5EF4-FFF2-40B4-BE49-F238E27FC236}">
                <a16:creationId xmlns:a16="http://schemas.microsoft.com/office/drawing/2014/main" id="{4100A524-D7D5-5BA9-FEB1-A78BBF8FF52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136</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pic>
        <p:nvPicPr>
          <p:cNvPr id="16" name="Graphique 15">
            <a:extLst>
              <a:ext uri="{FF2B5EF4-FFF2-40B4-BE49-F238E27FC236}">
                <a16:creationId xmlns:a16="http://schemas.microsoft.com/office/drawing/2014/main" id="{791B242F-9D7D-7A78-40A1-FF0910A5FF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3145" y="2620344"/>
            <a:ext cx="1628775" cy="1200150"/>
          </a:xfrm>
          <a:prstGeom prst="rect">
            <a:avLst/>
          </a:prstGeom>
        </p:spPr>
      </p:pic>
      <p:sp>
        <p:nvSpPr>
          <p:cNvPr id="24" name="Espace réservé du texte 10">
            <a:extLst>
              <a:ext uri="{FF2B5EF4-FFF2-40B4-BE49-F238E27FC236}">
                <a16:creationId xmlns:a16="http://schemas.microsoft.com/office/drawing/2014/main" id="{82EFF51D-7D44-3EFD-2DA4-B7F2006ADA13}"/>
              </a:ext>
            </a:extLst>
          </p:cNvPr>
          <p:cNvSpPr txBox="1">
            <a:spLocks/>
          </p:cNvSpPr>
          <p:nvPr/>
        </p:nvSpPr>
        <p:spPr>
          <a:xfrm>
            <a:off x="249832" y="4420824"/>
            <a:ext cx="2835401" cy="1325563"/>
          </a:xfrm>
          <a:prstGeom prst="rect">
            <a:avLst/>
          </a:prstGeom>
        </p:spPr>
        <p:txBody>
          <a:bodyPr anchor="ct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9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4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16.00 EUR /h HT</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4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80,000.00 MGA /h HT</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fr-FR" sz="24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p:txBody>
      </p:sp>
      <p:pic>
        <p:nvPicPr>
          <p:cNvPr id="22" name="Graphique 21">
            <a:extLst>
              <a:ext uri="{FF2B5EF4-FFF2-40B4-BE49-F238E27FC236}">
                <a16:creationId xmlns:a16="http://schemas.microsoft.com/office/drawing/2014/main" id="{BF329D5D-4413-06E5-BDF1-DF24ECEE58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5457" y="2520496"/>
            <a:ext cx="1628775" cy="1285875"/>
          </a:xfrm>
          <a:prstGeom prst="rect">
            <a:avLst/>
          </a:prstGeom>
        </p:spPr>
      </p:pic>
      <p:sp>
        <p:nvSpPr>
          <p:cNvPr id="28" name="Espace réservé du texte 10">
            <a:extLst>
              <a:ext uri="{FF2B5EF4-FFF2-40B4-BE49-F238E27FC236}">
                <a16:creationId xmlns:a16="http://schemas.microsoft.com/office/drawing/2014/main" id="{8B0C3256-8509-13BA-4955-2D102DA2BABA}"/>
              </a:ext>
            </a:extLst>
          </p:cNvPr>
          <p:cNvSpPr txBox="1">
            <a:spLocks/>
          </p:cNvSpPr>
          <p:nvPr/>
        </p:nvSpPr>
        <p:spPr>
          <a:xfrm>
            <a:off x="3260944" y="4283038"/>
            <a:ext cx="2717800" cy="1325563"/>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Certifié</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a:ea typeface="+mn-ea"/>
                <a:cs typeface="+mn-cs"/>
              </a:rPr>
              <a:t>24.00 EUR /h HT</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a:ea typeface="+mn-ea"/>
                <a:cs typeface="+mn-cs"/>
              </a:rPr>
              <a:t>120,000.00 MGA /h HT</a:t>
            </a:r>
          </a:p>
        </p:txBody>
      </p:sp>
      <p:pic>
        <p:nvPicPr>
          <p:cNvPr id="18" name="Graphique 17">
            <a:extLst>
              <a:ext uri="{FF2B5EF4-FFF2-40B4-BE49-F238E27FC236}">
                <a16:creationId xmlns:a16="http://schemas.microsoft.com/office/drawing/2014/main" id="{4C456DF1-3D8C-FA2E-BEA7-BA96103E3C8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57769" y="2425246"/>
            <a:ext cx="1628775" cy="1381125"/>
          </a:xfrm>
          <a:prstGeom prst="rect">
            <a:avLst/>
          </a:prstGeom>
        </p:spPr>
      </p:pic>
      <p:sp>
        <p:nvSpPr>
          <p:cNvPr id="29" name="Espace réservé du texte 10">
            <a:extLst>
              <a:ext uri="{FF2B5EF4-FFF2-40B4-BE49-F238E27FC236}">
                <a16:creationId xmlns:a16="http://schemas.microsoft.com/office/drawing/2014/main" id="{D765DA1A-B375-B535-2272-7C85B496E098}"/>
              </a:ext>
            </a:extLst>
          </p:cNvPr>
          <p:cNvSpPr txBox="1">
            <a:spLocks/>
          </p:cNvSpPr>
          <p:nvPr/>
        </p:nvSpPr>
        <p:spPr>
          <a:xfrm>
            <a:off x="6213256" y="4283037"/>
            <a:ext cx="2717800" cy="1325563"/>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Master</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a:ea typeface="+mn-ea"/>
                <a:cs typeface="+mn-cs"/>
              </a:rPr>
              <a:t>28.00 EUR /h HT</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a:ea typeface="+mn-ea"/>
                <a:cs typeface="+mn-cs"/>
              </a:rPr>
              <a:t>140,000,00 MGA /h HT</a:t>
            </a:r>
          </a:p>
        </p:txBody>
      </p:sp>
      <p:pic>
        <p:nvPicPr>
          <p:cNvPr id="20" name="Graphique 19">
            <a:extLst>
              <a:ext uri="{FF2B5EF4-FFF2-40B4-BE49-F238E27FC236}">
                <a16:creationId xmlns:a16="http://schemas.microsoft.com/office/drawing/2014/main" id="{EF968B98-6AB3-2730-DD3B-79183C77D7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10081" y="2556460"/>
            <a:ext cx="1628775" cy="1266825"/>
          </a:xfrm>
          <a:prstGeom prst="rect">
            <a:avLst/>
          </a:prstGeom>
        </p:spPr>
      </p:pic>
      <p:sp>
        <p:nvSpPr>
          <p:cNvPr id="30" name="Espace réservé du texte 10">
            <a:extLst>
              <a:ext uri="{FF2B5EF4-FFF2-40B4-BE49-F238E27FC236}">
                <a16:creationId xmlns:a16="http://schemas.microsoft.com/office/drawing/2014/main" id="{066A04EB-CD8E-3448-4298-88449326DC68}"/>
              </a:ext>
            </a:extLst>
          </p:cNvPr>
          <p:cNvSpPr txBox="1">
            <a:spLocks/>
          </p:cNvSpPr>
          <p:nvPr/>
        </p:nvSpPr>
        <p:spPr>
          <a:xfrm>
            <a:off x="9165568" y="4283036"/>
            <a:ext cx="2717800" cy="1325563"/>
          </a:xfrm>
          <a:prstGeom prst="rect">
            <a:avLst/>
          </a:prstGeom>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a:t>
            </a:r>
            <a:r>
              <a:rPr kumimoji="0" lang="fr-FR" sz="1600" b="1" i="0" u="none" strike="noStrike" kern="1200" cap="none" spc="0" normalizeH="0" baseline="0" noProof="0" dirty="0" err="1">
                <a:ln>
                  <a:noFill/>
                </a:ln>
                <a:solidFill>
                  <a:srgbClr val="212529"/>
                </a:solidFill>
                <a:effectLst/>
                <a:uLnTx/>
                <a:uFillTx/>
                <a:latin typeface="Trebuchet MS" panose="020B0603020202020204" pitchFamily="34" charset="0"/>
                <a:ea typeface="+mn-ea"/>
                <a:cs typeface="+mn-cs"/>
              </a:rPr>
              <a:t>Legend</a:t>
            </a:r>
            <a:endPar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a:ea typeface="+mn-ea"/>
                <a:cs typeface="+mn-cs"/>
              </a:rPr>
              <a:t>30.00 EUR/h HT</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a:ea typeface="+mn-ea"/>
                <a:cs typeface="+mn-cs"/>
              </a:rPr>
              <a:t>150,000.00 MGA /h HT</a:t>
            </a:r>
          </a:p>
        </p:txBody>
      </p:sp>
    </p:spTree>
    <p:extLst>
      <p:ext uri="{BB962C8B-B14F-4D97-AF65-F5344CB8AC3E}">
        <p14:creationId xmlns:p14="http://schemas.microsoft.com/office/powerpoint/2010/main" val="279757819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EAE7A0-ADFE-8A2E-DA8B-246F20C73F0D}"/>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9057263D-82EF-E705-5A0E-04CDFAA9DCF8}"/>
              </a:ext>
            </a:extLst>
          </p:cNvPr>
          <p:cNvSpPr>
            <a:spLocks noGrp="1"/>
          </p:cNvSpPr>
          <p:nvPr>
            <p:ph type="title"/>
          </p:nvPr>
        </p:nvSpPr>
        <p:spPr/>
        <p:txBody>
          <a:bodyPr>
            <a:normAutofit/>
          </a:bodyPr>
          <a:lstStyle/>
          <a:p>
            <a:r>
              <a:rPr lang="fr-FR" noProof="0" dirty="0"/>
              <a:t>APPROCHE BUDGÉTAIRE</a:t>
            </a:r>
            <a:br>
              <a:rPr lang="fr-FR" noProof="0" dirty="0"/>
            </a:br>
            <a:r>
              <a:rPr lang="fr-FR" b="0" noProof="0" dirty="0"/>
              <a:t>NOS NIVEAUX D’EXPERTISE - CANADA</a:t>
            </a:r>
          </a:p>
        </p:txBody>
      </p:sp>
      <p:sp>
        <p:nvSpPr>
          <p:cNvPr id="11" name="Espace réservé du numéro de diapositive 10">
            <a:extLst>
              <a:ext uri="{FF2B5EF4-FFF2-40B4-BE49-F238E27FC236}">
                <a16:creationId xmlns:a16="http://schemas.microsoft.com/office/drawing/2014/main" id="{7169A25B-A7A2-A78F-6EB9-C066163F268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137</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grpSp>
        <p:nvGrpSpPr>
          <p:cNvPr id="32" name="Groupe 31">
            <a:extLst>
              <a:ext uri="{FF2B5EF4-FFF2-40B4-BE49-F238E27FC236}">
                <a16:creationId xmlns:a16="http://schemas.microsoft.com/office/drawing/2014/main" id="{CF5EECAC-7890-E073-321A-20016EC0F25E}"/>
              </a:ext>
            </a:extLst>
          </p:cNvPr>
          <p:cNvGrpSpPr/>
          <p:nvPr/>
        </p:nvGrpSpPr>
        <p:grpSpPr>
          <a:xfrm>
            <a:off x="3260944" y="2520496"/>
            <a:ext cx="2717800" cy="2875163"/>
            <a:chOff x="3409949" y="2143125"/>
            <a:chExt cx="2717800" cy="2875163"/>
          </a:xfrm>
        </p:grpSpPr>
        <p:pic>
          <p:nvPicPr>
            <p:cNvPr id="22" name="Graphique 21">
              <a:extLst>
                <a:ext uri="{FF2B5EF4-FFF2-40B4-BE49-F238E27FC236}">
                  <a16:creationId xmlns:a16="http://schemas.microsoft.com/office/drawing/2014/main" id="{F109D93D-A9E5-5908-3893-8C1600928A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4462" y="2143125"/>
              <a:ext cx="1628775" cy="1285875"/>
            </a:xfrm>
            <a:prstGeom prst="rect">
              <a:avLst/>
            </a:prstGeom>
          </p:spPr>
        </p:pic>
        <p:sp>
          <p:nvSpPr>
            <p:cNvPr id="28" name="Espace réservé du texte 10">
              <a:extLst>
                <a:ext uri="{FF2B5EF4-FFF2-40B4-BE49-F238E27FC236}">
                  <a16:creationId xmlns:a16="http://schemas.microsoft.com/office/drawing/2014/main" id="{83BB3A0C-C2FB-E740-7B29-226376363E92}"/>
                </a:ext>
              </a:extLst>
            </p:cNvPr>
            <p:cNvSpPr txBox="1">
              <a:spLocks/>
            </p:cNvSpPr>
            <p:nvPr/>
          </p:nvSpPr>
          <p:spPr>
            <a:xfrm>
              <a:off x="3409949" y="3692725"/>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Certifié</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180.00 CAD /h HT</a:t>
              </a:r>
            </a:p>
          </p:txBody>
        </p:sp>
      </p:grpSp>
      <p:grpSp>
        <p:nvGrpSpPr>
          <p:cNvPr id="34" name="Groupe 33">
            <a:extLst>
              <a:ext uri="{FF2B5EF4-FFF2-40B4-BE49-F238E27FC236}">
                <a16:creationId xmlns:a16="http://schemas.microsoft.com/office/drawing/2014/main" id="{475C270E-373F-01C7-0CE1-BE7A2B840020}"/>
              </a:ext>
            </a:extLst>
          </p:cNvPr>
          <p:cNvGrpSpPr/>
          <p:nvPr/>
        </p:nvGrpSpPr>
        <p:grpSpPr>
          <a:xfrm>
            <a:off x="6213256" y="2425246"/>
            <a:ext cx="2717800" cy="2970412"/>
            <a:chOff x="6032170" y="2047875"/>
            <a:chExt cx="2717800" cy="2970412"/>
          </a:xfrm>
        </p:grpSpPr>
        <p:pic>
          <p:nvPicPr>
            <p:cNvPr id="18" name="Graphique 17">
              <a:extLst>
                <a:ext uri="{FF2B5EF4-FFF2-40B4-BE49-F238E27FC236}">
                  <a16:creationId xmlns:a16="http://schemas.microsoft.com/office/drawing/2014/main" id="{124506A4-526C-A86E-A50E-F9E53B9FD1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6683" y="2047875"/>
              <a:ext cx="1628775" cy="1381125"/>
            </a:xfrm>
            <a:prstGeom prst="rect">
              <a:avLst/>
            </a:prstGeom>
          </p:spPr>
        </p:pic>
        <p:sp>
          <p:nvSpPr>
            <p:cNvPr id="29" name="Espace réservé du texte 10">
              <a:extLst>
                <a:ext uri="{FF2B5EF4-FFF2-40B4-BE49-F238E27FC236}">
                  <a16:creationId xmlns:a16="http://schemas.microsoft.com/office/drawing/2014/main" id="{4E831D33-FB73-701F-B1A1-97013F28FDB3}"/>
                </a:ext>
              </a:extLst>
            </p:cNvPr>
            <p:cNvSpPr txBox="1">
              <a:spLocks/>
            </p:cNvSpPr>
            <p:nvPr/>
          </p:nvSpPr>
          <p:spPr>
            <a:xfrm>
              <a:off x="6032170" y="3692724"/>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Master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200.00 CAD /h HT</a:t>
              </a:r>
            </a:p>
          </p:txBody>
        </p:sp>
      </p:grpSp>
      <p:grpSp>
        <p:nvGrpSpPr>
          <p:cNvPr id="33" name="Groupe 32">
            <a:extLst>
              <a:ext uri="{FF2B5EF4-FFF2-40B4-BE49-F238E27FC236}">
                <a16:creationId xmlns:a16="http://schemas.microsoft.com/office/drawing/2014/main" id="{E7C2EEAB-86CA-D403-A2AF-91FF16C6F000}"/>
              </a:ext>
            </a:extLst>
          </p:cNvPr>
          <p:cNvGrpSpPr/>
          <p:nvPr/>
        </p:nvGrpSpPr>
        <p:grpSpPr>
          <a:xfrm>
            <a:off x="9165568" y="2556460"/>
            <a:ext cx="2717800" cy="2839197"/>
            <a:chOff x="8654392" y="2179089"/>
            <a:chExt cx="2717800" cy="2839197"/>
          </a:xfrm>
        </p:grpSpPr>
        <p:pic>
          <p:nvPicPr>
            <p:cNvPr id="20" name="Graphique 19">
              <a:extLst>
                <a:ext uri="{FF2B5EF4-FFF2-40B4-BE49-F238E27FC236}">
                  <a16:creationId xmlns:a16="http://schemas.microsoft.com/office/drawing/2014/main" id="{1F7033AE-BE48-84A4-19CE-F2AA84BB00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98905" y="2179089"/>
              <a:ext cx="1628775" cy="1266825"/>
            </a:xfrm>
            <a:prstGeom prst="rect">
              <a:avLst/>
            </a:prstGeom>
          </p:spPr>
        </p:pic>
        <p:sp>
          <p:nvSpPr>
            <p:cNvPr id="30" name="Espace réservé du texte 10">
              <a:extLst>
                <a:ext uri="{FF2B5EF4-FFF2-40B4-BE49-F238E27FC236}">
                  <a16:creationId xmlns:a16="http://schemas.microsoft.com/office/drawing/2014/main" id="{AF96DD61-B360-F6F4-1F6D-7079A7768B68}"/>
                </a:ext>
              </a:extLst>
            </p:cNvPr>
            <p:cNvSpPr txBox="1">
              <a:spLocks/>
            </p:cNvSpPr>
            <p:nvPr/>
          </p:nvSpPr>
          <p:spPr>
            <a:xfrm>
              <a:off x="8654392" y="3692723"/>
              <a:ext cx="2717800"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 </a:t>
              </a:r>
              <a:r>
                <a:rPr kumimoji="0" lang="fr-FR" sz="1600" b="1" i="0" u="none" strike="noStrike" kern="1200" cap="none" spc="0" normalizeH="0" baseline="0" noProof="0" dirty="0" err="1">
                  <a:ln>
                    <a:noFill/>
                  </a:ln>
                  <a:solidFill>
                    <a:srgbClr val="212529"/>
                  </a:solidFill>
                  <a:effectLst/>
                  <a:uLnTx/>
                  <a:uFillTx/>
                  <a:latin typeface="Trebuchet MS" panose="020B0603020202020204" pitchFamily="34" charset="0"/>
                  <a:ea typeface="+mn-ea"/>
                  <a:cs typeface="+mn-cs"/>
                </a:rPr>
                <a:t>Legend</a:t>
              </a:r>
              <a:endPar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225.00 CAD /h HT</a:t>
              </a:r>
            </a:p>
          </p:txBody>
        </p:sp>
      </p:grpSp>
      <p:grpSp>
        <p:nvGrpSpPr>
          <p:cNvPr id="3" name="Groupe 2">
            <a:extLst>
              <a:ext uri="{FF2B5EF4-FFF2-40B4-BE49-F238E27FC236}">
                <a16:creationId xmlns:a16="http://schemas.microsoft.com/office/drawing/2014/main" id="{B38FC836-0982-0E69-B14A-4C3B8C78045B}"/>
              </a:ext>
            </a:extLst>
          </p:cNvPr>
          <p:cNvGrpSpPr/>
          <p:nvPr/>
        </p:nvGrpSpPr>
        <p:grpSpPr>
          <a:xfrm>
            <a:off x="249832" y="2620344"/>
            <a:ext cx="2835401" cy="2999938"/>
            <a:chOff x="249832" y="2620344"/>
            <a:chExt cx="2835401" cy="2999938"/>
          </a:xfrm>
        </p:grpSpPr>
        <p:pic>
          <p:nvPicPr>
            <p:cNvPr id="16" name="Graphique 15">
              <a:extLst>
                <a:ext uri="{FF2B5EF4-FFF2-40B4-BE49-F238E27FC236}">
                  <a16:creationId xmlns:a16="http://schemas.microsoft.com/office/drawing/2014/main" id="{924994CA-1DA1-7614-3814-4677C868C1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3145" y="2620344"/>
              <a:ext cx="1628775" cy="1200150"/>
            </a:xfrm>
            <a:prstGeom prst="rect">
              <a:avLst/>
            </a:prstGeom>
          </p:spPr>
        </p:pic>
        <p:sp>
          <p:nvSpPr>
            <p:cNvPr id="2" name="Espace réservé du texte 10">
              <a:extLst>
                <a:ext uri="{FF2B5EF4-FFF2-40B4-BE49-F238E27FC236}">
                  <a16:creationId xmlns:a16="http://schemas.microsoft.com/office/drawing/2014/main" id="{F484F824-8724-4926-612C-7E6BD3E48A5B}"/>
                </a:ext>
              </a:extLst>
            </p:cNvPr>
            <p:cNvSpPr txBox="1">
              <a:spLocks/>
            </p:cNvSpPr>
            <p:nvPr/>
          </p:nvSpPr>
          <p:spPr>
            <a:xfrm>
              <a:off x="249832" y="4294719"/>
              <a:ext cx="2835401" cy="132556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600" b="1"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Consultant / Développeur Odoo</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0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rPr>
                <a:t>140.00 CAD /H HT</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fr-FR" sz="2400" b="0" i="0" u="none" strike="noStrike" kern="1200" cap="none" spc="0" normalizeH="0" baseline="0" noProof="0" dirty="0">
                <a:ln>
                  <a:noFill/>
                </a:ln>
                <a:solidFill>
                  <a:srgbClr val="212529"/>
                </a:solidFill>
                <a:effectLst/>
                <a:uLnTx/>
                <a:uFillTx/>
                <a:latin typeface="Trebuchet MS" panose="020B0603020202020204" pitchFamily="34" charset="0"/>
                <a:ea typeface="+mn-ea"/>
                <a:cs typeface="+mn-cs"/>
              </a:endParaRPr>
            </a:p>
          </p:txBody>
        </p:sp>
      </p:grpSp>
    </p:spTree>
    <p:extLst>
      <p:ext uri="{BB962C8B-B14F-4D97-AF65-F5344CB8AC3E}">
        <p14:creationId xmlns:p14="http://schemas.microsoft.com/office/powerpoint/2010/main" val="303392861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E3C7-E256-42BC-1BAE-5AFBF42F2DC1}"/>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9C91A8EE-4466-6F67-7C65-70E089453763}"/>
              </a:ext>
            </a:extLst>
          </p:cNvPr>
          <p:cNvSpPr>
            <a:spLocks noGrp="1"/>
          </p:cNvSpPr>
          <p:nvPr>
            <p:ph type="title"/>
          </p:nvPr>
        </p:nvSpPr>
        <p:spPr/>
        <p:txBody>
          <a:bodyPr/>
          <a:lstStyle/>
          <a:p>
            <a:r>
              <a:rPr lang="fr-FR" noProof="0" dirty="0"/>
              <a:t>Phase 1 (MVP)</a:t>
            </a:r>
          </a:p>
        </p:txBody>
      </p:sp>
      <p:sp>
        <p:nvSpPr>
          <p:cNvPr id="5" name="Espace réservé du numéro de diapositive 4">
            <a:extLst>
              <a:ext uri="{FF2B5EF4-FFF2-40B4-BE49-F238E27FC236}">
                <a16:creationId xmlns:a16="http://schemas.microsoft.com/office/drawing/2014/main" id="{2377D6C5-0FBA-DDE6-E038-B1353E01BCB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Espace réservé du texte 6">
            <a:extLst>
              <a:ext uri="{FF2B5EF4-FFF2-40B4-BE49-F238E27FC236}">
                <a16:creationId xmlns:a16="http://schemas.microsoft.com/office/drawing/2014/main" id="{68CFC626-D6D1-171A-F47A-D815ADF30C7E}"/>
              </a:ext>
            </a:extLst>
          </p:cNvPr>
          <p:cNvSpPr>
            <a:spLocks noGrp="1"/>
          </p:cNvSpPr>
          <p:nvPr>
            <p:ph type="body" idx="4294967295"/>
          </p:nvPr>
        </p:nvSpPr>
        <p:spPr>
          <a:xfrm>
            <a:off x="263525" y="1848055"/>
            <a:ext cx="5157788" cy="823912"/>
          </a:xfrm>
        </p:spPr>
        <p:txBody>
          <a:bodyPr/>
          <a:lstStyle/>
          <a:p>
            <a:r>
              <a:rPr lang="fr-FR" b="1" noProof="0" dirty="0"/>
              <a:t>VOS BESOINS COUVERTS</a:t>
            </a:r>
          </a:p>
        </p:txBody>
      </p:sp>
      <p:sp>
        <p:nvSpPr>
          <p:cNvPr id="8" name="Espace réservé du contenu 7">
            <a:extLst>
              <a:ext uri="{FF2B5EF4-FFF2-40B4-BE49-F238E27FC236}">
                <a16:creationId xmlns:a16="http://schemas.microsoft.com/office/drawing/2014/main" id="{153B3210-50A4-AB5E-817F-4F33AB79B6CD}"/>
              </a:ext>
            </a:extLst>
          </p:cNvPr>
          <p:cNvSpPr>
            <a:spLocks noGrp="1"/>
          </p:cNvSpPr>
          <p:nvPr>
            <p:ph sz="half" idx="4294967295"/>
          </p:nvPr>
        </p:nvSpPr>
        <p:spPr>
          <a:xfrm>
            <a:off x="263525" y="2489628"/>
            <a:ext cx="5157788" cy="2340793"/>
          </a:xfrm>
        </p:spPr>
        <p:txBody>
          <a:bodyPr>
            <a:normAutofit/>
          </a:bodyPr>
          <a:lstStyle/>
          <a:p>
            <a:r>
              <a:rPr lang="fr-FR" sz="2000" noProof="0" dirty="0"/>
              <a:t>Insérer les besoins couverts en quelques points, ex : </a:t>
            </a:r>
          </a:p>
          <a:p>
            <a:r>
              <a:rPr lang="fr-FR" sz="2000" noProof="0" dirty="0"/>
              <a:t>Chaine de facturation</a:t>
            </a:r>
          </a:p>
          <a:p>
            <a:r>
              <a:rPr lang="fr-FR" sz="2000" noProof="0" dirty="0"/>
              <a:t>Gestion de votre entrepôt</a:t>
            </a:r>
          </a:p>
          <a:p>
            <a:r>
              <a:rPr lang="fr-FR" sz="2000" noProof="0" dirty="0"/>
              <a:t>Données actuelles et nécessaire pour le fonctionnement seulement</a:t>
            </a:r>
          </a:p>
        </p:txBody>
      </p:sp>
      <p:sp>
        <p:nvSpPr>
          <p:cNvPr id="9" name="Espace réservé du texte 8">
            <a:extLst>
              <a:ext uri="{FF2B5EF4-FFF2-40B4-BE49-F238E27FC236}">
                <a16:creationId xmlns:a16="http://schemas.microsoft.com/office/drawing/2014/main" id="{04B1171C-8F5A-2A04-210F-2C8E94CF55A1}"/>
              </a:ext>
            </a:extLst>
          </p:cNvPr>
          <p:cNvSpPr>
            <a:spLocks noGrp="1"/>
          </p:cNvSpPr>
          <p:nvPr>
            <p:ph type="body" sz="quarter" idx="4294967295"/>
          </p:nvPr>
        </p:nvSpPr>
        <p:spPr>
          <a:xfrm>
            <a:off x="263525" y="4681315"/>
            <a:ext cx="5183187" cy="823912"/>
          </a:xfrm>
        </p:spPr>
        <p:txBody>
          <a:bodyPr/>
          <a:lstStyle/>
          <a:p>
            <a:r>
              <a:rPr lang="fr-FR" b="1" noProof="0" dirty="0"/>
              <a:t>CHIFFRES CLÉS</a:t>
            </a:r>
          </a:p>
        </p:txBody>
      </p:sp>
      <p:sp>
        <p:nvSpPr>
          <p:cNvPr id="10" name="Espace réservé du contenu 9">
            <a:extLst>
              <a:ext uri="{FF2B5EF4-FFF2-40B4-BE49-F238E27FC236}">
                <a16:creationId xmlns:a16="http://schemas.microsoft.com/office/drawing/2014/main" id="{0F3EF7E3-5A9D-2123-6CF3-4A429F8D64C4}"/>
              </a:ext>
            </a:extLst>
          </p:cNvPr>
          <p:cNvSpPr>
            <a:spLocks noGrp="1"/>
          </p:cNvSpPr>
          <p:nvPr>
            <p:ph sz="quarter" idx="4294967295"/>
          </p:nvPr>
        </p:nvSpPr>
        <p:spPr>
          <a:xfrm>
            <a:off x="263525" y="5317732"/>
            <a:ext cx="5183187" cy="1356819"/>
          </a:xfrm>
        </p:spPr>
        <p:txBody>
          <a:bodyPr>
            <a:normAutofit/>
          </a:bodyPr>
          <a:lstStyle/>
          <a:p>
            <a:r>
              <a:rPr lang="fr-FR" sz="2000" noProof="0" dirty="0"/>
              <a:t>Nombre d’heures : </a:t>
            </a:r>
            <a:r>
              <a:rPr lang="fr-FR" sz="2000" noProof="0" dirty="0" err="1"/>
              <a:t>XXXh</a:t>
            </a:r>
            <a:endParaRPr lang="fr-FR" sz="2000" noProof="0" dirty="0"/>
          </a:p>
          <a:p>
            <a:r>
              <a:rPr lang="fr-FR" sz="2000" noProof="0" dirty="0"/>
              <a:t>Durée de la phase : </a:t>
            </a:r>
            <a:r>
              <a:rPr lang="fr-FR" sz="2000" noProof="0" dirty="0" err="1"/>
              <a:t>Xmois</a:t>
            </a:r>
            <a:endParaRPr lang="fr-FR" sz="2000" noProof="0" dirty="0"/>
          </a:p>
          <a:p>
            <a:r>
              <a:rPr lang="fr-FR" sz="2000" noProof="0" dirty="0"/>
              <a:t>Date de go live estimée : DATE</a:t>
            </a:r>
          </a:p>
        </p:txBody>
      </p:sp>
      <p:sp>
        <p:nvSpPr>
          <p:cNvPr id="4" name="ZoneTexte 3">
            <a:extLst>
              <a:ext uri="{FF2B5EF4-FFF2-40B4-BE49-F238E27FC236}">
                <a16:creationId xmlns:a16="http://schemas.microsoft.com/office/drawing/2014/main" id="{7C2E5728-D822-2C58-C524-A7239922FA2A}"/>
              </a:ext>
            </a:extLst>
          </p:cNvPr>
          <p:cNvSpPr txBox="1"/>
          <p:nvPr/>
        </p:nvSpPr>
        <p:spPr>
          <a:xfrm rot="732307">
            <a:off x="8249404" y="553018"/>
            <a:ext cx="3702423" cy="103094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Tahoma"/>
                <a:ea typeface="+mn-ea"/>
                <a:cs typeface="+mn-cs"/>
              </a:rPr>
              <a:t>Should</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be</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checked</a:t>
            </a:r>
            <a:r>
              <a:rPr kumimoji="0" lang="fr-FR" sz="1800" b="0" i="0" u="none" strike="noStrike" kern="1200" cap="none" spc="0" normalizeH="0" baseline="0" noProof="0" dirty="0">
                <a:ln>
                  <a:noFill/>
                </a:ln>
                <a:solidFill>
                  <a:prstClr val="white"/>
                </a:solidFill>
                <a:effectLst/>
                <a:uLnTx/>
                <a:uFillTx/>
                <a:latin typeface="Tahoma"/>
                <a:ea typeface="+mn-ea"/>
                <a:cs typeface="+mn-cs"/>
              </a:rPr>
              <a:t> and </a:t>
            </a:r>
            <a:r>
              <a:rPr kumimoji="0" lang="fr-FR" sz="1800" b="0" i="0" u="none" strike="noStrike" kern="1200" cap="none" spc="0" normalizeH="0" baseline="0" noProof="0" dirty="0" err="1">
                <a:ln>
                  <a:noFill/>
                </a:ln>
                <a:solidFill>
                  <a:prstClr val="white"/>
                </a:solidFill>
                <a:effectLst/>
                <a:uLnTx/>
                <a:uFillTx/>
                <a:latin typeface="Tahoma"/>
                <a:ea typeface="+mn-ea"/>
                <a:cs typeface="+mn-cs"/>
              </a:rPr>
              <a:t>validated</a:t>
            </a:r>
            <a:r>
              <a:rPr kumimoji="0" lang="fr-FR" sz="1800" b="0" i="0" u="none" strike="noStrike" kern="1200" cap="none" spc="0" normalizeH="0" baseline="0" noProof="0" dirty="0">
                <a:ln>
                  <a:noFill/>
                </a:ln>
                <a:solidFill>
                  <a:prstClr val="white"/>
                </a:solidFill>
                <a:effectLst/>
                <a:uLnTx/>
                <a:uFillTx/>
                <a:latin typeface="Tahoma"/>
                <a:ea typeface="+mn-ea"/>
                <a:cs typeface="+mn-cs"/>
              </a:rPr>
              <a:t> by the sale – Sale </a:t>
            </a:r>
            <a:r>
              <a:rPr kumimoji="0" lang="fr-FR" sz="1800" b="0" i="0" u="none" strike="noStrike" kern="1200" cap="none" spc="0" normalizeH="0" baseline="0" noProof="0" dirty="0" err="1">
                <a:ln>
                  <a:noFill/>
                </a:ln>
                <a:solidFill>
                  <a:prstClr val="white"/>
                </a:solidFill>
                <a:effectLst/>
                <a:uLnTx/>
                <a:uFillTx/>
                <a:latin typeface="Tahoma"/>
                <a:ea typeface="+mn-ea"/>
                <a:cs typeface="+mn-cs"/>
              </a:rPr>
              <a:t>speaking</a:t>
            </a:r>
            <a:r>
              <a:rPr kumimoji="0" lang="fr-FR" sz="1800" b="0" i="0" u="none" strike="noStrike" kern="1200" cap="none" spc="0" normalizeH="0" baseline="0" noProof="0" dirty="0">
                <a:ln>
                  <a:noFill/>
                </a:ln>
                <a:solidFill>
                  <a:prstClr val="white"/>
                </a:solidFill>
                <a:effectLst/>
                <a:uLnTx/>
                <a:uFillTx/>
                <a:latin typeface="Tahoma"/>
                <a:ea typeface="+mn-ea"/>
                <a:cs typeface="+mn-cs"/>
              </a:rPr>
              <a:t> from </a:t>
            </a:r>
            <a:r>
              <a:rPr kumimoji="0" lang="fr-FR" sz="1800" b="0" i="0" u="none" strike="noStrike" kern="1200" cap="none" spc="0" normalizeH="0" baseline="0" noProof="0" dirty="0" err="1">
                <a:ln>
                  <a:noFill/>
                </a:ln>
                <a:solidFill>
                  <a:prstClr val="white"/>
                </a:solidFill>
                <a:effectLst/>
                <a:uLnTx/>
                <a:uFillTx/>
                <a:latin typeface="Tahoma"/>
                <a:ea typeface="+mn-ea"/>
                <a:cs typeface="+mn-cs"/>
              </a:rPr>
              <a:t>there</a:t>
            </a:r>
            <a:endParaRPr kumimoji="0" lang="fr-FR" sz="1800" b="0" i="0" u="none" strike="noStrike" kern="1200" cap="none" spc="0" normalizeH="0" baseline="0" noProof="0" dirty="0">
              <a:ln>
                <a:noFill/>
              </a:ln>
              <a:solidFill>
                <a:prstClr val="white"/>
              </a:solidFill>
              <a:effectLst/>
              <a:uLnTx/>
              <a:uFillTx/>
              <a:latin typeface="Tahoma"/>
              <a:ea typeface="+mn-ea"/>
              <a:cs typeface="+mn-cs"/>
            </a:endParaRPr>
          </a:p>
        </p:txBody>
      </p:sp>
      <p:sp>
        <p:nvSpPr>
          <p:cNvPr id="2" name="Espace réservé du texte 4">
            <a:extLst>
              <a:ext uri="{FF2B5EF4-FFF2-40B4-BE49-F238E27FC236}">
                <a16:creationId xmlns:a16="http://schemas.microsoft.com/office/drawing/2014/main" id="{B8CC6A07-3BA7-5DA0-A479-27633B79A26C}"/>
              </a:ext>
            </a:extLst>
          </p:cNvPr>
          <p:cNvSpPr txBox="1">
            <a:spLocks/>
          </p:cNvSpPr>
          <p:nvPr/>
        </p:nvSpPr>
        <p:spPr>
          <a:xfrm>
            <a:off x="6172200" y="1819425"/>
            <a:ext cx="5183188" cy="46657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noProof="0" dirty="0"/>
              <a:t>TEMPS PAR CONSULTANTS</a:t>
            </a:r>
          </a:p>
        </p:txBody>
      </p:sp>
      <p:sp>
        <p:nvSpPr>
          <p:cNvPr id="3" name="Freeform 18">
            <a:extLst>
              <a:ext uri="{FF2B5EF4-FFF2-40B4-BE49-F238E27FC236}">
                <a16:creationId xmlns:a16="http://schemas.microsoft.com/office/drawing/2014/main" id="{7994B694-02A0-31A4-08CC-CF7500A3E5CB}"/>
              </a:ext>
            </a:extLst>
          </p:cNvPr>
          <p:cNvSpPr/>
          <p:nvPr/>
        </p:nvSpPr>
        <p:spPr>
          <a:xfrm>
            <a:off x="7707424" y="637540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11" name="Ellipse 8">
            <a:extLst>
              <a:ext uri="{FF2B5EF4-FFF2-40B4-BE49-F238E27FC236}">
                <a16:creationId xmlns:a16="http://schemas.microsoft.com/office/drawing/2014/main" id="{FA77FAB5-2760-B2E3-D2DF-0B8604991EBD}"/>
              </a:ext>
            </a:extLst>
          </p:cNvPr>
          <p:cNvSpPr/>
          <p:nvPr/>
        </p:nvSpPr>
        <p:spPr>
          <a:xfrm>
            <a:off x="7841157" y="4227068"/>
            <a:ext cx="2173255" cy="2148332"/>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67" b="0" i="0" u="none" strike="noStrike" kern="1200" cap="none" spc="0" normalizeH="0" baseline="0" noProof="0" dirty="0">
              <a:ln>
                <a:noFill/>
              </a:ln>
              <a:solidFill>
                <a:srgbClr val="BA131A"/>
              </a:solidFill>
              <a:effectLst/>
              <a:uLnTx/>
              <a:uFillTx/>
              <a:latin typeface="Trebuchet MS"/>
              <a:ea typeface="Inter Heavy"/>
              <a:cs typeface="Inter Heavy"/>
              <a:sym typeface="Inter Heavy"/>
            </a:endParaRPr>
          </a:p>
        </p:txBody>
      </p:sp>
      <p:sp>
        <p:nvSpPr>
          <p:cNvPr id="12" name="Espace réservé du texte 15">
            <a:extLst>
              <a:ext uri="{FF2B5EF4-FFF2-40B4-BE49-F238E27FC236}">
                <a16:creationId xmlns:a16="http://schemas.microsoft.com/office/drawing/2014/main" id="{3A039C59-02CB-1C44-413D-940F42195132}"/>
              </a:ext>
            </a:extLst>
          </p:cNvPr>
          <p:cNvSpPr txBox="1">
            <a:spLocks/>
          </p:cNvSpPr>
          <p:nvPr/>
        </p:nvSpPr>
        <p:spPr>
          <a:xfrm>
            <a:off x="7841158" y="4226896"/>
            <a:ext cx="2173254" cy="2148731"/>
          </a:xfrm>
          <a:prstGeom prst="rect">
            <a:avLst/>
          </a:prstGeom>
        </p:spPr>
        <p:txBody>
          <a:bodyPr vert="horz" lIns="91440" tIns="45720" rIns="91440" bIns="45720" rtlCol="0" anchor="ctr">
            <a:normAutofit/>
          </a:bodyPr>
          <a:lstStyle>
            <a:defPPr>
              <a:defRPr lang="en-US"/>
            </a:defPPr>
            <a:lvl1pPr marL="0" indent="0" algn="ctr" defTabSz="914400" rtl="0" eaLnBrk="1" latinLnBrk="0" hangingPunct="1">
              <a:buNone/>
              <a:defRPr sz="3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a:ln>
                  <a:noFill/>
                </a:ln>
                <a:solidFill>
                  <a:prstClr val="white"/>
                </a:solidFill>
                <a:effectLst/>
                <a:uLnTx/>
                <a:uFillTx/>
                <a:latin typeface="Trebuchet MS"/>
                <a:ea typeface="+mn-ea"/>
                <a:cs typeface="+mn-cs"/>
              </a:rPr>
              <a:t>57h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prstClr val="white"/>
                </a:solidFill>
                <a:effectLst/>
                <a:uLnTx/>
                <a:uFillTx/>
                <a:latin typeface="Trebuchet MS"/>
                <a:ea typeface="+mn-ea"/>
                <a:cs typeface="+mn-cs"/>
              </a:rPr>
              <a:t>7410€</a:t>
            </a:r>
          </a:p>
        </p:txBody>
      </p:sp>
      <p:sp>
        <p:nvSpPr>
          <p:cNvPr id="13" name="Espace réservé du contenu 17">
            <a:extLst>
              <a:ext uri="{FF2B5EF4-FFF2-40B4-BE49-F238E27FC236}">
                <a16:creationId xmlns:a16="http://schemas.microsoft.com/office/drawing/2014/main" id="{8423E082-1930-479C-0688-24913CA4C5E6}"/>
              </a:ext>
            </a:extLst>
          </p:cNvPr>
          <p:cNvSpPr txBox="1">
            <a:spLocks/>
          </p:cNvSpPr>
          <p:nvPr/>
        </p:nvSpPr>
        <p:spPr>
          <a:xfrm>
            <a:off x="6172200" y="2286000"/>
            <a:ext cx="5183188" cy="194066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fr-FR" sz="1800" noProof="0" dirty="0"/>
              <a:t>Consultant / Développeur Odoo : </a:t>
            </a:r>
            <a:r>
              <a:rPr lang="fr-FR" sz="1800" noProof="0" dirty="0">
                <a:highlight>
                  <a:srgbClr val="FFFF00"/>
                </a:highlight>
              </a:rPr>
              <a:t>0h</a:t>
            </a:r>
          </a:p>
          <a:p>
            <a:pPr fontAlgn="t"/>
            <a:r>
              <a:rPr lang="fr-FR" sz="1800" noProof="0" dirty="0"/>
              <a:t>Consultant / Développeur Odoo Certifié : </a:t>
            </a:r>
            <a:r>
              <a:rPr lang="fr-FR" sz="1800" noProof="0" dirty="0">
                <a:highlight>
                  <a:srgbClr val="FFFF00"/>
                </a:highlight>
              </a:rPr>
              <a:t>57h</a:t>
            </a:r>
          </a:p>
          <a:p>
            <a:r>
              <a:rPr lang="fr-FR" sz="1800" noProof="0" dirty="0"/>
              <a:t>Consultant / Développeur Odoo Master : </a:t>
            </a:r>
            <a:r>
              <a:rPr lang="fr-FR" sz="1800" noProof="0" dirty="0">
                <a:highlight>
                  <a:srgbClr val="FFFF00"/>
                </a:highlight>
              </a:rPr>
              <a:t>0h</a:t>
            </a:r>
          </a:p>
          <a:p>
            <a:r>
              <a:rPr lang="fr-FR" sz="1800" noProof="0" dirty="0"/>
              <a:t>Consultant / Développeur Odoo </a:t>
            </a:r>
            <a:r>
              <a:rPr lang="fr-FR" sz="1800" noProof="0" dirty="0" err="1"/>
              <a:t>Legend</a:t>
            </a:r>
            <a:r>
              <a:rPr lang="fr-FR" sz="1800" noProof="0" dirty="0"/>
              <a:t> : </a:t>
            </a:r>
            <a:r>
              <a:rPr lang="fr-FR" sz="1800" noProof="0" dirty="0">
                <a:highlight>
                  <a:srgbClr val="FFFF00"/>
                </a:highlight>
              </a:rPr>
              <a:t>0h</a:t>
            </a:r>
          </a:p>
          <a:p>
            <a:r>
              <a:rPr lang="fr-FR" sz="1800" noProof="0" dirty="0"/>
              <a:t>Frais de déplacement : </a:t>
            </a:r>
            <a:r>
              <a:rPr lang="fr-FR" sz="1800" noProof="0" dirty="0">
                <a:highlight>
                  <a:srgbClr val="FFFF00"/>
                </a:highlight>
              </a:rPr>
              <a:t>0€</a:t>
            </a:r>
          </a:p>
          <a:p>
            <a:endParaRPr lang="fr-FR" sz="1800" noProof="0" dirty="0"/>
          </a:p>
        </p:txBody>
      </p:sp>
    </p:spTree>
    <p:extLst>
      <p:ext uri="{BB962C8B-B14F-4D97-AF65-F5344CB8AC3E}">
        <p14:creationId xmlns:p14="http://schemas.microsoft.com/office/powerpoint/2010/main" val="194332912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7D1A6-32F2-C3C6-B8A2-AB85238ED3B5}"/>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05022C2C-1AC2-25F9-3D50-8781B5D39503}"/>
              </a:ext>
            </a:extLst>
          </p:cNvPr>
          <p:cNvSpPr>
            <a:spLocks noGrp="1"/>
          </p:cNvSpPr>
          <p:nvPr>
            <p:ph type="title"/>
          </p:nvPr>
        </p:nvSpPr>
        <p:spPr/>
        <p:txBody>
          <a:bodyPr/>
          <a:lstStyle/>
          <a:p>
            <a:r>
              <a:rPr lang="fr-FR" noProof="0" dirty="0"/>
              <a:t>Phase 2</a:t>
            </a:r>
          </a:p>
        </p:txBody>
      </p:sp>
      <p:sp>
        <p:nvSpPr>
          <p:cNvPr id="5" name="Espace réservé du numéro de diapositive 4">
            <a:extLst>
              <a:ext uri="{FF2B5EF4-FFF2-40B4-BE49-F238E27FC236}">
                <a16:creationId xmlns:a16="http://schemas.microsoft.com/office/drawing/2014/main" id="{973B0AF5-31C3-83CB-9B5C-08A23EE3AC6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7" name="Espace réservé du texte 6">
            <a:extLst>
              <a:ext uri="{FF2B5EF4-FFF2-40B4-BE49-F238E27FC236}">
                <a16:creationId xmlns:a16="http://schemas.microsoft.com/office/drawing/2014/main" id="{0194E1D2-0DE6-3969-54BB-9EC810C2BAFB}"/>
              </a:ext>
            </a:extLst>
          </p:cNvPr>
          <p:cNvSpPr>
            <a:spLocks noGrp="1"/>
          </p:cNvSpPr>
          <p:nvPr>
            <p:ph type="body" idx="4294967295"/>
          </p:nvPr>
        </p:nvSpPr>
        <p:spPr>
          <a:xfrm>
            <a:off x="263525" y="1848055"/>
            <a:ext cx="5157788" cy="823912"/>
          </a:xfrm>
        </p:spPr>
        <p:txBody>
          <a:bodyPr/>
          <a:lstStyle/>
          <a:p>
            <a:r>
              <a:rPr lang="fr-FR" b="1" noProof="0" dirty="0"/>
              <a:t>VOS BESOINS COUVERTS</a:t>
            </a:r>
          </a:p>
        </p:txBody>
      </p:sp>
      <p:sp>
        <p:nvSpPr>
          <p:cNvPr id="8" name="Espace réservé du contenu 7">
            <a:extLst>
              <a:ext uri="{FF2B5EF4-FFF2-40B4-BE49-F238E27FC236}">
                <a16:creationId xmlns:a16="http://schemas.microsoft.com/office/drawing/2014/main" id="{1AB1CBF2-1A5E-80DA-B2BC-B2AD46BDC60A}"/>
              </a:ext>
            </a:extLst>
          </p:cNvPr>
          <p:cNvSpPr>
            <a:spLocks noGrp="1"/>
          </p:cNvSpPr>
          <p:nvPr>
            <p:ph sz="half" idx="4294967295"/>
          </p:nvPr>
        </p:nvSpPr>
        <p:spPr>
          <a:xfrm>
            <a:off x="263525" y="2489628"/>
            <a:ext cx="5157788" cy="2340793"/>
          </a:xfrm>
        </p:spPr>
        <p:txBody>
          <a:bodyPr>
            <a:normAutofit/>
          </a:bodyPr>
          <a:lstStyle/>
          <a:p>
            <a:r>
              <a:rPr lang="fr-FR" sz="2000" noProof="0" dirty="0"/>
              <a:t>Insérer les besoins couverts en quelques points, ex : </a:t>
            </a:r>
          </a:p>
          <a:p>
            <a:r>
              <a:rPr lang="fr-FR" sz="2000" noProof="0" dirty="0"/>
              <a:t>Chaine de facturation</a:t>
            </a:r>
          </a:p>
          <a:p>
            <a:r>
              <a:rPr lang="fr-FR" sz="2000" noProof="0" dirty="0"/>
              <a:t>Gestion de votre entrepôt</a:t>
            </a:r>
          </a:p>
          <a:p>
            <a:r>
              <a:rPr lang="fr-FR" sz="2000" noProof="0" dirty="0"/>
              <a:t>Données actuelles et nécessaire pour le fonctionnement seulement</a:t>
            </a:r>
          </a:p>
        </p:txBody>
      </p:sp>
      <p:sp>
        <p:nvSpPr>
          <p:cNvPr id="9" name="Espace réservé du texte 8">
            <a:extLst>
              <a:ext uri="{FF2B5EF4-FFF2-40B4-BE49-F238E27FC236}">
                <a16:creationId xmlns:a16="http://schemas.microsoft.com/office/drawing/2014/main" id="{B9075681-A754-45DB-02C0-A2FB2B20BEB3}"/>
              </a:ext>
            </a:extLst>
          </p:cNvPr>
          <p:cNvSpPr>
            <a:spLocks noGrp="1"/>
          </p:cNvSpPr>
          <p:nvPr>
            <p:ph type="body" sz="quarter" idx="4294967295"/>
          </p:nvPr>
        </p:nvSpPr>
        <p:spPr>
          <a:xfrm>
            <a:off x="263525" y="4681315"/>
            <a:ext cx="5183187" cy="823912"/>
          </a:xfrm>
        </p:spPr>
        <p:txBody>
          <a:bodyPr/>
          <a:lstStyle/>
          <a:p>
            <a:r>
              <a:rPr lang="fr-FR" b="1" noProof="0" dirty="0"/>
              <a:t>CHIFFRES CLÉS</a:t>
            </a:r>
          </a:p>
        </p:txBody>
      </p:sp>
      <p:sp>
        <p:nvSpPr>
          <p:cNvPr id="10" name="Espace réservé du contenu 9">
            <a:extLst>
              <a:ext uri="{FF2B5EF4-FFF2-40B4-BE49-F238E27FC236}">
                <a16:creationId xmlns:a16="http://schemas.microsoft.com/office/drawing/2014/main" id="{A918C617-612B-DBBB-1A93-1004EE5E7994}"/>
              </a:ext>
            </a:extLst>
          </p:cNvPr>
          <p:cNvSpPr>
            <a:spLocks noGrp="1"/>
          </p:cNvSpPr>
          <p:nvPr>
            <p:ph sz="quarter" idx="4294967295"/>
          </p:nvPr>
        </p:nvSpPr>
        <p:spPr>
          <a:xfrm>
            <a:off x="263525" y="5317732"/>
            <a:ext cx="5183187" cy="1356819"/>
          </a:xfrm>
        </p:spPr>
        <p:txBody>
          <a:bodyPr>
            <a:normAutofit/>
          </a:bodyPr>
          <a:lstStyle/>
          <a:p>
            <a:r>
              <a:rPr lang="fr-FR" sz="2000" noProof="0" dirty="0"/>
              <a:t>Nombre d’heures : </a:t>
            </a:r>
            <a:r>
              <a:rPr lang="fr-FR" sz="2000" noProof="0" dirty="0" err="1"/>
              <a:t>XXXh</a:t>
            </a:r>
            <a:endParaRPr lang="fr-FR" sz="2000" noProof="0" dirty="0"/>
          </a:p>
          <a:p>
            <a:r>
              <a:rPr lang="fr-FR" sz="2000" noProof="0" dirty="0"/>
              <a:t>Durée de la phase : </a:t>
            </a:r>
            <a:r>
              <a:rPr lang="fr-FR" sz="2000" noProof="0" dirty="0" err="1"/>
              <a:t>Xmois</a:t>
            </a:r>
            <a:endParaRPr lang="fr-FR" sz="2000" noProof="0" dirty="0"/>
          </a:p>
          <a:p>
            <a:r>
              <a:rPr lang="fr-FR" sz="2000" noProof="0" dirty="0"/>
              <a:t>Date de go live estimée : DATE</a:t>
            </a:r>
          </a:p>
        </p:txBody>
      </p:sp>
      <p:sp>
        <p:nvSpPr>
          <p:cNvPr id="4" name="ZoneTexte 3">
            <a:extLst>
              <a:ext uri="{FF2B5EF4-FFF2-40B4-BE49-F238E27FC236}">
                <a16:creationId xmlns:a16="http://schemas.microsoft.com/office/drawing/2014/main" id="{2FC26801-5BEF-724F-A4F0-01E1B75DDF02}"/>
              </a:ext>
            </a:extLst>
          </p:cNvPr>
          <p:cNvSpPr txBox="1"/>
          <p:nvPr/>
        </p:nvSpPr>
        <p:spPr>
          <a:xfrm rot="732307">
            <a:off x="8249404" y="553018"/>
            <a:ext cx="3702423" cy="103094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vert="horz" wrap="square"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err="1">
                <a:ln>
                  <a:noFill/>
                </a:ln>
                <a:solidFill>
                  <a:prstClr val="white"/>
                </a:solidFill>
                <a:effectLst/>
                <a:uLnTx/>
                <a:uFillTx/>
                <a:latin typeface="Tahoma"/>
                <a:ea typeface="+mn-ea"/>
                <a:cs typeface="+mn-cs"/>
              </a:rPr>
              <a:t>Should</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be</a:t>
            </a:r>
            <a:r>
              <a:rPr kumimoji="0" lang="fr-FR" sz="1800" b="0" i="0" u="none" strike="noStrike" kern="1200" cap="none" spc="0" normalizeH="0" baseline="0" noProof="0" dirty="0">
                <a:ln>
                  <a:noFill/>
                </a:ln>
                <a:solidFill>
                  <a:prstClr val="white"/>
                </a:solidFill>
                <a:effectLst/>
                <a:uLnTx/>
                <a:uFillTx/>
                <a:latin typeface="Tahoma"/>
                <a:ea typeface="+mn-ea"/>
                <a:cs typeface="+mn-cs"/>
              </a:rPr>
              <a:t> </a:t>
            </a:r>
            <a:r>
              <a:rPr kumimoji="0" lang="fr-FR" sz="1800" b="0" i="0" u="none" strike="noStrike" kern="1200" cap="none" spc="0" normalizeH="0" baseline="0" noProof="0" dirty="0" err="1">
                <a:ln>
                  <a:noFill/>
                </a:ln>
                <a:solidFill>
                  <a:prstClr val="white"/>
                </a:solidFill>
                <a:effectLst/>
                <a:uLnTx/>
                <a:uFillTx/>
                <a:latin typeface="Tahoma"/>
                <a:ea typeface="+mn-ea"/>
                <a:cs typeface="+mn-cs"/>
              </a:rPr>
              <a:t>checked</a:t>
            </a:r>
            <a:r>
              <a:rPr kumimoji="0" lang="fr-FR" sz="1800" b="0" i="0" u="none" strike="noStrike" kern="1200" cap="none" spc="0" normalizeH="0" baseline="0" noProof="0" dirty="0">
                <a:ln>
                  <a:noFill/>
                </a:ln>
                <a:solidFill>
                  <a:prstClr val="white"/>
                </a:solidFill>
                <a:effectLst/>
                <a:uLnTx/>
                <a:uFillTx/>
                <a:latin typeface="Tahoma"/>
                <a:ea typeface="+mn-ea"/>
                <a:cs typeface="+mn-cs"/>
              </a:rPr>
              <a:t> and </a:t>
            </a:r>
            <a:r>
              <a:rPr kumimoji="0" lang="fr-FR" sz="1800" b="0" i="0" u="none" strike="noStrike" kern="1200" cap="none" spc="0" normalizeH="0" baseline="0" noProof="0" dirty="0" err="1">
                <a:ln>
                  <a:noFill/>
                </a:ln>
                <a:solidFill>
                  <a:prstClr val="white"/>
                </a:solidFill>
                <a:effectLst/>
                <a:uLnTx/>
                <a:uFillTx/>
                <a:latin typeface="Tahoma"/>
                <a:ea typeface="+mn-ea"/>
                <a:cs typeface="+mn-cs"/>
              </a:rPr>
              <a:t>validated</a:t>
            </a:r>
            <a:r>
              <a:rPr kumimoji="0" lang="fr-FR" sz="1800" b="0" i="0" u="none" strike="noStrike" kern="1200" cap="none" spc="0" normalizeH="0" baseline="0" noProof="0" dirty="0">
                <a:ln>
                  <a:noFill/>
                </a:ln>
                <a:solidFill>
                  <a:prstClr val="white"/>
                </a:solidFill>
                <a:effectLst/>
                <a:uLnTx/>
                <a:uFillTx/>
                <a:latin typeface="Tahoma"/>
                <a:ea typeface="+mn-ea"/>
                <a:cs typeface="+mn-cs"/>
              </a:rPr>
              <a:t> by the sale – Sale </a:t>
            </a:r>
            <a:r>
              <a:rPr kumimoji="0" lang="fr-FR" sz="1800" b="0" i="0" u="none" strike="noStrike" kern="1200" cap="none" spc="0" normalizeH="0" baseline="0" noProof="0" dirty="0" err="1">
                <a:ln>
                  <a:noFill/>
                </a:ln>
                <a:solidFill>
                  <a:prstClr val="white"/>
                </a:solidFill>
                <a:effectLst/>
                <a:uLnTx/>
                <a:uFillTx/>
                <a:latin typeface="Tahoma"/>
                <a:ea typeface="+mn-ea"/>
                <a:cs typeface="+mn-cs"/>
              </a:rPr>
              <a:t>speaking</a:t>
            </a:r>
            <a:r>
              <a:rPr kumimoji="0" lang="fr-FR" sz="1800" b="0" i="0" u="none" strike="noStrike" kern="1200" cap="none" spc="0" normalizeH="0" baseline="0" noProof="0" dirty="0">
                <a:ln>
                  <a:noFill/>
                </a:ln>
                <a:solidFill>
                  <a:prstClr val="white"/>
                </a:solidFill>
                <a:effectLst/>
                <a:uLnTx/>
                <a:uFillTx/>
                <a:latin typeface="Tahoma"/>
                <a:ea typeface="+mn-ea"/>
                <a:cs typeface="+mn-cs"/>
              </a:rPr>
              <a:t> from </a:t>
            </a:r>
            <a:r>
              <a:rPr kumimoji="0" lang="fr-FR" sz="1800" b="0" i="0" u="none" strike="noStrike" kern="1200" cap="none" spc="0" normalizeH="0" baseline="0" noProof="0" dirty="0" err="1">
                <a:ln>
                  <a:noFill/>
                </a:ln>
                <a:solidFill>
                  <a:prstClr val="white"/>
                </a:solidFill>
                <a:effectLst/>
                <a:uLnTx/>
                <a:uFillTx/>
                <a:latin typeface="Tahoma"/>
                <a:ea typeface="+mn-ea"/>
                <a:cs typeface="+mn-cs"/>
              </a:rPr>
              <a:t>there</a:t>
            </a:r>
            <a:endParaRPr kumimoji="0" lang="fr-FR" sz="1800" b="0" i="0" u="none" strike="noStrike" kern="1200" cap="none" spc="0" normalizeH="0" baseline="0" noProof="0" dirty="0">
              <a:ln>
                <a:noFill/>
              </a:ln>
              <a:solidFill>
                <a:prstClr val="white"/>
              </a:solidFill>
              <a:effectLst/>
              <a:uLnTx/>
              <a:uFillTx/>
              <a:latin typeface="Tahoma"/>
              <a:ea typeface="+mn-ea"/>
              <a:cs typeface="+mn-cs"/>
            </a:endParaRPr>
          </a:p>
        </p:txBody>
      </p:sp>
      <p:sp>
        <p:nvSpPr>
          <p:cNvPr id="2" name="Espace réservé du texte 4">
            <a:extLst>
              <a:ext uri="{FF2B5EF4-FFF2-40B4-BE49-F238E27FC236}">
                <a16:creationId xmlns:a16="http://schemas.microsoft.com/office/drawing/2014/main" id="{74E284C9-FF2F-E7AC-C10D-C8038B8C8A67}"/>
              </a:ext>
            </a:extLst>
          </p:cNvPr>
          <p:cNvSpPr txBox="1">
            <a:spLocks/>
          </p:cNvSpPr>
          <p:nvPr/>
        </p:nvSpPr>
        <p:spPr>
          <a:xfrm>
            <a:off x="6172200" y="1819425"/>
            <a:ext cx="5183188" cy="46657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noProof="0" dirty="0"/>
              <a:t>TEMPS PAR CONSULTANTS</a:t>
            </a:r>
          </a:p>
        </p:txBody>
      </p:sp>
      <p:sp>
        <p:nvSpPr>
          <p:cNvPr id="3" name="Freeform 18">
            <a:extLst>
              <a:ext uri="{FF2B5EF4-FFF2-40B4-BE49-F238E27FC236}">
                <a16:creationId xmlns:a16="http://schemas.microsoft.com/office/drawing/2014/main" id="{33EF90EE-7012-D038-D28C-6819962273A1}"/>
              </a:ext>
            </a:extLst>
          </p:cNvPr>
          <p:cNvSpPr/>
          <p:nvPr/>
        </p:nvSpPr>
        <p:spPr>
          <a:xfrm>
            <a:off x="7707424" y="637540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11" name="Ellipse 8">
            <a:extLst>
              <a:ext uri="{FF2B5EF4-FFF2-40B4-BE49-F238E27FC236}">
                <a16:creationId xmlns:a16="http://schemas.microsoft.com/office/drawing/2014/main" id="{D574AF3D-AC8C-B295-A34E-2FF61AAB0649}"/>
              </a:ext>
            </a:extLst>
          </p:cNvPr>
          <p:cNvSpPr/>
          <p:nvPr/>
        </p:nvSpPr>
        <p:spPr>
          <a:xfrm>
            <a:off x="7841157" y="4227068"/>
            <a:ext cx="2173255" cy="2148332"/>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67" b="0" i="0" u="none" strike="noStrike" kern="1200" cap="none" spc="0" normalizeH="0" baseline="0" noProof="0" dirty="0">
              <a:ln>
                <a:noFill/>
              </a:ln>
              <a:solidFill>
                <a:srgbClr val="BA131A"/>
              </a:solidFill>
              <a:effectLst/>
              <a:uLnTx/>
              <a:uFillTx/>
              <a:latin typeface="Trebuchet MS"/>
              <a:ea typeface="Inter Heavy"/>
              <a:cs typeface="Inter Heavy"/>
              <a:sym typeface="Inter Heavy"/>
            </a:endParaRPr>
          </a:p>
        </p:txBody>
      </p:sp>
      <p:sp>
        <p:nvSpPr>
          <p:cNvPr id="12" name="Espace réservé du texte 15">
            <a:extLst>
              <a:ext uri="{FF2B5EF4-FFF2-40B4-BE49-F238E27FC236}">
                <a16:creationId xmlns:a16="http://schemas.microsoft.com/office/drawing/2014/main" id="{879012F3-E8D5-4B24-FF47-017E0F545CB7}"/>
              </a:ext>
            </a:extLst>
          </p:cNvPr>
          <p:cNvSpPr txBox="1">
            <a:spLocks/>
          </p:cNvSpPr>
          <p:nvPr/>
        </p:nvSpPr>
        <p:spPr>
          <a:xfrm>
            <a:off x="7841158" y="4226896"/>
            <a:ext cx="2173254" cy="2148731"/>
          </a:xfrm>
          <a:prstGeom prst="rect">
            <a:avLst/>
          </a:prstGeom>
        </p:spPr>
        <p:txBody>
          <a:bodyPr vert="horz" lIns="91440" tIns="45720" rIns="91440" bIns="45720" rtlCol="0" anchor="ctr">
            <a:normAutofit/>
          </a:bodyPr>
          <a:lstStyle>
            <a:defPPr>
              <a:defRPr lang="en-US"/>
            </a:defPPr>
            <a:lvl1pPr marL="0" indent="0" algn="ctr" defTabSz="914400" rtl="0" eaLnBrk="1" latinLnBrk="0" hangingPunct="1">
              <a:buNone/>
              <a:defRPr sz="3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800" b="1" i="0" u="none" strike="noStrike" kern="1200" cap="none" spc="0" normalizeH="0" baseline="0" noProof="0" dirty="0">
                <a:ln>
                  <a:noFill/>
                </a:ln>
                <a:solidFill>
                  <a:prstClr val="white"/>
                </a:solidFill>
                <a:effectLst/>
                <a:uLnTx/>
                <a:uFillTx/>
                <a:latin typeface="Trebuchet MS"/>
                <a:ea typeface="+mn-ea"/>
                <a:cs typeface="+mn-cs"/>
              </a:rPr>
              <a:t>57h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prstClr val="white"/>
                </a:solidFill>
                <a:effectLst/>
                <a:uLnTx/>
                <a:uFillTx/>
                <a:latin typeface="Trebuchet MS"/>
                <a:ea typeface="+mn-ea"/>
                <a:cs typeface="+mn-cs"/>
              </a:rPr>
              <a:t>7410€</a:t>
            </a:r>
          </a:p>
        </p:txBody>
      </p:sp>
      <p:sp>
        <p:nvSpPr>
          <p:cNvPr id="13" name="Espace réservé du contenu 17">
            <a:extLst>
              <a:ext uri="{FF2B5EF4-FFF2-40B4-BE49-F238E27FC236}">
                <a16:creationId xmlns:a16="http://schemas.microsoft.com/office/drawing/2014/main" id="{228BEA10-2474-D16B-6298-208F7C30C70A}"/>
              </a:ext>
            </a:extLst>
          </p:cNvPr>
          <p:cNvSpPr txBox="1">
            <a:spLocks/>
          </p:cNvSpPr>
          <p:nvPr/>
        </p:nvSpPr>
        <p:spPr>
          <a:xfrm>
            <a:off x="6172200" y="2286000"/>
            <a:ext cx="5183188" cy="194066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fr-FR" sz="1800" noProof="0" dirty="0"/>
              <a:t>Consultant / Développeur Odoo : </a:t>
            </a:r>
            <a:r>
              <a:rPr lang="fr-FR" sz="1800" noProof="0" dirty="0">
                <a:highlight>
                  <a:srgbClr val="FFFF00"/>
                </a:highlight>
              </a:rPr>
              <a:t>0h</a:t>
            </a:r>
          </a:p>
          <a:p>
            <a:pPr fontAlgn="t"/>
            <a:r>
              <a:rPr lang="fr-FR" sz="1800" noProof="0" dirty="0"/>
              <a:t>Consultant / Développeur Odoo Certifié : </a:t>
            </a:r>
            <a:r>
              <a:rPr lang="fr-FR" sz="1800" noProof="0" dirty="0">
                <a:highlight>
                  <a:srgbClr val="FFFF00"/>
                </a:highlight>
              </a:rPr>
              <a:t>57h</a:t>
            </a:r>
          </a:p>
          <a:p>
            <a:r>
              <a:rPr lang="fr-FR" sz="1800" noProof="0" dirty="0"/>
              <a:t>Consultant / Développeur Odoo Master : </a:t>
            </a:r>
            <a:r>
              <a:rPr lang="fr-FR" sz="1800" noProof="0" dirty="0">
                <a:highlight>
                  <a:srgbClr val="FFFF00"/>
                </a:highlight>
              </a:rPr>
              <a:t>0h</a:t>
            </a:r>
          </a:p>
          <a:p>
            <a:r>
              <a:rPr lang="fr-FR" sz="1800" noProof="0" dirty="0"/>
              <a:t>Consultant / Développeur Odoo </a:t>
            </a:r>
            <a:r>
              <a:rPr lang="fr-FR" sz="1800" noProof="0" dirty="0" err="1"/>
              <a:t>Legend</a:t>
            </a:r>
            <a:r>
              <a:rPr lang="fr-FR" sz="1800" noProof="0" dirty="0"/>
              <a:t> : </a:t>
            </a:r>
            <a:r>
              <a:rPr lang="fr-FR" sz="1800" noProof="0" dirty="0">
                <a:highlight>
                  <a:srgbClr val="FFFF00"/>
                </a:highlight>
              </a:rPr>
              <a:t>0h</a:t>
            </a:r>
          </a:p>
          <a:p>
            <a:r>
              <a:rPr lang="fr-FR" sz="1800" noProof="0" dirty="0"/>
              <a:t>Frais de déplacement : </a:t>
            </a:r>
            <a:r>
              <a:rPr lang="fr-FR" sz="1800" noProof="0" dirty="0">
                <a:highlight>
                  <a:srgbClr val="FFFF00"/>
                </a:highlight>
              </a:rPr>
              <a:t>0€</a:t>
            </a:r>
          </a:p>
          <a:p>
            <a:endParaRPr lang="fr-FR" sz="1800" noProof="0" dirty="0"/>
          </a:p>
        </p:txBody>
      </p:sp>
    </p:spTree>
    <p:extLst>
      <p:ext uri="{BB962C8B-B14F-4D97-AF65-F5344CB8AC3E}">
        <p14:creationId xmlns:p14="http://schemas.microsoft.com/office/powerpoint/2010/main" val="315552497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2278A7E-3D37-11EF-BE77-830467816006}"/>
              </a:ext>
            </a:extLst>
          </p:cNvPr>
          <p:cNvSpPr>
            <a:spLocks noGrp="1"/>
          </p:cNvSpPr>
          <p:nvPr>
            <p:ph type="title"/>
          </p:nvPr>
        </p:nvSpPr>
        <p:spPr/>
        <p:txBody>
          <a:bodyPr/>
          <a:lstStyle/>
          <a:p>
            <a:r>
              <a:rPr lang="fr-FR" noProof="0" dirty="0"/>
              <a:t>Conditions</a:t>
            </a:r>
          </a:p>
        </p:txBody>
      </p:sp>
      <p:sp>
        <p:nvSpPr>
          <p:cNvPr id="7" name="Content Placeholder 6">
            <a:extLst>
              <a:ext uri="{FF2B5EF4-FFF2-40B4-BE49-F238E27FC236}">
                <a16:creationId xmlns:a16="http://schemas.microsoft.com/office/drawing/2014/main" id="{48272B6F-FBBE-968F-4D18-CC7FA16E1998}"/>
              </a:ext>
            </a:extLst>
          </p:cNvPr>
          <p:cNvSpPr>
            <a:spLocks noGrp="1"/>
          </p:cNvSpPr>
          <p:nvPr>
            <p:ph idx="1"/>
          </p:nvPr>
        </p:nvSpPr>
        <p:spPr/>
        <p:txBody>
          <a:bodyPr>
            <a:normAutofit fontScale="85000" lnSpcReduction="20000"/>
          </a:bodyPr>
          <a:lstStyle/>
          <a:p>
            <a:r>
              <a:rPr lang="fr-FR" noProof="0" dirty="0"/>
              <a:t>Projet</a:t>
            </a:r>
          </a:p>
          <a:p>
            <a:pPr lvl="1"/>
            <a:r>
              <a:rPr lang="fr-FR" noProof="0" dirty="0"/>
              <a:t>Acompte facturé à la commande correspondant à 1 mois de prestations</a:t>
            </a:r>
          </a:p>
          <a:p>
            <a:pPr lvl="2"/>
            <a:r>
              <a:rPr lang="fr-FR" noProof="0" dirty="0"/>
              <a:t>45 644€</a:t>
            </a:r>
          </a:p>
          <a:p>
            <a:pPr lvl="1"/>
            <a:r>
              <a:rPr lang="fr-FR" dirty="0"/>
              <a:t>F</a:t>
            </a:r>
            <a:r>
              <a:rPr lang="fr-FR" noProof="0" dirty="0" err="1"/>
              <a:t>acturation</a:t>
            </a:r>
            <a:r>
              <a:rPr lang="fr-FR" noProof="0" dirty="0"/>
              <a:t> en régie au temps effectif passé chaque mois en fonction de notre tarif horaire par collaborateur et selon le décompte d’heures joint à la chaque facture</a:t>
            </a:r>
          </a:p>
          <a:p>
            <a:pPr lvl="1"/>
            <a:r>
              <a:rPr lang="fr-FR" dirty="0"/>
              <a:t>D</a:t>
            </a:r>
            <a:r>
              <a:rPr lang="fr-FR" noProof="0" dirty="0"/>
              <a:t>éduction/restitution de l’acompte à la fin du projet</a:t>
            </a:r>
          </a:p>
          <a:p>
            <a:pPr lvl="1"/>
            <a:endParaRPr lang="fr-FR" noProof="0" dirty="0"/>
          </a:p>
          <a:p>
            <a:r>
              <a:rPr lang="fr-FR" noProof="0" dirty="0"/>
              <a:t>Support and Maintenance</a:t>
            </a:r>
          </a:p>
          <a:p>
            <a:pPr lvl="1"/>
            <a:r>
              <a:rPr lang="fr-FR" noProof="0" dirty="0"/>
              <a:t>125h </a:t>
            </a:r>
            <a:r>
              <a:rPr lang="fr-FR" dirty="0"/>
              <a:t>incluses dans projet</a:t>
            </a:r>
          </a:p>
          <a:p>
            <a:pPr lvl="1"/>
            <a:r>
              <a:rPr lang="fr-FR" noProof="0" dirty="0"/>
              <a:t>Puis facturation chaque mois selon vos besoins au temps </a:t>
            </a:r>
            <a:r>
              <a:rPr lang="fr-FR" dirty="0"/>
              <a:t>sur la base de nos tarifs horaires au temps effectif passé</a:t>
            </a:r>
            <a:endParaRPr lang="fr-FR" noProof="0" dirty="0"/>
          </a:p>
          <a:p>
            <a:pPr lvl="1"/>
            <a:endParaRPr lang="fr-FR" noProof="0" dirty="0"/>
          </a:p>
          <a:p>
            <a:pPr fontAlgn="base"/>
            <a:r>
              <a:rPr lang="fr-FR" dirty="0"/>
              <a:t>Délais de paiement : 15 jours net date de facture hormis pour l’acompte projet (paiement à réception de notre facture dans ce cas)</a:t>
            </a:r>
            <a:r>
              <a:rPr lang="en-US" dirty="0"/>
              <a:t>​</a:t>
            </a:r>
          </a:p>
        </p:txBody>
      </p:sp>
      <p:sp>
        <p:nvSpPr>
          <p:cNvPr id="4" name="Slide Number Placeholder 3">
            <a:extLst>
              <a:ext uri="{FF2B5EF4-FFF2-40B4-BE49-F238E27FC236}">
                <a16:creationId xmlns:a16="http://schemas.microsoft.com/office/drawing/2014/main" id="{6491E51A-9220-53C6-6C74-664E313573FA}"/>
              </a:ext>
            </a:extLst>
          </p:cNvPr>
          <p:cNvSpPr>
            <a:spLocks noGrp="1"/>
          </p:cNvSpPr>
          <p:nvPr>
            <p:ph type="sldNum" sz="quarter" idx="10"/>
          </p:nvPr>
        </p:nvSpPr>
        <p:spPr/>
        <p:txBody>
          <a:bodyPr/>
          <a:lstStyle/>
          <a:p>
            <a:fld id="{0C34F99C-3C47-4582-9518-8D365E9692AE}" type="slidenum">
              <a:rPr lang="fr-FR" noProof="0" smtClean="0"/>
              <a:pPr/>
              <a:t>140</a:t>
            </a:fld>
            <a:endParaRPr lang="fr-FR" noProof="0" dirty="0"/>
          </a:p>
        </p:txBody>
      </p:sp>
    </p:spTree>
    <p:extLst>
      <p:ext uri="{BB962C8B-B14F-4D97-AF65-F5344CB8AC3E}">
        <p14:creationId xmlns:p14="http://schemas.microsoft.com/office/powerpoint/2010/main" val="187561708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9E70-7A5F-FECE-C00D-8E4DA7A4CF17}"/>
              </a:ext>
            </a:extLst>
          </p:cNvPr>
          <p:cNvSpPr>
            <a:spLocks noGrp="1"/>
          </p:cNvSpPr>
          <p:nvPr>
            <p:ph type="title"/>
          </p:nvPr>
        </p:nvSpPr>
        <p:spPr/>
        <p:txBody>
          <a:bodyPr/>
          <a:lstStyle/>
          <a:p>
            <a:r>
              <a:rPr lang="fr-FR" noProof="0" dirty="0"/>
              <a:t>Prochaines étapes</a:t>
            </a:r>
          </a:p>
        </p:txBody>
      </p:sp>
      <p:sp>
        <p:nvSpPr>
          <p:cNvPr id="3" name="Content Placeholder 2">
            <a:extLst>
              <a:ext uri="{FF2B5EF4-FFF2-40B4-BE49-F238E27FC236}">
                <a16:creationId xmlns:a16="http://schemas.microsoft.com/office/drawing/2014/main" id="{529B4DF7-E39C-370A-8174-891D099A24DB}"/>
              </a:ext>
            </a:extLst>
          </p:cNvPr>
          <p:cNvSpPr>
            <a:spLocks noGrp="1"/>
          </p:cNvSpPr>
          <p:nvPr>
            <p:ph idx="1"/>
          </p:nvPr>
        </p:nvSpPr>
        <p:spPr/>
        <p:txBody>
          <a:bodyPr/>
          <a:lstStyle/>
          <a:p>
            <a:r>
              <a:rPr lang="fr-FR" noProof="0" dirty="0"/>
              <a:t>Signature des bon de commandes</a:t>
            </a:r>
          </a:p>
          <a:p>
            <a:pPr lvl="1"/>
            <a:r>
              <a:rPr lang="fr-FR" noProof="0" dirty="0"/>
              <a:t>Pour Captivea</a:t>
            </a:r>
          </a:p>
          <a:p>
            <a:pPr lvl="1"/>
            <a:r>
              <a:rPr lang="fr-FR" dirty="0"/>
              <a:t>Commande des licences auprès de Odoo</a:t>
            </a:r>
            <a:endParaRPr lang="fr-FR" noProof="0" dirty="0"/>
          </a:p>
          <a:p>
            <a:pPr lvl="1"/>
            <a:endParaRPr lang="fr-FR" noProof="0" dirty="0"/>
          </a:p>
          <a:p>
            <a:r>
              <a:rPr lang="fr-FR" noProof="0" dirty="0"/>
              <a:t>Project Kick-off</a:t>
            </a:r>
          </a:p>
        </p:txBody>
      </p:sp>
      <p:sp>
        <p:nvSpPr>
          <p:cNvPr id="4" name="Slide Number Placeholder 3">
            <a:extLst>
              <a:ext uri="{FF2B5EF4-FFF2-40B4-BE49-F238E27FC236}">
                <a16:creationId xmlns:a16="http://schemas.microsoft.com/office/drawing/2014/main" id="{81BB217A-29DC-F452-7EF5-022D59B09C9B}"/>
              </a:ext>
            </a:extLst>
          </p:cNvPr>
          <p:cNvSpPr>
            <a:spLocks noGrp="1"/>
          </p:cNvSpPr>
          <p:nvPr>
            <p:ph type="sldNum" sz="quarter" idx="10"/>
          </p:nvPr>
        </p:nvSpPr>
        <p:spPr/>
        <p:txBody>
          <a:bodyPr/>
          <a:lstStyle/>
          <a:p>
            <a:fld id="{0C34F99C-3C47-4582-9518-8D365E9692AE}" type="slidenum">
              <a:rPr lang="fr-FR" noProof="0" smtClean="0"/>
              <a:pPr/>
              <a:t>141</a:t>
            </a:fld>
            <a:endParaRPr lang="fr-FR" noProof="0" dirty="0"/>
          </a:p>
        </p:txBody>
      </p:sp>
    </p:spTree>
    <p:extLst>
      <p:ext uri="{BB962C8B-B14F-4D97-AF65-F5344CB8AC3E}">
        <p14:creationId xmlns:p14="http://schemas.microsoft.com/office/powerpoint/2010/main" val="38145251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534"/>
        <p:cNvGrpSpPr/>
        <p:nvPr/>
      </p:nvGrpSpPr>
      <p:grpSpPr>
        <a:xfrm>
          <a:off x="0" y="0"/>
          <a:ext cx="0" cy="0"/>
          <a:chOff x="0" y="0"/>
          <a:chExt cx="0" cy="0"/>
        </a:xfrm>
      </p:grpSpPr>
      <p:sp>
        <p:nvSpPr>
          <p:cNvPr id="2" name="Titre 1">
            <a:extLst>
              <a:ext uri="{FF2B5EF4-FFF2-40B4-BE49-F238E27FC236}">
                <a16:creationId xmlns:a16="http://schemas.microsoft.com/office/drawing/2014/main" id="{6AA6DE64-13D4-4F3E-EB1D-53611ABFEDDB}"/>
              </a:ext>
            </a:extLst>
          </p:cNvPr>
          <p:cNvSpPr>
            <a:spLocks noGrp="1"/>
          </p:cNvSpPr>
          <p:nvPr>
            <p:ph type="ctrTitle"/>
          </p:nvPr>
        </p:nvSpPr>
        <p:spPr>
          <a:xfrm>
            <a:off x="263525" y="2990565"/>
            <a:ext cx="5880100" cy="876869"/>
          </a:xfrm>
        </p:spPr>
        <p:txBody>
          <a:bodyPr/>
          <a:lstStyle/>
          <a:p>
            <a:r>
              <a:rPr lang="fr-FR" noProof="0" dirty="0"/>
              <a:t>VOTRE PROJET</a:t>
            </a:r>
          </a:p>
        </p:txBody>
      </p:sp>
      <p:sp>
        <p:nvSpPr>
          <p:cNvPr id="4" name="Espace réservé du numéro de diapositive 3">
            <a:extLst>
              <a:ext uri="{FF2B5EF4-FFF2-40B4-BE49-F238E27FC236}">
                <a16:creationId xmlns:a16="http://schemas.microsoft.com/office/drawing/2014/main" id="{87131698-8893-4A10-9A7B-0CA79B130C7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2872A60-1B10-409F-A3C9-AF13F971E75A}" type="slidenum">
              <a:rPr kumimoji="0" lang="fr-FR" sz="1200" b="1" i="0" u="none" strike="noStrike" kern="1200" cap="none" spc="0" normalizeH="0" baseline="0" noProof="0" smtClean="0">
                <a:ln>
                  <a:noFill/>
                </a:ln>
                <a:solidFill>
                  <a:prstClr val="white"/>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142</a:t>
            </a:fld>
            <a:endParaRPr kumimoji="0" lang="fr-FR" sz="1200" b="1" i="0" u="none" strike="noStrike" kern="1200" cap="none" spc="0" normalizeH="0" baseline="0" noProof="0" dirty="0">
              <a:ln>
                <a:noFill/>
              </a:ln>
              <a:solidFill>
                <a:prstClr val="white"/>
              </a:solidFill>
              <a:effectLst/>
              <a:uLnTx/>
              <a:uFillTx/>
              <a:latin typeface="Tahoma"/>
              <a:ea typeface="+mn-ea"/>
              <a:cs typeface="+mn-cs"/>
            </a:endParaRPr>
          </a:p>
        </p:txBody>
      </p:sp>
      <p:pic>
        <p:nvPicPr>
          <p:cNvPr id="8" name="Graphique 7">
            <a:extLst>
              <a:ext uri="{FF2B5EF4-FFF2-40B4-BE49-F238E27FC236}">
                <a16:creationId xmlns:a16="http://schemas.microsoft.com/office/drawing/2014/main" id="{DEBD3341-A5FE-F740-A777-CF8E3D187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113489" y="1372070"/>
            <a:ext cx="4320000" cy="4113858"/>
          </a:xfrm>
          <a:prstGeom prst="rect">
            <a:avLst/>
          </a:prstGeom>
        </p:spPr>
      </p:pic>
    </p:spTree>
    <p:extLst>
      <p:ext uri="{BB962C8B-B14F-4D97-AF65-F5344CB8AC3E}">
        <p14:creationId xmlns:p14="http://schemas.microsoft.com/office/powerpoint/2010/main" val="419312686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gradFill>
          <a:gsLst>
            <a:gs pos="51000">
              <a:schemeClr val="bg1"/>
            </a:gs>
            <a:gs pos="50000">
              <a:schemeClr val="bg2"/>
            </a:gs>
            <a:gs pos="0">
              <a:schemeClr val="bg2"/>
            </a:gs>
            <a:gs pos="100000">
              <a:schemeClr val="bg1"/>
            </a:gs>
          </a:gsLst>
          <a:lin ang="5400000" scaled="1"/>
        </a:gradFill>
        <a:effectLst/>
      </p:bgPr>
    </p:bg>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7595203F-5608-4CE1-0A8E-6F6B17800417}"/>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143</a:t>
            </a:fld>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2" name="Titre 1">
            <a:extLst>
              <a:ext uri="{FF2B5EF4-FFF2-40B4-BE49-F238E27FC236}">
                <a16:creationId xmlns:a16="http://schemas.microsoft.com/office/drawing/2014/main" id="{C4EAB6C1-D9B8-71D3-BAFD-3C68FDB116D8}"/>
              </a:ext>
            </a:extLst>
          </p:cNvPr>
          <p:cNvSpPr>
            <a:spLocks noGrp="1"/>
          </p:cNvSpPr>
          <p:nvPr>
            <p:ph type="title"/>
          </p:nvPr>
        </p:nvSpPr>
        <p:spPr/>
        <p:txBody>
          <a:bodyPr/>
          <a:lstStyle/>
          <a:p>
            <a:r>
              <a:rPr lang="fr-FR" noProof="0" dirty="0">
                <a:latin typeface="+mj-lt"/>
              </a:rPr>
              <a:t>L’ÉQUIPE PROJET</a:t>
            </a:r>
          </a:p>
        </p:txBody>
      </p:sp>
      <p:pic>
        <p:nvPicPr>
          <p:cNvPr id="78" name="Graphique 77">
            <a:extLst>
              <a:ext uri="{FF2B5EF4-FFF2-40B4-BE49-F238E27FC236}">
                <a16:creationId xmlns:a16="http://schemas.microsoft.com/office/drawing/2014/main" id="{90C3A627-2BBE-933F-C495-EB976B2902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03166" y="628026"/>
            <a:ext cx="9006801" cy="5601948"/>
          </a:xfrm>
          <a:prstGeom prst="rect">
            <a:avLst/>
          </a:prstGeom>
        </p:spPr>
      </p:pic>
    </p:spTree>
    <p:extLst>
      <p:ext uri="{BB962C8B-B14F-4D97-AF65-F5344CB8AC3E}">
        <p14:creationId xmlns:p14="http://schemas.microsoft.com/office/powerpoint/2010/main" val="95861828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0ECA062-1803-7976-E2A0-A7F61BA27A2C}"/>
              </a:ext>
            </a:extLst>
          </p:cNvPr>
          <p:cNvSpPr>
            <a:spLocks noGrp="1"/>
          </p:cNvSpPr>
          <p:nvPr>
            <p:ph type="title"/>
          </p:nvPr>
        </p:nvSpPr>
        <p:spPr/>
        <p:txBody>
          <a:bodyPr/>
          <a:lstStyle/>
          <a:p>
            <a:r>
              <a:rPr lang="fr-FR" noProof="0" dirty="0"/>
              <a:t>DÉFINITION DES RÔLES</a:t>
            </a:r>
          </a:p>
        </p:txBody>
      </p:sp>
      <p:sp>
        <p:nvSpPr>
          <p:cNvPr id="3" name="Espace réservé du numéro de diapositive 2">
            <a:extLst>
              <a:ext uri="{FF2B5EF4-FFF2-40B4-BE49-F238E27FC236}">
                <a16:creationId xmlns:a16="http://schemas.microsoft.com/office/drawing/2014/main" id="{E3D0253E-5A0E-64BC-F324-2E096F43B5A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1061685-6496-4975-B02C-C44B14DBF38E}" type="slidenum">
              <a:rPr kumimoji="0" lang="fr-FR" sz="1200" b="0" i="0" u="none" strike="noStrike" kern="1200" cap="none" spc="0" normalizeH="0" baseline="0" noProof="0" smtClean="0">
                <a:ln>
                  <a:noFill/>
                </a:ln>
                <a:solidFill>
                  <a:srgbClr val="212529"/>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144</a:t>
            </a:fld>
            <a:endParaRPr kumimoji="0" lang="fr-FR" sz="1200" b="0" i="0" u="none" strike="noStrike" kern="1200" cap="none" spc="0" normalizeH="0" baseline="0" noProof="0" dirty="0">
              <a:ln>
                <a:noFill/>
              </a:ln>
              <a:solidFill>
                <a:srgbClr val="212529"/>
              </a:solidFill>
              <a:effectLst/>
              <a:uLnTx/>
              <a:uFillTx/>
              <a:latin typeface="Trebuchet MS"/>
              <a:ea typeface="+mn-ea"/>
              <a:cs typeface="+mn-cs"/>
            </a:endParaRPr>
          </a:p>
        </p:txBody>
      </p:sp>
      <p:grpSp>
        <p:nvGrpSpPr>
          <p:cNvPr id="6" name="Group 131">
            <a:extLst>
              <a:ext uri="{FF2B5EF4-FFF2-40B4-BE49-F238E27FC236}">
                <a16:creationId xmlns:a16="http://schemas.microsoft.com/office/drawing/2014/main" id="{5FB11755-435F-1B39-BF56-9EB652EDEE42}"/>
              </a:ext>
            </a:extLst>
          </p:cNvPr>
          <p:cNvGrpSpPr/>
          <p:nvPr/>
        </p:nvGrpSpPr>
        <p:grpSpPr>
          <a:xfrm>
            <a:off x="241983" y="1801800"/>
            <a:ext cx="11708894" cy="4973921"/>
            <a:chOff x="235683" y="1740535"/>
            <a:chExt cx="11708894" cy="4752337"/>
          </a:xfrm>
        </p:grpSpPr>
        <p:sp>
          <p:nvSpPr>
            <p:cNvPr id="7" name="Rectangle: Single Corner Rounded 39">
              <a:extLst>
                <a:ext uri="{FF2B5EF4-FFF2-40B4-BE49-F238E27FC236}">
                  <a16:creationId xmlns:a16="http://schemas.microsoft.com/office/drawing/2014/main" id="{2A998228-785A-C1ED-D4C5-38D4D148FA9A}"/>
                </a:ext>
              </a:extLst>
            </p:cNvPr>
            <p:cNvSpPr/>
            <p:nvPr/>
          </p:nvSpPr>
          <p:spPr>
            <a:xfrm flipV="1">
              <a:off x="2046254" y="2264446"/>
              <a:ext cx="9876780" cy="4209951"/>
            </a:xfrm>
            <a:prstGeom prst="round1Rect">
              <a:avLst>
                <a:gd name="adj" fmla="val 6108"/>
              </a:avLst>
            </a:prstGeom>
            <a:noFill/>
            <a:ln w="25400">
              <a:gradFill>
                <a:gsLst>
                  <a:gs pos="0">
                    <a:srgbClr val="BA131A"/>
                  </a:gs>
                  <a:gs pos="100000">
                    <a:srgbClr val="714B67"/>
                  </a:gs>
                </a:gsLst>
                <a:lin ang="4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8" name="Rectangle: Top Corners Rounded 16">
              <a:extLst>
                <a:ext uri="{FF2B5EF4-FFF2-40B4-BE49-F238E27FC236}">
                  <a16:creationId xmlns:a16="http://schemas.microsoft.com/office/drawing/2014/main" id="{D5D02760-BD9B-9E45-A522-BF24F22DF60A}"/>
                </a:ext>
              </a:extLst>
            </p:cNvPr>
            <p:cNvSpPr/>
            <p:nvPr/>
          </p:nvSpPr>
          <p:spPr>
            <a:xfrm>
              <a:off x="2045587" y="1865326"/>
              <a:ext cx="9898990" cy="412605"/>
            </a:xfrm>
            <a:prstGeom prst="round2SameRect">
              <a:avLst>
                <a:gd name="adj1" fmla="val 20679"/>
                <a:gd name="adj2" fmla="val 0"/>
              </a:avLst>
            </a:prstGeom>
            <a:gradFill>
              <a:gsLst>
                <a:gs pos="0">
                  <a:srgbClr val="BA131A"/>
                </a:gs>
                <a:gs pos="100000">
                  <a:srgbClr val="714B67"/>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9" name="Rectangle: Top Corners Rounded 17">
              <a:extLst>
                <a:ext uri="{FF2B5EF4-FFF2-40B4-BE49-F238E27FC236}">
                  <a16:creationId xmlns:a16="http://schemas.microsoft.com/office/drawing/2014/main" id="{7A5DCB43-2941-C501-005D-D8C7020EC7B1}"/>
                </a:ext>
              </a:extLst>
            </p:cNvPr>
            <p:cNvSpPr/>
            <p:nvPr/>
          </p:nvSpPr>
          <p:spPr>
            <a:xfrm rot="16200000">
              <a:off x="-969291" y="3478661"/>
              <a:ext cx="4228422" cy="1800000"/>
            </a:xfrm>
            <a:prstGeom prst="round2SameRect">
              <a:avLst>
                <a:gd name="adj1" fmla="val 9917"/>
                <a:gd name="adj2" fmla="val 0"/>
              </a:avLst>
            </a:prstGeom>
            <a:gradFill>
              <a:gsLst>
                <a:gs pos="0">
                  <a:srgbClr val="BA131A"/>
                </a:gs>
                <a:gs pos="100000">
                  <a:srgbClr val="714B67"/>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Trebuchet MS"/>
                <a:ea typeface="+mn-ea"/>
                <a:cs typeface="+mn-cs"/>
              </a:endParaRPr>
            </a:p>
          </p:txBody>
        </p:sp>
        <p:grpSp>
          <p:nvGrpSpPr>
            <p:cNvPr id="10" name="Group 33">
              <a:extLst>
                <a:ext uri="{FF2B5EF4-FFF2-40B4-BE49-F238E27FC236}">
                  <a16:creationId xmlns:a16="http://schemas.microsoft.com/office/drawing/2014/main" id="{ADBD8617-1FD0-D1B2-DAC5-1147644D1E49}"/>
                </a:ext>
              </a:extLst>
            </p:cNvPr>
            <p:cNvGrpSpPr/>
            <p:nvPr/>
          </p:nvGrpSpPr>
          <p:grpSpPr>
            <a:xfrm>
              <a:off x="235683" y="3602181"/>
              <a:ext cx="11700000" cy="0"/>
              <a:chOff x="235683" y="3870036"/>
              <a:chExt cx="11700000" cy="0"/>
            </a:xfrm>
          </p:grpSpPr>
          <p:cxnSp>
            <p:nvCxnSpPr>
              <p:cNvPr id="26" name="Straight Connector 20">
                <a:extLst>
                  <a:ext uri="{FF2B5EF4-FFF2-40B4-BE49-F238E27FC236}">
                    <a16:creationId xmlns:a16="http://schemas.microsoft.com/office/drawing/2014/main" id="{6B5F8591-4177-5961-6121-3F9D94873ABA}"/>
                  </a:ext>
                </a:extLst>
              </p:cNvPr>
              <p:cNvCxnSpPr>
                <a:cxnSpLocks/>
              </p:cNvCxnSpPr>
              <p:nvPr/>
            </p:nvCxnSpPr>
            <p:spPr>
              <a:xfrm>
                <a:off x="235683" y="3870036"/>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31">
                <a:extLst>
                  <a:ext uri="{FF2B5EF4-FFF2-40B4-BE49-F238E27FC236}">
                    <a16:creationId xmlns:a16="http://schemas.microsoft.com/office/drawing/2014/main" id="{2B5F28A9-76A2-FD14-490D-2C51B5AA44A8}"/>
                  </a:ext>
                </a:extLst>
              </p:cNvPr>
              <p:cNvCxnSpPr>
                <a:cxnSpLocks/>
              </p:cNvCxnSpPr>
              <p:nvPr/>
            </p:nvCxnSpPr>
            <p:spPr>
              <a:xfrm>
                <a:off x="2035683" y="3870036"/>
                <a:ext cx="9900000" cy="0"/>
              </a:xfrm>
              <a:prstGeom prst="line">
                <a:avLst/>
              </a:prstGeom>
              <a:ln w="25400">
                <a:gradFill>
                  <a:gsLst>
                    <a:gs pos="0">
                      <a:srgbClr val="714B67"/>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1" name="Group 34">
              <a:extLst>
                <a:ext uri="{FF2B5EF4-FFF2-40B4-BE49-F238E27FC236}">
                  <a16:creationId xmlns:a16="http://schemas.microsoft.com/office/drawing/2014/main" id="{2B501693-529C-6851-D39D-BD11135B48AA}"/>
                </a:ext>
              </a:extLst>
            </p:cNvPr>
            <p:cNvGrpSpPr/>
            <p:nvPr/>
          </p:nvGrpSpPr>
          <p:grpSpPr>
            <a:xfrm>
              <a:off x="235683" y="4068618"/>
              <a:ext cx="11690763" cy="0"/>
              <a:chOff x="244920" y="4548909"/>
              <a:chExt cx="11690763" cy="0"/>
            </a:xfrm>
          </p:grpSpPr>
          <p:cxnSp>
            <p:nvCxnSpPr>
              <p:cNvPr id="24" name="Straight Connector 22">
                <a:extLst>
                  <a:ext uri="{FF2B5EF4-FFF2-40B4-BE49-F238E27FC236}">
                    <a16:creationId xmlns:a16="http://schemas.microsoft.com/office/drawing/2014/main" id="{9486C7DA-54A3-5BC1-E116-4E9A4FC48344}"/>
                  </a:ext>
                </a:extLst>
              </p:cNvPr>
              <p:cNvCxnSpPr>
                <a:cxnSpLocks/>
              </p:cNvCxnSpPr>
              <p:nvPr/>
            </p:nvCxnSpPr>
            <p:spPr>
              <a:xfrm>
                <a:off x="244920" y="4548909"/>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32">
                <a:extLst>
                  <a:ext uri="{FF2B5EF4-FFF2-40B4-BE49-F238E27FC236}">
                    <a16:creationId xmlns:a16="http://schemas.microsoft.com/office/drawing/2014/main" id="{514904B4-1BD5-15CB-D775-DD0C14DFE63F}"/>
                  </a:ext>
                </a:extLst>
              </p:cNvPr>
              <p:cNvCxnSpPr>
                <a:cxnSpLocks/>
              </p:cNvCxnSpPr>
              <p:nvPr/>
            </p:nvCxnSpPr>
            <p:spPr>
              <a:xfrm>
                <a:off x="2035683" y="4548909"/>
                <a:ext cx="9900000" cy="0"/>
              </a:xfrm>
              <a:prstGeom prst="line">
                <a:avLst/>
              </a:prstGeom>
              <a:ln w="25400">
                <a:gradFill>
                  <a:gsLst>
                    <a:gs pos="0">
                      <a:srgbClr val="714B67"/>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2" name="Group 130">
              <a:extLst>
                <a:ext uri="{FF2B5EF4-FFF2-40B4-BE49-F238E27FC236}">
                  <a16:creationId xmlns:a16="http://schemas.microsoft.com/office/drawing/2014/main" id="{536E94CB-8A9E-7EF8-13AC-15D77D79A637}"/>
                </a:ext>
              </a:extLst>
            </p:cNvPr>
            <p:cNvGrpSpPr/>
            <p:nvPr/>
          </p:nvGrpSpPr>
          <p:grpSpPr>
            <a:xfrm>
              <a:off x="3888510" y="1740535"/>
              <a:ext cx="0" cy="4733863"/>
              <a:chOff x="3888510" y="1740535"/>
              <a:chExt cx="0" cy="4733863"/>
            </a:xfrm>
          </p:grpSpPr>
          <p:cxnSp>
            <p:nvCxnSpPr>
              <p:cNvPr id="22" name="Straight Connector 24">
                <a:extLst>
                  <a:ext uri="{FF2B5EF4-FFF2-40B4-BE49-F238E27FC236}">
                    <a16:creationId xmlns:a16="http://schemas.microsoft.com/office/drawing/2014/main" id="{6F89EC30-F9A2-DA1A-AA0D-5B5FB5BF0089}"/>
                  </a:ext>
                </a:extLst>
              </p:cNvPr>
              <p:cNvCxnSpPr>
                <a:cxnSpLocks/>
              </p:cNvCxnSpPr>
              <p:nvPr/>
            </p:nvCxnSpPr>
            <p:spPr>
              <a:xfrm>
                <a:off x="3888510"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41">
                <a:extLst>
                  <a:ext uri="{FF2B5EF4-FFF2-40B4-BE49-F238E27FC236}">
                    <a16:creationId xmlns:a16="http://schemas.microsoft.com/office/drawing/2014/main" id="{21C7B5AF-D83F-F84D-1E58-FAB34D8304C0}"/>
                  </a:ext>
                </a:extLst>
              </p:cNvPr>
              <p:cNvCxnSpPr>
                <a:cxnSpLocks/>
              </p:cNvCxnSpPr>
              <p:nvPr/>
            </p:nvCxnSpPr>
            <p:spPr>
              <a:xfrm>
                <a:off x="3888510"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3" name="Group 129">
              <a:extLst>
                <a:ext uri="{FF2B5EF4-FFF2-40B4-BE49-F238E27FC236}">
                  <a16:creationId xmlns:a16="http://schemas.microsoft.com/office/drawing/2014/main" id="{9960C587-9A50-71D1-75E8-476AA076559C}"/>
                </a:ext>
              </a:extLst>
            </p:cNvPr>
            <p:cNvGrpSpPr/>
            <p:nvPr/>
          </p:nvGrpSpPr>
          <p:grpSpPr>
            <a:xfrm>
              <a:off x="5938131" y="1740535"/>
              <a:ext cx="0" cy="4733863"/>
              <a:chOff x="5938131" y="1740535"/>
              <a:chExt cx="0" cy="4733863"/>
            </a:xfrm>
          </p:grpSpPr>
          <p:cxnSp>
            <p:nvCxnSpPr>
              <p:cNvPr id="20" name="Straight Connector 25">
                <a:extLst>
                  <a:ext uri="{FF2B5EF4-FFF2-40B4-BE49-F238E27FC236}">
                    <a16:creationId xmlns:a16="http://schemas.microsoft.com/office/drawing/2014/main" id="{635E5082-2952-2FFC-4971-33C8334BB549}"/>
                  </a:ext>
                </a:extLst>
              </p:cNvPr>
              <p:cNvCxnSpPr>
                <a:cxnSpLocks/>
              </p:cNvCxnSpPr>
              <p:nvPr/>
            </p:nvCxnSpPr>
            <p:spPr>
              <a:xfrm>
                <a:off x="5938131"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44">
                <a:extLst>
                  <a:ext uri="{FF2B5EF4-FFF2-40B4-BE49-F238E27FC236}">
                    <a16:creationId xmlns:a16="http://schemas.microsoft.com/office/drawing/2014/main" id="{0614BADA-6DFE-3F1A-3122-7C9F63EAA9C5}"/>
                  </a:ext>
                </a:extLst>
              </p:cNvPr>
              <p:cNvCxnSpPr>
                <a:cxnSpLocks/>
              </p:cNvCxnSpPr>
              <p:nvPr/>
            </p:nvCxnSpPr>
            <p:spPr>
              <a:xfrm>
                <a:off x="5938131"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4" name="Group 128">
              <a:extLst>
                <a:ext uri="{FF2B5EF4-FFF2-40B4-BE49-F238E27FC236}">
                  <a16:creationId xmlns:a16="http://schemas.microsoft.com/office/drawing/2014/main" id="{FAD1C23F-35F8-EF3E-6FDF-59E1B13A033A}"/>
                </a:ext>
              </a:extLst>
            </p:cNvPr>
            <p:cNvGrpSpPr/>
            <p:nvPr/>
          </p:nvGrpSpPr>
          <p:grpSpPr>
            <a:xfrm>
              <a:off x="7989635" y="1740535"/>
              <a:ext cx="0" cy="4733863"/>
              <a:chOff x="7989635" y="1740535"/>
              <a:chExt cx="0" cy="4733863"/>
            </a:xfrm>
          </p:grpSpPr>
          <p:cxnSp>
            <p:nvCxnSpPr>
              <p:cNvPr id="18" name="Straight Connector 26">
                <a:extLst>
                  <a:ext uri="{FF2B5EF4-FFF2-40B4-BE49-F238E27FC236}">
                    <a16:creationId xmlns:a16="http://schemas.microsoft.com/office/drawing/2014/main" id="{D7953742-D7D9-9E24-1B19-9D10B29E9768}"/>
                  </a:ext>
                </a:extLst>
              </p:cNvPr>
              <p:cNvCxnSpPr>
                <a:cxnSpLocks/>
              </p:cNvCxnSpPr>
              <p:nvPr/>
            </p:nvCxnSpPr>
            <p:spPr>
              <a:xfrm>
                <a:off x="7989635"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45">
                <a:extLst>
                  <a:ext uri="{FF2B5EF4-FFF2-40B4-BE49-F238E27FC236}">
                    <a16:creationId xmlns:a16="http://schemas.microsoft.com/office/drawing/2014/main" id="{CDCAA906-DC08-1FA6-C70F-2274FA619F71}"/>
                  </a:ext>
                </a:extLst>
              </p:cNvPr>
              <p:cNvCxnSpPr>
                <a:cxnSpLocks/>
              </p:cNvCxnSpPr>
              <p:nvPr/>
            </p:nvCxnSpPr>
            <p:spPr>
              <a:xfrm>
                <a:off x="7989635"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5" name="Group 127">
              <a:extLst>
                <a:ext uri="{FF2B5EF4-FFF2-40B4-BE49-F238E27FC236}">
                  <a16:creationId xmlns:a16="http://schemas.microsoft.com/office/drawing/2014/main" id="{CDDD269F-F86E-4C22-690A-2A08D7B6CF60}"/>
                </a:ext>
              </a:extLst>
            </p:cNvPr>
            <p:cNvGrpSpPr/>
            <p:nvPr/>
          </p:nvGrpSpPr>
          <p:grpSpPr>
            <a:xfrm>
              <a:off x="10037373" y="1740535"/>
              <a:ext cx="0" cy="4733863"/>
              <a:chOff x="10037373" y="1740535"/>
              <a:chExt cx="0" cy="4733863"/>
            </a:xfrm>
          </p:grpSpPr>
          <p:cxnSp>
            <p:nvCxnSpPr>
              <p:cNvPr id="16" name="Straight Connector 27">
                <a:extLst>
                  <a:ext uri="{FF2B5EF4-FFF2-40B4-BE49-F238E27FC236}">
                    <a16:creationId xmlns:a16="http://schemas.microsoft.com/office/drawing/2014/main" id="{EBE7E06C-AA84-E8CD-6388-7C35F2457D3E}"/>
                  </a:ext>
                </a:extLst>
              </p:cNvPr>
              <p:cNvCxnSpPr>
                <a:cxnSpLocks/>
              </p:cNvCxnSpPr>
              <p:nvPr/>
            </p:nvCxnSpPr>
            <p:spPr>
              <a:xfrm>
                <a:off x="10037373"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46">
                <a:extLst>
                  <a:ext uri="{FF2B5EF4-FFF2-40B4-BE49-F238E27FC236}">
                    <a16:creationId xmlns:a16="http://schemas.microsoft.com/office/drawing/2014/main" id="{FC8E956A-768E-1937-FC14-1D0CA5819DEC}"/>
                  </a:ext>
                </a:extLst>
              </p:cNvPr>
              <p:cNvCxnSpPr>
                <a:cxnSpLocks/>
              </p:cNvCxnSpPr>
              <p:nvPr/>
            </p:nvCxnSpPr>
            <p:spPr>
              <a:xfrm>
                <a:off x="10037373"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8" name="TextBox 51">
            <a:extLst>
              <a:ext uri="{FF2B5EF4-FFF2-40B4-BE49-F238E27FC236}">
                <a16:creationId xmlns:a16="http://schemas.microsoft.com/office/drawing/2014/main" id="{64FBED34-F024-9913-B467-C1B5EF452F09}"/>
              </a:ext>
            </a:extLst>
          </p:cNvPr>
          <p:cNvSpPr txBox="1"/>
          <p:nvPr/>
        </p:nvSpPr>
        <p:spPr>
          <a:xfrm>
            <a:off x="268966" y="2803598"/>
            <a:ext cx="1733535" cy="387068"/>
          </a:xfrm>
          <a:prstGeom prst="rect">
            <a:avLst/>
          </a:prstGeom>
        </p:spPr>
        <p:txBody>
          <a:bodyPr vert="horz" wrap="none"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212529"/>
              </a:solidFill>
              <a:effectLst/>
              <a:uLnTx/>
              <a:uFillTx/>
              <a:latin typeface="Trebuchet MS"/>
              <a:ea typeface="+mn-ea"/>
              <a:cs typeface="+mn-cs"/>
            </a:endParaRPr>
          </a:p>
        </p:txBody>
      </p:sp>
      <p:sp>
        <p:nvSpPr>
          <p:cNvPr id="29" name="TextBox 53">
            <a:extLst>
              <a:ext uri="{FF2B5EF4-FFF2-40B4-BE49-F238E27FC236}">
                <a16:creationId xmlns:a16="http://schemas.microsoft.com/office/drawing/2014/main" id="{74EC9DFD-8593-45CF-928F-5AD928E099EC}"/>
              </a:ext>
            </a:extLst>
          </p:cNvPr>
          <p:cNvSpPr txBox="1"/>
          <p:nvPr/>
        </p:nvSpPr>
        <p:spPr>
          <a:xfrm>
            <a:off x="236052" y="2946158"/>
            <a:ext cx="1807592" cy="487619"/>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Phase d’analyse</a:t>
            </a:r>
          </a:p>
        </p:txBody>
      </p:sp>
      <p:sp>
        <p:nvSpPr>
          <p:cNvPr id="30" name="TextBox 54">
            <a:extLst>
              <a:ext uri="{FF2B5EF4-FFF2-40B4-BE49-F238E27FC236}">
                <a16:creationId xmlns:a16="http://schemas.microsoft.com/office/drawing/2014/main" id="{FEFCDB6E-FE82-D464-315E-91DA19673FB6}"/>
              </a:ext>
            </a:extLst>
          </p:cNvPr>
          <p:cNvSpPr txBox="1"/>
          <p:nvPr/>
        </p:nvSpPr>
        <p:spPr>
          <a:xfrm>
            <a:off x="223376" y="3772629"/>
            <a:ext cx="1807592" cy="487619"/>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Phase de lancement</a:t>
            </a:r>
          </a:p>
        </p:txBody>
      </p:sp>
      <p:sp>
        <p:nvSpPr>
          <p:cNvPr id="31" name="TextBox 57">
            <a:extLst>
              <a:ext uri="{FF2B5EF4-FFF2-40B4-BE49-F238E27FC236}">
                <a16:creationId xmlns:a16="http://schemas.microsoft.com/office/drawing/2014/main" id="{9A53E0E0-0417-31A5-EC9F-B545BF1AA51A}"/>
              </a:ext>
            </a:extLst>
          </p:cNvPr>
          <p:cNvSpPr txBox="1"/>
          <p:nvPr/>
        </p:nvSpPr>
        <p:spPr>
          <a:xfrm>
            <a:off x="241123" y="4830717"/>
            <a:ext cx="1807592" cy="819602"/>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Phase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d’</a:t>
            </a:r>
            <a:r>
              <a:rPr kumimoji="0" lang="fr-FR" sz="1500" b="0" i="0" u="none" strike="noStrike" kern="1200" cap="none" spc="0" normalizeH="0" baseline="0" noProof="0" dirty="0" err="1">
                <a:ln>
                  <a:noFill/>
                </a:ln>
                <a:solidFill>
                  <a:prstClr val="white"/>
                </a:solidFill>
                <a:effectLst/>
                <a:uLnTx/>
                <a:uFillTx/>
                <a:latin typeface="Trebuchet MS"/>
                <a:ea typeface="+mn-ea"/>
                <a:cs typeface="+mn-cs"/>
              </a:rPr>
              <a:t>implementation</a:t>
            </a:r>
            <a:endParaRPr kumimoji="0" lang="fr-FR" sz="1500" b="0" i="0" u="none" strike="noStrike" kern="1200" cap="none" spc="0" normalizeH="0" baseline="0" noProof="0" dirty="0">
              <a:ln>
                <a:noFill/>
              </a:ln>
              <a:solidFill>
                <a:prstClr val="white"/>
              </a:solidFill>
              <a:effectLst/>
              <a:uLnTx/>
              <a:uFillTx/>
              <a:latin typeface="Trebuchet MS"/>
              <a:ea typeface="+mn-ea"/>
              <a:cs typeface="+mn-cs"/>
            </a:endParaRPr>
          </a:p>
        </p:txBody>
      </p:sp>
      <p:sp>
        <p:nvSpPr>
          <p:cNvPr id="32" name="TextBox 58">
            <a:extLst>
              <a:ext uri="{FF2B5EF4-FFF2-40B4-BE49-F238E27FC236}">
                <a16:creationId xmlns:a16="http://schemas.microsoft.com/office/drawing/2014/main" id="{5A3F7CEA-09CF-B407-F105-0A94557A9699}"/>
              </a:ext>
            </a:extLst>
          </p:cNvPr>
          <p:cNvSpPr txBox="1"/>
          <p:nvPr/>
        </p:nvSpPr>
        <p:spPr>
          <a:xfrm>
            <a:off x="2070180"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Chef de projet</a:t>
            </a:r>
          </a:p>
        </p:txBody>
      </p:sp>
      <p:sp>
        <p:nvSpPr>
          <p:cNvPr id="33" name="TextBox 59">
            <a:extLst>
              <a:ext uri="{FF2B5EF4-FFF2-40B4-BE49-F238E27FC236}">
                <a16:creationId xmlns:a16="http://schemas.microsoft.com/office/drawing/2014/main" id="{55BF1076-D8A9-795B-D2D3-6A6361C01AE4}"/>
              </a:ext>
            </a:extLst>
          </p:cNvPr>
          <p:cNvSpPr txBox="1"/>
          <p:nvPr/>
        </p:nvSpPr>
        <p:spPr>
          <a:xfrm>
            <a:off x="4027425"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Analyste d'affaires</a:t>
            </a:r>
          </a:p>
        </p:txBody>
      </p:sp>
      <p:sp>
        <p:nvSpPr>
          <p:cNvPr id="34" name="TextBox 60">
            <a:extLst>
              <a:ext uri="{FF2B5EF4-FFF2-40B4-BE49-F238E27FC236}">
                <a16:creationId xmlns:a16="http://schemas.microsoft.com/office/drawing/2014/main" id="{2B90F0D7-7C1C-3ECC-F5EB-87C82E77CD88}"/>
              </a:ext>
            </a:extLst>
          </p:cNvPr>
          <p:cNvSpPr txBox="1"/>
          <p:nvPr/>
        </p:nvSpPr>
        <p:spPr>
          <a:xfrm>
            <a:off x="6075162"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Configurateur</a:t>
            </a:r>
          </a:p>
        </p:txBody>
      </p:sp>
      <p:sp>
        <p:nvSpPr>
          <p:cNvPr id="35" name="TextBox 61">
            <a:extLst>
              <a:ext uri="{FF2B5EF4-FFF2-40B4-BE49-F238E27FC236}">
                <a16:creationId xmlns:a16="http://schemas.microsoft.com/office/drawing/2014/main" id="{DE62E9DA-5A6E-39FD-D45B-58F48D31BDCF}"/>
              </a:ext>
            </a:extLst>
          </p:cNvPr>
          <p:cNvSpPr txBox="1"/>
          <p:nvPr/>
        </p:nvSpPr>
        <p:spPr>
          <a:xfrm>
            <a:off x="8130539"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Développeur</a:t>
            </a:r>
          </a:p>
        </p:txBody>
      </p:sp>
      <p:sp>
        <p:nvSpPr>
          <p:cNvPr id="36" name="TextBox 63">
            <a:extLst>
              <a:ext uri="{FF2B5EF4-FFF2-40B4-BE49-F238E27FC236}">
                <a16:creationId xmlns:a16="http://schemas.microsoft.com/office/drawing/2014/main" id="{3C275B32-2CA8-2B1F-8F65-77E1896E6C9A}"/>
              </a:ext>
            </a:extLst>
          </p:cNvPr>
          <p:cNvSpPr txBox="1"/>
          <p:nvPr/>
        </p:nvSpPr>
        <p:spPr>
          <a:xfrm>
            <a:off x="10107855" y="1949116"/>
            <a:ext cx="1807592" cy="388803"/>
          </a:xfrm>
          <a:prstGeom prst="rect">
            <a:avLst/>
          </a:prstGeom>
        </p:spPr>
        <p:txBody>
          <a:bodyPr vert="horz" wrap="none" lIns="91440" tIns="45720" rIns="91440" bIns="4572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500" b="0" i="0" u="none" strike="noStrike" kern="1200" cap="none" spc="0" normalizeH="0" baseline="0" noProof="0" dirty="0">
                <a:ln>
                  <a:noFill/>
                </a:ln>
                <a:solidFill>
                  <a:prstClr val="white"/>
                </a:solidFill>
                <a:effectLst/>
                <a:uLnTx/>
                <a:uFillTx/>
                <a:latin typeface="Trebuchet MS"/>
                <a:ea typeface="+mn-ea"/>
                <a:cs typeface="+mn-cs"/>
              </a:rPr>
              <a:t>Architecte</a:t>
            </a:r>
          </a:p>
        </p:txBody>
      </p:sp>
      <p:sp>
        <p:nvSpPr>
          <p:cNvPr id="37" name="TextBox 65">
            <a:extLst>
              <a:ext uri="{FF2B5EF4-FFF2-40B4-BE49-F238E27FC236}">
                <a16:creationId xmlns:a16="http://schemas.microsoft.com/office/drawing/2014/main" id="{B088B5FA-D37E-7CC3-654B-BC3343595E0E}"/>
              </a:ext>
            </a:extLst>
          </p:cNvPr>
          <p:cNvSpPr txBox="1"/>
          <p:nvPr/>
        </p:nvSpPr>
        <p:spPr>
          <a:xfrm>
            <a:off x="2102755" y="2370283"/>
            <a:ext cx="1765401" cy="1449051"/>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00" b="0" i="0" u="none" strike="noStrike" kern="1200" cap="none" spc="0" normalizeH="0" baseline="0" noProof="0" dirty="0">
                <a:ln>
                  <a:noFill/>
                </a:ln>
                <a:solidFill>
                  <a:srgbClr val="223843"/>
                </a:solidFill>
                <a:effectLst/>
                <a:uLnTx/>
                <a:uFillTx/>
                <a:latin typeface="Trebuchet MS"/>
                <a:ea typeface="+mn-ea"/>
                <a:cs typeface="+mn-cs"/>
              </a:rPr>
              <a:t>Initiation et coordination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00" b="0" i="0" u="none" strike="noStrike" kern="1200" cap="none" spc="0" normalizeH="0" baseline="0" noProof="0" dirty="0">
                <a:ln>
                  <a:noFill/>
                </a:ln>
                <a:solidFill>
                  <a:srgbClr val="223843"/>
                </a:solidFill>
                <a:effectLst/>
                <a:uLnTx/>
                <a:uFillTx/>
                <a:latin typeface="Trebuchet MS"/>
                <a:ea typeface="+mn-ea"/>
                <a:cs typeface="+mn-cs"/>
              </a:rPr>
              <a:t>Documentation et communication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00" b="0" i="0" u="none" strike="noStrike" kern="1200" cap="none" spc="0" normalizeH="0" baseline="0" noProof="0" dirty="0">
                <a:ln>
                  <a:noFill/>
                </a:ln>
                <a:solidFill>
                  <a:srgbClr val="223843"/>
                </a:solidFill>
                <a:effectLst/>
                <a:uLnTx/>
                <a:uFillTx/>
                <a:latin typeface="Trebuchet MS"/>
                <a:ea typeface="+mn-ea"/>
                <a:cs typeface="+mn-cs"/>
              </a:rPr>
              <a:t>Planification et estimation</a:t>
            </a:r>
          </a:p>
        </p:txBody>
      </p:sp>
      <p:sp>
        <p:nvSpPr>
          <p:cNvPr id="38" name="TextBox 67">
            <a:extLst>
              <a:ext uri="{FF2B5EF4-FFF2-40B4-BE49-F238E27FC236}">
                <a16:creationId xmlns:a16="http://schemas.microsoft.com/office/drawing/2014/main" id="{9FB6BF71-383B-14BD-129A-5DF7DEAA030C}"/>
              </a:ext>
            </a:extLst>
          </p:cNvPr>
          <p:cNvSpPr txBox="1"/>
          <p:nvPr/>
        </p:nvSpPr>
        <p:spPr>
          <a:xfrm>
            <a:off x="2101897" y="3711680"/>
            <a:ext cx="1743801" cy="57708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Planification et coordination des tâches</a:t>
            </a:r>
          </a:p>
        </p:txBody>
      </p:sp>
      <p:sp>
        <p:nvSpPr>
          <p:cNvPr id="39" name="TextBox 68">
            <a:extLst>
              <a:ext uri="{FF2B5EF4-FFF2-40B4-BE49-F238E27FC236}">
                <a16:creationId xmlns:a16="http://schemas.microsoft.com/office/drawing/2014/main" id="{77773CCA-CD93-430C-C444-D3DFF0EF94F5}"/>
              </a:ext>
            </a:extLst>
          </p:cNvPr>
          <p:cNvSpPr txBox="1"/>
          <p:nvPr/>
        </p:nvSpPr>
        <p:spPr>
          <a:xfrm>
            <a:off x="2146715" y="4177057"/>
            <a:ext cx="1750845" cy="2240742"/>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Surveillance et réunions de projet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Gestion des délais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Réunions et validation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Support et communication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Tests et rapports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Implication dans le comité de pilotage</a:t>
            </a:r>
          </a:p>
        </p:txBody>
      </p:sp>
      <p:sp>
        <p:nvSpPr>
          <p:cNvPr id="40" name="TextBox 118">
            <a:extLst>
              <a:ext uri="{FF2B5EF4-FFF2-40B4-BE49-F238E27FC236}">
                <a16:creationId xmlns:a16="http://schemas.microsoft.com/office/drawing/2014/main" id="{400C9838-ECB1-9F7E-E4B6-8A4B1917DB3B}"/>
              </a:ext>
            </a:extLst>
          </p:cNvPr>
          <p:cNvSpPr txBox="1"/>
          <p:nvPr/>
        </p:nvSpPr>
        <p:spPr>
          <a:xfrm>
            <a:off x="3981304" y="2370283"/>
            <a:ext cx="1927423" cy="1274580"/>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Découverte et analyse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Architecture fonctionnelle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Communication et planification</a:t>
            </a:r>
          </a:p>
        </p:txBody>
      </p:sp>
      <p:sp>
        <p:nvSpPr>
          <p:cNvPr id="41" name="TextBox 119">
            <a:extLst>
              <a:ext uri="{FF2B5EF4-FFF2-40B4-BE49-F238E27FC236}">
                <a16:creationId xmlns:a16="http://schemas.microsoft.com/office/drawing/2014/main" id="{66828F41-6DB0-1E6D-AC3D-FACD83932196}"/>
              </a:ext>
            </a:extLst>
          </p:cNvPr>
          <p:cNvSpPr txBox="1"/>
          <p:nvPr/>
        </p:nvSpPr>
        <p:spPr>
          <a:xfrm>
            <a:off x="4031698" y="3711680"/>
            <a:ext cx="1893784" cy="415498"/>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Description des tâches et délégation</a:t>
            </a:r>
          </a:p>
        </p:txBody>
      </p:sp>
      <p:sp>
        <p:nvSpPr>
          <p:cNvPr id="42" name="TextBox 120">
            <a:extLst>
              <a:ext uri="{FF2B5EF4-FFF2-40B4-BE49-F238E27FC236}">
                <a16:creationId xmlns:a16="http://schemas.microsoft.com/office/drawing/2014/main" id="{6171AF88-94A6-31F5-A858-A6E2F1D8C245}"/>
              </a:ext>
            </a:extLst>
          </p:cNvPr>
          <p:cNvSpPr txBox="1"/>
          <p:nvPr/>
        </p:nvSpPr>
        <p:spPr>
          <a:xfrm>
            <a:off x="3981303" y="4177057"/>
            <a:ext cx="2044325" cy="1755994"/>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Spécification et développement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Test et validation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Réunions et communication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Gestion des retours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Formation et support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Plan de test</a:t>
            </a:r>
          </a:p>
        </p:txBody>
      </p:sp>
      <p:sp>
        <p:nvSpPr>
          <p:cNvPr id="43" name="TextBox 121">
            <a:extLst>
              <a:ext uri="{FF2B5EF4-FFF2-40B4-BE49-F238E27FC236}">
                <a16:creationId xmlns:a16="http://schemas.microsoft.com/office/drawing/2014/main" id="{90023310-EE00-1512-7631-8F80C75A3AEB}"/>
              </a:ext>
            </a:extLst>
          </p:cNvPr>
          <p:cNvSpPr txBox="1"/>
          <p:nvPr/>
        </p:nvSpPr>
        <p:spPr>
          <a:xfrm>
            <a:off x="6029041" y="2370283"/>
            <a:ext cx="1927421" cy="786497"/>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Support à l'initiation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Collaboration sur l'emploi du temps</a:t>
            </a:r>
          </a:p>
        </p:txBody>
      </p:sp>
      <p:sp>
        <p:nvSpPr>
          <p:cNvPr id="44" name="TextBox 122">
            <a:extLst>
              <a:ext uri="{FF2B5EF4-FFF2-40B4-BE49-F238E27FC236}">
                <a16:creationId xmlns:a16="http://schemas.microsoft.com/office/drawing/2014/main" id="{6C5C980C-A5E2-D09E-1C6E-278E610A183B}"/>
              </a:ext>
            </a:extLst>
          </p:cNvPr>
          <p:cNvSpPr txBox="1"/>
          <p:nvPr/>
        </p:nvSpPr>
        <p:spPr>
          <a:xfrm>
            <a:off x="8076778" y="2370283"/>
            <a:ext cx="1821441" cy="786497"/>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Estimation des tâches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Assistance dans la planification du projet</a:t>
            </a:r>
          </a:p>
        </p:txBody>
      </p:sp>
      <p:sp>
        <p:nvSpPr>
          <p:cNvPr id="45" name="TextBox 123">
            <a:extLst>
              <a:ext uri="{FF2B5EF4-FFF2-40B4-BE49-F238E27FC236}">
                <a16:creationId xmlns:a16="http://schemas.microsoft.com/office/drawing/2014/main" id="{F3A4D539-4225-A0A7-9F2C-845464F93325}"/>
              </a:ext>
            </a:extLst>
          </p:cNvPr>
          <p:cNvSpPr txBox="1"/>
          <p:nvPr/>
        </p:nvSpPr>
        <p:spPr>
          <a:xfrm>
            <a:off x="10058917" y="2370283"/>
            <a:ext cx="1821441" cy="1271245"/>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Conception de solution technique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Évaluation des tâches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Assistance dans la planification du projet</a:t>
            </a:r>
          </a:p>
        </p:txBody>
      </p:sp>
      <p:sp>
        <p:nvSpPr>
          <p:cNvPr id="46" name="TextBox 124">
            <a:extLst>
              <a:ext uri="{FF2B5EF4-FFF2-40B4-BE49-F238E27FC236}">
                <a16:creationId xmlns:a16="http://schemas.microsoft.com/office/drawing/2014/main" id="{3D8C84C8-D414-E135-1A28-926ECCE6C54F}"/>
              </a:ext>
            </a:extLst>
          </p:cNvPr>
          <p:cNvSpPr txBox="1"/>
          <p:nvPr/>
        </p:nvSpPr>
        <p:spPr>
          <a:xfrm>
            <a:off x="6029040" y="4177057"/>
            <a:ext cx="1971699" cy="1271245"/>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Configuration logicielle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Gestion et support des données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Assistance dans diverses tâches</a:t>
            </a:r>
          </a:p>
        </p:txBody>
      </p:sp>
      <p:sp>
        <p:nvSpPr>
          <p:cNvPr id="47" name="TextBox 125">
            <a:extLst>
              <a:ext uri="{FF2B5EF4-FFF2-40B4-BE49-F238E27FC236}">
                <a16:creationId xmlns:a16="http://schemas.microsoft.com/office/drawing/2014/main" id="{01A01706-8043-7C94-E769-ECFE1C9BFCD6}"/>
              </a:ext>
            </a:extLst>
          </p:cNvPr>
          <p:cNvSpPr txBox="1"/>
          <p:nvPr/>
        </p:nvSpPr>
        <p:spPr>
          <a:xfrm>
            <a:off x="8076776" y="4177057"/>
            <a:ext cx="1960596" cy="1513619"/>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Installation de logiciels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Personnalisation et développement</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Gestion des données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Support et formation</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Supervision technique</a:t>
            </a:r>
          </a:p>
        </p:txBody>
      </p:sp>
      <p:sp>
        <p:nvSpPr>
          <p:cNvPr id="48" name="TextBox 126">
            <a:extLst>
              <a:ext uri="{FF2B5EF4-FFF2-40B4-BE49-F238E27FC236}">
                <a16:creationId xmlns:a16="http://schemas.microsoft.com/office/drawing/2014/main" id="{85F140A2-F52F-DA19-932A-82CD2E0E4D3D}"/>
              </a:ext>
            </a:extLst>
          </p:cNvPr>
          <p:cNvSpPr txBox="1"/>
          <p:nvPr/>
        </p:nvSpPr>
        <p:spPr>
          <a:xfrm>
            <a:off x="10113411" y="4177057"/>
            <a:ext cx="1821441" cy="1028871"/>
          </a:xfrm>
          <a:prstGeom prst="rect">
            <a:avLst/>
          </a:prstGeom>
          <a:noFill/>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Spécification technique</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Assistance lors des réunions avec les vous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srgbClr val="223843"/>
                </a:solidFill>
                <a:effectLst/>
                <a:uLnTx/>
                <a:uFillTx/>
                <a:latin typeface="Trebuchet MS"/>
                <a:ea typeface="+mn-ea"/>
                <a:cs typeface="+mn-cs"/>
              </a:rPr>
              <a:t>Support</a:t>
            </a:r>
          </a:p>
        </p:txBody>
      </p:sp>
    </p:spTree>
    <p:extLst>
      <p:ext uri="{BB962C8B-B14F-4D97-AF65-F5344CB8AC3E}">
        <p14:creationId xmlns:p14="http://schemas.microsoft.com/office/powerpoint/2010/main" val="154626224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522"/>
        <p:cNvGrpSpPr/>
        <p:nvPr/>
      </p:nvGrpSpPr>
      <p:grpSpPr>
        <a:xfrm>
          <a:off x="0" y="0"/>
          <a:ext cx="0" cy="0"/>
          <a:chOff x="0" y="0"/>
          <a:chExt cx="0" cy="0"/>
        </a:xfrm>
      </p:grpSpPr>
      <p:sp>
        <p:nvSpPr>
          <p:cNvPr id="2523" name="Google Shape;2523;p14"/>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Organisation projet - Rôles</a:t>
            </a:r>
          </a:p>
        </p:txBody>
      </p:sp>
      <p:sp>
        <p:nvSpPr>
          <p:cNvPr id="2" name="Espace réservé du numéro de diapositive 1">
            <a:extLst>
              <a:ext uri="{FF2B5EF4-FFF2-40B4-BE49-F238E27FC236}">
                <a16:creationId xmlns:a16="http://schemas.microsoft.com/office/drawing/2014/main" id="{09123116-1FEB-5C17-C0A9-15F42B87C4F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graphicFrame>
        <p:nvGraphicFramePr>
          <p:cNvPr id="2524" name="Google Shape;2524;p14"/>
          <p:cNvGraphicFramePr/>
          <p:nvPr>
            <p:extLst>
              <p:ext uri="{D42A27DB-BD31-4B8C-83A1-F6EECF244321}">
                <p14:modId xmlns:p14="http://schemas.microsoft.com/office/powerpoint/2010/main" val="2389622450"/>
              </p:ext>
            </p:extLst>
          </p:nvPr>
        </p:nvGraphicFramePr>
        <p:xfrm>
          <a:off x="568151" y="2097088"/>
          <a:ext cx="11055698" cy="2209850"/>
        </p:xfrm>
        <a:graphic>
          <a:graphicData uri="http://schemas.openxmlformats.org/drawingml/2006/table">
            <a:tbl>
              <a:tblPr firstRow="1" bandRow="1">
                <a:tableStyleId>{9DCAF9ED-07DC-4A11-8D7F-57B35C25682E}</a:tableStyleId>
              </a:tblPr>
              <a:tblGrid>
                <a:gridCol w="2763925">
                  <a:extLst>
                    <a:ext uri="{9D8B030D-6E8A-4147-A177-3AD203B41FA5}">
                      <a16:colId xmlns:a16="http://schemas.microsoft.com/office/drawing/2014/main" val="20000"/>
                    </a:ext>
                  </a:extLst>
                </a:gridCol>
                <a:gridCol w="2118813">
                  <a:extLst>
                    <a:ext uri="{9D8B030D-6E8A-4147-A177-3AD203B41FA5}">
                      <a16:colId xmlns:a16="http://schemas.microsoft.com/office/drawing/2014/main" val="20001"/>
                    </a:ext>
                  </a:extLst>
                </a:gridCol>
                <a:gridCol w="2637157">
                  <a:extLst>
                    <a:ext uri="{9D8B030D-6E8A-4147-A177-3AD203B41FA5}">
                      <a16:colId xmlns:a16="http://schemas.microsoft.com/office/drawing/2014/main" val="20002"/>
                    </a:ext>
                  </a:extLst>
                </a:gridCol>
                <a:gridCol w="3535803">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Nom</a:t>
                      </a:r>
                      <a:endParaRPr lang="fr-FR"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Rôle</a:t>
                      </a:r>
                      <a:endParaRPr lang="fr-FR"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Société</a:t>
                      </a:r>
                      <a:endParaRPr lang="fr-FR" sz="14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2400" u="none" strike="noStrike" cap="none" noProof="0" dirty="0"/>
                        <a:t>Email</a:t>
                      </a:r>
                      <a:endParaRPr lang="fr-FR" sz="14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1</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Chef de projet / Validateur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2</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Validateur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3</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Key User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Client 4</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Key User</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cap="none" noProof="0" dirty="0"/>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08131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9ED6EC8-83C2-607A-786B-7F9663166A34}"/>
              </a:ext>
            </a:extLst>
          </p:cNvPr>
          <p:cNvSpPr>
            <a:spLocks noGrp="1"/>
          </p:cNvSpPr>
          <p:nvPr>
            <p:ph type="title"/>
          </p:nvPr>
        </p:nvSpPr>
        <p:spPr/>
        <p:txBody>
          <a:bodyPr/>
          <a:lstStyle/>
          <a:p>
            <a:r>
              <a:rPr lang="fr-FR" noProof="0" dirty="0"/>
              <a:t>PHASE D’IMPLEMENTATION</a:t>
            </a:r>
          </a:p>
        </p:txBody>
      </p:sp>
      <p:sp>
        <p:nvSpPr>
          <p:cNvPr id="5" name="Espace réservé du numéro de diapositive 4">
            <a:extLst>
              <a:ext uri="{FF2B5EF4-FFF2-40B4-BE49-F238E27FC236}">
                <a16:creationId xmlns:a16="http://schemas.microsoft.com/office/drawing/2014/main" id="{0C5E24E5-E54A-49E6-C575-DF5723F0DCD1}"/>
              </a:ext>
            </a:extLst>
          </p:cNvPr>
          <p:cNvSpPr>
            <a:spLocks noGrp="1"/>
          </p:cNvSpPr>
          <p:nvPr>
            <p:ph type="sldNum" sz="quarter" idx="10"/>
          </p:nvPr>
        </p:nvSpPr>
        <p:spPr/>
        <p:txBody>
          <a:bodyPr/>
          <a:lstStyle/>
          <a:p>
            <a:fld id="{0C34F99C-3C47-4582-9518-8D365E9692AE}" type="slidenum">
              <a:rPr lang="fr-FR" noProof="0" smtClean="0"/>
              <a:pPr/>
              <a:t>146</a:t>
            </a:fld>
            <a:endParaRPr lang="fr-FR" noProof="0" dirty="0"/>
          </a:p>
        </p:txBody>
      </p:sp>
      <p:sp>
        <p:nvSpPr>
          <p:cNvPr id="7" name="Rectangle : coins arrondis 6">
            <a:extLst>
              <a:ext uri="{FF2B5EF4-FFF2-40B4-BE49-F238E27FC236}">
                <a16:creationId xmlns:a16="http://schemas.microsoft.com/office/drawing/2014/main" id="{DE5F6242-3E44-D9AD-D0EC-28838DE753E0}"/>
              </a:ext>
            </a:extLst>
          </p:cNvPr>
          <p:cNvSpPr/>
          <p:nvPr/>
        </p:nvSpPr>
        <p:spPr>
          <a:xfrm>
            <a:off x="810205" y="2704777"/>
            <a:ext cx="2503095" cy="2777723"/>
          </a:xfrm>
          <a:prstGeom prst="roundRect">
            <a:avLst>
              <a:gd name="adj" fmla="val 10296"/>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8" name="ZoneTexte 7">
            <a:extLst>
              <a:ext uri="{FF2B5EF4-FFF2-40B4-BE49-F238E27FC236}">
                <a16:creationId xmlns:a16="http://schemas.microsoft.com/office/drawing/2014/main" id="{CB78C2AF-BA3A-1254-A4AA-B3FC774E0080}"/>
              </a:ext>
            </a:extLst>
          </p:cNvPr>
          <p:cNvSpPr txBox="1"/>
          <p:nvPr/>
        </p:nvSpPr>
        <p:spPr>
          <a:xfrm>
            <a:off x="870278" y="3539640"/>
            <a:ext cx="2382949" cy="1107996"/>
          </a:xfrm>
          <a:prstGeom prst="rect">
            <a:avLst/>
          </a:prstGeom>
          <a:noFill/>
        </p:spPr>
        <p:txBody>
          <a:bodyPr wrap="square">
            <a:spAutoFit/>
          </a:bodyPr>
          <a:lstStyle/>
          <a:p>
            <a:pPr lvl="0" eaLnBrk="0" fontAlgn="base" hangingPunct="0">
              <a:spcBef>
                <a:spcPct val="0"/>
              </a:spcBef>
              <a:spcAft>
                <a:spcPct val="0"/>
              </a:spcAft>
            </a:pPr>
            <a:r>
              <a:rPr lang="fr-FR" b="1" noProof="0" dirty="0">
                <a:solidFill>
                  <a:schemeClr val="bg1"/>
                </a:solidFill>
              </a:rPr>
              <a:t>IMPLÉMENTATION</a:t>
            </a:r>
            <a:br>
              <a:rPr lang="fr-FR" b="1" noProof="0" dirty="0">
                <a:solidFill>
                  <a:schemeClr val="bg1"/>
                </a:solidFill>
              </a:rPr>
            </a:br>
            <a:r>
              <a:rPr lang="fr-FR" sz="1200" noProof="0" dirty="0">
                <a:solidFill>
                  <a:schemeClr val="bg1"/>
                </a:solidFill>
              </a:rPr>
              <a:t>Vous testez, validez les fonctionnalités et ajustez vos demandes lors des sessions suivis hebdomadaire du projet</a:t>
            </a:r>
            <a:endParaRPr kumimoji="0" lang="fr-FR" sz="1200" i="0" u="none" strike="noStrike" cap="none" normalizeH="0" baseline="0" noProof="0" dirty="0">
              <a:ln>
                <a:noFill/>
              </a:ln>
              <a:solidFill>
                <a:schemeClr val="bg1"/>
              </a:solidFill>
              <a:effectLst/>
            </a:endParaRPr>
          </a:p>
        </p:txBody>
      </p:sp>
      <p:sp>
        <p:nvSpPr>
          <p:cNvPr id="10" name="ZoneTexte 9">
            <a:extLst>
              <a:ext uri="{FF2B5EF4-FFF2-40B4-BE49-F238E27FC236}">
                <a16:creationId xmlns:a16="http://schemas.microsoft.com/office/drawing/2014/main" id="{72649F12-4C4A-051B-728D-45170B412BC7}"/>
              </a:ext>
            </a:extLst>
          </p:cNvPr>
          <p:cNvSpPr txBox="1"/>
          <p:nvPr/>
        </p:nvSpPr>
        <p:spPr>
          <a:xfrm>
            <a:off x="3558593" y="3925860"/>
            <a:ext cx="1273757" cy="276999"/>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Sprint 1,2,n</a:t>
            </a:r>
            <a:endParaRPr kumimoji="0" lang="fr-FR" sz="1200" b="1" i="0" u="none" strike="noStrike" cap="none" normalizeH="0" baseline="0" noProof="0" dirty="0">
              <a:ln>
                <a:noFill/>
              </a:ln>
              <a:solidFill>
                <a:schemeClr val="accent2"/>
              </a:solidFill>
              <a:effectLst/>
            </a:endParaRPr>
          </a:p>
        </p:txBody>
      </p:sp>
      <p:grpSp>
        <p:nvGrpSpPr>
          <p:cNvPr id="11" name="Groupe 10">
            <a:extLst>
              <a:ext uri="{FF2B5EF4-FFF2-40B4-BE49-F238E27FC236}">
                <a16:creationId xmlns:a16="http://schemas.microsoft.com/office/drawing/2014/main" id="{0D5C1805-02EC-665E-FDD7-5344EF5C50BD}"/>
              </a:ext>
            </a:extLst>
          </p:cNvPr>
          <p:cNvGrpSpPr/>
          <p:nvPr/>
        </p:nvGrpSpPr>
        <p:grpSpPr>
          <a:xfrm>
            <a:off x="3553095" y="3834602"/>
            <a:ext cx="1363325" cy="495822"/>
            <a:chOff x="3123241" y="2224058"/>
            <a:chExt cx="1358902" cy="495822"/>
          </a:xfrm>
        </p:grpSpPr>
        <p:grpSp>
          <p:nvGrpSpPr>
            <p:cNvPr id="18" name="Groupe 17">
              <a:extLst>
                <a:ext uri="{FF2B5EF4-FFF2-40B4-BE49-F238E27FC236}">
                  <a16:creationId xmlns:a16="http://schemas.microsoft.com/office/drawing/2014/main" id="{5DBB33CB-2D83-EA9F-1A37-8D85AE75DA02}"/>
                </a:ext>
              </a:extLst>
            </p:cNvPr>
            <p:cNvGrpSpPr/>
            <p:nvPr/>
          </p:nvGrpSpPr>
          <p:grpSpPr>
            <a:xfrm>
              <a:off x="3123241" y="2224058"/>
              <a:ext cx="1358902" cy="495822"/>
              <a:chOff x="3820905" y="5399804"/>
              <a:chExt cx="1358902" cy="495822"/>
            </a:xfrm>
          </p:grpSpPr>
          <p:sp>
            <p:nvSpPr>
              <p:cNvPr id="21" name="Rectangle : coins arrondis 20">
                <a:extLst>
                  <a:ext uri="{FF2B5EF4-FFF2-40B4-BE49-F238E27FC236}">
                    <a16:creationId xmlns:a16="http://schemas.microsoft.com/office/drawing/2014/main" id="{8CCC0FED-0403-AE66-6735-B6CA9B1267E2}"/>
                  </a:ext>
                </a:extLst>
              </p:cNvPr>
              <p:cNvSpPr/>
              <p:nvPr/>
            </p:nvSpPr>
            <p:spPr>
              <a:xfrm>
                <a:off x="3820905" y="5399804"/>
                <a:ext cx="1273757" cy="495822"/>
              </a:xfrm>
              <a:prstGeom prst="roundRect">
                <a:avLst/>
              </a:prstGeom>
              <a:noFill/>
              <a:ln w="3810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22" name="Rectangle 21">
                <a:extLst>
                  <a:ext uri="{FF2B5EF4-FFF2-40B4-BE49-F238E27FC236}">
                    <a16:creationId xmlns:a16="http://schemas.microsoft.com/office/drawing/2014/main" id="{90DB6E45-B163-BFC8-9118-59D4E0149D8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grpSp>
        <p:sp>
          <p:nvSpPr>
            <p:cNvPr id="19" name="Ellipse 18">
              <a:extLst>
                <a:ext uri="{FF2B5EF4-FFF2-40B4-BE49-F238E27FC236}">
                  <a16:creationId xmlns:a16="http://schemas.microsoft.com/office/drawing/2014/main" id="{4994823A-F4C7-FB78-96C9-5769226C8376}"/>
                </a:ext>
              </a:extLst>
            </p:cNvPr>
            <p:cNvSpPr/>
            <p:nvPr/>
          </p:nvSpPr>
          <p:spPr>
            <a:xfrm>
              <a:off x="4354251" y="2361421"/>
              <a:ext cx="80659" cy="80659"/>
            </a:xfrm>
            <a:prstGeom prst="ellipse">
              <a:avLst/>
            </a:prstGeom>
            <a:solidFill>
              <a:srgbClr val="7B435D"/>
            </a:solid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0" name="Triangle isocèle 19">
              <a:extLst>
                <a:ext uri="{FF2B5EF4-FFF2-40B4-BE49-F238E27FC236}">
                  <a16:creationId xmlns:a16="http://schemas.microsoft.com/office/drawing/2014/main" id="{44F10A4E-DB43-134F-F68D-A29AC0C2AC6B}"/>
                </a:ext>
              </a:extLst>
            </p:cNvPr>
            <p:cNvSpPr/>
            <p:nvPr/>
          </p:nvSpPr>
          <p:spPr>
            <a:xfrm>
              <a:off x="4336780" y="2479787"/>
              <a:ext cx="115600" cy="99656"/>
            </a:xfrm>
            <a:prstGeom prst="triangle">
              <a:avLst/>
            </a:prstGeom>
            <a:solidFill>
              <a:srgbClr val="7B43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sp>
        <p:nvSpPr>
          <p:cNvPr id="12" name="Organigramme : Délai 11">
            <a:extLst>
              <a:ext uri="{FF2B5EF4-FFF2-40B4-BE49-F238E27FC236}">
                <a16:creationId xmlns:a16="http://schemas.microsoft.com/office/drawing/2014/main" id="{3D28CDC9-3922-A414-3703-1D6449353F6A}"/>
              </a:ext>
            </a:extLst>
          </p:cNvPr>
          <p:cNvSpPr/>
          <p:nvPr/>
        </p:nvSpPr>
        <p:spPr>
          <a:xfrm>
            <a:off x="5044959" y="3875865"/>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3" name="Organigramme : Délai 12">
            <a:extLst>
              <a:ext uri="{FF2B5EF4-FFF2-40B4-BE49-F238E27FC236}">
                <a16:creationId xmlns:a16="http://schemas.microsoft.com/office/drawing/2014/main" id="{ED28FBED-F7C6-6A8E-92AB-31A39F996522}"/>
              </a:ext>
            </a:extLst>
          </p:cNvPr>
          <p:cNvSpPr/>
          <p:nvPr/>
        </p:nvSpPr>
        <p:spPr>
          <a:xfrm>
            <a:off x="6535346" y="3875865"/>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4" name="Organigramme : Délai 13">
            <a:extLst>
              <a:ext uri="{FF2B5EF4-FFF2-40B4-BE49-F238E27FC236}">
                <a16:creationId xmlns:a16="http://schemas.microsoft.com/office/drawing/2014/main" id="{2667C6E6-2FEC-1DDF-3280-A85997692841}"/>
              </a:ext>
            </a:extLst>
          </p:cNvPr>
          <p:cNvSpPr/>
          <p:nvPr/>
        </p:nvSpPr>
        <p:spPr>
          <a:xfrm>
            <a:off x="8024786" y="3875865"/>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5" name="ZoneTexte 14">
            <a:extLst>
              <a:ext uri="{FF2B5EF4-FFF2-40B4-BE49-F238E27FC236}">
                <a16:creationId xmlns:a16="http://schemas.microsoft.com/office/drawing/2014/main" id="{F786A528-6300-2375-9FFE-E94A05099EC2}"/>
              </a:ext>
            </a:extLst>
          </p:cNvPr>
          <p:cNvSpPr txBox="1"/>
          <p:nvPr/>
        </p:nvSpPr>
        <p:spPr>
          <a:xfrm>
            <a:off x="5104503" y="3897847"/>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Analyse des besoins par domaine vs standard</a:t>
            </a:r>
          </a:p>
        </p:txBody>
      </p:sp>
      <p:sp>
        <p:nvSpPr>
          <p:cNvPr id="16" name="ZoneTexte 15">
            <a:extLst>
              <a:ext uri="{FF2B5EF4-FFF2-40B4-BE49-F238E27FC236}">
                <a16:creationId xmlns:a16="http://schemas.microsoft.com/office/drawing/2014/main" id="{9A0B2B4E-05CF-7DDE-FAB7-B36FBCA4A82B}"/>
              </a:ext>
            </a:extLst>
          </p:cNvPr>
          <p:cNvSpPr txBox="1"/>
          <p:nvPr/>
        </p:nvSpPr>
        <p:spPr>
          <a:xfrm>
            <a:off x="6621418" y="3897847"/>
            <a:ext cx="1055486"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Paramétrage de configuration</a:t>
            </a:r>
          </a:p>
        </p:txBody>
      </p:sp>
      <p:sp>
        <p:nvSpPr>
          <p:cNvPr id="17" name="ZoneTexte 16">
            <a:extLst>
              <a:ext uri="{FF2B5EF4-FFF2-40B4-BE49-F238E27FC236}">
                <a16:creationId xmlns:a16="http://schemas.microsoft.com/office/drawing/2014/main" id="{B964F13E-757A-DE12-00C0-965300AC598B}"/>
              </a:ext>
            </a:extLst>
          </p:cNvPr>
          <p:cNvSpPr txBox="1"/>
          <p:nvPr/>
        </p:nvSpPr>
        <p:spPr>
          <a:xfrm>
            <a:off x="8098413" y="3828598"/>
            <a:ext cx="712595" cy="507831"/>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Tests </a:t>
            </a:r>
          </a:p>
          <a:p>
            <a:pPr lvl="0" defTabSz="914400" eaLnBrk="0" fontAlgn="base" hangingPunct="0">
              <a:spcBef>
                <a:spcPct val="0"/>
              </a:spcBef>
              <a:spcAft>
                <a:spcPct val="0"/>
              </a:spcAft>
            </a:pPr>
            <a:r>
              <a:rPr lang="fr-FR" sz="900" b="1" noProof="0" dirty="0"/>
              <a:t>unitaires</a:t>
            </a:r>
          </a:p>
          <a:p>
            <a:pPr lvl="0" defTabSz="914400" eaLnBrk="0" fontAlgn="base" hangingPunct="0">
              <a:spcBef>
                <a:spcPct val="0"/>
              </a:spcBef>
              <a:spcAft>
                <a:spcPct val="0"/>
              </a:spcAft>
            </a:pPr>
            <a:r>
              <a:rPr lang="fr-FR" sz="900" b="1" noProof="0" dirty="0"/>
              <a:t>Captivea</a:t>
            </a:r>
          </a:p>
        </p:txBody>
      </p:sp>
      <p:sp>
        <p:nvSpPr>
          <p:cNvPr id="26" name="ZoneTexte 25">
            <a:extLst>
              <a:ext uri="{FF2B5EF4-FFF2-40B4-BE49-F238E27FC236}">
                <a16:creationId xmlns:a16="http://schemas.microsoft.com/office/drawing/2014/main" id="{6AE8BBF9-DFFD-905E-9297-99DD6499B3C5}"/>
              </a:ext>
            </a:extLst>
          </p:cNvPr>
          <p:cNvSpPr txBox="1"/>
          <p:nvPr/>
        </p:nvSpPr>
        <p:spPr>
          <a:xfrm>
            <a:off x="9587853" y="3967097"/>
            <a:ext cx="720250"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Démo</a:t>
            </a:r>
          </a:p>
        </p:txBody>
      </p:sp>
      <p:sp>
        <p:nvSpPr>
          <p:cNvPr id="27" name="Organigramme : Délai 26">
            <a:extLst>
              <a:ext uri="{FF2B5EF4-FFF2-40B4-BE49-F238E27FC236}">
                <a16:creationId xmlns:a16="http://schemas.microsoft.com/office/drawing/2014/main" id="{A4F3A7B0-2965-DFEB-B1F3-6621A9CFD97E}"/>
              </a:ext>
            </a:extLst>
          </p:cNvPr>
          <p:cNvSpPr/>
          <p:nvPr/>
        </p:nvSpPr>
        <p:spPr>
          <a:xfrm>
            <a:off x="11003666" y="3875865"/>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8" name="ZoneTexte 27">
            <a:extLst>
              <a:ext uri="{FF2B5EF4-FFF2-40B4-BE49-F238E27FC236}">
                <a16:creationId xmlns:a16="http://schemas.microsoft.com/office/drawing/2014/main" id="{C338C846-080B-DDBE-8D8A-7C594868EF27}"/>
              </a:ext>
            </a:extLst>
          </p:cNvPr>
          <p:cNvSpPr txBox="1"/>
          <p:nvPr/>
        </p:nvSpPr>
        <p:spPr>
          <a:xfrm>
            <a:off x="11077293" y="3828598"/>
            <a:ext cx="712595" cy="507831"/>
          </a:xfrm>
          <a:prstGeom prst="rect">
            <a:avLst/>
          </a:prstGeom>
          <a:noFill/>
        </p:spPr>
        <p:txBody>
          <a:bodyPr wrap="square">
            <a:spAutoFit/>
          </a:bodyPr>
          <a:lstStyle/>
          <a:p>
            <a:pPr lvl="0" eaLnBrk="0" fontAlgn="base" hangingPunct="0">
              <a:spcBef>
                <a:spcPct val="0"/>
              </a:spcBef>
              <a:spcAft>
                <a:spcPct val="0"/>
              </a:spcAft>
            </a:pPr>
            <a:r>
              <a:rPr lang="fr-FR" sz="900" b="1" noProof="0" dirty="0"/>
              <a:t>Tests </a:t>
            </a:r>
          </a:p>
          <a:p>
            <a:pPr lvl="0" eaLnBrk="0" fontAlgn="base" hangingPunct="0">
              <a:spcBef>
                <a:spcPct val="0"/>
              </a:spcBef>
              <a:spcAft>
                <a:spcPct val="0"/>
              </a:spcAft>
            </a:pPr>
            <a:r>
              <a:rPr lang="fr-FR" sz="900" b="1" noProof="0" dirty="0"/>
              <a:t>unitaires</a:t>
            </a:r>
          </a:p>
          <a:p>
            <a:pPr lvl="0" eaLnBrk="0" fontAlgn="base" hangingPunct="0">
              <a:spcBef>
                <a:spcPct val="0"/>
              </a:spcBef>
              <a:spcAft>
                <a:spcPct val="0"/>
              </a:spcAft>
            </a:pPr>
            <a:r>
              <a:rPr lang="fr-FR" sz="900" b="1" noProof="0" dirty="0"/>
              <a:t>Captivea</a:t>
            </a:r>
          </a:p>
        </p:txBody>
      </p:sp>
      <p:sp>
        <p:nvSpPr>
          <p:cNvPr id="29" name="ZoneTexte 28">
            <a:extLst>
              <a:ext uri="{FF2B5EF4-FFF2-40B4-BE49-F238E27FC236}">
                <a16:creationId xmlns:a16="http://schemas.microsoft.com/office/drawing/2014/main" id="{3D452D5F-C7F6-BA5C-A83E-4146D71ED58A}"/>
              </a:ext>
            </a:extLst>
          </p:cNvPr>
          <p:cNvSpPr txBox="1"/>
          <p:nvPr/>
        </p:nvSpPr>
        <p:spPr>
          <a:xfrm>
            <a:off x="3558593" y="3152001"/>
            <a:ext cx="127375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Domaine</a:t>
            </a:r>
          </a:p>
          <a:p>
            <a:pPr lvl="0" algn="ctr" eaLnBrk="0" fontAlgn="base" hangingPunct="0">
              <a:spcAft>
                <a:spcPct val="0"/>
              </a:spcAft>
            </a:pPr>
            <a:r>
              <a:rPr kumimoji="0" lang="fr-FR" sz="1200" b="1" i="0" u="none" strike="noStrike" cap="none" normalizeH="0" baseline="0" noProof="0" dirty="0">
                <a:ln>
                  <a:noFill/>
                </a:ln>
                <a:solidFill>
                  <a:schemeClr val="accent2"/>
                </a:solidFill>
                <a:effectLst/>
              </a:rPr>
              <a:t>1, 2, </a:t>
            </a:r>
            <a:r>
              <a:rPr lang="fr-FR" sz="1200" b="1" noProof="0" dirty="0">
                <a:solidFill>
                  <a:schemeClr val="accent2"/>
                </a:solidFill>
              </a:rPr>
              <a:t>n</a:t>
            </a:r>
            <a:endParaRPr kumimoji="0" lang="fr-FR" sz="1200" b="1" i="0" u="none" strike="noStrike" cap="none" normalizeH="0" baseline="0" noProof="0" dirty="0">
              <a:ln>
                <a:noFill/>
              </a:ln>
              <a:solidFill>
                <a:schemeClr val="accent2"/>
              </a:solidFill>
              <a:effectLst/>
            </a:endParaRPr>
          </a:p>
        </p:txBody>
      </p:sp>
      <p:sp>
        <p:nvSpPr>
          <p:cNvPr id="32" name="ZoneTexte 31">
            <a:extLst>
              <a:ext uri="{FF2B5EF4-FFF2-40B4-BE49-F238E27FC236}">
                <a16:creationId xmlns:a16="http://schemas.microsoft.com/office/drawing/2014/main" id="{0489E4CB-42E4-F5D2-78E3-63BA277C3077}"/>
              </a:ext>
            </a:extLst>
          </p:cNvPr>
          <p:cNvSpPr txBox="1"/>
          <p:nvPr/>
        </p:nvSpPr>
        <p:spPr>
          <a:xfrm>
            <a:off x="3554318" y="4496004"/>
            <a:ext cx="128230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Validation du domaine</a:t>
            </a:r>
            <a:endParaRPr kumimoji="0" lang="fr-FR" sz="1200" b="1" i="0" u="none" strike="noStrike" cap="none" normalizeH="0" baseline="0" noProof="0" dirty="0">
              <a:ln>
                <a:noFill/>
              </a:ln>
              <a:solidFill>
                <a:schemeClr val="accent2"/>
              </a:solidFill>
              <a:effectLst/>
            </a:endParaRPr>
          </a:p>
        </p:txBody>
      </p:sp>
      <p:sp>
        <p:nvSpPr>
          <p:cNvPr id="47" name="Rectangle : coins arrondis 46">
            <a:extLst>
              <a:ext uri="{FF2B5EF4-FFF2-40B4-BE49-F238E27FC236}">
                <a16:creationId xmlns:a16="http://schemas.microsoft.com/office/drawing/2014/main" id="{844C6666-7015-6479-6594-AA8D7284C1F2}"/>
              </a:ext>
            </a:extLst>
          </p:cNvPr>
          <p:cNvSpPr/>
          <p:nvPr/>
        </p:nvSpPr>
        <p:spPr>
          <a:xfrm>
            <a:off x="3556520" y="4473791"/>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34" name="Organigramme : Délai 33">
            <a:extLst>
              <a:ext uri="{FF2B5EF4-FFF2-40B4-BE49-F238E27FC236}">
                <a16:creationId xmlns:a16="http://schemas.microsoft.com/office/drawing/2014/main" id="{DD5566ED-9DB1-6A00-76B7-5609B7AE5E6F}"/>
              </a:ext>
            </a:extLst>
          </p:cNvPr>
          <p:cNvSpPr/>
          <p:nvPr/>
        </p:nvSpPr>
        <p:spPr>
          <a:xfrm>
            <a:off x="5044958" y="4515054"/>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5" name="Organigramme : Délai 34">
            <a:extLst>
              <a:ext uri="{FF2B5EF4-FFF2-40B4-BE49-F238E27FC236}">
                <a16:creationId xmlns:a16="http://schemas.microsoft.com/office/drawing/2014/main" id="{BA42A84E-0800-0319-9E29-71F9A60E6446}"/>
              </a:ext>
            </a:extLst>
          </p:cNvPr>
          <p:cNvSpPr/>
          <p:nvPr/>
        </p:nvSpPr>
        <p:spPr>
          <a:xfrm>
            <a:off x="653534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6" name="Organigramme : Délai 35">
            <a:extLst>
              <a:ext uri="{FF2B5EF4-FFF2-40B4-BE49-F238E27FC236}">
                <a16:creationId xmlns:a16="http://schemas.microsoft.com/office/drawing/2014/main" id="{B0291349-D401-6C1B-0BA1-936F8DA656D3}"/>
              </a:ext>
            </a:extLst>
          </p:cNvPr>
          <p:cNvSpPr/>
          <p:nvPr/>
        </p:nvSpPr>
        <p:spPr>
          <a:xfrm>
            <a:off x="802478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7" name="ZoneTexte 36">
            <a:extLst>
              <a:ext uri="{FF2B5EF4-FFF2-40B4-BE49-F238E27FC236}">
                <a16:creationId xmlns:a16="http://schemas.microsoft.com/office/drawing/2014/main" id="{62B64F63-A1E0-8252-D825-061E1CEB0A37}"/>
              </a:ext>
            </a:extLst>
          </p:cNvPr>
          <p:cNvSpPr txBox="1"/>
          <p:nvPr/>
        </p:nvSpPr>
        <p:spPr>
          <a:xfrm>
            <a:off x="5111956" y="4537036"/>
            <a:ext cx="1335065"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a:t>
            </a:r>
          </a:p>
          <a:p>
            <a:pPr lvl="0" eaLnBrk="0" fontAlgn="base" hangingPunct="0">
              <a:spcBef>
                <a:spcPct val="0"/>
              </a:spcBef>
              <a:spcAft>
                <a:spcPct val="0"/>
              </a:spcAft>
            </a:pPr>
            <a:r>
              <a:rPr lang="fr-FR" sz="900" b="1" noProof="0" dirty="0"/>
              <a:t>d’implémentation</a:t>
            </a:r>
          </a:p>
        </p:txBody>
      </p:sp>
      <p:sp>
        <p:nvSpPr>
          <p:cNvPr id="38" name="ZoneTexte 37">
            <a:extLst>
              <a:ext uri="{FF2B5EF4-FFF2-40B4-BE49-F238E27FC236}">
                <a16:creationId xmlns:a16="http://schemas.microsoft.com/office/drawing/2014/main" id="{04D7519E-A4D6-3F89-2054-A96B395DB8E0}"/>
              </a:ext>
            </a:extLst>
          </p:cNvPr>
          <p:cNvSpPr txBox="1"/>
          <p:nvPr/>
        </p:nvSpPr>
        <p:spPr>
          <a:xfrm>
            <a:off x="6621417" y="4537036"/>
            <a:ext cx="1055486" cy="369332"/>
          </a:xfrm>
          <a:prstGeom prst="rect">
            <a:avLst/>
          </a:prstGeom>
          <a:noFill/>
        </p:spPr>
        <p:txBody>
          <a:bodyPr wrap="square">
            <a:spAutoFit/>
          </a:bodyPr>
          <a:lstStyle/>
          <a:p>
            <a:pPr lvl="0" eaLnBrk="0" fontAlgn="base" hangingPunct="0">
              <a:spcBef>
                <a:spcPct val="0"/>
              </a:spcBef>
              <a:spcAft>
                <a:spcPct val="0"/>
              </a:spcAft>
            </a:pPr>
            <a:r>
              <a:rPr lang="fr-FR" sz="900" b="1" noProof="0" dirty="0"/>
              <a:t>Démo complète du domaine</a:t>
            </a:r>
          </a:p>
        </p:txBody>
      </p:sp>
      <p:sp>
        <p:nvSpPr>
          <p:cNvPr id="39" name="ZoneTexte 38">
            <a:extLst>
              <a:ext uri="{FF2B5EF4-FFF2-40B4-BE49-F238E27FC236}">
                <a16:creationId xmlns:a16="http://schemas.microsoft.com/office/drawing/2014/main" id="{BCF7FCCC-9BE0-FE26-FFD6-052438E771FB}"/>
              </a:ext>
            </a:extLst>
          </p:cNvPr>
          <p:cNvSpPr txBox="1"/>
          <p:nvPr/>
        </p:nvSpPr>
        <p:spPr>
          <a:xfrm>
            <a:off x="8098412" y="4467787"/>
            <a:ext cx="1295933" cy="507831"/>
          </a:xfrm>
          <a:prstGeom prst="rect">
            <a:avLst/>
          </a:prstGeom>
          <a:noFill/>
        </p:spPr>
        <p:txBody>
          <a:bodyPr wrap="square">
            <a:spAutoFit/>
          </a:bodyPr>
          <a:lstStyle/>
          <a:p>
            <a:pPr lvl="0" eaLnBrk="0" fontAlgn="base" hangingPunct="0">
              <a:spcBef>
                <a:spcPct val="0"/>
              </a:spcBef>
              <a:spcAft>
                <a:spcPct val="0"/>
              </a:spcAft>
            </a:pPr>
            <a:r>
              <a:rPr lang="fr-FR" sz="900" b="1" noProof="0" dirty="0"/>
              <a:t>Tests implémentation &amp; feedback client</a:t>
            </a:r>
          </a:p>
        </p:txBody>
      </p:sp>
      <p:sp>
        <p:nvSpPr>
          <p:cNvPr id="40" name="Organigramme : Délai 39">
            <a:extLst>
              <a:ext uri="{FF2B5EF4-FFF2-40B4-BE49-F238E27FC236}">
                <a16:creationId xmlns:a16="http://schemas.microsoft.com/office/drawing/2014/main" id="{FCF4055C-A446-2578-C7CC-E54ABA068026}"/>
              </a:ext>
            </a:extLst>
          </p:cNvPr>
          <p:cNvSpPr/>
          <p:nvPr/>
        </p:nvSpPr>
        <p:spPr>
          <a:xfrm>
            <a:off x="951422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1" name="ZoneTexte 40">
            <a:extLst>
              <a:ext uri="{FF2B5EF4-FFF2-40B4-BE49-F238E27FC236}">
                <a16:creationId xmlns:a16="http://schemas.microsoft.com/office/drawing/2014/main" id="{DAF46907-FD27-C8AC-3E2D-44BB9C34AFC4}"/>
              </a:ext>
            </a:extLst>
          </p:cNvPr>
          <p:cNvSpPr txBox="1"/>
          <p:nvPr/>
        </p:nvSpPr>
        <p:spPr>
          <a:xfrm>
            <a:off x="9587852" y="4537036"/>
            <a:ext cx="1222306" cy="369332"/>
          </a:xfrm>
          <a:prstGeom prst="rect">
            <a:avLst/>
          </a:prstGeom>
          <a:noFill/>
        </p:spPr>
        <p:txBody>
          <a:bodyPr wrap="square">
            <a:spAutoFit/>
          </a:bodyPr>
          <a:lstStyle/>
          <a:p>
            <a:pPr lvl="0" eaLnBrk="0" fontAlgn="base" hangingPunct="0">
              <a:spcBef>
                <a:spcPct val="0"/>
              </a:spcBef>
              <a:spcAft>
                <a:spcPct val="0"/>
              </a:spcAft>
            </a:pPr>
            <a:r>
              <a:rPr lang="fr-FR" sz="900" b="1" noProof="0" dirty="0"/>
              <a:t>Gestion des feedbacks</a:t>
            </a:r>
          </a:p>
        </p:txBody>
      </p:sp>
      <p:sp>
        <p:nvSpPr>
          <p:cNvPr id="42" name="Organigramme : Délai 41">
            <a:extLst>
              <a:ext uri="{FF2B5EF4-FFF2-40B4-BE49-F238E27FC236}">
                <a16:creationId xmlns:a16="http://schemas.microsoft.com/office/drawing/2014/main" id="{54C8C9DF-F57F-DFA2-0B7E-C799DD7678E4}"/>
              </a:ext>
            </a:extLst>
          </p:cNvPr>
          <p:cNvSpPr/>
          <p:nvPr/>
        </p:nvSpPr>
        <p:spPr>
          <a:xfrm>
            <a:off x="11003665" y="4515054"/>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3" name="ZoneTexte 42">
            <a:extLst>
              <a:ext uri="{FF2B5EF4-FFF2-40B4-BE49-F238E27FC236}">
                <a16:creationId xmlns:a16="http://schemas.microsoft.com/office/drawing/2014/main" id="{8EA88C5E-8DA6-CDA4-973D-DC4C42A0E603}"/>
              </a:ext>
            </a:extLst>
          </p:cNvPr>
          <p:cNvSpPr txBox="1"/>
          <p:nvPr/>
        </p:nvSpPr>
        <p:spPr>
          <a:xfrm>
            <a:off x="11077292" y="4467787"/>
            <a:ext cx="1148679" cy="507831"/>
          </a:xfrm>
          <a:prstGeom prst="rect">
            <a:avLst/>
          </a:prstGeom>
          <a:noFill/>
        </p:spPr>
        <p:txBody>
          <a:bodyPr wrap="square">
            <a:spAutoFit/>
          </a:bodyPr>
          <a:lstStyle/>
          <a:p>
            <a:pPr lvl="0" eaLnBrk="0" fontAlgn="base" hangingPunct="0">
              <a:spcBef>
                <a:spcPct val="0"/>
              </a:spcBef>
              <a:spcAft>
                <a:spcPct val="0"/>
              </a:spcAft>
            </a:pPr>
            <a:r>
              <a:rPr lang="fr-FR" sz="900" b="1" noProof="0" dirty="0"/>
              <a:t>Validation du domaine &amp; </a:t>
            </a:r>
          </a:p>
          <a:p>
            <a:pPr lvl="0" eaLnBrk="0" fontAlgn="base" hangingPunct="0">
              <a:spcBef>
                <a:spcPct val="0"/>
              </a:spcBef>
              <a:spcAft>
                <a:spcPct val="0"/>
              </a:spcAft>
            </a:pPr>
            <a:r>
              <a:rPr lang="fr-FR" sz="900" b="1" noProof="0" dirty="0"/>
              <a:t>MEP domaine</a:t>
            </a:r>
          </a:p>
        </p:txBody>
      </p:sp>
      <p:sp>
        <p:nvSpPr>
          <p:cNvPr id="67" name="Organigramme : Délai 66">
            <a:extLst>
              <a:ext uri="{FF2B5EF4-FFF2-40B4-BE49-F238E27FC236}">
                <a16:creationId xmlns:a16="http://schemas.microsoft.com/office/drawing/2014/main" id="{90E45CA2-A89E-E79B-C12D-F63F2B330B7A}"/>
              </a:ext>
            </a:extLst>
          </p:cNvPr>
          <p:cNvSpPr/>
          <p:nvPr/>
        </p:nvSpPr>
        <p:spPr>
          <a:xfrm>
            <a:off x="9513753" y="3875865"/>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nvGrpSpPr>
          <p:cNvPr id="73" name="Groupe 72">
            <a:extLst>
              <a:ext uri="{FF2B5EF4-FFF2-40B4-BE49-F238E27FC236}">
                <a16:creationId xmlns:a16="http://schemas.microsoft.com/office/drawing/2014/main" id="{008AA4B5-CA48-6526-2A4F-AE4923A929F2}"/>
              </a:ext>
            </a:extLst>
          </p:cNvPr>
          <p:cNvGrpSpPr/>
          <p:nvPr/>
        </p:nvGrpSpPr>
        <p:grpSpPr>
          <a:xfrm>
            <a:off x="3445320" y="2690651"/>
            <a:ext cx="1578875" cy="2777722"/>
            <a:chOff x="3211532" y="2690651"/>
            <a:chExt cx="1810155" cy="2777722"/>
          </a:xfrm>
        </p:grpSpPr>
        <p:sp>
          <p:nvSpPr>
            <p:cNvPr id="68" name="Rectangle : coins arrondis 67">
              <a:extLst>
                <a:ext uri="{FF2B5EF4-FFF2-40B4-BE49-F238E27FC236}">
                  <a16:creationId xmlns:a16="http://schemas.microsoft.com/office/drawing/2014/main" id="{AA287F23-1818-3DE0-8885-3F4F8AE8D6BA}"/>
                </a:ext>
              </a:extLst>
            </p:cNvPr>
            <p:cNvSpPr/>
            <p:nvPr/>
          </p:nvSpPr>
          <p:spPr>
            <a:xfrm>
              <a:off x="3211532" y="2690651"/>
              <a:ext cx="1704945" cy="2777722"/>
            </a:xfrm>
            <a:prstGeom prst="roundRect">
              <a:avLst/>
            </a:prstGeom>
            <a:noFill/>
            <a:ln w="3810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69" name="Rectangle 68">
              <a:extLst>
                <a:ext uri="{FF2B5EF4-FFF2-40B4-BE49-F238E27FC236}">
                  <a16:creationId xmlns:a16="http://schemas.microsoft.com/office/drawing/2014/main" id="{10519021-2C74-B19A-F669-03663F0C8556}"/>
                </a:ext>
              </a:extLst>
            </p:cNvPr>
            <p:cNvSpPr/>
            <p:nvPr/>
          </p:nvSpPr>
          <p:spPr>
            <a:xfrm>
              <a:off x="4796367" y="3179667"/>
              <a:ext cx="225320" cy="2493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1" name="Ellipse 70">
              <a:extLst>
                <a:ext uri="{FF2B5EF4-FFF2-40B4-BE49-F238E27FC236}">
                  <a16:creationId xmlns:a16="http://schemas.microsoft.com/office/drawing/2014/main" id="{6A8D49C5-6ABA-594F-248F-635C39FBE557}"/>
                </a:ext>
              </a:extLst>
            </p:cNvPr>
            <p:cNvSpPr/>
            <p:nvPr/>
          </p:nvSpPr>
          <p:spPr>
            <a:xfrm>
              <a:off x="4876016" y="3139337"/>
              <a:ext cx="80922" cy="80659"/>
            </a:xfrm>
            <a:prstGeom prst="ellipse">
              <a:avLst/>
            </a:prstGeom>
            <a:solidFill>
              <a:srgbClr val="7B435D"/>
            </a:solid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2" name="Triangle isocèle 71">
              <a:extLst>
                <a:ext uri="{FF2B5EF4-FFF2-40B4-BE49-F238E27FC236}">
                  <a16:creationId xmlns:a16="http://schemas.microsoft.com/office/drawing/2014/main" id="{53721D4D-6CAB-9F99-FE41-1BE0F72B5DB9}"/>
                </a:ext>
              </a:extLst>
            </p:cNvPr>
            <p:cNvSpPr/>
            <p:nvPr/>
          </p:nvSpPr>
          <p:spPr>
            <a:xfrm>
              <a:off x="4856062" y="3354848"/>
              <a:ext cx="115976" cy="99656"/>
            </a:xfrm>
            <a:prstGeom prst="triangle">
              <a:avLst/>
            </a:prstGeom>
            <a:solidFill>
              <a:srgbClr val="7B43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grpSp>
      <p:sp>
        <p:nvSpPr>
          <p:cNvPr id="74" name="Organigramme : Délai 73">
            <a:extLst>
              <a:ext uri="{FF2B5EF4-FFF2-40B4-BE49-F238E27FC236}">
                <a16:creationId xmlns:a16="http://schemas.microsoft.com/office/drawing/2014/main" id="{960041BF-FB4C-E6EB-5689-91889D7B0977}"/>
              </a:ext>
            </a:extLst>
          </p:cNvPr>
          <p:cNvSpPr/>
          <p:nvPr/>
        </p:nvSpPr>
        <p:spPr>
          <a:xfrm>
            <a:off x="6554739" y="6055562"/>
            <a:ext cx="74923" cy="365125"/>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5" name="ZoneTexte 74">
            <a:extLst>
              <a:ext uri="{FF2B5EF4-FFF2-40B4-BE49-F238E27FC236}">
                <a16:creationId xmlns:a16="http://schemas.microsoft.com/office/drawing/2014/main" id="{BA965752-52F7-E9BF-0F93-FE3CBB1E2844}"/>
              </a:ext>
            </a:extLst>
          </p:cNvPr>
          <p:cNvSpPr txBox="1"/>
          <p:nvPr/>
        </p:nvSpPr>
        <p:spPr>
          <a:xfrm>
            <a:off x="6616064" y="6053458"/>
            <a:ext cx="723149"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Client &amp; Captivea</a:t>
            </a:r>
          </a:p>
        </p:txBody>
      </p:sp>
      <p:sp>
        <p:nvSpPr>
          <p:cNvPr id="76" name="Organigramme : Délai 75">
            <a:extLst>
              <a:ext uri="{FF2B5EF4-FFF2-40B4-BE49-F238E27FC236}">
                <a16:creationId xmlns:a16="http://schemas.microsoft.com/office/drawing/2014/main" id="{32D39A0D-429C-A4E2-0D1A-EE0AEC4EF121}"/>
              </a:ext>
            </a:extLst>
          </p:cNvPr>
          <p:cNvSpPr/>
          <p:nvPr/>
        </p:nvSpPr>
        <p:spPr>
          <a:xfrm>
            <a:off x="8022683" y="6055562"/>
            <a:ext cx="74923" cy="365125"/>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7" name="ZoneTexte 76">
            <a:extLst>
              <a:ext uri="{FF2B5EF4-FFF2-40B4-BE49-F238E27FC236}">
                <a16:creationId xmlns:a16="http://schemas.microsoft.com/office/drawing/2014/main" id="{00BADBB4-BA79-6927-8409-F235F415FA5B}"/>
              </a:ext>
            </a:extLst>
          </p:cNvPr>
          <p:cNvSpPr txBox="1"/>
          <p:nvPr/>
        </p:nvSpPr>
        <p:spPr>
          <a:xfrm>
            <a:off x="8093135" y="612270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Client</a:t>
            </a:r>
          </a:p>
        </p:txBody>
      </p:sp>
      <p:sp>
        <p:nvSpPr>
          <p:cNvPr id="78" name="Organigramme : Délai 77">
            <a:extLst>
              <a:ext uri="{FF2B5EF4-FFF2-40B4-BE49-F238E27FC236}">
                <a16:creationId xmlns:a16="http://schemas.microsoft.com/office/drawing/2014/main" id="{2A26EE66-664E-07D5-936C-33F3F9434CD8}"/>
              </a:ext>
            </a:extLst>
          </p:cNvPr>
          <p:cNvSpPr/>
          <p:nvPr/>
        </p:nvSpPr>
        <p:spPr>
          <a:xfrm>
            <a:off x="9513753" y="6055562"/>
            <a:ext cx="74924" cy="365125"/>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9" name="ZoneTexte 78">
            <a:extLst>
              <a:ext uri="{FF2B5EF4-FFF2-40B4-BE49-F238E27FC236}">
                <a16:creationId xmlns:a16="http://schemas.microsoft.com/office/drawing/2014/main" id="{A4EC44C8-7E59-CE59-CAFD-70766C513473}"/>
              </a:ext>
            </a:extLst>
          </p:cNvPr>
          <p:cNvSpPr txBox="1"/>
          <p:nvPr/>
        </p:nvSpPr>
        <p:spPr>
          <a:xfrm>
            <a:off x="9588677" y="612270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Captivea</a:t>
            </a:r>
          </a:p>
        </p:txBody>
      </p:sp>
      <p:sp>
        <p:nvSpPr>
          <p:cNvPr id="81" name="Ellipse 80">
            <a:extLst>
              <a:ext uri="{FF2B5EF4-FFF2-40B4-BE49-F238E27FC236}">
                <a16:creationId xmlns:a16="http://schemas.microsoft.com/office/drawing/2014/main" id="{B8567788-99EA-BEE3-FC13-C2BB0CEC84AE}"/>
              </a:ext>
            </a:extLst>
          </p:cNvPr>
          <p:cNvSpPr/>
          <p:nvPr/>
        </p:nvSpPr>
        <p:spPr>
          <a:xfrm>
            <a:off x="86858" y="3905630"/>
            <a:ext cx="490762" cy="4907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85" name="Connecteur droit 84">
            <a:extLst>
              <a:ext uri="{FF2B5EF4-FFF2-40B4-BE49-F238E27FC236}">
                <a16:creationId xmlns:a16="http://schemas.microsoft.com/office/drawing/2014/main" id="{48C81B33-160E-E805-756E-6C69EA5D242D}"/>
              </a:ext>
            </a:extLst>
          </p:cNvPr>
          <p:cNvCxnSpPr>
            <a:cxnSpLocks/>
            <a:stCxn id="81" idx="6"/>
          </p:cNvCxnSpPr>
          <p:nvPr/>
        </p:nvCxnSpPr>
        <p:spPr>
          <a:xfrm>
            <a:off x="577620" y="4151011"/>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86" name="Google Shape;13526;p81">
            <a:extLst>
              <a:ext uri="{FF2B5EF4-FFF2-40B4-BE49-F238E27FC236}">
                <a16:creationId xmlns:a16="http://schemas.microsoft.com/office/drawing/2014/main" id="{182B27D2-6842-9569-AD2A-B5E2DF38083A}"/>
              </a:ext>
            </a:extLst>
          </p:cNvPr>
          <p:cNvGrpSpPr/>
          <p:nvPr/>
        </p:nvGrpSpPr>
        <p:grpSpPr>
          <a:xfrm>
            <a:off x="176060" y="3992806"/>
            <a:ext cx="316433" cy="316409"/>
            <a:chOff x="-4478975" y="3251700"/>
            <a:chExt cx="293825" cy="293800"/>
          </a:xfrm>
          <a:solidFill>
            <a:schemeClr val="bg1"/>
          </a:solidFill>
        </p:grpSpPr>
        <p:sp>
          <p:nvSpPr>
            <p:cNvPr id="87" name="Google Shape;13527;p81">
              <a:extLst>
                <a:ext uri="{FF2B5EF4-FFF2-40B4-BE49-F238E27FC236}">
                  <a16:creationId xmlns:a16="http://schemas.microsoft.com/office/drawing/2014/main" id="{924313FC-ADE1-7C3E-D044-9FFD98A0E169}"/>
                </a:ext>
              </a:extLst>
            </p:cNvPr>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88" name="Google Shape;13528;p81">
              <a:extLst>
                <a:ext uri="{FF2B5EF4-FFF2-40B4-BE49-F238E27FC236}">
                  <a16:creationId xmlns:a16="http://schemas.microsoft.com/office/drawing/2014/main" id="{56C38052-A23F-87E6-7A04-C8AF710B35C9}"/>
                </a:ext>
              </a:extLst>
            </p:cNvPr>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89" name="Google Shape;13529;p81">
              <a:extLst>
                <a:ext uri="{FF2B5EF4-FFF2-40B4-BE49-F238E27FC236}">
                  <a16:creationId xmlns:a16="http://schemas.microsoft.com/office/drawing/2014/main" id="{AFEB4270-4014-8BBF-9F26-19736D300474}"/>
                </a:ext>
              </a:extLst>
            </p:cNvPr>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grpSp>
    </p:spTree>
    <p:extLst>
      <p:ext uri="{BB962C8B-B14F-4D97-AF65-F5344CB8AC3E}">
        <p14:creationId xmlns:p14="http://schemas.microsoft.com/office/powerpoint/2010/main" val="382631554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89CA9-1A89-9522-A092-3F3867C571EB}"/>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90FF0FF0-D95B-66C0-1F57-DE1DCA088B3E}"/>
              </a:ext>
            </a:extLst>
          </p:cNvPr>
          <p:cNvSpPr>
            <a:spLocks noGrp="1"/>
          </p:cNvSpPr>
          <p:nvPr>
            <p:ph type="title"/>
          </p:nvPr>
        </p:nvSpPr>
        <p:spPr/>
        <p:txBody>
          <a:bodyPr/>
          <a:lstStyle/>
          <a:p>
            <a:r>
              <a:rPr lang="fr-FR" noProof="0" dirty="0"/>
              <a:t>MISE EN PRODUCTION</a:t>
            </a:r>
          </a:p>
        </p:txBody>
      </p:sp>
      <p:sp>
        <p:nvSpPr>
          <p:cNvPr id="5" name="Espace réservé du numéro de diapositive 4">
            <a:extLst>
              <a:ext uri="{FF2B5EF4-FFF2-40B4-BE49-F238E27FC236}">
                <a16:creationId xmlns:a16="http://schemas.microsoft.com/office/drawing/2014/main" id="{E1F20CD3-3B84-57AF-9716-ED535D8A6822}"/>
              </a:ext>
            </a:extLst>
          </p:cNvPr>
          <p:cNvSpPr>
            <a:spLocks noGrp="1"/>
          </p:cNvSpPr>
          <p:nvPr>
            <p:ph type="sldNum" sz="quarter" idx="10"/>
          </p:nvPr>
        </p:nvSpPr>
        <p:spPr/>
        <p:txBody>
          <a:bodyPr/>
          <a:lstStyle/>
          <a:p>
            <a:fld id="{0C34F99C-3C47-4582-9518-8D365E9692AE}" type="slidenum">
              <a:rPr lang="fr-FR" noProof="0" smtClean="0"/>
              <a:pPr/>
              <a:t>147</a:t>
            </a:fld>
            <a:endParaRPr lang="fr-FR" noProof="0" dirty="0"/>
          </a:p>
        </p:txBody>
      </p:sp>
      <p:sp>
        <p:nvSpPr>
          <p:cNvPr id="7" name="Rectangle : coins arrondis 6">
            <a:extLst>
              <a:ext uri="{FF2B5EF4-FFF2-40B4-BE49-F238E27FC236}">
                <a16:creationId xmlns:a16="http://schemas.microsoft.com/office/drawing/2014/main" id="{7EF90D99-DB01-38FB-D860-9827B6A8F100}"/>
              </a:ext>
            </a:extLst>
          </p:cNvPr>
          <p:cNvSpPr/>
          <p:nvPr/>
        </p:nvSpPr>
        <p:spPr>
          <a:xfrm>
            <a:off x="819730" y="2698079"/>
            <a:ext cx="2503095" cy="3311003"/>
          </a:xfrm>
          <a:prstGeom prst="roundRect">
            <a:avLst>
              <a:gd name="adj" fmla="val 10296"/>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noProof="0" dirty="0"/>
          </a:p>
        </p:txBody>
      </p:sp>
      <p:sp>
        <p:nvSpPr>
          <p:cNvPr id="8" name="ZoneTexte 7">
            <a:extLst>
              <a:ext uri="{FF2B5EF4-FFF2-40B4-BE49-F238E27FC236}">
                <a16:creationId xmlns:a16="http://schemas.microsoft.com/office/drawing/2014/main" id="{349F1F3A-1DF9-A3DF-A85D-6B741723CEB0}"/>
              </a:ext>
            </a:extLst>
          </p:cNvPr>
          <p:cNvSpPr txBox="1"/>
          <p:nvPr/>
        </p:nvSpPr>
        <p:spPr>
          <a:xfrm>
            <a:off x="925414" y="3661083"/>
            <a:ext cx="2291727" cy="1384995"/>
          </a:xfrm>
          <a:prstGeom prst="rect">
            <a:avLst/>
          </a:prstGeom>
          <a:noFill/>
        </p:spPr>
        <p:txBody>
          <a:bodyPr wrap="square">
            <a:spAutoFit/>
          </a:bodyPr>
          <a:lstStyle/>
          <a:p>
            <a:pPr lvl="0" eaLnBrk="0" fontAlgn="base" hangingPunct="0">
              <a:spcBef>
                <a:spcPct val="0"/>
              </a:spcBef>
              <a:spcAft>
                <a:spcPct val="0"/>
              </a:spcAft>
            </a:pPr>
            <a:r>
              <a:rPr lang="fr-FR" b="1" noProof="0" dirty="0">
                <a:solidFill>
                  <a:schemeClr val="bg1"/>
                </a:solidFill>
              </a:rPr>
              <a:t>MISE EN PRODUCTION</a:t>
            </a:r>
            <a:br>
              <a:rPr lang="fr-FR" b="1" noProof="0" dirty="0">
                <a:solidFill>
                  <a:schemeClr val="bg1"/>
                </a:solidFill>
              </a:rPr>
            </a:br>
            <a:r>
              <a:rPr lang="fr-FR" sz="1200" noProof="0" dirty="0">
                <a:solidFill>
                  <a:schemeClr val="bg1"/>
                </a:solidFill>
              </a:rPr>
              <a:t>Vous recevez une formation pour vos utilisateurs et validez toutes les fonctionnalités avant la mise en service</a:t>
            </a:r>
            <a:endParaRPr kumimoji="0" lang="fr-FR" sz="1200" i="0" u="none" strike="noStrike" cap="none" normalizeH="0" baseline="0" noProof="0" dirty="0">
              <a:ln>
                <a:noFill/>
              </a:ln>
              <a:solidFill>
                <a:schemeClr val="bg1"/>
              </a:solidFill>
              <a:effectLst/>
            </a:endParaRPr>
          </a:p>
        </p:txBody>
      </p:sp>
      <p:sp>
        <p:nvSpPr>
          <p:cNvPr id="10" name="ZoneTexte 9">
            <a:extLst>
              <a:ext uri="{FF2B5EF4-FFF2-40B4-BE49-F238E27FC236}">
                <a16:creationId xmlns:a16="http://schemas.microsoft.com/office/drawing/2014/main" id="{0B8ABD72-6C7E-A050-DBB9-9ED86C231257}"/>
              </a:ext>
            </a:extLst>
          </p:cNvPr>
          <p:cNvSpPr txBox="1"/>
          <p:nvPr/>
        </p:nvSpPr>
        <p:spPr>
          <a:xfrm>
            <a:off x="3554381" y="4838066"/>
            <a:ext cx="1273757" cy="461665"/>
          </a:xfrm>
          <a:prstGeom prst="rect">
            <a:avLst/>
          </a:prstGeom>
          <a:noFill/>
        </p:spPr>
        <p:txBody>
          <a:bodyPr wrap="square" rtlCol="0">
            <a:spAutoFit/>
          </a:bodyPr>
          <a:lstStyle/>
          <a:p>
            <a:pPr lvl="0" algn="ctr" eaLnBrk="0" fontAlgn="base" hangingPunct="0">
              <a:spcAft>
                <a:spcPct val="0"/>
              </a:spcAft>
            </a:pPr>
            <a:r>
              <a:rPr kumimoji="0" lang="fr-FR" sz="1200" b="1" i="0" u="none" strike="noStrike" cap="none" normalizeH="0" baseline="0" noProof="0" dirty="0">
                <a:ln>
                  <a:noFill/>
                </a:ln>
                <a:solidFill>
                  <a:schemeClr val="accent2"/>
                </a:solidFill>
                <a:effectLst/>
              </a:rPr>
              <a:t>Mise en production</a:t>
            </a:r>
          </a:p>
        </p:txBody>
      </p:sp>
      <p:sp>
        <p:nvSpPr>
          <p:cNvPr id="21" name="Rectangle : coins arrondis 20">
            <a:extLst>
              <a:ext uri="{FF2B5EF4-FFF2-40B4-BE49-F238E27FC236}">
                <a16:creationId xmlns:a16="http://schemas.microsoft.com/office/drawing/2014/main" id="{B578C57E-64F7-FB30-E043-DA15ED572FB1}"/>
              </a:ext>
            </a:extLst>
          </p:cNvPr>
          <p:cNvSpPr/>
          <p:nvPr/>
        </p:nvSpPr>
        <p:spPr>
          <a:xfrm>
            <a:off x="3537790" y="4820987"/>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12" name="Organigramme : Délai 11">
            <a:extLst>
              <a:ext uri="{FF2B5EF4-FFF2-40B4-BE49-F238E27FC236}">
                <a16:creationId xmlns:a16="http://schemas.microsoft.com/office/drawing/2014/main" id="{DAE9A0F9-E420-5898-2DD1-6D40EB27F0C7}"/>
              </a:ext>
            </a:extLst>
          </p:cNvPr>
          <p:cNvSpPr/>
          <p:nvPr/>
        </p:nvSpPr>
        <p:spPr>
          <a:xfrm>
            <a:off x="5158490" y="4862250"/>
            <a:ext cx="74574"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3" name="Organigramme : Délai 12">
            <a:extLst>
              <a:ext uri="{FF2B5EF4-FFF2-40B4-BE49-F238E27FC236}">
                <a16:creationId xmlns:a16="http://schemas.microsoft.com/office/drawing/2014/main" id="{504651BE-0422-56A9-FBD7-3515FCDEAE85}"/>
              </a:ext>
            </a:extLst>
          </p:cNvPr>
          <p:cNvSpPr/>
          <p:nvPr/>
        </p:nvSpPr>
        <p:spPr>
          <a:xfrm>
            <a:off x="6648877" y="4862250"/>
            <a:ext cx="73627"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15" name="ZoneTexte 14">
            <a:extLst>
              <a:ext uri="{FF2B5EF4-FFF2-40B4-BE49-F238E27FC236}">
                <a16:creationId xmlns:a16="http://schemas.microsoft.com/office/drawing/2014/main" id="{97334724-6667-7C5E-8499-029B128809E0}"/>
              </a:ext>
            </a:extLst>
          </p:cNvPr>
          <p:cNvSpPr txBox="1"/>
          <p:nvPr/>
        </p:nvSpPr>
        <p:spPr>
          <a:xfrm>
            <a:off x="5221927" y="4884232"/>
            <a:ext cx="1335066" cy="369332"/>
          </a:xfrm>
          <a:prstGeom prst="rect">
            <a:avLst/>
          </a:prstGeom>
          <a:noFill/>
        </p:spPr>
        <p:txBody>
          <a:bodyPr wrap="square">
            <a:spAutoFit/>
          </a:bodyPr>
          <a:lstStyle/>
          <a:p>
            <a:pPr lvl="0" eaLnBrk="0" fontAlgn="base" hangingPunct="0">
              <a:spcBef>
                <a:spcPct val="0"/>
              </a:spcBef>
              <a:spcAft>
                <a:spcPct val="0"/>
              </a:spcAft>
            </a:pPr>
            <a:r>
              <a:rPr lang="fr-FR" sz="900" b="1" noProof="0" dirty="0"/>
              <a:t>MEP des </a:t>
            </a:r>
          </a:p>
          <a:p>
            <a:pPr lvl="0" eaLnBrk="0" fontAlgn="base" hangingPunct="0">
              <a:spcBef>
                <a:spcPct val="0"/>
              </a:spcBef>
              <a:spcAft>
                <a:spcPct val="0"/>
              </a:spcAft>
            </a:pPr>
            <a:r>
              <a:rPr lang="fr-FR" sz="900" b="1" noProof="0" dirty="0"/>
              <a:t>éléments</a:t>
            </a:r>
          </a:p>
        </p:txBody>
      </p:sp>
      <p:sp>
        <p:nvSpPr>
          <p:cNvPr id="16" name="ZoneTexte 15">
            <a:extLst>
              <a:ext uri="{FF2B5EF4-FFF2-40B4-BE49-F238E27FC236}">
                <a16:creationId xmlns:a16="http://schemas.microsoft.com/office/drawing/2014/main" id="{2875B14E-42B6-5E0D-D17C-CB9D40EEBA43}"/>
              </a:ext>
            </a:extLst>
          </p:cNvPr>
          <p:cNvSpPr txBox="1"/>
          <p:nvPr/>
        </p:nvSpPr>
        <p:spPr>
          <a:xfrm>
            <a:off x="6734949" y="4889011"/>
            <a:ext cx="1055486" cy="369332"/>
          </a:xfrm>
          <a:prstGeom prst="rect">
            <a:avLst/>
          </a:prstGeom>
          <a:noFill/>
        </p:spPr>
        <p:txBody>
          <a:bodyPr wrap="square">
            <a:spAutoFit/>
          </a:bodyPr>
          <a:lstStyle/>
          <a:p>
            <a:pPr lvl="0" eaLnBrk="0" fontAlgn="base" hangingPunct="0">
              <a:spcBef>
                <a:spcPct val="0"/>
              </a:spcBef>
              <a:spcAft>
                <a:spcPct val="0"/>
              </a:spcAft>
            </a:pPr>
            <a:r>
              <a:rPr lang="fr-FR" sz="900" b="1" noProof="0" dirty="0"/>
              <a:t>Imports</a:t>
            </a:r>
          </a:p>
          <a:p>
            <a:pPr lvl="0" eaLnBrk="0" fontAlgn="base" hangingPunct="0">
              <a:spcBef>
                <a:spcPct val="0"/>
              </a:spcBef>
              <a:spcAft>
                <a:spcPct val="0"/>
              </a:spcAft>
            </a:pPr>
            <a:r>
              <a:rPr lang="fr-FR" sz="900" b="1" noProof="0" dirty="0"/>
              <a:t>finaux</a:t>
            </a:r>
          </a:p>
        </p:txBody>
      </p:sp>
      <p:sp>
        <p:nvSpPr>
          <p:cNvPr id="74" name="Organigramme : Délai 73">
            <a:extLst>
              <a:ext uri="{FF2B5EF4-FFF2-40B4-BE49-F238E27FC236}">
                <a16:creationId xmlns:a16="http://schemas.microsoft.com/office/drawing/2014/main" id="{BA6C8E16-68E7-4075-01A5-6DC0F652C672}"/>
              </a:ext>
            </a:extLst>
          </p:cNvPr>
          <p:cNvSpPr/>
          <p:nvPr/>
        </p:nvSpPr>
        <p:spPr>
          <a:xfrm>
            <a:off x="6648877" y="6122229"/>
            <a:ext cx="74923" cy="365125"/>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5" name="ZoneTexte 74">
            <a:extLst>
              <a:ext uri="{FF2B5EF4-FFF2-40B4-BE49-F238E27FC236}">
                <a16:creationId xmlns:a16="http://schemas.microsoft.com/office/drawing/2014/main" id="{4CB3E440-D3CB-0773-FD09-E8CFFA5EA39A}"/>
              </a:ext>
            </a:extLst>
          </p:cNvPr>
          <p:cNvSpPr txBox="1"/>
          <p:nvPr/>
        </p:nvSpPr>
        <p:spPr>
          <a:xfrm>
            <a:off x="6710202" y="6120125"/>
            <a:ext cx="723149" cy="3693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Client &amp; Captivea</a:t>
            </a:r>
          </a:p>
        </p:txBody>
      </p:sp>
      <p:sp>
        <p:nvSpPr>
          <p:cNvPr id="76" name="Organigramme : Délai 75">
            <a:extLst>
              <a:ext uri="{FF2B5EF4-FFF2-40B4-BE49-F238E27FC236}">
                <a16:creationId xmlns:a16="http://schemas.microsoft.com/office/drawing/2014/main" id="{BCCF2185-E883-6153-8387-9182AB4CE19B}"/>
              </a:ext>
            </a:extLst>
          </p:cNvPr>
          <p:cNvSpPr/>
          <p:nvPr/>
        </p:nvSpPr>
        <p:spPr>
          <a:xfrm>
            <a:off x="8141492" y="6124332"/>
            <a:ext cx="74923" cy="365125"/>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7" name="ZoneTexte 76">
            <a:extLst>
              <a:ext uri="{FF2B5EF4-FFF2-40B4-BE49-F238E27FC236}">
                <a16:creationId xmlns:a16="http://schemas.microsoft.com/office/drawing/2014/main" id="{9557EBD5-2BC1-65C9-3670-AB4B7174315C}"/>
              </a:ext>
            </a:extLst>
          </p:cNvPr>
          <p:cNvSpPr txBox="1"/>
          <p:nvPr/>
        </p:nvSpPr>
        <p:spPr>
          <a:xfrm>
            <a:off x="8211944" y="619147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Client</a:t>
            </a:r>
          </a:p>
        </p:txBody>
      </p:sp>
      <p:sp>
        <p:nvSpPr>
          <p:cNvPr id="78" name="Organigramme : Délai 77">
            <a:extLst>
              <a:ext uri="{FF2B5EF4-FFF2-40B4-BE49-F238E27FC236}">
                <a16:creationId xmlns:a16="http://schemas.microsoft.com/office/drawing/2014/main" id="{D9377BE2-E19C-44D0-88CD-2704700DC7C5}"/>
              </a:ext>
            </a:extLst>
          </p:cNvPr>
          <p:cNvSpPr/>
          <p:nvPr/>
        </p:nvSpPr>
        <p:spPr>
          <a:xfrm>
            <a:off x="9623561" y="6124332"/>
            <a:ext cx="74924" cy="365125"/>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79" name="ZoneTexte 78">
            <a:extLst>
              <a:ext uri="{FF2B5EF4-FFF2-40B4-BE49-F238E27FC236}">
                <a16:creationId xmlns:a16="http://schemas.microsoft.com/office/drawing/2014/main" id="{7061882A-5946-4C84-72E7-818FCC9ACFB9}"/>
              </a:ext>
            </a:extLst>
          </p:cNvPr>
          <p:cNvSpPr txBox="1"/>
          <p:nvPr/>
        </p:nvSpPr>
        <p:spPr>
          <a:xfrm>
            <a:off x="9698485" y="6191478"/>
            <a:ext cx="723149" cy="230832"/>
          </a:xfrm>
          <a:prstGeom prst="rect">
            <a:avLst/>
          </a:prstGeom>
          <a:noFill/>
        </p:spPr>
        <p:txBody>
          <a:bodyPr wrap="square">
            <a:spAutoFit/>
          </a:bodyPr>
          <a:lstStyle/>
          <a:p>
            <a:pPr lvl="0" defTabSz="914400" eaLnBrk="0" fontAlgn="base" hangingPunct="0">
              <a:spcBef>
                <a:spcPct val="0"/>
              </a:spcBef>
              <a:spcAft>
                <a:spcPct val="0"/>
              </a:spcAft>
            </a:pPr>
            <a:r>
              <a:rPr lang="fr-FR" sz="900" b="1" noProof="0" dirty="0"/>
              <a:t>Captivea</a:t>
            </a:r>
          </a:p>
        </p:txBody>
      </p:sp>
      <p:sp>
        <p:nvSpPr>
          <p:cNvPr id="9" name="ZoneTexte 8">
            <a:extLst>
              <a:ext uri="{FF2B5EF4-FFF2-40B4-BE49-F238E27FC236}">
                <a16:creationId xmlns:a16="http://schemas.microsoft.com/office/drawing/2014/main" id="{CB68D6DF-ADC1-A9DD-C3D5-D1C93B564091}"/>
              </a:ext>
            </a:extLst>
          </p:cNvPr>
          <p:cNvSpPr txBox="1"/>
          <p:nvPr/>
        </p:nvSpPr>
        <p:spPr>
          <a:xfrm>
            <a:off x="3539861" y="2721162"/>
            <a:ext cx="127375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latin typeface="+mj-lt"/>
              </a:rPr>
              <a:t>UAT Key </a:t>
            </a:r>
          </a:p>
          <a:p>
            <a:pPr lvl="0" algn="ctr" eaLnBrk="0" fontAlgn="base" hangingPunct="0">
              <a:spcAft>
                <a:spcPct val="0"/>
              </a:spcAft>
            </a:pPr>
            <a:r>
              <a:rPr lang="fr-FR" sz="1200" b="1" noProof="0" dirty="0" err="1">
                <a:solidFill>
                  <a:schemeClr val="accent2"/>
                </a:solidFill>
                <a:latin typeface="+mj-lt"/>
              </a:rPr>
              <a:t>users</a:t>
            </a:r>
            <a:endParaRPr kumimoji="0" lang="fr-FR" sz="1200" b="1" i="0" u="none" strike="noStrike" cap="none" normalizeH="0" baseline="0" noProof="0" dirty="0">
              <a:ln>
                <a:noFill/>
              </a:ln>
              <a:solidFill>
                <a:schemeClr val="accent2"/>
              </a:solidFill>
              <a:effectLst/>
              <a:latin typeface="+mj-lt"/>
            </a:endParaRPr>
          </a:p>
        </p:txBody>
      </p:sp>
      <p:sp>
        <p:nvSpPr>
          <p:cNvPr id="23" name="Rectangle : coins arrondis 22">
            <a:extLst>
              <a:ext uri="{FF2B5EF4-FFF2-40B4-BE49-F238E27FC236}">
                <a16:creationId xmlns:a16="http://schemas.microsoft.com/office/drawing/2014/main" id="{48AE1D95-78B3-49DD-0C2E-AED70BBABB2A}"/>
              </a:ext>
            </a:extLst>
          </p:cNvPr>
          <p:cNvSpPr/>
          <p:nvPr/>
        </p:nvSpPr>
        <p:spPr>
          <a:xfrm>
            <a:off x="3537790" y="2704083"/>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24" name="Organigramme : Délai 23">
            <a:extLst>
              <a:ext uri="{FF2B5EF4-FFF2-40B4-BE49-F238E27FC236}">
                <a16:creationId xmlns:a16="http://schemas.microsoft.com/office/drawing/2014/main" id="{F7E108E6-FA57-3E32-8B44-25777084267F}"/>
              </a:ext>
            </a:extLst>
          </p:cNvPr>
          <p:cNvSpPr/>
          <p:nvPr/>
        </p:nvSpPr>
        <p:spPr>
          <a:xfrm>
            <a:off x="5158490" y="2745346"/>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25" name="Organigramme : Délai 24">
            <a:extLst>
              <a:ext uri="{FF2B5EF4-FFF2-40B4-BE49-F238E27FC236}">
                <a16:creationId xmlns:a16="http://schemas.microsoft.com/office/drawing/2014/main" id="{FAE5222D-ECB8-A5AF-F992-8C0DF6BE2EE8}"/>
              </a:ext>
            </a:extLst>
          </p:cNvPr>
          <p:cNvSpPr/>
          <p:nvPr/>
        </p:nvSpPr>
        <p:spPr>
          <a:xfrm>
            <a:off x="6648877" y="2745346"/>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0" name="Organigramme : Délai 29">
            <a:extLst>
              <a:ext uri="{FF2B5EF4-FFF2-40B4-BE49-F238E27FC236}">
                <a16:creationId xmlns:a16="http://schemas.microsoft.com/office/drawing/2014/main" id="{B14B6C66-F211-1D68-40D8-029C0B0A47E0}"/>
              </a:ext>
            </a:extLst>
          </p:cNvPr>
          <p:cNvSpPr/>
          <p:nvPr/>
        </p:nvSpPr>
        <p:spPr>
          <a:xfrm>
            <a:off x="8138317" y="2745346"/>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31" name="ZoneTexte 30">
            <a:extLst>
              <a:ext uri="{FF2B5EF4-FFF2-40B4-BE49-F238E27FC236}">
                <a16:creationId xmlns:a16="http://schemas.microsoft.com/office/drawing/2014/main" id="{8D840808-3805-3A4D-CCB7-8DEB94A88FC7}"/>
              </a:ext>
            </a:extLst>
          </p:cNvPr>
          <p:cNvSpPr txBox="1"/>
          <p:nvPr/>
        </p:nvSpPr>
        <p:spPr>
          <a:xfrm>
            <a:off x="5221927" y="2767328"/>
            <a:ext cx="1335066"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de bout en bout</a:t>
            </a:r>
          </a:p>
        </p:txBody>
      </p:sp>
      <p:sp>
        <p:nvSpPr>
          <p:cNvPr id="33" name="ZoneTexte 32">
            <a:extLst>
              <a:ext uri="{FF2B5EF4-FFF2-40B4-BE49-F238E27FC236}">
                <a16:creationId xmlns:a16="http://schemas.microsoft.com/office/drawing/2014/main" id="{D660B9DF-67C1-0965-FEF8-9A2A59F59F12}"/>
              </a:ext>
            </a:extLst>
          </p:cNvPr>
          <p:cNvSpPr txBox="1"/>
          <p:nvPr/>
        </p:nvSpPr>
        <p:spPr>
          <a:xfrm>
            <a:off x="6734949" y="2767328"/>
            <a:ext cx="1129112"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connexions app tierces</a:t>
            </a:r>
          </a:p>
        </p:txBody>
      </p:sp>
      <p:sp>
        <p:nvSpPr>
          <p:cNvPr id="44" name="ZoneTexte 43">
            <a:extLst>
              <a:ext uri="{FF2B5EF4-FFF2-40B4-BE49-F238E27FC236}">
                <a16:creationId xmlns:a16="http://schemas.microsoft.com/office/drawing/2014/main" id="{038D9880-5082-00DD-C053-A01229CAD953}"/>
              </a:ext>
            </a:extLst>
          </p:cNvPr>
          <p:cNvSpPr txBox="1"/>
          <p:nvPr/>
        </p:nvSpPr>
        <p:spPr>
          <a:xfrm>
            <a:off x="8211944" y="2767328"/>
            <a:ext cx="1067457"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imports complets</a:t>
            </a:r>
          </a:p>
        </p:txBody>
      </p:sp>
      <p:sp>
        <p:nvSpPr>
          <p:cNvPr id="45" name="ZoneTexte 44">
            <a:extLst>
              <a:ext uri="{FF2B5EF4-FFF2-40B4-BE49-F238E27FC236}">
                <a16:creationId xmlns:a16="http://schemas.microsoft.com/office/drawing/2014/main" id="{1E696D20-66C0-2744-7010-2675D7CFC6E6}"/>
              </a:ext>
            </a:extLst>
          </p:cNvPr>
          <p:cNvSpPr txBox="1"/>
          <p:nvPr/>
        </p:nvSpPr>
        <p:spPr>
          <a:xfrm>
            <a:off x="9726091" y="2698079"/>
            <a:ext cx="720250" cy="507831"/>
          </a:xfrm>
          <a:prstGeom prst="rect">
            <a:avLst/>
          </a:prstGeom>
          <a:noFill/>
        </p:spPr>
        <p:txBody>
          <a:bodyPr wrap="square">
            <a:spAutoFit/>
          </a:bodyPr>
          <a:lstStyle/>
          <a:p>
            <a:pPr lvl="0" eaLnBrk="0" fontAlgn="base" hangingPunct="0">
              <a:spcBef>
                <a:spcPct val="0"/>
              </a:spcBef>
              <a:spcAft>
                <a:spcPct val="0"/>
              </a:spcAft>
            </a:pPr>
            <a:r>
              <a:rPr lang="fr-FR" sz="900" b="1" noProof="0" dirty="0"/>
              <a:t>Tests des droits d’accès</a:t>
            </a:r>
          </a:p>
        </p:txBody>
      </p:sp>
      <p:sp>
        <p:nvSpPr>
          <p:cNvPr id="46" name="Organigramme : Délai 45">
            <a:extLst>
              <a:ext uri="{FF2B5EF4-FFF2-40B4-BE49-F238E27FC236}">
                <a16:creationId xmlns:a16="http://schemas.microsoft.com/office/drawing/2014/main" id="{B5D430BB-1412-F6FB-32AE-E0F9BCD8AE4B}"/>
              </a:ext>
            </a:extLst>
          </p:cNvPr>
          <p:cNvSpPr/>
          <p:nvPr/>
        </p:nvSpPr>
        <p:spPr>
          <a:xfrm>
            <a:off x="11117197" y="2745346"/>
            <a:ext cx="73627"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48" name="ZoneTexte 47">
            <a:extLst>
              <a:ext uri="{FF2B5EF4-FFF2-40B4-BE49-F238E27FC236}">
                <a16:creationId xmlns:a16="http://schemas.microsoft.com/office/drawing/2014/main" id="{5A5B88B7-7BDB-FDDE-B16F-9DDEA0ADEAAB}"/>
              </a:ext>
            </a:extLst>
          </p:cNvPr>
          <p:cNvSpPr txBox="1"/>
          <p:nvPr/>
        </p:nvSpPr>
        <p:spPr>
          <a:xfrm>
            <a:off x="11190824" y="2698079"/>
            <a:ext cx="769664" cy="507831"/>
          </a:xfrm>
          <a:prstGeom prst="rect">
            <a:avLst/>
          </a:prstGeom>
          <a:noFill/>
        </p:spPr>
        <p:txBody>
          <a:bodyPr wrap="square">
            <a:spAutoFit/>
          </a:bodyPr>
          <a:lstStyle/>
          <a:p>
            <a:pPr lvl="0" eaLnBrk="0" fontAlgn="base" hangingPunct="0">
              <a:spcBef>
                <a:spcPct val="0"/>
              </a:spcBef>
              <a:spcAft>
                <a:spcPct val="0"/>
              </a:spcAft>
            </a:pPr>
            <a:r>
              <a:rPr lang="fr-FR" sz="900" b="1" noProof="0" dirty="0"/>
              <a:t>Gestion des feedbacks</a:t>
            </a:r>
          </a:p>
        </p:txBody>
      </p:sp>
      <p:sp>
        <p:nvSpPr>
          <p:cNvPr id="49" name="Organigramme : Délai 48">
            <a:extLst>
              <a:ext uri="{FF2B5EF4-FFF2-40B4-BE49-F238E27FC236}">
                <a16:creationId xmlns:a16="http://schemas.microsoft.com/office/drawing/2014/main" id="{2E08486F-1F2A-47F5-A696-2DB295684245}"/>
              </a:ext>
            </a:extLst>
          </p:cNvPr>
          <p:cNvSpPr/>
          <p:nvPr/>
        </p:nvSpPr>
        <p:spPr>
          <a:xfrm>
            <a:off x="9627284" y="2745346"/>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1" name="ZoneTexte 50">
            <a:extLst>
              <a:ext uri="{FF2B5EF4-FFF2-40B4-BE49-F238E27FC236}">
                <a16:creationId xmlns:a16="http://schemas.microsoft.com/office/drawing/2014/main" id="{94194F57-8B9F-C556-34CC-C98E468AA184}"/>
              </a:ext>
            </a:extLst>
          </p:cNvPr>
          <p:cNvSpPr txBox="1"/>
          <p:nvPr/>
        </p:nvSpPr>
        <p:spPr>
          <a:xfrm>
            <a:off x="3539862" y="4150437"/>
            <a:ext cx="1273757"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UAT All </a:t>
            </a:r>
          </a:p>
          <a:p>
            <a:pPr lvl="0" algn="ctr" eaLnBrk="0" fontAlgn="base" hangingPunct="0">
              <a:spcAft>
                <a:spcPct val="0"/>
              </a:spcAft>
            </a:pPr>
            <a:r>
              <a:rPr lang="fr-FR" sz="1200" b="1" noProof="0" dirty="0" err="1">
                <a:solidFill>
                  <a:schemeClr val="accent2"/>
                </a:solidFill>
              </a:rPr>
              <a:t>users</a:t>
            </a:r>
            <a:endParaRPr kumimoji="0" lang="fr-FR" sz="1200" b="1" i="0" u="none" strike="noStrike" cap="none" normalizeH="0" baseline="0" noProof="0" dirty="0">
              <a:ln>
                <a:noFill/>
              </a:ln>
              <a:solidFill>
                <a:schemeClr val="accent2"/>
              </a:solidFill>
              <a:effectLst/>
            </a:endParaRPr>
          </a:p>
        </p:txBody>
      </p:sp>
      <p:sp>
        <p:nvSpPr>
          <p:cNvPr id="52" name="Rectangle : coins arrondis 51">
            <a:extLst>
              <a:ext uri="{FF2B5EF4-FFF2-40B4-BE49-F238E27FC236}">
                <a16:creationId xmlns:a16="http://schemas.microsoft.com/office/drawing/2014/main" id="{612B274C-8F48-CF39-0B61-7300FE3B7214}"/>
              </a:ext>
            </a:extLst>
          </p:cNvPr>
          <p:cNvSpPr/>
          <p:nvPr/>
        </p:nvSpPr>
        <p:spPr>
          <a:xfrm>
            <a:off x="3537790" y="4133358"/>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53" name="Organigramme : Délai 52">
            <a:extLst>
              <a:ext uri="{FF2B5EF4-FFF2-40B4-BE49-F238E27FC236}">
                <a16:creationId xmlns:a16="http://schemas.microsoft.com/office/drawing/2014/main" id="{D480EB6C-6C95-7117-25E6-5F380F537A60}"/>
              </a:ext>
            </a:extLst>
          </p:cNvPr>
          <p:cNvSpPr/>
          <p:nvPr/>
        </p:nvSpPr>
        <p:spPr>
          <a:xfrm>
            <a:off x="5158490" y="4174621"/>
            <a:ext cx="74574"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4" name="Organigramme : Délai 53">
            <a:extLst>
              <a:ext uri="{FF2B5EF4-FFF2-40B4-BE49-F238E27FC236}">
                <a16:creationId xmlns:a16="http://schemas.microsoft.com/office/drawing/2014/main" id="{EB2CBF25-4767-B2EC-1834-B1FDCD2B4936}"/>
              </a:ext>
            </a:extLst>
          </p:cNvPr>
          <p:cNvSpPr/>
          <p:nvPr/>
        </p:nvSpPr>
        <p:spPr>
          <a:xfrm>
            <a:off x="6648877" y="4174621"/>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5" name="Organigramme : Délai 54">
            <a:extLst>
              <a:ext uri="{FF2B5EF4-FFF2-40B4-BE49-F238E27FC236}">
                <a16:creationId xmlns:a16="http://schemas.microsoft.com/office/drawing/2014/main" id="{DCB814DD-7D96-5C3D-F8A1-788AFC0E580B}"/>
              </a:ext>
            </a:extLst>
          </p:cNvPr>
          <p:cNvSpPr/>
          <p:nvPr/>
        </p:nvSpPr>
        <p:spPr>
          <a:xfrm>
            <a:off x="8138317" y="4174621"/>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56" name="ZoneTexte 55">
            <a:extLst>
              <a:ext uri="{FF2B5EF4-FFF2-40B4-BE49-F238E27FC236}">
                <a16:creationId xmlns:a16="http://schemas.microsoft.com/office/drawing/2014/main" id="{DDE7FB96-CBB8-7FD6-9188-852372A593DC}"/>
              </a:ext>
            </a:extLst>
          </p:cNvPr>
          <p:cNvSpPr txBox="1"/>
          <p:nvPr/>
        </p:nvSpPr>
        <p:spPr>
          <a:xfrm>
            <a:off x="5221927" y="4265853"/>
            <a:ext cx="1335066" cy="230832"/>
          </a:xfrm>
          <a:prstGeom prst="rect">
            <a:avLst/>
          </a:prstGeom>
          <a:noFill/>
        </p:spPr>
        <p:txBody>
          <a:bodyPr wrap="square">
            <a:spAutoFit/>
          </a:bodyPr>
          <a:lstStyle/>
          <a:p>
            <a:pPr lvl="0" eaLnBrk="0" fontAlgn="base" hangingPunct="0">
              <a:spcBef>
                <a:spcPct val="0"/>
              </a:spcBef>
              <a:spcAft>
                <a:spcPct val="0"/>
              </a:spcAft>
            </a:pPr>
            <a:r>
              <a:rPr lang="fr-FR" sz="900" b="1" noProof="0" dirty="0"/>
              <a:t>Tests libres</a:t>
            </a:r>
          </a:p>
        </p:txBody>
      </p:sp>
      <p:sp>
        <p:nvSpPr>
          <p:cNvPr id="57" name="ZoneTexte 56">
            <a:extLst>
              <a:ext uri="{FF2B5EF4-FFF2-40B4-BE49-F238E27FC236}">
                <a16:creationId xmlns:a16="http://schemas.microsoft.com/office/drawing/2014/main" id="{604D9D9D-DF15-8BFF-9951-0484917E8592}"/>
              </a:ext>
            </a:extLst>
          </p:cNvPr>
          <p:cNvSpPr txBox="1"/>
          <p:nvPr/>
        </p:nvSpPr>
        <p:spPr>
          <a:xfrm>
            <a:off x="6734949" y="4196603"/>
            <a:ext cx="1055486"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des actions</a:t>
            </a:r>
          </a:p>
        </p:txBody>
      </p:sp>
      <p:sp>
        <p:nvSpPr>
          <p:cNvPr id="58" name="ZoneTexte 57">
            <a:extLst>
              <a:ext uri="{FF2B5EF4-FFF2-40B4-BE49-F238E27FC236}">
                <a16:creationId xmlns:a16="http://schemas.microsoft.com/office/drawing/2014/main" id="{D62561EA-EA57-2A8D-B075-6727524C9830}"/>
              </a:ext>
            </a:extLst>
          </p:cNvPr>
          <p:cNvSpPr txBox="1"/>
          <p:nvPr/>
        </p:nvSpPr>
        <p:spPr>
          <a:xfrm>
            <a:off x="8211944" y="4196603"/>
            <a:ext cx="1237580" cy="369332"/>
          </a:xfrm>
          <a:prstGeom prst="rect">
            <a:avLst/>
          </a:prstGeom>
          <a:noFill/>
        </p:spPr>
        <p:txBody>
          <a:bodyPr wrap="square">
            <a:spAutoFit/>
          </a:bodyPr>
          <a:lstStyle/>
          <a:p>
            <a:pPr lvl="0" eaLnBrk="0" fontAlgn="base" hangingPunct="0">
              <a:spcBef>
                <a:spcPct val="0"/>
              </a:spcBef>
              <a:spcAft>
                <a:spcPct val="0"/>
              </a:spcAft>
            </a:pPr>
            <a:r>
              <a:rPr lang="fr-FR" sz="900" b="1" noProof="0" dirty="0"/>
              <a:t>Tests des droits d’accès</a:t>
            </a:r>
          </a:p>
        </p:txBody>
      </p:sp>
      <p:sp>
        <p:nvSpPr>
          <p:cNvPr id="59" name="ZoneTexte 58">
            <a:extLst>
              <a:ext uri="{FF2B5EF4-FFF2-40B4-BE49-F238E27FC236}">
                <a16:creationId xmlns:a16="http://schemas.microsoft.com/office/drawing/2014/main" id="{7A846AD7-A462-4033-32F4-9A7C732176A0}"/>
              </a:ext>
            </a:extLst>
          </p:cNvPr>
          <p:cNvSpPr txBox="1"/>
          <p:nvPr/>
        </p:nvSpPr>
        <p:spPr>
          <a:xfrm>
            <a:off x="9701384" y="4127354"/>
            <a:ext cx="720250" cy="507831"/>
          </a:xfrm>
          <a:prstGeom prst="rect">
            <a:avLst/>
          </a:prstGeom>
          <a:noFill/>
        </p:spPr>
        <p:txBody>
          <a:bodyPr wrap="square">
            <a:spAutoFit/>
          </a:bodyPr>
          <a:lstStyle/>
          <a:p>
            <a:pPr lvl="0" eaLnBrk="0" fontAlgn="base" hangingPunct="0">
              <a:spcBef>
                <a:spcPct val="0"/>
              </a:spcBef>
              <a:spcAft>
                <a:spcPct val="0"/>
              </a:spcAft>
            </a:pPr>
            <a:r>
              <a:rPr lang="fr-FR" sz="900" b="1" noProof="0" dirty="0"/>
              <a:t>Gestion des feedbacks</a:t>
            </a:r>
          </a:p>
        </p:txBody>
      </p:sp>
      <p:sp>
        <p:nvSpPr>
          <p:cNvPr id="62" name="Organigramme : Délai 61">
            <a:extLst>
              <a:ext uri="{FF2B5EF4-FFF2-40B4-BE49-F238E27FC236}">
                <a16:creationId xmlns:a16="http://schemas.microsoft.com/office/drawing/2014/main" id="{DC21A13F-71FF-AAA2-2B78-99EF3781394B}"/>
              </a:ext>
            </a:extLst>
          </p:cNvPr>
          <p:cNvSpPr/>
          <p:nvPr/>
        </p:nvSpPr>
        <p:spPr>
          <a:xfrm>
            <a:off x="9627284" y="4174621"/>
            <a:ext cx="74574" cy="413296"/>
          </a:xfrm>
          <a:prstGeom prst="flowChartDelay">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noProof="0" dirty="0"/>
          </a:p>
        </p:txBody>
      </p:sp>
      <p:sp>
        <p:nvSpPr>
          <p:cNvPr id="64" name="ZoneTexte 63">
            <a:extLst>
              <a:ext uri="{FF2B5EF4-FFF2-40B4-BE49-F238E27FC236}">
                <a16:creationId xmlns:a16="http://schemas.microsoft.com/office/drawing/2014/main" id="{C012DBA2-5B35-3DA8-2409-79008A22163C}"/>
              </a:ext>
            </a:extLst>
          </p:cNvPr>
          <p:cNvSpPr txBox="1"/>
          <p:nvPr/>
        </p:nvSpPr>
        <p:spPr>
          <a:xfrm>
            <a:off x="3562695" y="3429750"/>
            <a:ext cx="1252998" cy="461665"/>
          </a:xfrm>
          <a:prstGeom prst="rect">
            <a:avLst/>
          </a:prstGeom>
          <a:noFill/>
        </p:spPr>
        <p:txBody>
          <a:bodyPr wrap="square" rtlCol="0">
            <a:spAutoFit/>
          </a:bodyPr>
          <a:lstStyle/>
          <a:p>
            <a:pPr lvl="0" algn="ctr" eaLnBrk="0" fontAlgn="base" hangingPunct="0">
              <a:spcAft>
                <a:spcPct val="0"/>
              </a:spcAft>
            </a:pPr>
            <a:r>
              <a:rPr lang="fr-FR" sz="1200" b="1" noProof="0" dirty="0">
                <a:solidFill>
                  <a:schemeClr val="accent2"/>
                </a:solidFill>
              </a:rPr>
              <a:t>Formation end </a:t>
            </a:r>
            <a:r>
              <a:rPr lang="fr-FR" sz="1200" b="1" noProof="0" dirty="0" err="1">
                <a:solidFill>
                  <a:schemeClr val="accent2"/>
                </a:solidFill>
              </a:rPr>
              <a:t>users</a:t>
            </a:r>
            <a:endParaRPr kumimoji="0" lang="fr-FR" sz="1200" b="1" i="0" u="none" strike="noStrike" cap="none" normalizeH="0" baseline="0" noProof="0" dirty="0">
              <a:ln>
                <a:noFill/>
              </a:ln>
              <a:solidFill>
                <a:schemeClr val="accent2"/>
              </a:solidFill>
              <a:effectLst/>
            </a:endParaRPr>
          </a:p>
        </p:txBody>
      </p:sp>
      <p:sp>
        <p:nvSpPr>
          <p:cNvPr id="65" name="Rectangle : coins arrondis 64">
            <a:extLst>
              <a:ext uri="{FF2B5EF4-FFF2-40B4-BE49-F238E27FC236}">
                <a16:creationId xmlns:a16="http://schemas.microsoft.com/office/drawing/2014/main" id="{6A819306-DA33-79A5-FDE8-AF30B09DD88E}"/>
              </a:ext>
            </a:extLst>
          </p:cNvPr>
          <p:cNvSpPr/>
          <p:nvPr/>
        </p:nvSpPr>
        <p:spPr>
          <a:xfrm>
            <a:off x="3537790" y="3411311"/>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88" name="ZoneTexte 87">
            <a:extLst>
              <a:ext uri="{FF2B5EF4-FFF2-40B4-BE49-F238E27FC236}">
                <a16:creationId xmlns:a16="http://schemas.microsoft.com/office/drawing/2014/main" id="{C17C4808-5C06-681D-094A-7E7FEFBE9707}"/>
              </a:ext>
            </a:extLst>
          </p:cNvPr>
          <p:cNvSpPr txBox="1"/>
          <p:nvPr/>
        </p:nvSpPr>
        <p:spPr>
          <a:xfrm>
            <a:off x="3554381" y="5622672"/>
            <a:ext cx="1273757" cy="276999"/>
          </a:xfrm>
          <a:prstGeom prst="rect">
            <a:avLst/>
          </a:prstGeom>
          <a:noFill/>
        </p:spPr>
        <p:txBody>
          <a:bodyPr wrap="square" rtlCol="0">
            <a:spAutoFit/>
          </a:bodyPr>
          <a:lstStyle/>
          <a:p>
            <a:pPr lvl="0" algn="ctr" eaLnBrk="0" fontAlgn="base" hangingPunct="0">
              <a:spcAft>
                <a:spcPct val="0"/>
              </a:spcAft>
            </a:pPr>
            <a:r>
              <a:rPr kumimoji="0" lang="fr-FR" sz="1200" b="1" i="0" u="none" strike="noStrike" cap="none" normalizeH="0" baseline="0" noProof="0" dirty="0" err="1">
                <a:ln>
                  <a:noFill/>
                </a:ln>
                <a:solidFill>
                  <a:schemeClr val="accent2"/>
                </a:solidFill>
                <a:effectLst/>
              </a:rPr>
              <a:t>Hypercare</a:t>
            </a:r>
            <a:endParaRPr kumimoji="0" lang="fr-FR" sz="1200" b="1" i="0" u="none" strike="noStrike" cap="none" normalizeH="0" baseline="0" noProof="0" dirty="0">
              <a:ln>
                <a:noFill/>
              </a:ln>
              <a:solidFill>
                <a:schemeClr val="accent2"/>
              </a:solidFill>
              <a:effectLst/>
            </a:endParaRPr>
          </a:p>
        </p:txBody>
      </p:sp>
      <p:sp>
        <p:nvSpPr>
          <p:cNvPr id="89" name="Rectangle : coins arrondis 88">
            <a:extLst>
              <a:ext uri="{FF2B5EF4-FFF2-40B4-BE49-F238E27FC236}">
                <a16:creationId xmlns:a16="http://schemas.microsoft.com/office/drawing/2014/main" id="{511FFAE4-7F1B-569E-F336-DD31FA94E265}"/>
              </a:ext>
            </a:extLst>
          </p:cNvPr>
          <p:cNvSpPr/>
          <p:nvPr/>
        </p:nvSpPr>
        <p:spPr>
          <a:xfrm>
            <a:off x="3537790" y="5513260"/>
            <a:ext cx="1277903" cy="495822"/>
          </a:xfrm>
          <a:prstGeom prst="roundRect">
            <a:avLst/>
          </a:prstGeom>
          <a:noFill/>
          <a:ln w="1905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b="1" noProof="0" dirty="0"/>
          </a:p>
        </p:txBody>
      </p:sp>
      <p:sp>
        <p:nvSpPr>
          <p:cNvPr id="104" name="Ellipse 103">
            <a:extLst>
              <a:ext uri="{FF2B5EF4-FFF2-40B4-BE49-F238E27FC236}">
                <a16:creationId xmlns:a16="http://schemas.microsoft.com/office/drawing/2014/main" id="{78531FF0-B388-7624-CB45-3CEEDA2ABDF5}"/>
              </a:ext>
            </a:extLst>
          </p:cNvPr>
          <p:cNvSpPr/>
          <p:nvPr/>
        </p:nvSpPr>
        <p:spPr>
          <a:xfrm>
            <a:off x="86858" y="4108199"/>
            <a:ext cx="490762" cy="4907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cxnSp>
        <p:nvCxnSpPr>
          <p:cNvPr id="108" name="Connecteur droit 107">
            <a:extLst>
              <a:ext uri="{FF2B5EF4-FFF2-40B4-BE49-F238E27FC236}">
                <a16:creationId xmlns:a16="http://schemas.microsoft.com/office/drawing/2014/main" id="{22A5666A-7B6B-73AE-CF2F-5C67061A7E6F}"/>
              </a:ext>
            </a:extLst>
          </p:cNvPr>
          <p:cNvCxnSpPr>
            <a:cxnSpLocks/>
            <a:stCxn id="104" idx="6"/>
          </p:cNvCxnSpPr>
          <p:nvPr/>
        </p:nvCxnSpPr>
        <p:spPr>
          <a:xfrm>
            <a:off x="577620" y="4353580"/>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110" name="Google Shape;13746;p81">
            <a:extLst>
              <a:ext uri="{FF2B5EF4-FFF2-40B4-BE49-F238E27FC236}">
                <a16:creationId xmlns:a16="http://schemas.microsoft.com/office/drawing/2014/main" id="{97AFADEB-88C0-9AB6-66C2-6227432D6E72}"/>
              </a:ext>
            </a:extLst>
          </p:cNvPr>
          <p:cNvGrpSpPr/>
          <p:nvPr/>
        </p:nvGrpSpPr>
        <p:grpSpPr>
          <a:xfrm>
            <a:off x="162969" y="4196627"/>
            <a:ext cx="321546" cy="316860"/>
            <a:chOff x="-5254773" y="3631325"/>
            <a:chExt cx="296948" cy="292617"/>
          </a:xfrm>
          <a:solidFill>
            <a:schemeClr val="bg1"/>
          </a:solidFill>
        </p:grpSpPr>
        <p:sp>
          <p:nvSpPr>
            <p:cNvPr id="111" name="Google Shape;13747;p81">
              <a:extLst>
                <a:ext uri="{FF2B5EF4-FFF2-40B4-BE49-F238E27FC236}">
                  <a16:creationId xmlns:a16="http://schemas.microsoft.com/office/drawing/2014/main" id="{DAA7077E-7DA0-63F0-A799-F3447AE8649C}"/>
                </a:ext>
              </a:extLst>
            </p:cNvPr>
            <p:cNvSpPr/>
            <p:nvPr/>
          </p:nvSpPr>
          <p:spPr>
            <a:xfrm>
              <a:off x="-5246894" y="3766392"/>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2" name="Google Shape;13748;p81">
              <a:extLst>
                <a:ext uri="{FF2B5EF4-FFF2-40B4-BE49-F238E27FC236}">
                  <a16:creationId xmlns:a16="http://schemas.microsoft.com/office/drawing/2014/main" id="{ED211F71-E4B3-CC49-8105-39F8A18A8982}"/>
                </a:ext>
              </a:extLst>
            </p:cNvPr>
            <p:cNvSpPr/>
            <p:nvPr/>
          </p:nvSpPr>
          <p:spPr>
            <a:xfrm>
              <a:off x="-5216169" y="3795542"/>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3" name="Google Shape;13749;p81">
              <a:extLst>
                <a:ext uri="{FF2B5EF4-FFF2-40B4-BE49-F238E27FC236}">
                  <a16:creationId xmlns:a16="http://schemas.microsoft.com/office/drawing/2014/main" id="{5DDB008D-76A8-777A-9277-095A114C8B66}"/>
                </a:ext>
              </a:extLst>
            </p:cNvPr>
            <p:cNvSpPr/>
            <p:nvPr/>
          </p:nvSpPr>
          <p:spPr>
            <a:xfrm>
              <a:off x="-5185469" y="3826241"/>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4" name="Google Shape;13750;p81">
              <a:extLst>
                <a:ext uri="{FF2B5EF4-FFF2-40B4-BE49-F238E27FC236}">
                  <a16:creationId xmlns:a16="http://schemas.microsoft.com/office/drawing/2014/main" id="{5F2115F9-7B29-4176-1EE7-308C7DC54F50}"/>
                </a:ext>
              </a:extLst>
            </p:cNvPr>
            <p:cNvSpPr/>
            <p:nvPr/>
          </p:nvSpPr>
          <p:spPr>
            <a:xfrm>
              <a:off x="-5156319" y="3856366"/>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5" name="Google Shape;13751;p81">
              <a:extLst>
                <a:ext uri="{FF2B5EF4-FFF2-40B4-BE49-F238E27FC236}">
                  <a16:creationId xmlns:a16="http://schemas.microsoft.com/office/drawing/2014/main" id="{A8A7102B-59FA-4F3F-2660-24D0ABBF32C4}"/>
                </a:ext>
              </a:extLst>
            </p:cNvPr>
            <p:cNvSpPr/>
            <p:nvPr/>
          </p:nvSpPr>
          <p:spPr>
            <a:xfrm>
              <a:off x="-5105919" y="3886517"/>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6" name="Google Shape;13752;p81">
              <a:extLst>
                <a:ext uri="{FF2B5EF4-FFF2-40B4-BE49-F238E27FC236}">
                  <a16:creationId xmlns:a16="http://schemas.microsoft.com/office/drawing/2014/main" id="{F777E1A4-20EF-630E-C32F-2A3F5077F572}"/>
                </a:ext>
              </a:extLst>
            </p:cNvPr>
            <p:cNvSpPr/>
            <p:nvPr/>
          </p:nvSpPr>
          <p:spPr>
            <a:xfrm>
              <a:off x="-5254773" y="3648042"/>
              <a:ext cx="278050" cy="248324"/>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grpFill/>
            <a:ln>
              <a:noFill/>
            </a:ln>
          </p:spPr>
          <p:txBody>
            <a:bodyPr spcFirstLastPara="1" wrap="square" lIns="121900" tIns="121900" rIns="121900" bIns="121900" anchor="ctr" anchorCtr="0">
              <a:noAutofit/>
            </a:bodyPr>
            <a:lstStyle/>
            <a:p>
              <a:endParaRPr lang="fr-FR" sz="2400" noProof="0" dirty="0"/>
            </a:p>
          </p:txBody>
        </p:sp>
        <p:sp>
          <p:nvSpPr>
            <p:cNvPr id="117" name="Google Shape;13753;p81">
              <a:extLst>
                <a:ext uri="{FF2B5EF4-FFF2-40B4-BE49-F238E27FC236}">
                  <a16:creationId xmlns:a16="http://schemas.microsoft.com/office/drawing/2014/main" id="{0C97C6CD-E815-FDD7-3427-FA8DCA7540BD}"/>
                </a:ext>
              </a:extLst>
            </p:cNvPr>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grpFill/>
            <a:ln>
              <a:noFill/>
            </a:ln>
          </p:spPr>
          <p:txBody>
            <a:bodyPr spcFirstLastPara="1" wrap="square" lIns="121900" tIns="121900" rIns="121900" bIns="121900" anchor="ctr" anchorCtr="0">
              <a:noAutofit/>
            </a:bodyPr>
            <a:lstStyle/>
            <a:p>
              <a:endParaRPr lang="fr-FR" sz="2400" noProof="0" dirty="0"/>
            </a:p>
          </p:txBody>
        </p:sp>
      </p:grpSp>
    </p:spTree>
    <p:extLst>
      <p:ext uri="{BB962C8B-B14F-4D97-AF65-F5344CB8AC3E}">
        <p14:creationId xmlns:p14="http://schemas.microsoft.com/office/powerpoint/2010/main" val="422728340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EF6D54-3342-0984-71C3-6A3FCD322D4E}"/>
              </a:ext>
            </a:extLst>
          </p:cNvPr>
          <p:cNvSpPr>
            <a:spLocks noGrp="1"/>
          </p:cNvSpPr>
          <p:nvPr>
            <p:ph type="title"/>
          </p:nvPr>
        </p:nvSpPr>
        <p:spPr/>
        <p:txBody>
          <a:bodyPr/>
          <a:lstStyle/>
          <a:p>
            <a:r>
              <a:rPr lang="fr-FR" noProof="0" dirty="0"/>
              <a:t>Formation des key </a:t>
            </a:r>
            <a:r>
              <a:rPr lang="fr-FR" noProof="0" dirty="0" err="1"/>
              <a:t>users</a:t>
            </a:r>
            <a:endParaRPr lang="fr-FR" noProof="0" dirty="0"/>
          </a:p>
        </p:txBody>
      </p:sp>
      <p:sp>
        <p:nvSpPr>
          <p:cNvPr id="7" name="Content Placeholder 6">
            <a:extLst>
              <a:ext uri="{FF2B5EF4-FFF2-40B4-BE49-F238E27FC236}">
                <a16:creationId xmlns:a16="http://schemas.microsoft.com/office/drawing/2014/main" id="{F4CF4F68-9126-E760-C263-40C71FA38B38}"/>
              </a:ext>
            </a:extLst>
          </p:cNvPr>
          <p:cNvSpPr>
            <a:spLocks noGrp="1"/>
          </p:cNvSpPr>
          <p:nvPr>
            <p:ph idx="1"/>
          </p:nvPr>
        </p:nvSpPr>
        <p:spPr/>
        <p:txBody>
          <a:bodyPr/>
          <a:lstStyle/>
          <a:p>
            <a:r>
              <a:rPr lang="fr-FR" dirty="0"/>
              <a:t>Déroulé d’une formation</a:t>
            </a:r>
          </a:p>
          <a:p>
            <a:pPr lvl="1"/>
            <a:r>
              <a:rPr lang="fr-FR" noProof="0" dirty="0"/>
              <a:t>Démonstration</a:t>
            </a:r>
          </a:p>
          <a:p>
            <a:pPr lvl="1"/>
            <a:r>
              <a:rPr lang="fr-FR" dirty="0"/>
              <a:t>Exercices pratiques</a:t>
            </a:r>
          </a:p>
          <a:p>
            <a:pPr lvl="1"/>
            <a:r>
              <a:rPr lang="fr-FR" noProof="0" dirty="0" err="1"/>
              <a:t>Reccueil</a:t>
            </a:r>
            <a:r>
              <a:rPr lang="fr-FR"/>
              <a:t> </a:t>
            </a:r>
            <a:r>
              <a:rPr lang="fr-FR" dirty="0"/>
              <a:t>des feedbacks</a:t>
            </a:r>
            <a:endParaRPr lang="fr-FR" noProof="0" dirty="0"/>
          </a:p>
        </p:txBody>
      </p:sp>
      <p:sp>
        <p:nvSpPr>
          <p:cNvPr id="5" name="Slide Number Placeholder 4">
            <a:extLst>
              <a:ext uri="{FF2B5EF4-FFF2-40B4-BE49-F238E27FC236}">
                <a16:creationId xmlns:a16="http://schemas.microsoft.com/office/drawing/2014/main" id="{CF12CC86-3D45-715F-D103-92FA4FB9581B}"/>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fr-FR"/>
            </a:defPPr>
            <a:lvl1pPr marL="0" algn="l"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061685-6496-4975-B02C-C44B14DBF38E}" type="slidenum">
              <a:rPr lang="fr-FR" smtClean="0"/>
              <a:pPr/>
              <a:t>148</a:t>
            </a:fld>
            <a:endParaRPr lang="fr-FR" noProof="0" dirty="0"/>
          </a:p>
        </p:txBody>
      </p:sp>
    </p:spTree>
    <p:extLst>
      <p:ext uri="{BB962C8B-B14F-4D97-AF65-F5344CB8AC3E}">
        <p14:creationId xmlns:p14="http://schemas.microsoft.com/office/powerpoint/2010/main" val="105984939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E50B5-4A15-842A-E689-2CB5907A441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A78ECB6-2C5A-695D-949B-C095CCA89AEE}"/>
              </a:ext>
            </a:extLst>
          </p:cNvPr>
          <p:cNvSpPr>
            <a:spLocks noGrp="1"/>
          </p:cNvSpPr>
          <p:nvPr>
            <p:ph type="ctrTitle"/>
          </p:nvPr>
        </p:nvSpPr>
        <p:spPr/>
        <p:txBody>
          <a:bodyPr/>
          <a:lstStyle/>
          <a:p>
            <a:r>
              <a:rPr lang="fr-FR" noProof="0" dirty="0"/>
              <a:t>Période UAT</a:t>
            </a:r>
          </a:p>
        </p:txBody>
      </p:sp>
      <p:sp>
        <p:nvSpPr>
          <p:cNvPr id="2" name="Subtitle 1">
            <a:extLst>
              <a:ext uri="{FF2B5EF4-FFF2-40B4-BE49-F238E27FC236}">
                <a16:creationId xmlns:a16="http://schemas.microsoft.com/office/drawing/2014/main" id="{2EE3FE23-6FDB-7B2A-2636-2FDFD27C9F88}"/>
              </a:ext>
            </a:extLst>
          </p:cNvPr>
          <p:cNvSpPr>
            <a:spLocks noGrp="1"/>
          </p:cNvSpPr>
          <p:nvPr>
            <p:ph type="subTitle" idx="1"/>
          </p:nvPr>
        </p:nvSpPr>
        <p:spPr/>
        <p:txBody>
          <a:bodyPr/>
          <a:lstStyle/>
          <a:p>
            <a:endParaRPr lang="en-US"/>
          </a:p>
        </p:txBody>
      </p:sp>
      <p:sp>
        <p:nvSpPr>
          <p:cNvPr id="7" name="Content Placeholder 6">
            <a:extLst>
              <a:ext uri="{FF2B5EF4-FFF2-40B4-BE49-F238E27FC236}">
                <a16:creationId xmlns:a16="http://schemas.microsoft.com/office/drawing/2014/main" id="{C26A31B3-F6F5-2442-32FA-981DA307DB0E}"/>
              </a:ext>
            </a:extLst>
          </p:cNvPr>
          <p:cNvSpPr>
            <a:spLocks noGrp="1"/>
          </p:cNvSpPr>
          <p:nvPr>
            <p:ph sz="quarter" idx="11"/>
          </p:nvPr>
        </p:nvSpPr>
        <p:spPr/>
        <p:txBody>
          <a:bodyPr/>
          <a:lstStyle/>
          <a:p>
            <a:r>
              <a:rPr lang="fr-FR" noProof="0" dirty="0"/>
              <a:t>Période de test en conditions réelles</a:t>
            </a:r>
          </a:p>
          <a:p>
            <a:endParaRPr lang="fr-FR" dirty="0"/>
          </a:p>
          <a:p>
            <a:r>
              <a:rPr lang="fr-FR" noProof="0" dirty="0"/>
              <a:t>Objectifs : </a:t>
            </a:r>
            <a:r>
              <a:rPr lang="fr-FR" b="1" dirty="0"/>
              <a:t>Détecter les ajustements à faire pour la mise en production</a:t>
            </a:r>
            <a:endParaRPr lang="fr-FR" b="1" noProof="0" dirty="0"/>
          </a:p>
          <a:p>
            <a:endParaRPr lang="fr-FR" dirty="0"/>
          </a:p>
          <a:p>
            <a:r>
              <a:rPr lang="fr-FR" noProof="0" dirty="0"/>
              <a:t>Utilisation du portail client</a:t>
            </a:r>
          </a:p>
        </p:txBody>
      </p:sp>
      <p:sp>
        <p:nvSpPr>
          <p:cNvPr id="5" name="Slide Number Placeholder 4">
            <a:extLst>
              <a:ext uri="{FF2B5EF4-FFF2-40B4-BE49-F238E27FC236}">
                <a16:creationId xmlns:a16="http://schemas.microsoft.com/office/drawing/2014/main" id="{C7EE29B5-3086-DF9B-55F6-5302B683826E}"/>
              </a:ext>
            </a:extLst>
          </p:cNvPr>
          <p:cNvSpPr>
            <a:spLocks noGrp="1"/>
          </p:cNvSpPr>
          <p:nvPr>
            <p:ph type="sldNum" sz="quarter" idx="12"/>
          </p:nvPr>
        </p:nvSpPr>
        <p:spPr>
          <a:prstGeom prst="rect">
            <a:avLst/>
          </a:prstGeom>
        </p:spPr>
        <p:txBody>
          <a:bodyPr vert="horz" lIns="91440" tIns="45720" rIns="91440" bIns="45720" rtlCol="0" anchor="ctr"/>
          <a:lstStyle>
            <a:defPPr>
              <a:defRPr lang="fr-FR"/>
            </a:defPPr>
            <a:lvl1pPr marL="0" algn="l"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061685-6496-4975-B02C-C44B14DBF38E}" type="slidenum">
              <a:rPr lang="fr-FR" smtClean="0"/>
              <a:pPr/>
              <a:t>149</a:t>
            </a:fld>
            <a:endParaRPr lang="fr-FR" noProof="0" dirty="0"/>
          </a:p>
        </p:txBody>
      </p:sp>
    </p:spTree>
    <p:extLst>
      <p:ext uri="{BB962C8B-B14F-4D97-AF65-F5344CB8AC3E}">
        <p14:creationId xmlns:p14="http://schemas.microsoft.com/office/powerpoint/2010/main" val="162886718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0323B-A3D3-19A7-6C00-9CBDCA78BE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6283E6-2A13-972D-EA54-A6232D1A0659}"/>
              </a:ext>
            </a:extLst>
          </p:cNvPr>
          <p:cNvSpPr>
            <a:spLocks noGrp="1"/>
          </p:cNvSpPr>
          <p:nvPr>
            <p:ph type="title"/>
          </p:nvPr>
        </p:nvSpPr>
        <p:spPr/>
        <p:txBody>
          <a:bodyPr/>
          <a:lstStyle/>
          <a:p>
            <a:r>
              <a:rPr lang="fr-FR" noProof="0" dirty="0"/>
              <a:t>Déroulement de la mise en production</a:t>
            </a:r>
          </a:p>
        </p:txBody>
      </p:sp>
      <p:sp>
        <p:nvSpPr>
          <p:cNvPr id="5" name="Slide Number Placeholder 4">
            <a:extLst>
              <a:ext uri="{FF2B5EF4-FFF2-40B4-BE49-F238E27FC236}">
                <a16:creationId xmlns:a16="http://schemas.microsoft.com/office/drawing/2014/main" id="{D384E3B3-8723-8F66-A9D9-B8FF85AFDB8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fr-FR"/>
            </a:defPPr>
            <a:lvl1pPr marL="0" algn="l"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061685-6496-4975-B02C-C44B14DBF38E}" type="slidenum">
              <a:rPr lang="fr-FR" smtClean="0"/>
              <a:pPr/>
              <a:t>150</a:t>
            </a:fld>
            <a:endParaRPr lang="fr-FR" noProof="0" dirty="0"/>
          </a:p>
        </p:txBody>
      </p:sp>
      <p:graphicFrame>
        <p:nvGraphicFramePr>
          <p:cNvPr id="4" name="Diagram 3">
            <a:extLst>
              <a:ext uri="{FF2B5EF4-FFF2-40B4-BE49-F238E27FC236}">
                <a16:creationId xmlns:a16="http://schemas.microsoft.com/office/drawing/2014/main" id="{B76BF7D5-615A-A888-4C06-C7FEFE6782BB}"/>
              </a:ext>
            </a:extLst>
          </p:cNvPr>
          <p:cNvGraphicFramePr/>
          <p:nvPr>
            <p:extLst>
              <p:ext uri="{D42A27DB-BD31-4B8C-83A1-F6EECF244321}">
                <p14:modId xmlns:p14="http://schemas.microsoft.com/office/powerpoint/2010/main" val="1217548719"/>
              </p:ext>
            </p:extLst>
          </p:nvPr>
        </p:nvGraphicFramePr>
        <p:xfrm>
          <a:off x="1505226" y="1074208"/>
          <a:ext cx="951877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672708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50FA6-71AD-B99D-D84B-D571F9E5A03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44A84F2-8F07-EDFD-7FB9-17EC27814C01}"/>
              </a:ext>
            </a:extLst>
          </p:cNvPr>
          <p:cNvSpPr>
            <a:spLocks noGrp="1"/>
          </p:cNvSpPr>
          <p:nvPr>
            <p:ph type="title"/>
          </p:nvPr>
        </p:nvSpPr>
        <p:spPr/>
        <p:txBody>
          <a:bodyPr/>
          <a:lstStyle/>
          <a:p>
            <a:r>
              <a:rPr lang="fr-FR" noProof="0" dirty="0" err="1"/>
              <a:t>Hypercare</a:t>
            </a:r>
            <a:endParaRPr lang="fr-FR" noProof="0" dirty="0"/>
          </a:p>
        </p:txBody>
      </p:sp>
      <p:sp>
        <p:nvSpPr>
          <p:cNvPr id="5" name="Slide Number Placeholder 4">
            <a:extLst>
              <a:ext uri="{FF2B5EF4-FFF2-40B4-BE49-F238E27FC236}">
                <a16:creationId xmlns:a16="http://schemas.microsoft.com/office/drawing/2014/main" id="{3DCDF8A7-0BD2-F24C-08FF-FBA24F6843C7}"/>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fr-FR"/>
            </a:defPPr>
            <a:lvl1pPr marL="0" algn="l"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061685-6496-4975-B02C-C44B14DBF38E}" type="slidenum">
              <a:rPr lang="fr-FR" smtClean="0"/>
              <a:pPr/>
              <a:t>151</a:t>
            </a:fld>
            <a:endParaRPr lang="fr-FR" noProof="0" dirty="0"/>
          </a:p>
        </p:txBody>
      </p:sp>
      <p:graphicFrame>
        <p:nvGraphicFramePr>
          <p:cNvPr id="2" name="Diagram 1">
            <a:extLst>
              <a:ext uri="{FF2B5EF4-FFF2-40B4-BE49-F238E27FC236}">
                <a16:creationId xmlns:a16="http://schemas.microsoft.com/office/drawing/2014/main" id="{D3AE9883-06E0-E508-3023-6549B27FB29B}"/>
              </a:ext>
            </a:extLst>
          </p:cNvPr>
          <p:cNvGraphicFramePr/>
          <p:nvPr>
            <p:extLst>
              <p:ext uri="{D42A27DB-BD31-4B8C-83A1-F6EECF244321}">
                <p14:modId xmlns:p14="http://schemas.microsoft.com/office/powerpoint/2010/main" val="1823792837"/>
              </p:ext>
            </p:extLst>
          </p:nvPr>
        </p:nvGraphicFramePr>
        <p:xfrm>
          <a:off x="1564860" y="2007704"/>
          <a:ext cx="9427817" cy="42101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572158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15256-492F-7EA1-D1F9-FAAE1688DEE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6D5FF34-D70F-9470-6BE5-ABE87452EFC2}"/>
              </a:ext>
            </a:extLst>
          </p:cNvPr>
          <p:cNvSpPr>
            <a:spLocks noGrp="1"/>
          </p:cNvSpPr>
          <p:nvPr>
            <p:ph type="title"/>
          </p:nvPr>
        </p:nvSpPr>
        <p:spPr/>
        <p:txBody>
          <a:bodyPr/>
          <a:lstStyle/>
          <a:p>
            <a:r>
              <a:rPr lang="fr-FR" noProof="0" dirty="0"/>
              <a:t>Passage en support</a:t>
            </a:r>
          </a:p>
        </p:txBody>
      </p:sp>
      <p:graphicFrame>
        <p:nvGraphicFramePr>
          <p:cNvPr id="2" name="Content Placeholder 1">
            <a:extLst>
              <a:ext uri="{FF2B5EF4-FFF2-40B4-BE49-F238E27FC236}">
                <a16:creationId xmlns:a16="http://schemas.microsoft.com/office/drawing/2014/main" id="{FBD6B0D6-16B4-1C39-7455-92AEF86E0B55}"/>
              </a:ext>
            </a:extLst>
          </p:cNvPr>
          <p:cNvGraphicFramePr>
            <a:graphicFrameLocks noGrp="1"/>
          </p:cNvGraphicFramePr>
          <p:nvPr>
            <p:ph idx="1"/>
            <p:extLst>
              <p:ext uri="{D42A27DB-BD31-4B8C-83A1-F6EECF244321}">
                <p14:modId xmlns:p14="http://schemas.microsoft.com/office/powerpoint/2010/main" val="3391922064"/>
              </p:ext>
            </p:extLst>
          </p:nvPr>
        </p:nvGraphicFramePr>
        <p:xfrm>
          <a:off x="1242390" y="2206487"/>
          <a:ext cx="10111409" cy="39704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9B18A9B0-8E69-4520-782B-B7C73002D69D}"/>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fr-FR"/>
            </a:defPPr>
            <a:lvl1pPr marL="0" algn="l"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061685-6496-4975-B02C-C44B14DBF38E}" type="slidenum">
              <a:rPr lang="fr-FR" smtClean="0"/>
              <a:pPr/>
              <a:t>152</a:t>
            </a:fld>
            <a:endParaRPr lang="fr-FR" noProof="0" dirty="0"/>
          </a:p>
        </p:txBody>
      </p:sp>
    </p:spTree>
    <p:extLst>
      <p:ext uri="{BB962C8B-B14F-4D97-AF65-F5344CB8AC3E}">
        <p14:creationId xmlns:p14="http://schemas.microsoft.com/office/powerpoint/2010/main" val="48597644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2528"/>
        <p:cNvGrpSpPr/>
        <p:nvPr/>
      </p:nvGrpSpPr>
      <p:grpSpPr>
        <a:xfrm>
          <a:off x="0" y="0"/>
          <a:ext cx="0" cy="0"/>
          <a:chOff x="0" y="0"/>
          <a:chExt cx="0" cy="0"/>
        </a:xfrm>
      </p:grpSpPr>
      <p:sp>
        <p:nvSpPr>
          <p:cNvPr id="2529" name="Google Shape;2529;p15"/>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Communication projet</a:t>
            </a:r>
          </a:p>
        </p:txBody>
      </p:sp>
      <p:sp>
        <p:nvSpPr>
          <p:cNvPr id="2" name="Espace réservé du numéro de diapositive 1">
            <a:extLst>
              <a:ext uri="{FF2B5EF4-FFF2-40B4-BE49-F238E27FC236}">
                <a16:creationId xmlns:a16="http://schemas.microsoft.com/office/drawing/2014/main" id="{75A97B8B-6AF1-02A6-51FF-1DF22A0D868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153</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graphicFrame>
        <p:nvGraphicFramePr>
          <p:cNvPr id="2530" name="Google Shape;2530;p15"/>
          <p:cNvGraphicFramePr/>
          <p:nvPr>
            <p:extLst>
              <p:ext uri="{D42A27DB-BD31-4B8C-83A1-F6EECF244321}">
                <p14:modId xmlns:p14="http://schemas.microsoft.com/office/powerpoint/2010/main" val="2226867531"/>
              </p:ext>
            </p:extLst>
          </p:nvPr>
        </p:nvGraphicFramePr>
        <p:xfrm>
          <a:off x="914375" y="2097088"/>
          <a:ext cx="10363250" cy="3114080"/>
        </p:xfrm>
        <a:graphic>
          <a:graphicData uri="http://schemas.openxmlformats.org/drawingml/2006/table">
            <a:tbl>
              <a:tblPr firstRow="1" bandRow="1">
                <a:tableStyleId>{9DCAF9ED-07DC-4A11-8D7F-57B35C25682E}</a:tableStyleId>
              </a:tblPr>
              <a:tblGrid>
                <a:gridCol w="2072650">
                  <a:extLst>
                    <a:ext uri="{9D8B030D-6E8A-4147-A177-3AD203B41FA5}">
                      <a16:colId xmlns:a16="http://schemas.microsoft.com/office/drawing/2014/main" val="20000"/>
                    </a:ext>
                  </a:extLst>
                </a:gridCol>
                <a:gridCol w="3307243">
                  <a:extLst>
                    <a:ext uri="{9D8B030D-6E8A-4147-A177-3AD203B41FA5}">
                      <a16:colId xmlns:a16="http://schemas.microsoft.com/office/drawing/2014/main" val="20001"/>
                    </a:ext>
                  </a:extLst>
                </a:gridCol>
                <a:gridCol w="1250901">
                  <a:extLst>
                    <a:ext uri="{9D8B030D-6E8A-4147-A177-3AD203B41FA5}">
                      <a16:colId xmlns:a16="http://schemas.microsoft.com/office/drawing/2014/main" val="20002"/>
                    </a:ext>
                  </a:extLst>
                </a:gridCol>
                <a:gridCol w="1962815">
                  <a:extLst>
                    <a:ext uri="{9D8B030D-6E8A-4147-A177-3AD203B41FA5}">
                      <a16:colId xmlns:a16="http://schemas.microsoft.com/office/drawing/2014/main" val="20003"/>
                    </a:ext>
                  </a:extLst>
                </a:gridCol>
                <a:gridCol w="1769641">
                  <a:extLst>
                    <a:ext uri="{9D8B030D-6E8A-4147-A177-3AD203B41FA5}">
                      <a16:colId xmlns:a16="http://schemas.microsoft.com/office/drawing/2014/main" val="20004"/>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Nom</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Objectif</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Moyen</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Participants</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Fréquence</a:t>
                      </a:r>
                      <a:endParaRPr lang="fr-FR" sz="11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Project Management Meeting</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Suivre l’avancement, échanger sur les problématiques, gérer les risques</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Visio</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Equipe projet &amp; Sponsor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Hebdo</a:t>
                      </a:r>
                      <a:endParaRPr lang="fr-FR" sz="1100"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Réunion de </a:t>
                      </a:r>
                      <a:r>
                        <a:rPr lang="fr-FR" sz="1800" u="none" strike="noStrike" cap="none" noProof="0" dirty="0" err="1"/>
                        <a:t>demo</a:t>
                      </a: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Présenter les avancés des tâches et montrer les tests effectués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Visio</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Equipe projet &amp; key </a:t>
                      </a:r>
                      <a:r>
                        <a:rPr lang="fr-FR" sz="1800" u="none" strike="noStrike" cap="none" noProof="0" dirty="0" err="1"/>
                        <a:t>users</a:t>
                      </a: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Hebdo</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Comité de pilotage</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Avancement global du projet et décisions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Visio ou physique</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&amp; Sponsor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Mensuel</a:t>
                      </a:r>
                    </a:p>
                  </a:txBody>
                  <a:tcPr marL="91450" marR="91450" marT="45725" marB="45725"/>
                </a:tc>
                <a:extLst>
                  <a:ext uri="{0D108BD9-81ED-4DB2-BD59-A6C34878D82A}">
                    <a16:rowId xmlns:a16="http://schemas.microsoft.com/office/drawing/2014/main" val="226087584"/>
                  </a:ext>
                </a:extLst>
              </a:tr>
            </a:tbl>
          </a:graphicData>
        </a:graphic>
      </p:graphicFrame>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2528"/>
        <p:cNvGrpSpPr/>
        <p:nvPr/>
      </p:nvGrpSpPr>
      <p:grpSpPr>
        <a:xfrm>
          <a:off x="0" y="0"/>
          <a:ext cx="0" cy="0"/>
          <a:chOff x="0" y="0"/>
          <a:chExt cx="0" cy="0"/>
        </a:xfrm>
      </p:grpSpPr>
      <p:sp>
        <p:nvSpPr>
          <p:cNvPr id="2529" name="Google Shape;2529;p15"/>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Implication projet - Pilotage</a:t>
            </a:r>
          </a:p>
        </p:txBody>
      </p:sp>
      <p:sp>
        <p:nvSpPr>
          <p:cNvPr id="2" name="Espace réservé du numéro de diapositive 1">
            <a:extLst>
              <a:ext uri="{FF2B5EF4-FFF2-40B4-BE49-F238E27FC236}">
                <a16:creationId xmlns:a16="http://schemas.microsoft.com/office/drawing/2014/main" id="{8FC26E05-8BD9-E1A4-8CF5-A8AA02DE57E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154</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graphicFrame>
        <p:nvGraphicFramePr>
          <p:cNvPr id="2530" name="Google Shape;2530;p15"/>
          <p:cNvGraphicFramePr/>
          <p:nvPr>
            <p:extLst>
              <p:ext uri="{D42A27DB-BD31-4B8C-83A1-F6EECF244321}">
                <p14:modId xmlns:p14="http://schemas.microsoft.com/office/powerpoint/2010/main" val="362247405"/>
              </p:ext>
            </p:extLst>
          </p:nvPr>
        </p:nvGraphicFramePr>
        <p:xfrm>
          <a:off x="1069525" y="2097088"/>
          <a:ext cx="10052950" cy="2839760"/>
        </p:xfrm>
        <a:graphic>
          <a:graphicData uri="http://schemas.openxmlformats.org/drawingml/2006/table">
            <a:tbl>
              <a:tblPr firstRow="1" bandRow="1">
                <a:tableStyleId>{9DCAF9ED-07DC-4A11-8D7F-57B35C25682E}</a:tableStyleId>
              </a:tblPr>
              <a:tblGrid>
                <a:gridCol w="3734281">
                  <a:extLst>
                    <a:ext uri="{9D8B030D-6E8A-4147-A177-3AD203B41FA5}">
                      <a16:colId xmlns:a16="http://schemas.microsoft.com/office/drawing/2014/main" val="20000"/>
                    </a:ext>
                  </a:extLst>
                </a:gridCol>
                <a:gridCol w="1434568">
                  <a:extLst>
                    <a:ext uri="{9D8B030D-6E8A-4147-A177-3AD203B41FA5}">
                      <a16:colId xmlns:a16="http://schemas.microsoft.com/office/drawing/2014/main" val="20001"/>
                    </a:ext>
                  </a:extLst>
                </a:gridCol>
                <a:gridCol w="1593356">
                  <a:extLst>
                    <a:ext uri="{9D8B030D-6E8A-4147-A177-3AD203B41FA5}">
                      <a16:colId xmlns:a16="http://schemas.microsoft.com/office/drawing/2014/main" val="1171452401"/>
                    </a:ext>
                  </a:extLst>
                </a:gridCol>
                <a:gridCol w="329074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Tache</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Temps à prévoir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Fréquence</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Participants</a:t>
                      </a:r>
                      <a:endParaRPr lang="fr-FR" sz="11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i="1" u="none" strike="noStrike" kern="1200" cap="none" noProof="0" dirty="0">
                          <a:solidFill>
                            <a:schemeClr val="dk1"/>
                          </a:solidFill>
                          <a:latin typeface="+mn-lt"/>
                          <a:ea typeface="+mn-ea"/>
                          <a:cs typeface="+mn-cs"/>
                        </a:rPr>
                        <a:t>Pilotage projet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kern="1200" cap="none" noProof="0" dirty="0">
                        <a:solidFill>
                          <a:schemeClr val="dk1"/>
                        </a:solidFill>
                        <a:latin typeface="+mn-lt"/>
                        <a:ea typeface="+mn-ea"/>
                        <a:cs typeface="+mn-cs"/>
                      </a:endParaRPr>
                    </a:p>
                  </a:txBody>
                  <a:tcPr marL="91450" marR="91450" marT="45725" marB="45725"/>
                </a:tc>
                <a:extLst>
                  <a:ext uri="{0D108BD9-81ED-4DB2-BD59-A6C34878D82A}">
                    <a16:rowId xmlns:a16="http://schemas.microsoft.com/office/drawing/2014/main" val="4266603917"/>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Project Management Meeting (</a:t>
                      </a:r>
                      <a:r>
                        <a:rPr lang="fr-FR" sz="1800" u="none" strike="noStrike" cap="none" noProof="0" dirty="0" err="1"/>
                        <a:t>Coproj</a:t>
                      </a:r>
                      <a:r>
                        <a:rPr lang="fr-FR" sz="1800" u="none" strike="noStrike" cap="none" noProof="0" dirty="0"/>
                        <a:t>)</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30min à 1h</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Hebdo</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Equipe projet &amp; Sponsor</a:t>
                      </a:r>
                      <a:endParaRPr lang="fr-FR" sz="1100"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Comités de pilotage</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2h +1h</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Mensuel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1h de temps préparation équipe projet</a:t>
                      </a:r>
                    </a:p>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2h en séance équipe projet, sponsors et key </a:t>
                      </a:r>
                      <a:r>
                        <a:rPr lang="fr-FR" sz="1800" u="none" strike="noStrike" cap="none" noProof="0" dirty="0" err="1"/>
                        <a:t>users</a:t>
                      </a:r>
                      <a:r>
                        <a:rPr lang="fr-FR" sz="1800" u="none" strike="noStrike" cap="none" noProof="0" dirty="0"/>
                        <a:t> invités</a:t>
                      </a: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0192075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2528"/>
        <p:cNvGrpSpPr/>
        <p:nvPr/>
      </p:nvGrpSpPr>
      <p:grpSpPr>
        <a:xfrm>
          <a:off x="0" y="0"/>
          <a:ext cx="0" cy="0"/>
          <a:chOff x="0" y="0"/>
          <a:chExt cx="0" cy="0"/>
        </a:xfrm>
      </p:grpSpPr>
      <p:sp>
        <p:nvSpPr>
          <p:cNvPr id="2529" name="Google Shape;2529;p15"/>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Implication projet - Projet</a:t>
            </a:r>
          </a:p>
        </p:txBody>
      </p:sp>
      <p:sp>
        <p:nvSpPr>
          <p:cNvPr id="2" name="Espace réservé du numéro de diapositive 1">
            <a:extLst>
              <a:ext uri="{FF2B5EF4-FFF2-40B4-BE49-F238E27FC236}">
                <a16:creationId xmlns:a16="http://schemas.microsoft.com/office/drawing/2014/main" id="{8FC26E05-8BD9-E1A4-8CF5-A8AA02DE57E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155</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graphicFrame>
        <p:nvGraphicFramePr>
          <p:cNvPr id="2530" name="Google Shape;2530;p15"/>
          <p:cNvGraphicFramePr/>
          <p:nvPr>
            <p:extLst>
              <p:ext uri="{D42A27DB-BD31-4B8C-83A1-F6EECF244321}">
                <p14:modId xmlns:p14="http://schemas.microsoft.com/office/powerpoint/2010/main" val="963021918"/>
              </p:ext>
            </p:extLst>
          </p:nvPr>
        </p:nvGraphicFramePr>
        <p:xfrm>
          <a:off x="1069525" y="2096649"/>
          <a:ext cx="10052950" cy="4394260"/>
        </p:xfrm>
        <a:graphic>
          <a:graphicData uri="http://schemas.openxmlformats.org/drawingml/2006/table">
            <a:tbl>
              <a:tblPr firstRow="1" bandRow="1">
                <a:tableStyleId>{9DCAF9ED-07DC-4A11-8D7F-57B35C25682E}</a:tableStyleId>
              </a:tblPr>
              <a:tblGrid>
                <a:gridCol w="3734281">
                  <a:extLst>
                    <a:ext uri="{9D8B030D-6E8A-4147-A177-3AD203B41FA5}">
                      <a16:colId xmlns:a16="http://schemas.microsoft.com/office/drawing/2014/main" val="20000"/>
                    </a:ext>
                  </a:extLst>
                </a:gridCol>
                <a:gridCol w="1434568">
                  <a:extLst>
                    <a:ext uri="{9D8B030D-6E8A-4147-A177-3AD203B41FA5}">
                      <a16:colId xmlns:a16="http://schemas.microsoft.com/office/drawing/2014/main" val="20001"/>
                    </a:ext>
                  </a:extLst>
                </a:gridCol>
                <a:gridCol w="1593356">
                  <a:extLst>
                    <a:ext uri="{9D8B030D-6E8A-4147-A177-3AD203B41FA5}">
                      <a16:colId xmlns:a16="http://schemas.microsoft.com/office/drawing/2014/main" val="1171452401"/>
                    </a:ext>
                  </a:extLst>
                </a:gridCol>
                <a:gridCol w="329074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Tache</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Temps à prévoir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Fréquence</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Participants</a:t>
                      </a:r>
                      <a:endParaRPr lang="fr-FR" sz="11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i="1" u="none" strike="noStrike" kern="1200" cap="none" noProof="0" dirty="0">
                          <a:solidFill>
                            <a:schemeClr val="dk1"/>
                          </a:solidFill>
                          <a:latin typeface="+mn-lt"/>
                          <a:ea typeface="+mn-ea"/>
                          <a:cs typeface="+mn-cs"/>
                        </a:rPr>
                        <a:t>Phase projet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kern="1200" cap="none" noProof="0" dirty="0">
                        <a:solidFill>
                          <a:schemeClr val="dk1"/>
                        </a:solidFill>
                        <a:latin typeface="+mn-lt"/>
                        <a:ea typeface="+mn-ea"/>
                        <a:cs typeface="+mn-cs"/>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800" u="none" strike="noStrike" kern="1200" cap="none" noProof="0" dirty="0">
                        <a:solidFill>
                          <a:schemeClr val="dk1"/>
                        </a:solidFill>
                        <a:latin typeface="+mn-lt"/>
                        <a:ea typeface="+mn-ea"/>
                        <a:cs typeface="+mn-cs"/>
                      </a:endParaRPr>
                    </a:p>
                  </a:txBody>
                  <a:tcPr marL="91450" marR="91450" marT="45725" marB="45725"/>
                </a:tc>
                <a:extLst>
                  <a:ext uri="{0D108BD9-81ED-4DB2-BD59-A6C34878D82A}">
                    <a16:rowId xmlns:a16="http://schemas.microsoft.com/office/drawing/2014/main" val="4266603917"/>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Réunion de démo et formation en cours de projet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Global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présente tout le temps. Key </a:t>
                      </a:r>
                      <a:r>
                        <a:rPr lang="fr-FR" sz="1800" u="none" strike="noStrike" cap="none" noProof="0" dirty="0" err="1"/>
                        <a:t>users</a:t>
                      </a:r>
                      <a:r>
                        <a:rPr lang="fr-FR" sz="1800" u="none" strike="noStrike" cap="none" noProof="0" dirty="0"/>
                        <a:t> à tour de rôle</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Compléments d’analyse</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Global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présente tout le temps. Key </a:t>
                      </a:r>
                      <a:r>
                        <a:rPr lang="fr-FR" sz="1800" u="none" strike="noStrike" cap="none" noProof="0" dirty="0" err="1"/>
                        <a:t>users</a:t>
                      </a:r>
                      <a:r>
                        <a:rPr lang="fr-FR" sz="1800" u="none" strike="noStrike" cap="none" noProof="0" dirty="0"/>
                        <a:t> à tour de rôle</a:t>
                      </a:r>
                    </a:p>
                  </a:txBody>
                  <a:tcPr marL="91450" marR="91450" marT="45725" marB="45725"/>
                </a:tc>
                <a:extLst>
                  <a:ext uri="{0D108BD9-81ED-4DB2-BD59-A6C34878D82A}">
                    <a16:rowId xmlns:a16="http://schemas.microsoft.com/office/drawing/2014/main" val="220783728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Tests clients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Hebdo</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&amp; key </a:t>
                      </a:r>
                      <a:r>
                        <a:rPr lang="fr-FR" sz="1800" u="none" strike="noStrike" cap="none" noProof="0" dirty="0" err="1"/>
                        <a:t>users</a:t>
                      </a:r>
                      <a:r>
                        <a:rPr lang="fr-FR" sz="1800" u="none" strike="noStrike" cap="none" noProof="0" dirty="0"/>
                        <a:t> – A répartir</a:t>
                      </a:r>
                    </a:p>
                  </a:txBody>
                  <a:tcPr marL="91450" marR="91450" marT="45725" marB="45725"/>
                </a:tc>
                <a:extLst>
                  <a:ext uri="{0D108BD9-81ED-4DB2-BD59-A6C34878D82A}">
                    <a16:rowId xmlns:a16="http://schemas.microsoft.com/office/drawing/2014/main" val="374292656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Ateliers de validation</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Global</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présente tout le temps. Key </a:t>
                      </a:r>
                      <a:r>
                        <a:rPr lang="fr-FR" sz="1800" u="none" strike="noStrike" cap="none" noProof="0" dirty="0" err="1"/>
                        <a:t>users</a:t>
                      </a:r>
                      <a:r>
                        <a:rPr lang="fr-FR" sz="1800" u="none" strike="noStrike" cap="none" noProof="0" dirty="0"/>
                        <a:t> à tour de rôle</a:t>
                      </a:r>
                    </a:p>
                  </a:txBody>
                  <a:tcPr marL="91450" marR="91450" marT="45725" marB="45725"/>
                </a:tc>
                <a:extLst>
                  <a:ext uri="{0D108BD9-81ED-4DB2-BD59-A6C34878D82A}">
                    <a16:rowId xmlns:a16="http://schemas.microsoft.com/office/drawing/2014/main" val="1532762023"/>
                  </a:ext>
                </a:extLst>
              </a:tr>
            </a:tbl>
          </a:graphicData>
        </a:graphic>
      </p:graphicFrame>
      <p:pic>
        <p:nvPicPr>
          <p:cNvPr id="3" name="Graphique 2" descr="Stylo avec un remplissage uni">
            <a:extLst>
              <a:ext uri="{FF2B5EF4-FFF2-40B4-BE49-F238E27FC236}">
                <a16:creationId xmlns:a16="http://schemas.microsoft.com/office/drawing/2014/main" id="{9C4F2851-BDC6-0C80-3EC7-4C43C45AA8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2253" y="2835684"/>
            <a:ext cx="623079" cy="593316"/>
          </a:xfrm>
          <a:prstGeom prst="rect">
            <a:avLst/>
          </a:prstGeom>
        </p:spPr>
      </p:pic>
      <p:pic>
        <p:nvPicPr>
          <p:cNvPr id="4" name="Graphique 3" descr="Stylo avec un remplissage uni">
            <a:extLst>
              <a:ext uri="{FF2B5EF4-FFF2-40B4-BE49-F238E27FC236}">
                <a16:creationId xmlns:a16="http://schemas.microsoft.com/office/drawing/2014/main" id="{8611BB6F-0B39-2045-57D8-61D1707B90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704" y="3700463"/>
            <a:ext cx="623079" cy="593316"/>
          </a:xfrm>
          <a:prstGeom prst="rect">
            <a:avLst/>
          </a:prstGeom>
        </p:spPr>
      </p:pic>
      <p:pic>
        <p:nvPicPr>
          <p:cNvPr id="5" name="Graphique 4" descr="Stylo avec un remplissage uni">
            <a:extLst>
              <a:ext uri="{FF2B5EF4-FFF2-40B4-BE49-F238E27FC236}">
                <a16:creationId xmlns:a16="http://schemas.microsoft.com/office/drawing/2014/main" id="{C30D224D-C4DD-059B-B26B-A6176D313B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2211" y="4585381"/>
            <a:ext cx="623079" cy="593316"/>
          </a:xfrm>
          <a:prstGeom prst="rect">
            <a:avLst/>
          </a:prstGeom>
        </p:spPr>
      </p:pic>
      <p:pic>
        <p:nvPicPr>
          <p:cNvPr id="6" name="Graphique 5" descr="Stylo avec un remplissage uni">
            <a:extLst>
              <a:ext uri="{FF2B5EF4-FFF2-40B4-BE49-F238E27FC236}">
                <a16:creationId xmlns:a16="http://schemas.microsoft.com/office/drawing/2014/main" id="{63869AFE-BF25-DD05-6543-F236DCB12A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2210" y="5241487"/>
            <a:ext cx="623079" cy="593316"/>
          </a:xfrm>
          <a:prstGeom prst="rect">
            <a:avLst/>
          </a:prstGeom>
        </p:spPr>
      </p:pic>
    </p:spTree>
    <p:extLst>
      <p:ext uri="{BB962C8B-B14F-4D97-AF65-F5344CB8AC3E}">
        <p14:creationId xmlns:p14="http://schemas.microsoft.com/office/powerpoint/2010/main" val="152060308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2528"/>
        <p:cNvGrpSpPr/>
        <p:nvPr/>
      </p:nvGrpSpPr>
      <p:grpSpPr>
        <a:xfrm>
          <a:off x="0" y="0"/>
          <a:ext cx="0" cy="0"/>
          <a:chOff x="0" y="0"/>
          <a:chExt cx="0" cy="0"/>
        </a:xfrm>
      </p:grpSpPr>
      <p:sp>
        <p:nvSpPr>
          <p:cNvPr id="2529" name="Google Shape;2529;p15"/>
          <p:cNvSpPr txBox="1">
            <a:spLocks noGrp="1"/>
          </p:cNvSpPr>
          <p:nvPr>
            <p:ph type="title"/>
          </p:nvPr>
        </p:nvSpPr>
        <p:spPr>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2800"/>
              <a:buFont typeface="Open Sans Light"/>
              <a:buNone/>
            </a:pPr>
            <a:r>
              <a:rPr lang="fr-FR" noProof="0" dirty="0"/>
              <a:t>Implication projet – UAT et formations</a:t>
            </a:r>
          </a:p>
        </p:txBody>
      </p:sp>
      <p:sp>
        <p:nvSpPr>
          <p:cNvPr id="2" name="Espace réservé du numéro de diapositive 1">
            <a:extLst>
              <a:ext uri="{FF2B5EF4-FFF2-40B4-BE49-F238E27FC236}">
                <a16:creationId xmlns:a16="http://schemas.microsoft.com/office/drawing/2014/main" id="{8FC26E05-8BD9-E1A4-8CF5-A8AA02DE57E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156</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graphicFrame>
        <p:nvGraphicFramePr>
          <p:cNvPr id="2530" name="Google Shape;2530;p15"/>
          <p:cNvGraphicFramePr/>
          <p:nvPr>
            <p:extLst>
              <p:ext uri="{D42A27DB-BD31-4B8C-83A1-F6EECF244321}">
                <p14:modId xmlns:p14="http://schemas.microsoft.com/office/powerpoint/2010/main" val="1119829138"/>
              </p:ext>
            </p:extLst>
          </p:nvPr>
        </p:nvGraphicFramePr>
        <p:xfrm>
          <a:off x="1069525" y="2144404"/>
          <a:ext cx="10052950" cy="3479850"/>
        </p:xfrm>
        <a:graphic>
          <a:graphicData uri="http://schemas.openxmlformats.org/drawingml/2006/table">
            <a:tbl>
              <a:tblPr firstRow="1" bandRow="1">
                <a:tableStyleId>{9DCAF9ED-07DC-4A11-8D7F-57B35C25682E}</a:tableStyleId>
              </a:tblPr>
              <a:tblGrid>
                <a:gridCol w="3734281">
                  <a:extLst>
                    <a:ext uri="{9D8B030D-6E8A-4147-A177-3AD203B41FA5}">
                      <a16:colId xmlns:a16="http://schemas.microsoft.com/office/drawing/2014/main" val="20000"/>
                    </a:ext>
                  </a:extLst>
                </a:gridCol>
                <a:gridCol w="1434568">
                  <a:extLst>
                    <a:ext uri="{9D8B030D-6E8A-4147-A177-3AD203B41FA5}">
                      <a16:colId xmlns:a16="http://schemas.microsoft.com/office/drawing/2014/main" val="20001"/>
                    </a:ext>
                  </a:extLst>
                </a:gridCol>
                <a:gridCol w="1593356">
                  <a:extLst>
                    <a:ext uri="{9D8B030D-6E8A-4147-A177-3AD203B41FA5}">
                      <a16:colId xmlns:a16="http://schemas.microsoft.com/office/drawing/2014/main" val="1171452401"/>
                    </a:ext>
                  </a:extLst>
                </a:gridCol>
                <a:gridCol w="3290745">
                  <a:extLst>
                    <a:ext uri="{9D8B030D-6E8A-4147-A177-3AD203B41FA5}">
                      <a16:colId xmlns:a16="http://schemas.microsoft.com/office/drawing/2014/main" val="20003"/>
                    </a:ext>
                  </a:extLst>
                </a:gridCol>
              </a:tblGrid>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Tache</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Temps à prévoir</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Fréquence</a:t>
                      </a:r>
                      <a:endParaRPr lang="fr-FR" sz="11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Participants</a:t>
                      </a:r>
                      <a:endParaRPr lang="fr-FR" sz="1100" u="none" strike="noStrike" cap="none" noProof="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i="1" u="none" strike="noStrike" cap="none" noProof="0" dirty="0"/>
                        <a:t>Phase UAT et formations</a:t>
                      </a:r>
                      <a:endParaRPr lang="fr-FR" sz="1100" i="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100" i="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100" i="1"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endParaRPr lang="fr-FR" sz="1100" i="1" u="none" strike="noStrike" cap="none" noProof="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Formations produit</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Xxx heures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Sur 1 mois</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présente tout le temps. Key </a:t>
                      </a:r>
                      <a:r>
                        <a:rPr lang="fr-FR" sz="1800" u="none" strike="noStrike" cap="none" noProof="0" dirty="0" err="1"/>
                        <a:t>users</a:t>
                      </a:r>
                      <a:r>
                        <a:rPr lang="fr-FR" sz="1800" u="none" strike="noStrike" cap="none" noProof="0" dirty="0"/>
                        <a:t> et </a:t>
                      </a:r>
                      <a:r>
                        <a:rPr lang="fr-FR" sz="1800" u="none" strike="noStrike" cap="none" noProof="0" dirty="0" err="1"/>
                        <a:t>users</a:t>
                      </a:r>
                      <a:r>
                        <a:rPr lang="fr-FR" sz="1800" u="none" strike="noStrike" cap="none" noProof="0" dirty="0"/>
                        <a:t> à tour de rôle</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Tests produits key </a:t>
                      </a:r>
                      <a:r>
                        <a:rPr lang="fr-FR" sz="1800" u="none" strike="noStrike" cap="none" noProof="0" dirty="0" err="1"/>
                        <a:t>users</a:t>
                      </a: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20h/pers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Sur 3 semaines</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présente tout le temps. Par key </a:t>
                      </a:r>
                      <a:r>
                        <a:rPr lang="fr-FR" sz="1800" u="none" strike="noStrike" cap="none" noProof="0" dirty="0" err="1"/>
                        <a:t>users</a:t>
                      </a:r>
                      <a:endParaRPr lang="fr-FR" sz="1800" u="none" strike="noStrike" cap="none" noProof="0" dirty="0"/>
                    </a:p>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endParaRPr lang="fr-FR" sz="1800" u="none" strike="noStrike" cap="none" noProof="0" dirty="0"/>
                    </a:p>
                  </a:txBody>
                  <a:tcPr marL="91450" marR="91450" marT="45725" marB="45725"/>
                </a:tc>
                <a:extLst>
                  <a:ext uri="{0D108BD9-81ED-4DB2-BD59-A6C34878D82A}">
                    <a16:rowId xmlns:a16="http://schemas.microsoft.com/office/drawing/2014/main" val="2207837282"/>
                  </a:ext>
                </a:extLst>
              </a:tr>
              <a:tr h="370850">
                <a:tc>
                  <a:txBody>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Tests produits end </a:t>
                      </a:r>
                      <a:r>
                        <a:rPr lang="fr-FR" sz="1800" u="none" strike="noStrike" cap="none" noProof="0" dirty="0" err="1"/>
                        <a:t>users</a:t>
                      </a:r>
                      <a:endParaRPr lang="fr-FR" sz="1800" u="none" strike="noStrike" cap="none" noProof="0" dirty="0"/>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3h/pers</a:t>
                      </a: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fr-FR" sz="1800" u="none" strike="noStrike" cap="none" noProof="0" dirty="0"/>
                        <a:t>Sur 2 semaines</a:t>
                      </a:r>
                    </a:p>
                  </a:txBody>
                  <a:tcPr marL="91450" marR="91450" marT="45725" marB="45725"/>
                </a:tc>
                <a:tc>
                  <a:txBody>
                    <a:bodyPr/>
                    <a:lstStyle/>
                    <a:p>
                      <a:pPr marL="0" marR="0" lvl="0" indent="0" algn="l" defTabSz="1105875" rtl="0" eaLnBrk="1" fontAlgn="auto" latinLnBrk="0" hangingPunct="1">
                        <a:lnSpc>
                          <a:spcPct val="100000"/>
                        </a:lnSpc>
                        <a:spcBef>
                          <a:spcPts val="0"/>
                        </a:spcBef>
                        <a:spcAft>
                          <a:spcPts val="0"/>
                        </a:spcAft>
                        <a:buClr>
                          <a:srgbClr val="000000"/>
                        </a:buClr>
                        <a:buSzPts val="2400"/>
                        <a:buFont typeface="Arial"/>
                        <a:buNone/>
                        <a:tabLst/>
                        <a:defRPr/>
                      </a:pPr>
                      <a:r>
                        <a:rPr lang="fr-FR" sz="1800" u="none" strike="noStrike" cap="none" noProof="0" dirty="0"/>
                        <a:t>Equipe projet présente tout le temps. Par </a:t>
                      </a:r>
                      <a:r>
                        <a:rPr lang="fr-FR" sz="1800" u="none" strike="noStrike" cap="none" noProof="0" dirty="0" err="1"/>
                        <a:t>users</a:t>
                      </a:r>
                      <a:endParaRPr lang="fr-FR" sz="1800" u="none" strike="noStrike" cap="none" noProof="0" dirty="0"/>
                    </a:p>
                  </a:txBody>
                  <a:tcPr marL="91450" marR="91450" marT="45725" marB="45725"/>
                </a:tc>
                <a:extLst>
                  <a:ext uri="{0D108BD9-81ED-4DB2-BD59-A6C34878D82A}">
                    <a16:rowId xmlns:a16="http://schemas.microsoft.com/office/drawing/2014/main" val="3742926562"/>
                  </a:ext>
                </a:extLst>
              </a:tr>
            </a:tbl>
          </a:graphicData>
        </a:graphic>
      </p:graphicFrame>
      <p:pic>
        <p:nvPicPr>
          <p:cNvPr id="4" name="Graphique 3" descr="Stylo avec un remplissage uni">
            <a:extLst>
              <a:ext uri="{FF2B5EF4-FFF2-40B4-BE49-F238E27FC236}">
                <a16:creationId xmlns:a16="http://schemas.microsoft.com/office/drawing/2014/main" id="{8340D535-60DA-95A7-87D6-EFF5878D87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3075" y="2938425"/>
            <a:ext cx="623079" cy="593316"/>
          </a:xfrm>
          <a:prstGeom prst="rect">
            <a:avLst/>
          </a:prstGeom>
        </p:spPr>
      </p:pic>
    </p:spTree>
    <p:extLst>
      <p:ext uri="{BB962C8B-B14F-4D97-AF65-F5344CB8AC3E}">
        <p14:creationId xmlns:p14="http://schemas.microsoft.com/office/powerpoint/2010/main" val="225140537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312AD-C874-ECD9-40F6-02CD8202935C}"/>
              </a:ext>
            </a:extLst>
          </p:cNvPr>
          <p:cNvSpPr>
            <a:spLocks noGrp="1"/>
          </p:cNvSpPr>
          <p:nvPr>
            <p:ph type="title"/>
          </p:nvPr>
        </p:nvSpPr>
        <p:spPr/>
        <p:txBody>
          <a:bodyPr/>
          <a:lstStyle/>
          <a:p>
            <a:r>
              <a:rPr lang="fr-FR" noProof="0" dirty="0"/>
              <a:t>Indicateurs de suivi - Hebdomadaire</a:t>
            </a:r>
          </a:p>
        </p:txBody>
      </p:sp>
      <p:sp>
        <p:nvSpPr>
          <p:cNvPr id="4" name="Espace réservé du numéro de diapositive 3">
            <a:extLst>
              <a:ext uri="{FF2B5EF4-FFF2-40B4-BE49-F238E27FC236}">
                <a16:creationId xmlns:a16="http://schemas.microsoft.com/office/drawing/2014/main" id="{9C79FEF9-E9A4-8746-05AF-A24D46A4383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157</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3" name="Espace réservé du contenu 2">
            <a:extLst>
              <a:ext uri="{FF2B5EF4-FFF2-40B4-BE49-F238E27FC236}">
                <a16:creationId xmlns:a16="http://schemas.microsoft.com/office/drawing/2014/main" id="{52740B2D-9AAB-6A76-56ED-844E1E9D72D0}"/>
              </a:ext>
            </a:extLst>
          </p:cNvPr>
          <p:cNvSpPr>
            <a:spLocks noGrp="1"/>
          </p:cNvSpPr>
          <p:nvPr>
            <p:ph idx="4294967295"/>
          </p:nvPr>
        </p:nvSpPr>
        <p:spPr>
          <a:xfrm>
            <a:off x="841375" y="2139571"/>
            <a:ext cx="10512425" cy="4351338"/>
          </a:xfrm>
        </p:spPr>
        <p:txBody>
          <a:bodyPr>
            <a:normAutofit/>
          </a:bodyPr>
          <a:lstStyle/>
          <a:p>
            <a:r>
              <a:rPr lang="fr-FR" sz="2000" b="1" noProof="0" dirty="0"/>
              <a:t>Toutes les semaines, nous suivons avec vous : </a:t>
            </a:r>
          </a:p>
          <a:p>
            <a:pPr marL="809625" lvl="1" indent="-414338">
              <a:buFont typeface="Wingdings" panose="05000000000000000000" pitchFamily="2" charset="2"/>
              <a:buChar char="q"/>
            </a:pPr>
            <a:r>
              <a:rPr lang="fr-FR" sz="2000" noProof="0" dirty="0">
                <a:solidFill>
                  <a:srgbClr val="7030A0"/>
                </a:solidFill>
              </a:rPr>
              <a:t>L’avancement</a:t>
            </a:r>
            <a:r>
              <a:rPr lang="fr-FR" sz="2000" noProof="0" dirty="0"/>
              <a:t> global du projet en % (% du temps des taches </a:t>
            </a:r>
            <a:r>
              <a:rPr lang="fr-FR" sz="2000" b="1" noProof="0" dirty="0"/>
              <a:t>validées</a:t>
            </a:r>
            <a:r>
              <a:rPr lang="fr-FR" sz="2000" noProof="0" dirty="0"/>
              <a:t> par vous)</a:t>
            </a:r>
          </a:p>
          <a:p>
            <a:pPr marL="809625" lvl="1" indent="-414338">
              <a:buFont typeface="Wingdings" panose="05000000000000000000" pitchFamily="2" charset="2"/>
              <a:buChar char="q"/>
            </a:pPr>
            <a:r>
              <a:rPr lang="fr-FR" sz="2000" noProof="0" dirty="0"/>
              <a:t>Le nombre </a:t>
            </a:r>
            <a:r>
              <a:rPr lang="fr-FR" sz="2000" noProof="0" dirty="0">
                <a:solidFill>
                  <a:srgbClr val="7030A0"/>
                </a:solidFill>
              </a:rPr>
              <a:t>d’heures </a:t>
            </a:r>
            <a:r>
              <a:rPr lang="fr-FR" sz="2000" b="1" noProof="0" dirty="0"/>
              <a:t>restant</a:t>
            </a:r>
            <a:r>
              <a:rPr lang="fr-FR" sz="2000" b="1" noProof="0" dirty="0">
                <a:solidFill>
                  <a:srgbClr val="7030A0"/>
                </a:solidFill>
              </a:rPr>
              <a:t> </a:t>
            </a:r>
            <a:r>
              <a:rPr lang="fr-FR" sz="2000" b="1" noProof="0" dirty="0"/>
              <a:t>à faire </a:t>
            </a:r>
            <a:r>
              <a:rPr lang="fr-FR" sz="2000" noProof="0" dirty="0"/>
              <a:t>avant go live</a:t>
            </a:r>
          </a:p>
          <a:p>
            <a:pPr marL="809625" lvl="1" indent="-414338">
              <a:buFont typeface="Wingdings" panose="05000000000000000000" pitchFamily="2" charset="2"/>
              <a:buChar char="q"/>
            </a:pPr>
            <a:r>
              <a:rPr lang="fr-FR" sz="2000" noProof="0" dirty="0"/>
              <a:t>La date de </a:t>
            </a:r>
            <a:r>
              <a:rPr lang="fr-FR" sz="2000" noProof="0" dirty="0">
                <a:solidFill>
                  <a:srgbClr val="7030A0"/>
                </a:solidFill>
              </a:rPr>
              <a:t>go live </a:t>
            </a:r>
            <a:r>
              <a:rPr lang="fr-FR" sz="2000" noProof="0" dirty="0"/>
              <a:t>fixée</a:t>
            </a:r>
          </a:p>
          <a:p>
            <a:pPr marL="809625" lvl="1" indent="-414338">
              <a:buFont typeface="Wingdings" panose="05000000000000000000" pitchFamily="2" charset="2"/>
              <a:buChar char="q"/>
            </a:pPr>
            <a:r>
              <a:rPr lang="fr-FR" sz="2000" noProof="0" dirty="0"/>
              <a:t>Le détail par </a:t>
            </a:r>
            <a:r>
              <a:rPr lang="fr-FR" sz="2000" b="1" noProof="0" dirty="0">
                <a:solidFill>
                  <a:srgbClr val="7030A0"/>
                </a:solidFill>
              </a:rPr>
              <a:t>domaine</a:t>
            </a:r>
            <a:r>
              <a:rPr lang="fr-FR" sz="2000" noProof="0" dirty="0"/>
              <a:t> et en comparatif : </a:t>
            </a:r>
          </a:p>
          <a:p>
            <a:pPr marL="1162050" lvl="2" indent="-414338"/>
            <a:r>
              <a:rPr lang="fr-FR" noProof="0" dirty="0"/>
              <a:t>Des heures </a:t>
            </a:r>
            <a:r>
              <a:rPr lang="fr-FR" b="1" noProof="0" dirty="0"/>
              <a:t>prévues</a:t>
            </a:r>
            <a:r>
              <a:rPr lang="fr-FR" noProof="0" dirty="0"/>
              <a:t> au budget</a:t>
            </a:r>
          </a:p>
          <a:p>
            <a:pPr marL="1162050" lvl="2" indent="-414338"/>
            <a:r>
              <a:rPr lang="fr-FR" noProof="0" dirty="0"/>
              <a:t>Des heures réelles, </a:t>
            </a:r>
            <a:r>
              <a:rPr lang="fr-FR" b="1" noProof="0" dirty="0"/>
              <a:t>revues en cours </a:t>
            </a:r>
            <a:r>
              <a:rPr lang="fr-FR" noProof="0" dirty="0"/>
              <a:t>de projet</a:t>
            </a:r>
          </a:p>
          <a:p>
            <a:pPr marL="1162050" lvl="2" indent="-414338"/>
            <a:r>
              <a:rPr lang="fr-FR" noProof="0" dirty="0"/>
              <a:t>Des heures finalement </a:t>
            </a:r>
            <a:r>
              <a:rPr lang="fr-FR" b="1" noProof="0" dirty="0"/>
              <a:t>décomptées</a:t>
            </a:r>
            <a:r>
              <a:rPr lang="fr-FR" noProof="0" dirty="0"/>
              <a:t> (temps passé par les équipes)</a:t>
            </a:r>
          </a:p>
          <a:p>
            <a:pPr marL="852487" indent="-457200">
              <a:buFont typeface="Wingdings" panose="05000000000000000000" pitchFamily="2" charset="2"/>
              <a:buChar char="q"/>
            </a:pPr>
            <a:r>
              <a:rPr lang="fr-FR" sz="2000" noProof="0" dirty="0"/>
              <a:t>Les taches prévues dans le sprint vs les non planifiées</a:t>
            </a:r>
          </a:p>
        </p:txBody>
      </p:sp>
    </p:spTree>
    <p:extLst>
      <p:ext uri="{BB962C8B-B14F-4D97-AF65-F5344CB8AC3E}">
        <p14:creationId xmlns:p14="http://schemas.microsoft.com/office/powerpoint/2010/main" val="257822171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312AD-C874-ECD9-40F6-02CD8202935C}"/>
              </a:ext>
            </a:extLst>
          </p:cNvPr>
          <p:cNvSpPr>
            <a:spLocks noGrp="1"/>
          </p:cNvSpPr>
          <p:nvPr>
            <p:ph type="title"/>
          </p:nvPr>
        </p:nvSpPr>
        <p:spPr/>
        <p:txBody>
          <a:bodyPr/>
          <a:lstStyle/>
          <a:p>
            <a:r>
              <a:rPr lang="fr-FR" noProof="0" dirty="0"/>
              <a:t>Indicateurs de suivi - Mensuels</a:t>
            </a:r>
          </a:p>
        </p:txBody>
      </p:sp>
      <p:sp>
        <p:nvSpPr>
          <p:cNvPr id="4" name="Espace réservé du numéro de diapositive 3">
            <a:extLst>
              <a:ext uri="{FF2B5EF4-FFF2-40B4-BE49-F238E27FC236}">
                <a16:creationId xmlns:a16="http://schemas.microsoft.com/office/drawing/2014/main" id="{9C79FEF9-E9A4-8746-05AF-A24D46A4383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158</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3" name="Espace réservé du contenu 2">
            <a:extLst>
              <a:ext uri="{FF2B5EF4-FFF2-40B4-BE49-F238E27FC236}">
                <a16:creationId xmlns:a16="http://schemas.microsoft.com/office/drawing/2014/main" id="{52740B2D-9AAB-6A76-56ED-844E1E9D72D0}"/>
              </a:ext>
            </a:extLst>
          </p:cNvPr>
          <p:cNvSpPr>
            <a:spLocks noGrp="1"/>
          </p:cNvSpPr>
          <p:nvPr>
            <p:ph idx="4294967295"/>
          </p:nvPr>
        </p:nvSpPr>
        <p:spPr>
          <a:xfrm>
            <a:off x="839787" y="2097088"/>
            <a:ext cx="10512425" cy="4351338"/>
          </a:xfrm>
        </p:spPr>
        <p:txBody>
          <a:bodyPr>
            <a:normAutofit/>
          </a:bodyPr>
          <a:lstStyle/>
          <a:p>
            <a:r>
              <a:rPr lang="fr-FR" sz="2000" noProof="0" dirty="0"/>
              <a:t>Tous les mois lors du COPIL, nous suivons avec vous : </a:t>
            </a:r>
          </a:p>
          <a:p>
            <a:pPr marL="809625" lvl="1" indent="-414338">
              <a:buFont typeface="Wingdings" panose="05000000000000000000" pitchFamily="2" charset="2"/>
              <a:buChar char="q"/>
            </a:pPr>
            <a:r>
              <a:rPr lang="fr-FR" sz="2000" noProof="0" dirty="0"/>
              <a:t>Les heures du projet</a:t>
            </a:r>
          </a:p>
          <a:p>
            <a:pPr marL="1257300" lvl="2" indent="-414338"/>
            <a:r>
              <a:rPr lang="fr-FR" noProof="0" dirty="0"/>
              <a:t>Le nombre d’heures budgétés</a:t>
            </a:r>
          </a:p>
          <a:p>
            <a:pPr marL="1257300" lvl="2" indent="-414338"/>
            <a:r>
              <a:rPr lang="fr-FR" noProof="0" dirty="0"/>
              <a:t>Le nombre d’heures passées</a:t>
            </a:r>
          </a:p>
          <a:p>
            <a:pPr marL="1257300" lvl="2" indent="-414338"/>
            <a:r>
              <a:rPr lang="fr-FR" noProof="0" dirty="0"/>
              <a:t>Le nombre d’heures validées en ajout au projet</a:t>
            </a:r>
          </a:p>
          <a:p>
            <a:pPr marL="809625" lvl="1" indent="-414338">
              <a:buFont typeface="Wingdings" panose="05000000000000000000" pitchFamily="2" charset="2"/>
              <a:buChar char="q"/>
            </a:pPr>
            <a:r>
              <a:rPr lang="fr-FR" sz="2000" noProof="0" dirty="0"/>
              <a:t>Le statut du projet en termes de consommation du temps</a:t>
            </a:r>
          </a:p>
          <a:p>
            <a:pPr marL="809625" lvl="1" indent="-414338">
              <a:buFont typeface="Wingdings" panose="05000000000000000000" pitchFamily="2" charset="2"/>
              <a:buChar char="q"/>
            </a:pPr>
            <a:r>
              <a:rPr lang="fr-FR" sz="2000" noProof="0" dirty="0"/>
              <a:t>Le statut du projet en termes de délai</a:t>
            </a:r>
          </a:p>
          <a:p>
            <a:pPr marL="809625" lvl="1" indent="-414338">
              <a:buFont typeface="Wingdings" panose="05000000000000000000" pitchFamily="2" charset="2"/>
              <a:buChar char="q"/>
            </a:pPr>
            <a:r>
              <a:rPr lang="fr-FR" sz="2000" noProof="0" dirty="0"/>
              <a:t>Le suivi par domaine avec le comparatif</a:t>
            </a:r>
          </a:p>
          <a:p>
            <a:pPr marL="809625" lvl="1" indent="-414338">
              <a:buFont typeface="Wingdings" panose="05000000000000000000" pitchFamily="2" charset="2"/>
              <a:buChar char="q"/>
            </a:pPr>
            <a:r>
              <a:rPr lang="fr-FR" sz="2000" noProof="0" dirty="0"/>
              <a:t>La timeline du projet</a:t>
            </a:r>
          </a:p>
          <a:p>
            <a:pPr marL="1257300" lvl="2" indent="-414338"/>
            <a:r>
              <a:rPr lang="fr-FR" noProof="0" dirty="0"/>
              <a:t>Y compris la date de go live estimée</a:t>
            </a:r>
          </a:p>
          <a:p>
            <a:pPr marL="809625" lvl="1" indent="-414338"/>
            <a:endParaRPr lang="fr-FR" sz="2000" noProof="0" dirty="0"/>
          </a:p>
        </p:txBody>
      </p:sp>
    </p:spTree>
    <p:extLst>
      <p:ext uri="{BB962C8B-B14F-4D97-AF65-F5344CB8AC3E}">
        <p14:creationId xmlns:p14="http://schemas.microsoft.com/office/powerpoint/2010/main" val="84795349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312AD-C874-ECD9-40F6-02CD8202935C}"/>
              </a:ext>
            </a:extLst>
          </p:cNvPr>
          <p:cNvSpPr>
            <a:spLocks noGrp="1"/>
          </p:cNvSpPr>
          <p:nvPr>
            <p:ph type="title"/>
          </p:nvPr>
        </p:nvSpPr>
        <p:spPr/>
        <p:txBody>
          <a:bodyPr/>
          <a:lstStyle/>
          <a:p>
            <a:r>
              <a:rPr lang="fr-FR" noProof="0" dirty="0"/>
              <a:t>Indicateurs de suivi</a:t>
            </a:r>
          </a:p>
        </p:txBody>
      </p:sp>
      <p:sp>
        <p:nvSpPr>
          <p:cNvPr id="4" name="Espace réservé du numéro de diapositive 3">
            <a:extLst>
              <a:ext uri="{FF2B5EF4-FFF2-40B4-BE49-F238E27FC236}">
                <a16:creationId xmlns:a16="http://schemas.microsoft.com/office/drawing/2014/main" id="{9C79FEF9-E9A4-8746-05AF-A24D46A4383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D8C093-821D-4512-ACE4-8E8BF2045851}" type="slidenum">
              <a:rPr kumimoji="0" lang="fr-FR" sz="1200" b="1" i="0" u="none" strike="noStrike" kern="1200" cap="none" spc="0" normalizeH="0" baseline="0" noProof="0" smtClean="0">
                <a:ln>
                  <a:noFill/>
                </a:ln>
                <a:solidFill>
                  <a:srgbClr val="BA131A"/>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159</a:t>
            </a:fld>
            <a:endParaRPr kumimoji="0" lang="fr-FR" sz="1200" b="1" i="0" u="none" strike="noStrike" kern="1200" cap="none" spc="0" normalizeH="0" baseline="0" noProof="0" dirty="0">
              <a:ln>
                <a:noFill/>
              </a:ln>
              <a:solidFill>
                <a:srgbClr val="BA131A"/>
              </a:solidFill>
              <a:effectLst/>
              <a:uLnTx/>
              <a:uFillTx/>
              <a:latin typeface="Tahoma"/>
              <a:ea typeface="+mn-ea"/>
              <a:cs typeface="+mn-cs"/>
            </a:endParaRPr>
          </a:p>
        </p:txBody>
      </p:sp>
      <p:sp>
        <p:nvSpPr>
          <p:cNvPr id="3" name="Espace réservé du contenu 2">
            <a:extLst>
              <a:ext uri="{FF2B5EF4-FFF2-40B4-BE49-F238E27FC236}">
                <a16:creationId xmlns:a16="http://schemas.microsoft.com/office/drawing/2014/main" id="{52740B2D-9AAB-6A76-56ED-844E1E9D72D0}"/>
              </a:ext>
            </a:extLst>
          </p:cNvPr>
          <p:cNvSpPr>
            <a:spLocks noGrp="1"/>
          </p:cNvSpPr>
          <p:nvPr>
            <p:ph idx="4294967295"/>
          </p:nvPr>
        </p:nvSpPr>
        <p:spPr>
          <a:xfrm>
            <a:off x="838200" y="2139571"/>
            <a:ext cx="10512425" cy="4351338"/>
          </a:xfrm>
        </p:spPr>
        <p:txBody>
          <a:bodyPr>
            <a:normAutofit/>
          </a:bodyPr>
          <a:lstStyle/>
          <a:p>
            <a:r>
              <a:rPr lang="fr-FR" sz="2000" noProof="0" dirty="0"/>
              <a:t>Tous les indicateurs de suivi présentés sont ceux que nous suivons en </a:t>
            </a:r>
            <a:r>
              <a:rPr lang="fr-FR" sz="2000" b="1" noProof="0" dirty="0">
                <a:solidFill>
                  <a:srgbClr val="7030A0"/>
                </a:solidFill>
              </a:rPr>
              <a:t>standard</a:t>
            </a:r>
            <a:r>
              <a:rPr lang="fr-FR" sz="2000" noProof="0" dirty="0"/>
              <a:t> et qui sont produits par notre outil de gestion</a:t>
            </a:r>
          </a:p>
          <a:p>
            <a:r>
              <a:rPr lang="fr-FR" sz="2000" noProof="0" dirty="0"/>
              <a:t>En accord avec vous, nous pouvons </a:t>
            </a:r>
            <a:r>
              <a:rPr lang="fr-FR" sz="2000" b="1" noProof="0" dirty="0">
                <a:solidFill>
                  <a:srgbClr val="7030A0"/>
                </a:solidFill>
              </a:rPr>
              <a:t>en ajouter </a:t>
            </a:r>
            <a:r>
              <a:rPr lang="fr-FR" sz="2000" noProof="0" dirty="0"/>
              <a:t>d’autres produits par notre outil ou à calculer.</a:t>
            </a:r>
          </a:p>
          <a:p>
            <a:r>
              <a:rPr lang="fr-FR" sz="2000" noProof="0" dirty="0"/>
              <a:t>Nous convenons généralement en cours de projet de l’ajout ou le retrait de certains indicateurs</a:t>
            </a:r>
          </a:p>
          <a:p>
            <a:pPr marL="809625" lvl="1" indent="-414338"/>
            <a:endParaRPr lang="fr-FR" sz="2000" noProof="0" dirty="0"/>
          </a:p>
        </p:txBody>
      </p:sp>
    </p:spTree>
    <p:extLst>
      <p:ext uri="{BB962C8B-B14F-4D97-AF65-F5344CB8AC3E}">
        <p14:creationId xmlns:p14="http://schemas.microsoft.com/office/powerpoint/2010/main" val="302161986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2587"/>
        <p:cNvGrpSpPr/>
        <p:nvPr/>
      </p:nvGrpSpPr>
      <p:grpSpPr>
        <a:xfrm>
          <a:off x="0" y="0"/>
          <a:ext cx="0" cy="0"/>
          <a:chOff x="0" y="0"/>
          <a:chExt cx="0" cy="0"/>
        </a:xfrm>
      </p:grpSpPr>
      <p:sp>
        <p:nvSpPr>
          <p:cNvPr id="2588" name="Google Shape;2588;p19"/>
          <p:cNvSpPr txBox="1">
            <a:spLocks noGrp="1"/>
          </p:cNvSpPr>
          <p:nvPr>
            <p:ph type="ctrTitle"/>
          </p:nvPr>
        </p:nvSpPr>
        <p:spPr>
          <a:xfrm>
            <a:off x="263525" y="1943593"/>
            <a:ext cx="5880100" cy="3060700"/>
          </a:xfrm>
          <a:prstGeom prst="rect">
            <a:avLst/>
          </a:prstGeom>
          <a:noFill/>
          <a:ln>
            <a:noFill/>
          </a:ln>
        </p:spPr>
        <p:txBody>
          <a:bodyPr spcFirstLastPara="1" wrap="square" lIns="0" tIns="0" rIns="0" bIns="0" anchor="ctr" anchorCtr="0">
            <a:normAutofit/>
          </a:bodyPr>
          <a:lstStyle/>
          <a:p>
            <a:pPr marL="0" lvl="0" indent="0" rtl="0">
              <a:lnSpc>
                <a:spcPct val="86000"/>
              </a:lnSpc>
              <a:spcBef>
                <a:spcPts val="0"/>
              </a:spcBef>
              <a:spcAft>
                <a:spcPts val="0"/>
              </a:spcAft>
              <a:buClr>
                <a:schemeClr val="dk1"/>
              </a:buClr>
              <a:buSzPts val="3600"/>
              <a:buFont typeface="Open Sans Light"/>
              <a:buNone/>
            </a:pPr>
            <a:r>
              <a:rPr lang="fr-FR" sz="4800" noProof="0" dirty="0"/>
              <a:t>QUELLES SONT VOS QUESTIONS ?</a:t>
            </a:r>
          </a:p>
        </p:txBody>
      </p:sp>
      <p:sp>
        <p:nvSpPr>
          <p:cNvPr id="3" name="Espace réservé du numéro de diapositive 2">
            <a:extLst>
              <a:ext uri="{FF2B5EF4-FFF2-40B4-BE49-F238E27FC236}">
                <a16:creationId xmlns:a16="http://schemas.microsoft.com/office/drawing/2014/main" id="{17270AFE-778E-0E69-C3B2-B30ED4116EF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2872A60-1B10-409F-A3C9-AF13F971E75A}" type="slidenum">
              <a:rPr kumimoji="0" lang="fr-FR" sz="1200" b="1" i="0" u="none" strike="noStrike" kern="1200" cap="none" spc="0" normalizeH="0" baseline="0" noProof="0" smtClean="0">
                <a:ln>
                  <a:noFill/>
                </a:ln>
                <a:solidFill>
                  <a:prstClr val="white"/>
                </a:solidFill>
                <a:effectLst/>
                <a:uLnTx/>
                <a:uFillTx/>
                <a:latin typeface="Tahom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160</a:t>
            </a:fld>
            <a:endParaRPr kumimoji="0" lang="fr-FR" sz="1200" b="1" i="0" u="none" strike="noStrike" kern="1200" cap="none" spc="0" normalizeH="0" baseline="0" noProof="0" dirty="0">
              <a:ln>
                <a:noFill/>
              </a:ln>
              <a:solidFill>
                <a:prstClr val="white"/>
              </a:solidFill>
              <a:effectLst/>
              <a:uLnTx/>
              <a:uFillTx/>
              <a:latin typeface="Tahoma"/>
              <a:ea typeface="+mn-ea"/>
              <a:cs typeface="+mn-cs"/>
            </a:endParaRPr>
          </a:p>
        </p:txBody>
      </p:sp>
      <p:pic>
        <p:nvPicPr>
          <p:cNvPr id="6" name="Graphique 5">
            <a:extLst>
              <a:ext uri="{FF2B5EF4-FFF2-40B4-BE49-F238E27FC236}">
                <a16:creationId xmlns:a16="http://schemas.microsoft.com/office/drawing/2014/main" id="{6D5B8890-ADF8-AA63-CC72-A786D95219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7943" y="1313943"/>
            <a:ext cx="4320000" cy="432000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B2711FF-8826-0F9B-611C-CD785C3D648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fr-FR"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161</a:t>
            </a:fld>
            <a:endParaRPr kumimoji="0" lang="fr-FR" sz="1200" b="0" i="0" u="none" strike="noStrike" kern="1200" cap="none" spc="0" normalizeH="0" baseline="0" noProof="0" dirty="0">
              <a:ln>
                <a:noFill/>
              </a:ln>
              <a:solidFill>
                <a:prstClr val="white"/>
              </a:solidFill>
              <a:effectLst/>
              <a:uLnTx/>
              <a:uFillTx/>
              <a:latin typeface="Trebuchet MS"/>
              <a:ea typeface="+mn-ea"/>
              <a:cs typeface="+mn-cs"/>
            </a:endParaRPr>
          </a:p>
        </p:txBody>
      </p:sp>
      <p:pic>
        <p:nvPicPr>
          <p:cNvPr id="6" name="Espace réservé du contenu 4" descr="Une image contenant texte, capture d’écran, diagramme, carte">
            <a:extLst>
              <a:ext uri="{FF2B5EF4-FFF2-40B4-BE49-F238E27FC236}">
                <a16:creationId xmlns:a16="http://schemas.microsoft.com/office/drawing/2014/main" id="{ED26723B-BF1F-F2D9-2796-3525DB83D33E}"/>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5424844" y="93099"/>
            <a:ext cx="6671802" cy="6671802"/>
          </a:xfrm>
          <a:prstGeom prst="rect">
            <a:avLst/>
          </a:prstGeom>
        </p:spPr>
      </p:pic>
      <p:sp>
        <p:nvSpPr>
          <p:cNvPr id="7" name="Titre 1">
            <a:extLst>
              <a:ext uri="{FF2B5EF4-FFF2-40B4-BE49-F238E27FC236}">
                <a16:creationId xmlns:a16="http://schemas.microsoft.com/office/drawing/2014/main" id="{E7127C68-D8CF-682F-5B93-7A87D5061EAA}"/>
              </a:ext>
            </a:extLst>
          </p:cNvPr>
          <p:cNvSpPr>
            <a:spLocks noGrp="1"/>
          </p:cNvSpPr>
          <p:nvPr>
            <p:ph type="ctrTitle"/>
          </p:nvPr>
        </p:nvSpPr>
        <p:spPr>
          <a:xfrm>
            <a:off x="215900" y="0"/>
            <a:ext cx="4933616" cy="1111045"/>
          </a:xfrm>
        </p:spPr>
        <p:txBody>
          <a:bodyPr>
            <a:normAutofit/>
          </a:bodyPr>
          <a:lstStyle/>
          <a:p>
            <a:r>
              <a:rPr lang="fr-FR" sz="4000" noProof="0" dirty="0">
                <a:solidFill>
                  <a:srgbClr val="F5F4F4"/>
                </a:solidFill>
                <a:latin typeface="+mn-lt"/>
                <a:ea typeface="Inter Ultra-Bold"/>
                <a:cs typeface="Inter Ultra-Bold"/>
                <a:sym typeface="Inter Ultra-Bold"/>
              </a:rPr>
              <a:t>NOS </a:t>
            </a:r>
            <a:r>
              <a:rPr lang="fr-FR" sz="4000" noProof="0" dirty="0">
                <a:solidFill>
                  <a:srgbClr val="F5F4F4"/>
                </a:solidFill>
                <a:latin typeface="+mj-lt"/>
                <a:ea typeface="Inter Ultra-Bold"/>
                <a:cs typeface="Inter Ultra-Bold"/>
                <a:sym typeface="Inter Ultra-Bold"/>
              </a:rPr>
              <a:t>BUREAUX</a:t>
            </a:r>
            <a:endParaRPr lang="fr-FR" sz="4000" noProof="0" dirty="0">
              <a:latin typeface="+mj-lt"/>
            </a:endParaRPr>
          </a:p>
        </p:txBody>
      </p:sp>
      <p:sp>
        <p:nvSpPr>
          <p:cNvPr id="8" name="Sous-titre 2">
            <a:extLst>
              <a:ext uri="{FF2B5EF4-FFF2-40B4-BE49-F238E27FC236}">
                <a16:creationId xmlns:a16="http://schemas.microsoft.com/office/drawing/2014/main" id="{840765BA-FDF4-7546-C011-BAF934AB968A}"/>
              </a:ext>
            </a:extLst>
          </p:cNvPr>
          <p:cNvSpPr>
            <a:spLocks noGrp="1"/>
          </p:cNvSpPr>
          <p:nvPr>
            <p:ph type="subTitle" idx="1"/>
          </p:nvPr>
        </p:nvSpPr>
        <p:spPr>
          <a:xfrm>
            <a:off x="215900" y="1224525"/>
            <a:ext cx="4933616" cy="4832145"/>
          </a:xfrm>
        </p:spPr>
        <p:txBody>
          <a:bodyPr>
            <a:normAutofit fontScale="85000" lnSpcReduction="20000"/>
          </a:bodyPr>
          <a:lstStyle/>
          <a:p>
            <a:pPr>
              <a:lnSpc>
                <a:spcPct val="100000"/>
              </a:lnSpc>
              <a:spcBef>
                <a:spcPts val="600"/>
              </a:spcBef>
            </a:pPr>
            <a:r>
              <a:rPr lang="fr-FR" sz="2100" b="1" noProof="0" dirty="0">
                <a:solidFill>
                  <a:srgbClr val="F5F4F4"/>
                </a:solidFill>
                <a:latin typeface="+mn-lt"/>
                <a:ea typeface="Trebuchet MS Bold"/>
                <a:cs typeface="Trebuchet MS Bold"/>
                <a:sym typeface="Trebuchet MS Bold"/>
              </a:rPr>
              <a:t>AMÉRIQUE DU NORD</a:t>
            </a:r>
          </a:p>
          <a:p>
            <a:pPr>
              <a:lnSpc>
                <a:spcPct val="100000"/>
              </a:lnSpc>
              <a:spcBef>
                <a:spcPts val="600"/>
              </a:spcBef>
            </a:pPr>
            <a:r>
              <a:rPr lang="fr-FR" sz="2100" noProof="0" dirty="0">
                <a:solidFill>
                  <a:srgbClr val="F5F4F4"/>
                </a:solidFill>
                <a:latin typeface="+mn-lt"/>
                <a:ea typeface="Trebuchet MS"/>
                <a:cs typeface="Trebuchet MS"/>
                <a:sym typeface="Trebuchet MS"/>
              </a:rPr>
              <a:t>USA – Florida, Orlando</a:t>
            </a:r>
          </a:p>
          <a:p>
            <a:pPr>
              <a:lnSpc>
                <a:spcPct val="100000"/>
              </a:lnSpc>
              <a:spcBef>
                <a:spcPts val="600"/>
              </a:spcBef>
            </a:pPr>
            <a:r>
              <a:rPr lang="fr-FR" sz="2100" noProof="0" dirty="0">
                <a:solidFill>
                  <a:srgbClr val="F5F4F4"/>
                </a:solidFill>
                <a:latin typeface="+mn-lt"/>
                <a:ea typeface="Trebuchet MS"/>
                <a:cs typeface="Trebuchet MS"/>
                <a:sym typeface="Trebuchet MS"/>
              </a:rPr>
              <a:t>Canada – Montréal, Québec</a:t>
            </a:r>
          </a:p>
          <a:p>
            <a:pPr>
              <a:lnSpc>
                <a:spcPct val="100000"/>
              </a:lnSpc>
              <a:spcBef>
                <a:spcPts val="600"/>
              </a:spcBef>
            </a:pPr>
            <a:endParaRPr lang="fr-FR" sz="2100" noProof="0" dirty="0">
              <a:solidFill>
                <a:srgbClr val="F5F4F4"/>
              </a:solidFill>
              <a:latin typeface="+mn-lt"/>
              <a:ea typeface="Trebuchet MS"/>
              <a:cs typeface="Trebuchet MS"/>
              <a:sym typeface="Trebuchet MS"/>
            </a:endParaRPr>
          </a:p>
          <a:p>
            <a:pPr>
              <a:lnSpc>
                <a:spcPct val="100000"/>
              </a:lnSpc>
              <a:spcBef>
                <a:spcPts val="600"/>
              </a:spcBef>
            </a:pPr>
            <a:r>
              <a:rPr lang="fr-FR" sz="2100" b="1" noProof="0" dirty="0">
                <a:solidFill>
                  <a:srgbClr val="F5F4F4"/>
                </a:solidFill>
                <a:latin typeface="+mn-lt"/>
                <a:ea typeface="Trebuchet MS Bold"/>
                <a:cs typeface="Trebuchet MS Bold"/>
                <a:sym typeface="Trebuchet MS Bold"/>
              </a:rPr>
              <a:t>EUROPE</a:t>
            </a:r>
          </a:p>
          <a:p>
            <a:pPr>
              <a:lnSpc>
                <a:spcPct val="100000"/>
              </a:lnSpc>
              <a:spcBef>
                <a:spcPts val="600"/>
              </a:spcBef>
            </a:pPr>
            <a:r>
              <a:rPr lang="fr-FR" sz="2100" noProof="0" dirty="0">
                <a:solidFill>
                  <a:srgbClr val="F5F4F4"/>
                </a:solidFill>
                <a:latin typeface="+mn-lt"/>
                <a:ea typeface="Trebuchet MS"/>
                <a:cs typeface="Trebuchet MS"/>
                <a:sym typeface="Trebuchet MS"/>
              </a:rPr>
              <a:t>France – Savoie, Le Bourget du Lac</a:t>
            </a:r>
          </a:p>
          <a:p>
            <a:pPr>
              <a:lnSpc>
                <a:spcPct val="100000"/>
              </a:lnSpc>
              <a:spcBef>
                <a:spcPts val="600"/>
              </a:spcBef>
            </a:pPr>
            <a:r>
              <a:rPr lang="fr-FR" sz="2100" noProof="0" dirty="0">
                <a:solidFill>
                  <a:srgbClr val="F5F4F4"/>
                </a:solidFill>
                <a:latin typeface="+mn-lt"/>
                <a:ea typeface="Trebuchet MS"/>
                <a:cs typeface="Trebuchet MS"/>
                <a:sym typeface="Trebuchet MS"/>
              </a:rPr>
              <a:t>France – Nord, Fenain</a:t>
            </a:r>
          </a:p>
          <a:p>
            <a:pPr>
              <a:lnSpc>
                <a:spcPct val="100000"/>
              </a:lnSpc>
              <a:spcBef>
                <a:spcPts val="600"/>
              </a:spcBef>
            </a:pPr>
            <a:r>
              <a:rPr lang="fr-FR" sz="2100" noProof="0" dirty="0">
                <a:solidFill>
                  <a:srgbClr val="F5F4F4"/>
                </a:solidFill>
                <a:latin typeface="+mn-lt"/>
                <a:ea typeface="Trebuchet MS"/>
                <a:cs typeface="Trebuchet MS"/>
                <a:sym typeface="Trebuchet MS"/>
              </a:rPr>
              <a:t>Luxembourg – Esch-sur-Alzette, </a:t>
            </a:r>
            <a:r>
              <a:rPr lang="fr-FR" sz="2100" noProof="0" dirty="0" err="1">
                <a:solidFill>
                  <a:srgbClr val="F5F4F4"/>
                </a:solidFill>
                <a:latin typeface="+mn-lt"/>
                <a:ea typeface="Trebuchet MS"/>
                <a:cs typeface="Trebuchet MS"/>
                <a:sym typeface="Trebuchet MS"/>
              </a:rPr>
              <a:t>Belvaux</a:t>
            </a:r>
            <a:endParaRPr lang="fr-FR" sz="2100" noProof="0" dirty="0">
              <a:solidFill>
                <a:srgbClr val="F5F4F4"/>
              </a:solidFill>
              <a:latin typeface="+mn-lt"/>
              <a:ea typeface="Trebuchet MS"/>
              <a:cs typeface="Trebuchet MS"/>
              <a:sym typeface="Trebuchet MS"/>
            </a:endParaRPr>
          </a:p>
          <a:p>
            <a:pPr>
              <a:lnSpc>
                <a:spcPct val="100000"/>
              </a:lnSpc>
              <a:spcBef>
                <a:spcPts val="600"/>
              </a:spcBef>
            </a:pPr>
            <a:endParaRPr lang="fr-FR" sz="2100" noProof="0" dirty="0">
              <a:solidFill>
                <a:srgbClr val="F5F4F4"/>
              </a:solidFill>
              <a:latin typeface="+mn-lt"/>
              <a:ea typeface="Trebuchet MS"/>
              <a:cs typeface="Trebuchet MS"/>
              <a:sym typeface="Trebuchet MS"/>
            </a:endParaRPr>
          </a:p>
          <a:p>
            <a:pPr>
              <a:lnSpc>
                <a:spcPct val="100000"/>
              </a:lnSpc>
              <a:spcBef>
                <a:spcPts val="600"/>
              </a:spcBef>
            </a:pPr>
            <a:r>
              <a:rPr lang="fr-FR" sz="2100" b="1" noProof="0" dirty="0">
                <a:solidFill>
                  <a:srgbClr val="F5F4F4"/>
                </a:solidFill>
                <a:latin typeface="+mn-lt"/>
                <a:ea typeface="Trebuchet MS Bold"/>
                <a:cs typeface="Trebuchet MS Bold"/>
                <a:sym typeface="Trebuchet MS Bold"/>
              </a:rPr>
              <a:t>ASIE</a:t>
            </a:r>
          </a:p>
          <a:p>
            <a:pPr>
              <a:lnSpc>
                <a:spcPct val="100000"/>
              </a:lnSpc>
              <a:spcBef>
                <a:spcPts val="600"/>
              </a:spcBef>
            </a:pPr>
            <a:r>
              <a:rPr lang="fr-FR" sz="2100" noProof="0" dirty="0">
                <a:solidFill>
                  <a:srgbClr val="F5F4F4"/>
                </a:solidFill>
                <a:latin typeface="+mn-lt"/>
                <a:ea typeface="Trebuchet MS"/>
                <a:cs typeface="Trebuchet MS"/>
                <a:sym typeface="Trebuchet MS"/>
              </a:rPr>
              <a:t>Singapour – Singapour</a:t>
            </a:r>
          </a:p>
          <a:p>
            <a:pPr>
              <a:lnSpc>
                <a:spcPct val="100000"/>
              </a:lnSpc>
              <a:spcBef>
                <a:spcPts val="600"/>
              </a:spcBef>
            </a:pPr>
            <a:r>
              <a:rPr lang="fr-FR" sz="2100" noProof="0" dirty="0">
                <a:solidFill>
                  <a:srgbClr val="F5F4F4"/>
                </a:solidFill>
                <a:latin typeface="+mn-lt"/>
                <a:ea typeface="Trebuchet MS"/>
                <a:cs typeface="Trebuchet MS"/>
                <a:sym typeface="Trebuchet MS"/>
              </a:rPr>
              <a:t>Inde – Gujarat, Vadodara</a:t>
            </a:r>
          </a:p>
          <a:p>
            <a:pPr>
              <a:lnSpc>
                <a:spcPct val="100000"/>
              </a:lnSpc>
              <a:spcBef>
                <a:spcPts val="600"/>
              </a:spcBef>
            </a:pPr>
            <a:endParaRPr lang="fr-FR" sz="2100" noProof="0" dirty="0">
              <a:solidFill>
                <a:srgbClr val="F5F4F4"/>
              </a:solidFill>
              <a:latin typeface="+mn-lt"/>
              <a:ea typeface="Trebuchet MS"/>
              <a:cs typeface="Trebuchet MS"/>
              <a:sym typeface="Trebuchet MS"/>
            </a:endParaRPr>
          </a:p>
          <a:p>
            <a:pPr>
              <a:lnSpc>
                <a:spcPct val="100000"/>
              </a:lnSpc>
              <a:spcBef>
                <a:spcPts val="600"/>
              </a:spcBef>
            </a:pPr>
            <a:r>
              <a:rPr lang="fr-FR" sz="2100" b="1" noProof="0" dirty="0">
                <a:solidFill>
                  <a:srgbClr val="F5F4F4"/>
                </a:solidFill>
                <a:latin typeface="+mn-lt"/>
                <a:ea typeface="Trebuchet MS Bold"/>
                <a:cs typeface="Trebuchet MS Bold"/>
                <a:sym typeface="Trebuchet MS Bold"/>
              </a:rPr>
              <a:t>AFRIQUE</a:t>
            </a:r>
          </a:p>
          <a:p>
            <a:pPr>
              <a:lnSpc>
                <a:spcPct val="100000"/>
              </a:lnSpc>
              <a:spcBef>
                <a:spcPts val="600"/>
              </a:spcBef>
            </a:pPr>
            <a:r>
              <a:rPr lang="fr-FR" sz="2100" noProof="0" dirty="0">
                <a:solidFill>
                  <a:srgbClr val="F5F4F4"/>
                </a:solidFill>
                <a:latin typeface="+mn-lt"/>
                <a:ea typeface="Trebuchet MS"/>
                <a:cs typeface="Trebuchet MS"/>
                <a:sym typeface="Trebuchet MS"/>
              </a:rPr>
              <a:t>Madagascar - Antananarivo</a:t>
            </a:r>
          </a:p>
          <a:p>
            <a:pPr>
              <a:lnSpc>
                <a:spcPct val="100000"/>
              </a:lnSpc>
            </a:pPr>
            <a:endParaRPr lang="fr-FR" noProof="0" dirty="0">
              <a:latin typeface="+mn-lt"/>
            </a:endParaRPr>
          </a:p>
          <a:p>
            <a:pPr>
              <a:lnSpc>
                <a:spcPct val="100000"/>
              </a:lnSpc>
            </a:pPr>
            <a:endParaRPr lang="fr-FR" noProof="0" dirty="0">
              <a:latin typeface="+mn-lt"/>
            </a:endParaRPr>
          </a:p>
          <a:p>
            <a:endParaRPr lang="fr-FR" noProof="0" dirty="0">
              <a:latin typeface="+mn-lt"/>
            </a:endParaRPr>
          </a:p>
        </p:txBody>
      </p:sp>
      <p:sp>
        <p:nvSpPr>
          <p:cNvPr id="10" name="Freeform 5">
            <a:extLst>
              <a:ext uri="{FF2B5EF4-FFF2-40B4-BE49-F238E27FC236}">
                <a16:creationId xmlns:a16="http://schemas.microsoft.com/office/drawing/2014/main" id="{A1D5F088-A180-DAE9-0770-706205A17F70}"/>
              </a:ext>
            </a:extLst>
          </p:cNvPr>
          <p:cNvSpPr/>
          <p:nvPr/>
        </p:nvSpPr>
        <p:spPr>
          <a:xfrm>
            <a:off x="318679" y="5692467"/>
            <a:ext cx="987215" cy="987215"/>
          </a:xfrm>
          <a:custGeom>
            <a:avLst/>
            <a:gdLst/>
            <a:ahLst/>
            <a:cxnLst/>
            <a:rect l="l" t="t" r="r" b="b"/>
            <a:pathLst>
              <a:path w="1480823" h="1480823">
                <a:moveTo>
                  <a:pt x="0" y="0"/>
                </a:moveTo>
                <a:lnTo>
                  <a:pt x="1480824" y="0"/>
                </a:lnTo>
                <a:lnTo>
                  <a:pt x="1480824" y="1480823"/>
                </a:lnTo>
                <a:lnTo>
                  <a:pt x="0" y="1480823"/>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800" b="0" i="0" u="none" strike="noStrike" kern="1200" cap="none" spc="0" normalizeH="0" baseline="0" noProof="0" dirty="0">
              <a:ln>
                <a:noFill/>
              </a:ln>
              <a:solidFill>
                <a:srgbClr val="212529"/>
              </a:solidFill>
              <a:effectLst/>
              <a:uLnTx/>
              <a:uFillTx/>
              <a:latin typeface="Trebuchet MS"/>
              <a:ea typeface="+mn-ea"/>
              <a:cs typeface="+mn-cs"/>
            </a:endParaRPr>
          </a:p>
        </p:txBody>
      </p:sp>
    </p:spTree>
    <p:extLst>
      <p:ext uri="{BB962C8B-B14F-4D97-AF65-F5344CB8AC3E}">
        <p14:creationId xmlns:p14="http://schemas.microsoft.com/office/powerpoint/2010/main" val="949978694"/>
      </p:ext>
    </p:extLst>
  </p:cSld>
  <p:clrMapOvr>
    <a:masterClrMapping/>
  </p:clrMapOvr>
</p:sld>
</file>

<file path=ppt/theme/theme1.xml><?xml version="1.0" encoding="utf-8"?>
<a:theme xmlns:a="http://schemas.openxmlformats.org/drawingml/2006/main" name="Document Title">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B1ED3B31-0D05-497B-84E3-DD3202BD135B}"/>
    </a:ext>
  </a:extLst>
</a:theme>
</file>

<file path=ppt/theme/theme2.xml><?xml version="1.0" encoding="utf-8"?>
<a:theme xmlns:a="http://schemas.openxmlformats.org/drawingml/2006/main" name="With Gradient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C0A8485C-F6E1-4447-946E-0D5576E69783}"/>
    </a:ext>
  </a:extLst>
</a:theme>
</file>

<file path=ppt/theme/theme3.xml><?xml version="1.0" encoding="utf-8"?>
<a:theme xmlns:a="http://schemas.openxmlformats.org/drawingml/2006/main" name="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413BFFCF-2CBE-488D-8637-9AE975F4C084}"/>
    </a:ext>
  </a:extLst>
</a:theme>
</file>

<file path=ppt/theme/theme4.xml><?xml version="1.0" encoding="utf-8"?>
<a:theme xmlns:a="http://schemas.openxmlformats.org/drawingml/2006/main" name="Free Designe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15AED34F-FA18-4277-AFAE-2D69AC3AA3C8}"/>
    </a:ext>
  </a:extLst>
</a:theme>
</file>

<file path=ppt/theme/theme5.xml><?xml version="1.0" encoding="utf-8"?>
<a:theme xmlns:a="http://schemas.openxmlformats.org/drawingml/2006/main" name="1_With Gradient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380E1B4B-C5A1-47EC-A467-35FB63F38F5E}"/>
    </a:ext>
  </a:extLst>
</a:theme>
</file>

<file path=ppt/theme/theme6.xml><?xml version="1.0" encoding="utf-8"?>
<a:theme xmlns:a="http://schemas.openxmlformats.org/drawingml/2006/main" name="1_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50F47D98-5E57-45D5-AEE2-E7645906DD3B}"/>
    </a:ext>
  </a:extLst>
</a:theme>
</file>

<file path=ppt/theme/theme7.xml><?xml version="1.0" encoding="utf-8"?>
<a:theme xmlns:a="http://schemas.openxmlformats.org/drawingml/2006/main" name="1_Free Designe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31426024-8C9F-44FD-B507-866B9E946664}"/>
    </a:ext>
  </a:extLst>
</a:theme>
</file>

<file path=ppt/theme/theme8.xml><?xml version="1.0" encoding="utf-8"?>
<a:theme xmlns:a="http://schemas.openxmlformats.org/drawingml/2006/main" name="2_With Gradient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75AECA66-023A-4E4D-BF11-C234E115FC0A}"/>
    </a:ext>
  </a:extLst>
</a:theme>
</file>

<file path=ppt/theme/theme9.xml><?xml version="1.0" encoding="utf-8"?>
<a:theme xmlns:a="http://schemas.openxmlformats.org/drawingml/2006/main" name="2_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Template Analysis V4.1_Mickael" id="{078AA590-8754-4E21-A06B-12CBF1556195}" vid="{AD1CDF43-FD21-4B2F-BE3B-05F2FD2E22C3}"/>
    </a:ext>
  </a:extLst>
</a:theme>
</file>

<file path=ppt/theme/theme10.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APTIVEA Colors">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BA131A"/>
    </a:hlink>
    <a:folHlink>
      <a:srgbClr val="714B6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ée un document." ma:contentTypeScope="" ma:versionID="fdf1d13f81c3ec40a490395d714d6f0a">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1469234fc8cca1f70f174731ef774751"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Balises d’image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1DB151-F652-465C-AD8B-EF6348C1E285}">
  <ds:schemaRefs>
    <ds:schemaRef ds:uri="http://schemas.openxmlformats.org/package/2006/metadata/core-properties"/>
    <ds:schemaRef ds:uri="http://purl.org/dc/dcmitype/"/>
    <ds:schemaRef ds:uri="http://schemas.microsoft.com/office/2006/documentManagement/types"/>
    <ds:schemaRef ds:uri="http://purl.org/dc/terms/"/>
    <ds:schemaRef ds:uri="http://purl.org/dc/elements/1.1/"/>
    <ds:schemaRef ds:uri="http://www.w3.org/XML/1998/namespace"/>
    <ds:schemaRef ds:uri="http://schemas.microsoft.com/office/2006/metadata/properties"/>
    <ds:schemaRef ds:uri="http://schemas.microsoft.com/office/infopath/2007/PartnerControls"/>
    <ds:schemaRef ds:uri="224913b6-04fa-4134-94cc-857def7f27c4"/>
    <ds:schemaRef ds:uri="1b4ce469-5547-4c0a-a384-c2eccd8050e9"/>
  </ds:schemaRefs>
</ds:datastoreItem>
</file>

<file path=customXml/itemProps2.xml><?xml version="1.0" encoding="utf-8"?>
<ds:datastoreItem xmlns:ds="http://schemas.openxmlformats.org/officeDocument/2006/customXml" ds:itemID="{A1832656-1705-40D9-82F2-C54183C761D8}">
  <ds:schemaRefs>
    <ds:schemaRef ds:uri="http://schemas.microsoft.com/sharepoint/v3/contenttype/forms"/>
  </ds:schemaRefs>
</ds:datastoreItem>
</file>

<file path=customXml/itemProps3.xml><?xml version="1.0" encoding="utf-8"?>
<ds:datastoreItem xmlns:ds="http://schemas.openxmlformats.org/officeDocument/2006/customXml" ds:itemID="{77ADA3F9-6326-463F-A975-A37414847EC3}"/>
</file>

<file path=docProps/app.xml><?xml version="1.0" encoding="utf-8"?>
<Properties xmlns="http://schemas.openxmlformats.org/officeDocument/2006/extended-properties" xmlns:vt="http://schemas.openxmlformats.org/officeDocument/2006/docPropsVTypes">
  <Template/>
  <TotalTime>791</TotalTime>
  <Words>8367</Words>
  <Application>Microsoft Office PowerPoint</Application>
  <PresentationFormat>Grand écran</PresentationFormat>
  <Paragraphs>1436</Paragraphs>
  <Slides>161</Slides>
  <Notes>141</Notes>
  <HiddenSlides>5</HiddenSlides>
  <MMClips>0</MMClips>
  <ScaleCrop>false</ScaleCrop>
  <HeadingPairs>
    <vt:vector size="6" baseType="variant">
      <vt:variant>
        <vt:lpstr>Polices utilisées</vt:lpstr>
      </vt:variant>
      <vt:variant>
        <vt:i4>6</vt:i4>
      </vt:variant>
      <vt:variant>
        <vt:lpstr>Thème</vt:lpstr>
      </vt:variant>
      <vt:variant>
        <vt:i4>9</vt:i4>
      </vt:variant>
      <vt:variant>
        <vt:lpstr>Titres des diapositives</vt:lpstr>
      </vt:variant>
      <vt:variant>
        <vt:i4>161</vt:i4>
      </vt:variant>
    </vt:vector>
  </HeadingPairs>
  <TitlesOfParts>
    <vt:vector size="176" baseType="lpstr">
      <vt:lpstr>Arial</vt:lpstr>
      <vt:lpstr>Courier New</vt:lpstr>
      <vt:lpstr>Open Sans Light</vt:lpstr>
      <vt:lpstr>Tahoma</vt:lpstr>
      <vt:lpstr>Trebuchet MS</vt:lpstr>
      <vt:lpstr>Wingdings</vt:lpstr>
      <vt:lpstr>Document Title</vt:lpstr>
      <vt:lpstr>With Gradient Background</vt:lpstr>
      <vt:lpstr>With white Background</vt:lpstr>
      <vt:lpstr>Free Designed</vt:lpstr>
      <vt:lpstr>1_With Gradient Background</vt:lpstr>
      <vt:lpstr>1_With white Background</vt:lpstr>
      <vt:lpstr>1_Free Designed</vt:lpstr>
      <vt:lpstr>2_With Gradient Background</vt:lpstr>
      <vt:lpstr>2_With white Background</vt:lpstr>
      <vt:lpstr>RAPPORT D’ANALYSE CLIENT </vt:lpstr>
      <vt:lpstr>Sommaire</vt:lpstr>
      <vt:lpstr>CHRONOLOGIE DU PROJET CAPTIVEA</vt:lpstr>
      <vt:lpstr>Présentation PowerPoint</vt:lpstr>
      <vt:lpstr>Vos interlocuteurs</vt:lpstr>
      <vt:lpstr>Introduction</vt:lpstr>
      <vt:lpstr>Introduction</vt:lpstr>
      <vt:lpstr>Vocabulaire</vt:lpstr>
      <vt:lpstr>NOTRE VISION D’UN PROJET RÉUSSI</vt:lpstr>
      <vt:lpstr>SOYEZ EN LIGNE RAPIDEMENT</vt:lpstr>
      <vt:lpstr>NOUS AVANÇONS ENSEMBLE  TOUT AU LONG DE VOTRE PROJET !</vt:lpstr>
      <vt:lpstr>SOYEZ LIBRES DE CHANGER D’AVIS  EN TOUTE TRANSPARENCE !</vt:lpstr>
      <vt:lpstr>BÉNÉFICIEZ DE  TOUTE NOTRE EXPERTISE</vt:lpstr>
      <vt:lpstr>LES ÉTAPES VERS UN PROJET RÉUSSI</vt:lpstr>
      <vt:lpstr>Présentation PowerPoint</vt:lpstr>
      <vt:lpstr>UN LOGICIEL, UNE SUCCESS STORY</vt:lpstr>
      <vt:lpstr>BESOINS ET SOLUTIONS</vt:lpstr>
      <vt:lpstr>Schéma du process global</vt:lpstr>
      <vt:lpstr>Zoom schéma process A</vt:lpstr>
      <vt:lpstr>Zoom schéma process B</vt:lpstr>
      <vt:lpstr>BESOINS COUVERTS PAR VOTRE NOUVEAU ODOO</vt:lpstr>
      <vt:lpstr>INSTALLATION – Odoo.sh (PAAS)</vt:lpstr>
      <vt:lpstr>INSTALLATION – Cloud (SAAS)</vt:lpstr>
      <vt:lpstr>INSTALLATION – On Premise</vt:lpstr>
      <vt:lpstr>PARAMETRES GENERAUX</vt:lpstr>
      <vt:lpstr>PARAMETRES GENERAUX</vt:lpstr>
      <vt:lpstr>COMPTABILITE</vt:lpstr>
      <vt:lpstr>COMPTABILITE</vt:lpstr>
      <vt:lpstr>COMPTABILITE</vt:lpstr>
      <vt:lpstr>PRODUITS</vt:lpstr>
      <vt:lpstr>PRODUITS</vt:lpstr>
      <vt:lpstr>CONTACTS</vt:lpstr>
      <vt:lpstr>CONTACTS</vt:lpstr>
      <vt:lpstr>CRM</vt:lpstr>
      <vt:lpstr>CRM</vt:lpstr>
      <vt:lpstr>RENDEZ-VOUS</vt:lpstr>
      <vt:lpstr>RENDEZ-VOUS</vt:lpstr>
      <vt:lpstr>VENTES</vt:lpstr>
      <vt:lpstr>VENTES</vt:lpstr>
      <vt:lpstr>SITE WEB</vt:lpstr>
      <vt:lpstr>SITE WEB</vt:lpstr>
      <vt:lpstr>E-COMMERCE</vt:lpstr>
      <vt:lpstr>E-COMMERCE</vt:lpstr>
      <vt:lpstr> ABONNEMENTS </vt:lpstr>
      <vt:lpstr> ABONNEMENTS </vt:lpstr>
      <vt:lpstr>LOCATION</vt:lpstr>
      <vt:lpstr>LOCATION</vt:lpstr>
      <vt:lpstr>POINT DE VENTE</vt:lpstr>
      <vt:lpstr>POINT DE VENTE</vt:lpstr>
      <vt:lpstr>POINT DE VENTE - Restaurant</vt:lpstr>
      <vt:lpstr>POINT DE VENTE - Restaurant</vt:lpstr>
      <vt:lpstr>STOCK</vt:lpstr>
      <vt:lpstr>STOCK</vt:lpstr>
      <vt:lpstr>CODE BARRE</vt:lpstr>
      <vt:lpstr>CODE BARRE</vt:lpstr>
      <vt:lpstr>ACHATS</vt:lpstr>
      <vt:lpstr>ACHATS</vt:lpstr>
      <vt:lpstr>ESG</vt:lpstr>
      <vt:lpstr>ESG</vt:lpstr>
      <vt:lpstr>FABRICATION</vt:lpstr>
      <vt:lpstr>FABRICATION</vt:lpstr>
      <vt:lpstr>QUALITE</vt:lpstr>
      <vt:lpstr>QUALITE</vt:lpstr>
      <vt:lpstr>PLM</vt:lpstr>
      <vt:lpstr>PLM</vt:lpstr>
      <vt:lpstr>MAINTENANCE</vt:lpstr>
      <vt:lpstr>MAINTENANCE</vt:lpstr>
      <vt:lpstr>REPARATIONS</vt:lpstr>
      <vt:lpstr>REPARATIONS</vt:lpstr>
      <vt:lpstr>PROJETS</vt:lpstr>
      <vt:lpstr>PROJETS</vt:lpstr>
      <vt:lpstr>FEUILLES DE TEMPS</vt:lpstr>
      <vt:lpstr>FEUILLES DE TEMPS</vt:lpstr>
      <vt:lpstr>SERVICE SUR SITE</vt:lpstr>
      <vt:lpstr>SERVICE SUR SITE</vt:lpstr>
      <vt:lpstr>FLEET (PARC AUTOMOBILE)</vt:lpstr>
      <vt:lpstr>FLEET (PARC AUTOMOBILE)</vt:lpstr>
      <vt:lpstr>ASSISTANCE / TICKETING</vt:lpstr>
      <vt:lpstr>ASSISTANCE / TICKETING</vt:lpstr>
      <vt:lpstr>PLANNING</vt:lpstr>
      <vt:lpstr>PLANNING</vt:lpstr>
      <vt:lpstr>EMAIL MARKETING</vt:lpstr>
      <vt:lpstr>EMAIL MARKETING</vt:lpstr>
      <vt:lpstr>MARKETING AUTOMATION</vt:lpstr>
      <vt:lpstr>MARKETING AUTOMATION</vt:lpstr>
      <vt:lpstr>SONDAGES</vt:lpstr>
      <vt:lpstr>SONDAGES</vt:lpstr>
      <vt:lpstr>EMPLOYES</vt:lpstr>
      <vt:lpstr>EMPLOYES</vt:lpstr>
      <vt:lpstr>PAIE</vt:lpstr>
      <vt:lpstr>PAIE</vt:lpstr>
      <vt:lpstr>NOTES DE FRAIS</vt:lpstr>
      <vt:lpstr>NOTES DE FRAIS</vt:lpstr>
      <vt:lpstr>CONGES</vt:lpstr>
      <vt:lpstr>CONGES</vt:lpstr>
      <vt:lpstr>PRESENCE</vt:lpstr>
      <vt:lpstr>PRESENCE</vt:lpstr>
      <vt:lpstr>RECRUTEMENT</vt:lpstr>
      <vt:lpstr>RECRUTEMENT</vt:lpstr>
      <vt:lpstr>EVALUATIONS</vt:lpstr>
      <vt:lpstr>EVALUATIONS</vt:lpstr>
      <vt:lpstr>DOCUMENTS</vt:lpstr>
      <vt:lpstr>DOCUMENTS</vt:lpstr>
      <vt:lpstr>NINJA DASHBOARD</vt:lpstr>
      <vt:lpstr>NINJA DASHBOARD</vt:lpstr>
      <vt:lpstr>NETTOYAGE DES DONNEES</vt:lpstr>
      <vt:lpstr>NETTOYAGE DES DONNEES</vt:lpstr>
      <vt:lpstr>DROITS D’ACCES</vt:lpstr>
      <vt:lpstr>DROITS D’ACCES</vt:lpstr>
      <vt:lpstr>E-LEARNING</vt:lpstr>
      <vt:lpstr>E-LEARNING</vt:lpstr>
      <vt:lpstr>EVENEMENTS</vt:lpstr>
      <vt:lpstr>EVENEMENTS</vt:lpstr>
      <vt:lpstr>VALIDATION</vt:lpstr>
      <vt:lpstr>VALIDATION</vt:lpstr>
      <vt:lpstr>OBJECTIFS</vt:lpstr>
      <vt:lpstr>OBJECTIFS</vt:lpstr>
      <vt:lpstr>SIGNATURE</vt:lpstr>
      <vt:lpstr>SIGNATURE</vt:lpstr>
      <vt:lpstr>EQUITY (CAPITAUX PROPRES)</vt:lpstr>
      <vt:lpstr>EQUITY (CAPITAUX PROPRES)</vt:lpstr>
      <vt:lpstr>AI (INTELLIGENCE ARTIFICIELLE)</vt:lpstr>
      <vt:lpstr>AI (INTELLIGENCE ARTIFICIELLE)</vt:lpstr>
      <vt:lpstr>MISE EN PRODUCTION</vt:lpstr>
      <vt:lpstr>MISE EN PRODUCTION</vt:lpstr>
      <vt:lpstr>LISTE  DES TÂCHES</vt:lpstr>
      <vt:lpstr>Phase 1 (MVP)</vt:lpstr>
      <vt:lpstr>Phase 2</vt:lpstr>
      <vt:lpstr>OFFRE</vt:lpstr>
      <vt:lpstr>NOS MODES DE PROJETS LOCAL, HYBRIDE OU OFFSHORE</vt:lpstr>
      <vt:lpstr>NOTRE OFFRE DE PRIX</vt:lpstr>
      <vt:lpstr>DIVERSES OPTIONS  D'HÉBERGEMENT ODOO</vt:lpstr>
      <vt:lpstr>License Odoo</vt:lpstr>
      <vt:lpstr>APPROCHE BUDGÉTAIRE NOS NIVEAUX D’EXPERTISE - FRANCE</vt:lpstr>
      <vt:lpstr>APPROCHE BUDGÉTAIRE NOS NIVEAUX D’EXPERTISE - LUXEMBOURG</vt:lpstr>
      <vt:lpstr>APPROCHE BUDGÉTAIRE NOS NIVEAUX D’EXPERTISE - MADAGASCAR</vt:lpstr>
      <vt:lpstr>APPROCHE BUDGÉTAIRE NOS NIVEAUX D’EXPERTISE - CANADA</vt:lpstr>
      <vt:lpstr>Phase 1 (MVP)</vt:lpstr>
      <vt:lpstr>Phase 2</vt:lpstr>
      <vt:lpstr>Conditions</vt:lpstr>
      <vt:lpstr>Prochaines étapes</vt:lpstr>
      <vt:lpstr>VOTRE PROJET</vt:lpstr>
      <vt:lpstr>L’ÉQUIPE PROJET</vt:lpstr>
      <vt:lpstr>DÉFINITION DES RÔLES</vt:lpstr>
      <vt:lpstr>Organisation projet - Rôles</vt:lpstr>
      <vt:lpstr>PHASE D’IMPLEMENTATION</vt:lpstr>
      <vt:lpstr>MISE EN PRODUCTION</vt:lpstr>
      <vt:lpstr>Formation des key users</vt:lpstr>
      <vt:lpstr>Période UAT</vt:lpstr>
      <vt:lpstr>Déroulement de la mise en production</vt:lpstr>
      <vt:lpstr>Hypercare</vt:lpstr>
      <vt:lpstr>Passage en support</vt:lpstr>
      <vt:lpstr>Communication projet</vt:lpstr>
      <vt:lpstr>Implication projet - Pilotage</vt:lpstr>
      <vt:lpstr>Implication projet - Projet</vt:lpstr>
      <vt:lpstr>Implication projet – UAT et formations</vt:lpstr>
      <vt:lpstr>Indicateurs de suivi - Hebdomadaire</vt:lpstr>
      <vt:lpstr>Indicateurs de suivi - Mensuels</vt:lpstr>
      <vt:lpstr>Indicateurs de suivi</vt:lpstr>
      <vt:lpstr>QUELLES SONT VOS QUESTIONS ?</vt:lpstr>
      <vt:lpstr>NOS BUREAUX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Mickaël  ANDRIAMIAJARISOA</dc:creator>
  <cp:lastModifiedBy>Mickaël  ANDRIAMIAJARISOA</cp:lastModifiedBy>
  <cp:revision>2</cp:revision>
  <dcterms:created xsi:type="dcterms:W3CDTF">2026-03-31T12:00:34Z</dcterms:created>
  <dcterms:modified xsi:type="dcterms:W3CDTF">2026-04-15T08:27:43Z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